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9" r:id="rId5"/>
    <p:sldId id="258"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19" r:id="rId47"/>
    <p:sldId id="320" r:id="rId48"/>
    <p:sldId id="301" r:id="rId49"/>
    <p:sldId id="302" r:id="rId50"/>
    <p:sldId id="326" r:id="rId51"/>
    <p:sldId id="321" r:id="rId52"/>
    <p:sldId id="322" r:id="rId53"/>
    <p:sldId id="324" r:id="rId54"/>
    <p:sldId id="323" r:id="rId55"/>
    <p:sldId id="304" r:id="rId56"/>
    <p:sldId id="305" r:id="rId57"/>
    <p:sldId id="303" r:id="rId58"/>
    <p:sldId id="306" r:id="rId59"/>
    <p:sldId id="307" r:id="rId60"/>
    <p:sldId id="308" r:id="rId61"/>
    <p:sldId id="309" r:id="rId62"/>
    <p:sldId id="310" r:id="rId63"/>
    <p:sldId id="311" r:id="rId64"/>
    <p:sldId id="312" r:id="rId65"/>
    <p:sldId id="313" r:id="rId66"/>
    <p:sldId id="314" r:id="rId67"/>
    <p:sldId id="315" r:id="rId68"/>
    <p:sldId id="316" r:id="rId69"/>
    <p:sldId id="318" r:id="rId70"/>
    <p:sldId id="317" r:id="rId71"/>
    <p:sldId id="329" r:id="rId72"/>
    <p:sldId id="331" r:id="rId73"/>
    <p:sldId id="332" r:id="rId74"/>
    <p:sldId id="333" r:id="rId75"/>
    <p:sldId id="334" r:id="rId76"/>
    <p:sldId id="335" r:id="rId77"/>
    <p:sldId id="336" r:id="rId78"/>
    <p:sldId id="337" r:id="rId79"/>
    <p:sldId id="338" r:id="rId80"/>
    <p:sldId id="339" r:id="rId81"/>
    <p:sldId id="340" r:id="rId82"/>
    <p:sldId id="345" r:id="rId83"/>
    <p:sldId id="342" r:id="rId84"/>
    <p:sldId id="346" r:id="rId85"/>
    <p:sldId id="343" r:id="rId86"/>
    <p:sldId id="344" r:id="rId87"/>
    <p:sldId id="348" r:id="rId88"/>
    <p:sldId id="349" r:id="rId89"/>
    <p:sldId id="350" r:id="rId90"/>
    <p:sldId id="351" r:id="rId91"/>
    <p:sldId id="352" r:id="rId92"/>
    <p:sldId id="358" r:id="rId93"/>
    <p:sldId id="353" r:id="rId94"/>
    <p:sldId id="354" r:id="rId95"/>
    <p:sldId id="355" r:id="rId96"/>
    <p:sldId id="356" r:id="rId97"/>
    <p:sldId id="357" r:id="rId98"/>
    <p:sldId id="361"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23" autoAdjust="0"/>
    <p:restoredTop sz="94660"/>
  </p:normalViewPr>
  <p:slideViewPr>
    <p:cSldViewPr snapToGrid="0">
      <p:cViewPr>
        <p:scale>
          <a:sx n="85" d="100"/>
          <a:sy n="85" d="100"/>
        </p:scale>
        <p:origin x="4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34E6425-0181-43F2-84FC-787E803FD2F8}"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6E86A4C-8E40-4F87-A4F0-01A0687C5742}"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5E72C73-2D91-4E12-BA25-F0AA0C03599B}"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923A1CC3-2375-41D4-9E03-427CAF2A4C1A}"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FF16868-8199-4C2C-A5B1-63AEE139F88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AAD9FF7F-6988-44CC-821B-644E70CD2F7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C12C299-16B2-4475-990D-751901EACC14}"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BE451C3-0FF4-47C4-B829-773ADF60F88C}"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1.jpe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Unit I-Fundamentals of python Programming</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Introduction:</a:t>
            </a:r>
            <a:br>
              <a:rPr lang="en-IN" b="1" dirty="0"/>
            </a:br>
            <a:r>
              <a:rPr lang="en-IN" b="1" dirty="0"/>
              <a:t>What is Python?</a:t>
            </a:r>
            <a:br>
              <a:rPr lang="en-IN" b="1" dirty="0"/>
            </a:br>
            <a:endParaRPr lang="en-IN" dirty="0"/>
          </a:p>
        </p:txBody>
      </p:sp>
      <p:sp>
        <p:nvSpPr>
          <p:cNvPr id="3" name="Content Placeholder 2"/>
          <p:cNvSpPr>
            <a:spLocks noGrp="1"/>
          </p:cNvSpPr>
          <p:nvPr>
            <p:ph idx="1"/>
          </p:nvPr>
        </p:nvSpPr>
        <p:spPr/>
        <p:txBody>
          <a:bodyPr/>
          <a:lstStyle/>
          <a:p>
            <a:pPr marL="0" indent="0">
              <a:buNone/>
            </a:pPr>
            <a:r>
              <a:rPr lang="en-IN" b="1" dirty="0"/>
              <a:t>Python is a:</a:t>
            </a:r>
            <a:endParaRPr lang="en-IN" b="1" dirty="0"/>
          </a:p>
          <a:p>
            <a:pPr lvl="0"/>
            <a:r>
              <a:rPr lang="en-IN" dirty="0"/>
              <a:t>High-Level Programming Language </a:t>
            </a:r>
            <a:endParaRPr lang="en-IN" dirty="0"/>
          </a:p>
          <a:p>
            <a:pPr lvl="0"/>
            <a:r>
              <a:rPr lang="en-IN" dirty="0"/>
              <a:t>Interpreted Programming Language </a:t>
            </a:r>
            <a:endParaRPr lang="en-IN" dirty="0"/>
          </a:p>
          <a:p>
            <a:r>
              <a:rPr lang="en-IN" dirty="0"/>
              <a:t> General-purpose programming language </a:t>
            </a:r>
            <a:endParaRPr lang="en-IN" dirty="0"/>
          </a:p>
          <a:p>
            <a:pPr lvl="0"/>
            <a:r>
              <a:rPr lang="en-IN" dirty="0"/>
              <a:t>Object-Oriented Programming Language </a:t>
            </a:r>
            <a:endParaRPr lang="en-IN" dirty="0"/>
          </a:p>
          <a:p>
            <a:pPr lvl="0"/>
            <a:endParaRPr lang="en-IN" dirty="0"/>
          </a:p>
          <a:p>
            <a:pPr lvl="0"/>
            <a:r>
              <a:rPr lang="en-IN" dirty="0"/>
              <a:t>Python is an easy-to-learn, powerful, and versatile programming language used to develop software applications, websites, automation scripts, scientific computing applications, and artificial intelligence systems.</a:t>
            </a:r>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lstStyle/>
          <a:p>
            <a:r>
              <a:rPr lang="en-IN" b="1" dirty="0"/>
              <a:t>Key Characteristics</a:t>
            </a:r>
            <a:endParaRPr lang="en-IN" b="1" dirty="0"/>
          </a:p>
          <a:p>
            <a:pPr lvl="0"/>
            <a:r>
              <a:rPr lang="en-IN" dirty="0"/>
              <a:t>Easy syntax </a:t>
            </a:r>
            <a:endParaRPr lang="en-IN" dirty="0"/>
          </a:p>
          <a:p>
            <a:pPr lvl="0"/>
            <a:r>
              <a:rPr lang="en-IN" dirty="0"/>
              <a:t>Readable code </a:t>
            </a:r>
            <a:endParaRPr lang="en-IN" dirty="0"/>
          </a:p>
          <a:p>
            <a:pPr lvl="0"/>
            <a:r>
              <a:rPr lang="en-IN" dirty="0"/>
              <a:t>Free to use </a:t>
            </a:r>
            <a:endParaRPr lang="en-IN" dirty="0"/>
          </a:p>
          <a:p>
            <a:pPr lvl="0"/>
            <a:r>
              <a:rPr lang="en-IN" dirty="0"/>
              <a:t>Cross-platform </a:t>
            </a:r>
            <a:endParaRPr lang="en-IN" dirty="0"/>
          </a:p>
          <a:p>
            <a:pPr lvl="0"/>
            <a:r>
              <a:rPr lang="en-IN" dirty="0"/>
              <a:t>Large community support </a:t>
            </a:r>
            <a:endParaRPr lang="en-IN" dirty="0"/>
          </a:p>
          <a:p>
            <a:pPr lvl="0"/>
            <a:r>
              <a:rPr lang="en-IN" dirty="0"/>
              <a:t>Huge collection of libraries</a:t>
            </a:r>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Python</a:t>
            </a:r>
            <a:endParaRPr lang="en-IN" dirty="0"/>
          </a:p>
        </p:txBody>
      </p:sp>
      <p:sp>
        <p:nvSpPr>
          <p:cNvPr id="3" name="Content Placeholder 2"/>
          <p:cNvSpPr>
            <a:spLocks noGrp="1"/>
          </p:cNvSpPr>
          <p:nvPr>
            <p:ph idx="1"/>
          </p:nvPr>
        </p:nvSpPr>
        <p:spPr/>
        <p:txBody>
          <a:bodyPr>
            <a:normAutofit lnSpcReduction="10000"/>
          </a:bodyPr>
          <a:lstStyle/>
          <a:p>
            <a:r>
              <a:rPr lang="en-IN" b="1" dirty="0"/>
              <a:t>Creator</a:t>
            </a:r>
            <a:endParaRPr lang="en-IN" b="1" dirty="0"/>
          </a:p>
          <a:p>
            <a:r>
              <a:rPr lang="en-IN" b="1" dirty="0"/>
              <a:t>Guido van Rossum</a:t>
            </a:r>
            <a:endParaRPr lang="en-IN" dirty="0"/>
          </a:p>
          <a:p>
            <a:pPr lvl="2">
              <a:buFont typeface="Wingdings" panose="05000000000000000000" pitchFamily="2" charset="2"/>
              <a:buChar char="§"/>
            </a:pPr>
            <a:r>
              <a:rPr lang="en-IN" dirty="0"/>
              <a:t>Dutch Programmer </a:t>
            </a:r>
            <a:endParaRPr lang="en-IN" dirty="0"/>
          </a:p>
          <a:p>
            <a:pPr lvl="2">
              <a:buFont typeface="Wingdings" panose="05000000000000000000" pitchFamily="2" charset="2"/>
              <a:buChar char="§"/>
            </a:pPr>
            <a:r>
              <a:rPr lang="en-IN" dirty="0"/>
              <a:t>Developed Python at CWI (Netherlands) </a:t>
            </a:r>
            <a:endParaRPr lang="en-IN" dirty="0"/>
          </a:p>
          <a:p>
            <a:pPr lvl="2">
              <a:buFont typeface="Wingdings" panose="05000000000000000000" pitchFamily="2" charset="2"/>
              <a:buChar char="§"/>
            </a:pPr>
            <a:r>
              <a:rPr lang="en-IN" dirty="0"/>
              <a:t>Started the project in 1989 </a:t>
            </a:r>
            <a:endParaRPr lang="en-IN" dirty="0"/>
          </a:p>
          <a:p>
            <a:pPr lvl="2">
              <a:buFont typeface="Wingdings" panose="05000000000000000000" pitchFamily="2" charset="2"/>
              <a:buChar char="§"/>
            </a:pPr>
            <a:r>
              <a:rPr lang="en-IN" dirty="0"/>
              <a:t>First public release in 1991 </a:t>
            </a:r>
            <a:endParaRPr lang="en-IN" dirty="0"/>
          </a:p>
          <a:p>
            <a:r>
              <a:rPr lang="en-IN" b="1" dirty="0"/>
              <a:t>Why the Name "Python"?</a:t>
            </a:r>
            <a:endParaRPr lang="en-IN" b="1" dirty="0"/>
          </a:p>
          <a:p>
            <a:pPr lvl="1">
              <a:buFont typeface="Wingdings" panose="05000000000000000000" pitchFamily="2" charset="2"/>
              <a:buChar char="v"/>
            </a:pPr>
            <a:r>
              <a:rPr lang="en-IN" dirty="0"/>
              <a:t>	Inspired by the comedy television show:</a:t>
            </a:r>
            <a:endParaRPr lang="en-IN" dirty="0"/>
          </a:p>
          <a:p>
            <a:pPr marL="457200" lvl="1" indent="0">
              <a:buNone/>
            </a:pPr>
            <a:r>
              <a:rPr lang="en-IN" b="1" dirty="0"/>
              <a:t>	Monty Python's Flying Circus</a:t>
            </a:r>
            <a:endParaRPr lang="en-IN" b="1" dirty="0"/>
          </a:p>
          <a:p>
            <a:pPr lvl="1">
              <a:buFont typeface="Wingdings" panose="05000000000000000000" pitchFamily="2" charset="2"/>
              <a:buChar char="v"/>
            </a:pPr>
            <a:r>
              <a:rPr lang="en-IN" dirty="0"/>
              <a:t>It is </a:t>
            </a:r>
            <a:r>
              <a:rPr lang="en-IN" b="1" dirty="0"/>
              <a:t>not named after the snake</a:t>
            </a:r>
            <a:r>
              <a:rPr lang="en-IN" dirty="0"/>
              <a:t>.</a:t>
            </a:r>
            <a:endParaRPr lang="en-IN" dirty="0"/>
          </a:p>
          <a:p>
            <a:pPr marL="457200" lvl="1" indent="0">
              <a:buNone/>
            </a:pPr>
            <a:endParaRPr lang="en-IN" b="1"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 </a:t>
            </a:r>
            <a:br>
              <a:rPr lang="en-IN" dirty="0"/>
            </a:br>
            <a:r>
              <a:rPr lang="en-IN" b="1" dirty="0"/>
              <a:t>Evolution of Python</a:t>
            </a:r>
            <a:br>
              <a:rPr lang="en-IN" b="1" dirty="0"/>
            </a:br>
            <a:endParaRPr lang="en-IN" dirty="0"/>
          </a:p>
        </p:txBody>
      </p:sp>
      <p:sp>
        <p:nvSpPr>
          <p:cNvPr id="3" name="Content Placeholder 2"/>
          <p:cNvSpPr>
            <a:spLocks noGrp="1"/>
          </p:cNvSpPr>
          <p:nvPr>
            <p:ph idx="1"/>
          </p:nvPr>
        </p:nvSpPr>
        <p:spPr>
          <a:xfrm>
            <a:off x="1154954" y="2158584"/>
            <a:ext cx="7881990" cy="5478904"/>
          </a:xfrm>
        </p:spPr>
        <p:txBody>
          <a:bodyPr>
            <a:normAutofit/>
          </a:bodyPr>
          <a:lstStyle/>
          <a:p>
            <a:pPr marL="0" indent="0">
              <a:buNone/>
            </a:pPr>
            <a:r>
              <a:rPr lang="en-IN" sz="2800" b="1" dirty="0"/>
              <a:t>1989</a:t>
            </a:r>
            <a:endParaRPr lang="en-IN" sz="2800" dirty="0"/>
          </a:p>
          <a:p>
            <a:pPr marL="0" lvl="0" indent="0">
              <a:buNone/>
            </a:pPr>
            <a:r>
              <a:rPr lang="en-IN" sz="2800" dirty="0"/>
              <a:t>	Python development started </a:t>
            </a:r>
            <a:endParaRPr lang="en-IN" sz="2800" dirty="0"/>
          </a:p>
          <a:p>
            <a:pPr marL="0" indent="0">
              <a:buNone/>
            </a:pPr>
            <a:r>
              <a:rPr lang="en-IN" sz="2800" b="1" dirty="0"/>
              <a:t>1991</a:t>
            </a:r>
            <a:endParaRPr lang="en-IN" sz="2800" dirty="0"/>
          </a:p>
          <a:p>
            <a:pPr marL="400050" lvl="1" indent="0">
              <a:buNone/>
            </a:pPr>
            <a:r>
              <a:rPr lang="en-IN" sz="2600" dirty="0"/>
              <a:t>Python 0.9 released </a:t>
            </a:r>
            <a:endParaRPr lang="en-IN" sz="2600" dirty="0"/>
          </a:p>
          <a:p>
            <a:pPr marL="400050" lvl="1" indent="0">
              <a:buNone/>
            </a:pPr>
            <a:r>
              <a:rPr lang="en-IN" sz="2600" dirty="0"/>
              <a:t>Features:</a:t>
            </a:r>
            <a:endParaRPr lang="en-IN" sz="2600" dirty="0"/>
          </a:p>
          <a:p>
            <a:pPr marL="400050" lvl="1" indent="0">
              <a:buNone/>
            </a:pPr>
            <a:r>
              <a:rPr lang="en-IN" sz="2600" dirty="0"/>
              <a:t>Classes </a:t>
            </a:r>
            <a:endParaRPr lang="en-IN" sz="2600" dirty="0"/>
          </a:p>
          <a:p>
            <a:pPr marL="400050" lvl="1" indent="0">
              <a:buNone/>
            </a:pPr>
            <a:r>
              <a:rPr lang="en-IN" sz="2600" dirty="0"/>
              <a:t>Functions </a:t>
            </a:r>
            <a:endParaRPr lang="en-IN" sz="2600" dirty="0"/>
          </a:p>
          <a:p>
            <a:pPr marL="400050" lvl="1" indent="0">
              <a:buNone/>
            </a:pPr>
            <a:r>
              <a:rPr lang="en-IN" sz="2600" dirty="0"/>
              <a:t>Exception Handling</a:t>
            </a:r>
            <a:endParaRPr lang="en-IN"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a:xfrm>
            <a:off x="1154954" y="2001187"/>
            <a:ext cx="8825659" cy="4542020"/>
          </a:xfrm>
        </p:spPr>
        <p:txBody>
          <a:bodyPr>
            <a:normAutofit fontScale="92500" lnSpcReduction="10000"/>
          </a:bodyPr>
          <a:lstStyle/>
          <a:p>
            <a:r>
              <a:rPr lang="en-IN" b="1" dirty="0"/>
              <a:t>2000</a:t>
            </a:r>
            <a:endParaRPr lang="en-IN" dirty="0"/>
          </a:p>
          <a:p>
            <a:pPr lvl="1"/>
            <a:r>
              <a:rPr lang="en-IN" dirty="0"/>
              <a:t>Python 2.0 released </a:t>
            </a:r>
            <a:endParaRPr lang="en-IN" dirty="0"/>
          </a:p>
          <a:p>
            <a:pPr lvl="1"/>
            <a:r>
              <a:rPr lang="en-IN" dirty="0"/>
              <a:t>New Features:</a:t>
            </a:r>
            <a:endParaRPr lang="en-IN" dirty="0"/>
          </a:p>
          <a:p>
            <a:pPr lvl="1"/>
            <a:r>
              <a:rPr lang="en-IN" dirty="0"/>
              <a:t>Garbage Collection </a:t>
            </a:r>
            <a:endParaRPr lang="en-IN" dirty="0"/>
          </a:p>
          <a:p>
            <a:pPr lvl="1"/>
            <a:r>
              <a:rPr lang="en-IN" dirty="0"/>
              <a:t>Unicode Support </a:t>
            </a:r>
            <a:endParaRPr lang="en-IN" dirty="0"/>
          </a:p>
          <a:p>
            <a:r>
              <a:rPr lang="en-IN" b="1" dirty="0"/>
              <a:t>2008</a:t>
            </a:r>
            <a:endParaRPr lang="en-IN" dirty="0"/>
          </a:p>
          <a:p>
            <a:pPr lvl="1"/>
            <a:r>
              <a:rPr lang="en-IN" dirty="0"/>
              <a:t>Python 3.0 released </a:t>
            </a:r>
            <a:endParaRPr lang="en-IN" dirty="0"/>
          </a:p>
          <a:p>
            <a:pPr lvl="1"/>
            <a:r>
              <a:rPr lang="en-IN" dirty="0"/>
              <a:t>Major Improvements:</a:t>
            </a:r>
            <a:endParaRPr lang="en-IN" dirty="0"/>
          </a:p>
          <a:p>
            <a:pPr lvl="1"/>
            <a:r>
              <a:rPr lang="en-IN" dirty="0"/>
              <a:t>Better Unicode support </a:t>
            </a:r>
            <a:endParaRPr lang="en-IN" dirty="0"/>
          </a:p>
          <a:p>
            <a:pPr lvl="1"/>
            <a:r>
              <a:rPr lang="en-IN" dirty="0"/>
              <a:t>Improved syntax </a:t>
            </a:r>
            <a:endParaRPr lang="en-IN" dirty="0"/>
          </a:p>
          <a:p>
            <a:pPr lvl="1"/>
            <a:r>
              <a:rPr lang="en-IN" dirty="0"/>
              <a:t>Modern programming features </a:t>
            </a:r>
            <a:endParaRPr lang="en-IN" dirty="0"/>
          </a:p>
          <a:p>
            <a:r>
              <a:rPr lang="en-IN" b="1" dirty="0"/>
              <a:t>Current Version</a:t>
            </a:r>
            <a:endParaRPr lang="en-IN" b="1" dirty="0"/>
          </a:p>
          <a:p>
            <a:pPr lvl="1"/>
            <a:r>
              <a:rPr lang="en-IN" dirty="0"/>
              <a:t>Python 3.x is the recommended version for all new development.</a:t>
            </a:r>
            <a:endParaRPr lang="en-IN" dirty="0"/>
          </a:p>
          <a:p>
            <a:pPr marL="0" indent="0">
              <a:buNone/>
            </a:pPr>
            <a:endParaRPr lang="en-IN"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Features of Python</a:t>
            </a:r>
            <a:endParaRPr lang="en-IN" b="1" dirty="0"/>
          </a:p>
        </p:txBody>
      </p:sp>
      <p:sp>
        <p:nvSpPr>
          <p:cNvPr id="3" name="Content Placeholder 2"/>
          <p:cNvSpPr>
            <a:spLocks noGrp="1"/>
          </p:cNvSpPr>
          <p:nvPr>
            <p:ph idx="1"/>
          </p:nvPr>
        </p:nvSpPr>
        <p:spPr>
          <a:xfrm>
            <a:off x="1154954" y="2263515"/>
            <a:ext cx="8825659" cy="3756285"/>
          </a:xfrm>
        </p:spPr>
        <p:txBody>
          <a:bodyPr>
            <a:normAutofit fontScale="85000" lnSpcReduction="20000"/>
          </a:bodyPr>
          <a:lstStyle/>
          <a:p>
            <a:pPr marL="0" indent="0">
              <a:buNone/>
            </a:pPr>
            <a:r>
              <a:rPr lang="en-IN" b="1" dirty="0"/>
              <a:t>1.Simple</a:t>
            </a:r>
            <a:endParaRPr lang="en-IN" b="1" dirty="0"/>
          </a:p>
          <a:p>
            <a:pPr lvl="1"/>
            <a:r>
              <a:rPr lang="en-IN" dirty="0"/>
              <a:t>Easy syntax </a:t>
            </a:r>
            <a:endParaRPr lang="en-IN" dirty="0"/>
          </a:p>
          <a:p>
            <a:pPr lvl="1"/>
            <a:r>
              <a:rPr lang="en-IN" dirty="0"/>
              <a:t>Similar to English language </a:t>
            </a:r>
            <a:endParaRPr lang="en-IN" dirty="0"/>
          </a:p>
          <a:p>
            <a:pPr lvl="1"/>
            <a:r>
              <a:rPr lang="en-IN" dirty="0"/>
              <a:t>Easy to learn</a:t>
            </a:r>
            <a:endParaRPr lang="en-IN" dirty="0"/>
          </a:p>
          <a:p>
            <a:pPr marL="0" indent="0">
              <a:buNone/>
            </a:pPr>
            <a:r>
              <a:rPr lang="en-IN" b="1" dirty="0"/>
              <a:t>2. Easy to Read</a:t>
            </a:r>
            <a:endParaRPr lang="en-IN" b="1" dirty="0"/>
          </a:p>
          <a:p>
            <a:pPr lvl="1"/>
            <a:r>
              <a:rPr lang="en-IN" dirty="0"/>
              <a:t>Uses indentation </a:t>
            </a:r>
            <a:endParaRPr lang="en-IN" dirty="0"/>
          </a:p>
          <a:p>
            <a:pPr lvl="1"/>
            <a:r>
              <a:rPr lang="en-IN" dirty="0"/>
              <a:t>Improves readability </a:t>
            </a:r>
            <a:endParaRPr lang="en-IN" dirty="0"/>
          </a:p>
          <a:p>
            <a:pPr lvl="1"/>
            <a:r>
              <a:rPr lang="en-IN" dirty="0"/>
              <a:t>Less confusing than many languages </a:t>
            </a:r>
            <a:endParaRPr lang="en-IN" dirty="0"/>
          </a:p>
          <a:p>
            <a:pPr marL="0" indent="0">
              <a:buNone/>
            </a:pPr>
            <a:r>
              <a:rPr lang="en-IN" b="1" dirty="0"/>
              <a:t>3.Interpreted Language</a:t>
            </a:r>
            <a:endParaRPr lang="en-IN" b="1" dirty="0"/>
          </a:p>
          <a:p>
            <a:pPr lvl="1"/>
            <a:r>
              <a:rPr lang="en-IN" dirty="0"/>
              <a:t>Executes line by line </a:t>
            </a:r>
            <a:endParaRPr lang="en-IN" dirty="0"/>
          </a:p>
          <a:p>
            <a:pPr lvl="1"/>
            <a:r>
              <a:rPr lang="en-IN" dirty="0"/>
              <a:t>No separate compilation required </a:t>
            </a:r>
            <a:endParaRPr lang="en-IN" dirty="0"/>
          </a:p>
          <a:p>
            <a:pPr lvl="1"/>
            <a:r>
              <a:rPr lang="en-IN" dirty="0"/>
              <a:t>Easier debugging</a:t>
            </a:r>
            <a:endParaRPr lang="en-IN" dirty="0"/>
          </a:p>
          <a:p>
            <a:pPr lvl="1"/>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a:xfrm>
            <a:off x="1154954" y="2181069"/>
            <a:ext cx="8825659" cy="3838731"/>
          </a:xfrm>
        </p:spPr>
        <p:txBody>
          <a:bodyPr>
            <a:normAutofit/>
          </a:bodyPr>
          <a:lstStyle/>
          <a:p>
            <a:r>
              <a:rPr lang="en-IN" b="1" dirty="0"/>
              <a:t>4. Platform Independent</a:t>
            </a:r>
            <a:endParaRPr lang="en-IN" b="1" dirty="0"/>
          </a:p>
          <a:p>
            <a:pPr marL="457200" lvl="1" indent="0">
              <a:buNone/>
            </a:pPr>
            <a:r>
              <a:rPr lang="en-IN" dirty="0"/>
              <a:t>Programs written in Python run on: </a:t>
            </a:r>
            <a:endParaRPr lang="en-IN" dirty="0"/>
          </a:p>
          <a:p>
            <a:pPr marL="457200" lvl="1" indent="0">
              <a:buNone/>
            </a:pPr>
            <a:r>
              <a:rPr lang="en-IN" dirty="0"/>
              <a:t>Windows, Linux, macOS </a:t>
            </a:r>
            <a:endParaRPr lang="en-IN" dirty="0"/>
          </a:p>
          <a:p>
            <a:pPr marL="457200" lvl="1" indent="0">
              <a:buNone/>
            </a:pPr>
            <a:r>
              <a:rPr lang="en-IN" dirty="0"/>
              <a:t>without changing the source code.</a:t>
            </a:r>
            <a:endParaRPr lang="en-IN" dirty="0"/>
          </a:p>
          <a:p>
            <a:r>
              <a:rPr lang="en-IN" b="1" dirty="0"/>
              <a:t>5. Object-Oriented</a:t>
            </a:r>
            <a:endParaRPr lang="en-IN" b="1" dirty="0"/>
          </a:p>
          <a:p>
            <a:pPr marL="400050" lvl="1" indent="0">
              <a:buNone/>
            </a:pPr>
            <a:r>
              <a:rPr lang="en-IN" dirty="0"/>
              <a:t>It supports Classes, Objects, Inheritance, and polymorphism.</a:t>
            </a:r>
            <a:endParaRPr lang="en-IN" dirty="0"/>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Python</a:t>
            </a:r>
            <a:endParaRPr lang="en-IN" b="1" dirty="0"/>
          </a:p>
        </p:txBody>
      </p:sp>
      <p:sp>
        <p:nvSpPr>
          <p:cNvPr id="3" name="Content Placeholder 2"/>
          <p:cNvSpPr>
            <a:spLocks noGrp="1"/>
          </p:cNvSpPr>
          <p:nvPr>
            <p:ph idx="1"/>
          </p:nvPr>
        </p:nvSpPr>
        <p:spPr>
          <a:xfrm>
            <a:off x="1154954" y="2360951"/>
            <a:ext cx="8825659" cy="3658849"/>
          </a:xfrm>
        </p:spPr>
        <p:txBody>
          <a:bodyPr>
            <a:normAutofit fontScale="85000" lnSpcReduction="20000"/>
          </a:bodyPr>
          <a:lstStyle/>
          <a:p>
            <a:pPr marL="0" indent="0">
              <a:buNone/>
            </a:pPr>
            <a:r>
              <a:rPr lang="en-IN" b="1" dirty="0"/>
              <a:t>1. Artificial Intelligence (AI)</a:t>
            </a:r>
            <a:endParaRPr lang="en-IN" b="1" dirty="0"/>
          </a:p>
          <a:p>
            <a:pPr lvl="1"/>
            <a:r>
              <a:rPr lang="en-IN" dirty="0"/>
              <a:t>Develops intelligent systems such as chatbots, virtual assistants, and image recognition.</a:t>
            </a:r>
            <a:endParaRPr lang="en-IN" dirty="0"/>
          </a:p>
          <a:p>
            <a:pPr lvl="1"/>
            <a:r>
              <a:rPr lang="en-IN" b="1" dirty="0"/>
              <a:t>Libraries:</a:t>
            </a:r>
            <a:r>
              <a:rPr lang="en-IN" dirty="0"/>
              <a:t> TensorFlow, </a:t>
            </a:r>
            <a:r>
              <a:rPr lang="en-IN" dirty="0" err="1"/>
              <a:t>PyTorch</a:t>
            </a:r>
            <a:endParaRPr lang="en-IN" dirty="0"/>
          </a:p>
          <a:p>
            <a:pPr lvl="1"/>
            <a:r>
              <a:rPr lang="en-IN" b="1" dirty="0"/>
              <a:t>Example:</a:t>
            </a:r>
            <a:r>
              <a:rPr lang="en-IN" dirty="0"/>
              <a:t> ChatGPT, Google Assistant</a:t>
            </a:r>
            <a:endParaRPr lang="en-IN" dirty="0"/>
          </a:p>
          <a:p>
            <a:pPr marL="0" indent="0">
              <a:buNone/>
            </a:pPr>
            <a:r>
              <a:rPr lang="en-IN" b="1" dirty="0"/>
              <a:t>2. Machine Learning (ML)</a:t>
            </a:r>
            <a:endParaRPr lang="en-IN" b="1" dirty="0"/>
          </a:p>
          <a:p>
            <a:pPr lvl="1"/>
            <a:r>
              <a:rPr lang="en-IN" dirty="0"/>
              <a:t>Builds predictive models and </a:t>
            </a:r>
            <a:r>
              <a:rPr lang="en-IN" dirty="0" err="1"/>
              <a:t>analyzes</a:t>
            </a:r>
            <a:r>
              <a:rPr lang="en-IN" dirty="0"/>
              <a:t> data patterns.</a:t>
            </a:r>
            <a:endParaRPr lang="en-IN" dirty="0"/>
          </a:p>
          <a:p>
            <a:pPr lvl="1"/>
            <a:r>
              <a:rPr lang="en-IN" b="1" dirty="0"/>
              <a:t>Libraries:</a:t>
            </a:r>
            <a:r>
              <a:rPr lang="en-IN" dirty="0"/>
              <a:t> Scikit-learn, TensorFlow</a:t>
            </a:r>
            <a:endParaRPr lang="en-IN" dirty="0"/>
          </a:p>
          <a:p>
            <a:pPr lvl="1"/>
            <a:r>
              <a:rPr lang="en-IN" b="1" dirty="0"/>
              <a:t>Example:</a:t>
            </a:r>
            <a:r>
              <a:rPr lang="en-IN" dirty="0"/>
              <a:t> Spam detection, fraud detection</a:t>
            </a:r>
            <a:endParaRPr lang="en-IN" dirty="0"/>
          </a:p>
          <a:p>
            <a:pPr marL="0" indent="0">
              <a:buNone/>
            </a:pPr>
            <a:r>
              <a:rPr lang="en-IN" b="1" dirty="0"/>
              <a:t>3. Data Science &amp; Analytics</a:t>
            </a:r>
            <a:endParaRPr lang="en-IN" b="1" dirty="0"/>
          </a:p>
          <a:p>
            <a:pPr lvl="1"/>
            <a:r>
              <a:rPr lang="en-IN" dirty="0" err="1"/>
              <a:t>Analyzes</a:t>
            </a:r>
            <a:r>
              <a:rPr lang="en-IN" dirty="0"/>
              <a:t>, visualizes, and interprets large datasets.</a:t>
            </a:r>
            <a:endParaRPr lang="en-IN" dirty="0"/>
          </a:p>
          <a:p>
            <a:pPr lvl="1"/>
            <a:r>
              <a:rPr lang="en-IN" dirty="0"/>
              <a:t>Libraries: Pandas, NumPy, Matplotlib</a:t>
            </a:r>
            <a:endParaRPr lang="en-IN" dirty="0"/>
          </a:p>
          <a:p>
            <a:pPr lvl="1"/>
            <a:r>
              <a:rPr lang="en-IN" dirty="0"/>
              <a:t>Example: Business reports and data analysis</a:t>
            </a:r>
            <a:endParaRPr lang="en-IN" dirty="0"/>
          </a:p>
          <a:p>
            <a:pPr marL="0" indent="0">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p:txBody>
          <a:bodyPr/>
          <a:lstStyle/>
          <a:p>
            <a:pPr marL="0" indent="0">
              <a:buNone/>
            </a:pPr>
            <a:r>
              <a:rPr lang="en-IN" b="1" dirty="0"/>
              <a:t>4. Web Development</a:t>
            </a:r>
            <a:endParaRPr lang="en-IN" b="1" dirty="0"/>
          </a:p>
          <a:p>
            <a:pPr lvl="1"/>
            <a:r>
              <a:rPr lang="en-IN" dirty="0"/>
              <a:t>Develops dynamic websites and web applications.</a:t>
            </a:r>
            <a:endParaRPr lang="en-IN" dirty="0"/>
          </a:p>
          <a:p>
            <a:pPr lvl="1"/>
            <a:r>
              <a:rPr lang="en-IN" dirty="0"/>
              <a:t>Frameworks: Django, Flask, </a:t>
            </a:r>
            <a:r>
              <a:rPr lang="en-IN" dirty="0" err="1"/>
              <a:t>FastAPI</a:t>
            </a:r>
            <a:endParaRPr lang="en-IN" dirty="0"/>
          </a:p>
          <a:p>
            <a:pPr lvl="1"/>
            <a:r>
              <a:rPr lang="en-IN" dirty="0"/>
              <a:t>Example: E-commerce websites and REST APIs</a:t>
            </a:r>
            <a:endParaRPr lang="en-IN" dirty="0"/>
          </a:p>
          <a:p>
            <a:pPr marL="0" indent="0">
              <a:buNone/>
            </a:pPr>
            <a:r>
              <a:rPr lang="en-IN" b="1" dirty="0"/>
              <a:t>5. Automation &amp; Scripting</a:t>
            </a:r>
            <a:endParaRPr lang="en-IN" b="1" dirty="0"/>
          </a:p>
          <a:p>
            <a:pPr lvl="1"/>
            <a:r>
              <a:rPr lang="en-IN" dirty="0"/>
              <a:t>Automates repetitive tasks such as file handling, email sending, and report generation.</a:t>
            </a:r>
            <a:endParaRPr lang="en-IN" dirty="0"/>
          </a:p>
          <a:p>
            <a:pPr lvl="1"/>
            <a:r>
              <a:rPr lang="en-IN" dirty="0"/>
              <a:t>Libraries: Selenium, </a:t>
            </a:r>
            <a:r>
              <a:rPr lang="en-IN" dirty="0" err="1"/>
              <a:t>BeautifulSoup</a:t>
            </a:r>
            <a:endParaRPr lang="en-IN" dirty="0"/>
          </a:p>
          <a:p>
            <a:pPr lvl="1"/>
            <a:r>
              <a:rPr lang="en-IN" dirty="0"/>
              <a:t>Example: Automated Excel reports</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Interactive Mode vs Script Mode</a:t>
            </a:r>
            <a:endParaRPr lang="en-IN" dirty="0"/>
          </a:p>
        </p:txBody>
      </p:sp>
      <p:sp>
        <p:nvSpPr>
          <p:cNvPr id="3" name="Content Placeholder 2"/>
          <p:cNvSpPr>
            <a:spLocks noGrp="1"/>
          </p:cNvSpPr>
          <p:nvPr>
            <p:ph idx="1"/>
          </p:nvPr>
        </p:nvSpPr>
        <p:spPr/>
        <p:txBody>
          <a:bodyPr>
            <a:normAutofit fontScale="77500" lnSpcReduction="20000"/>
          </a:bodyPr>
          <a:lstStyle/>
          <a:p>
            <a:r>
              <a:rPr lang="en-IN" dirty="0"/>
              <a:t>Python programs can be executed in </a:t>
            </a:r>
            <a:r>
              <a:rPr lang="en-IN" b="1" dirty="0"/>
              <a:t>two different modes</a:t>
            </a:r>
            <a:r>
              <a:rPr lang="en-IN" dirty="0"/>
              <a:t>:</a:t>
            </a:r>
            <a:endParaRPr lang="en-IN" dirty="0"/>
          </a:p>
          <a:p>
            <a:pPr lvl="1"/>
            <a:r>
              <a:rPr lang="en-IN" b="1" dirty="0"/>
              <a:t>Interactive Mode (REPL Mode)</a:t>
            </a:r>
            <a:endParaRPr lang="en-IN" dirty="0"/>
          </a:p>
          <a:p>
            <a:pPr lvl="1"/>
            <a:r>
              <a:rPr lang="en-IN" b="1" dirty="0"/>
              <a:t>Script Mode</a:t>
            </a:r>
            <a:endParaRPr lang="en-IN" dirty="0"/>
          </a:p>
          <a:p>
            <a:r>
              <a:rPr lang="en-IN" b="1" dirty="0"/>
              <a:t>1. Interactive Mode (REPL)</a:t>
            </a:r>
            <a:endParaRPr lang="en-IN" b="1" dirty="0"/>
          </a:p>
          <a:p>
            <a:r>
              <a:rPr lang="en-IN" b="1" dirty="0"/>
              <a:t>What is Interactive Mode?</a:t>
            </a:r>
            <a:endParaRPr lang="en-IN" b="1" dirty="0"/>
          </a:p>
          <a:p>
            <a:pPr marL="457200" lvl="1" indent="0">
              <a:buNone/>
            </a:pPr>
            <a:r>
              <a:rPr lang="en-IN" dirty="0"/>
              <a:t>Interactive Mode allows the programmer to </a:t>
            </a:r>
            <a:r>
              <a:rPr lang="en-IN" b="1" dirty="0"/>
              <a:t>write and execute one Python statement at a time</a:t>
            </a:r>
            <a:r>
              <a:rPr lang="en-IN" dirty="0"/>
              <a:t>. The result is displayed immediately after pressing </a:t>
            </a:r>
            <a:r>
              <a:rPr lang="en-IN" b="1" dirty="0"/>
              <a:t>Enter</a:t>
            </a:r>
            <a:r>
              <a:rPr lang="en-IN" dirty="0"/>
              <a:t>.</a:t>
            </a:r>
            <a:endParaRPr lang="en-IN" dirty="0"/>
          </a:p>
          <a:p>
            <a:pPr marL="457200" lvl="1" indent="0">
              <a:buNone/>
            </a:pPr>
            <a:r>
              <a:rPr lang="en-IN" dirty="0"/>
              <a:t>REPL stands for:</a:t>
            </a:r>
            <a:endParaRPr lang="en-IN" dirty="0"/>
          </a:p>
          <a:p>
            <a:pPr marL="457200" lvl="1" indent="0">
              <a:buNone/>
            </a:pPr>
            <a:r>
              <a:rPr lang="en-IN" b="1" dirty="0"/>
              <a:t>R</a:t>
            </a:r>
            <a:r>
              <a:rPr lang="en-IN" dirty="0"/>
              <a:t> – Read</a:t>
            </a:r>
            <a:endParaRPr lang="en-IN" dirty="0"/>
          </a:p>
          <a:p>
            <a:pPr marL="457200" lvl="1" indent="0">
              <a:buNone/>
            </a:pPr>
            <a:r>
              <a:rPr lang="en-IN" b="1" dirty="0"/>
              <a:t>E</a:t>
            </a:r>
            <a:r>
              <a:rPr lang="en-IN" dirty="0"/>
              <a:t> – Evaluate</a:t>
            </a:r>
            <a:endParaRPr lang="en-IN" dirty="0"/>
          </a:p>
          <a:p>
            <a:pPr marL="457200" lvl="1" indent="0">
              <a:buNone/>
            </a:pPr>
            <a:r>
              <a:rPr lang="en-IN" b="1" dirty="0"/>
              <a:t>P</a:t>
            </a:r>
            <a:r>
              <a:rPr lang="en-IN" dirty="0"/>
              <a:t> – Print</a:t>
            </a:r>
            <a:endParaRPr lang="en-IN" dirty="0"/>
          </a:p>
          <a:p>
            <a:pPr marL="457200" lvl="1" indent="0">
              <a:buNone/>
            </a:pPr>
            <a:r>
              <a:rPr lang="en-IN" b="1" dirty="0"/>
              <a:t>L</a:t>
            </a:r>
            <a:r>
              <a:rPr lang="en-IN" dirty="0"/>
              <a:t> – Loop</a:t>
            </a:r>
            <a:endParaRPr lang="en-IN" dirty="0"/>
          </a:p>
          <a:p>
            <a:pPr marL="0" indent="0">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a:xfrm>
            <a:off x="1154954" y="2383436"/>
            <a:ext cx="8825659" cy="3807502"/>
          </a:xfrm>
        </p:spPr>
        <p:txBody>
          <a:bodyPr>
            <a:normAutofit fontScale="85000" lnSpcReduction="20000"/>
          </a:bodyPr>
          <a:lstStyle/>
          <a:p>
            <a:pPr marL="0" indent="0">
              <a:buNone/>
            </a:pPr>
            <a:r>
              <a:rPr lang="en-IN" dirty="0"/>
              <a:t>It is mainly used for:</a:t>
            </a:r>
            <a:endParaRPr lang="en-IN" dirty="0"/>
          </a:p>
          <a:p>
            <a:pPr marL="400050" lvl="1" indent="0">
              <a:buNone/>
            </a:pPr>
            <a:r>
              <a:rPr lang="en-IN" dirty="0"/>
              <a:t>Learning Python</a:t>
            </a:r>
            <a:endParaRPr lang="en-IN" dirty="0"/>
          </a:p>
          <a:p>
            <a:pPr marL="400050" lvl="1" indent="0">
              <a:buNone/>
            </a:pPr>
            <a:r>
              <a:rPr lang="en-IN" dirty="0"/>
              <a:t>Testing small code snippets</a:t>
            </a:r>
            <a:endParaRPr lang="en-IN" dirty="0"/>
          </a:p>
          <a:p>
            <a:pPr marL="400050" lvl="1" indent="0">
              <a:buNone/>
            </a:pPr>
            <a:r>
              <a:rPr lang="en-IN" dirty="0"/>
              <a:t>Performing quick calculations</a:t>
            </a:r>
            <a:endParaRPr lang="en-IN" dirty="0"/>
          </a:p>
          <a:p>
            <a:pPr marL="400050" lvl="1" indent="0">
              <a:buNone/>
            </a:pPr>
            <a:r>
              <a:rPr lang="en-IN" dirty="0"/>
              <a:t>Debugging simple expressions</a:t>
            </a:r>
            <a:endParaRPr lang="en-IN" dirty="0"/>
          </a:p>
          <a:p>
            <a:r>
              <a:rPr lang="en-IN" b="1" dirty="0"/>
              <a:t>How to Start Interactive Mode?</a:t>
            </a:r>
            <a:endParaRPr lang="en-IN" b="1" dirty="0"/>
          </a:p>
          <a:p>
            <a:pPr marL="457200" lvl="1" indent="0">
              <a:buNone/>
            </a:pPr>
            <a:r>
              <a:rPr lang="en-IN" dirty="0"/>
              <a:t>Open </a:t>
            </a:r>
            <a:r>
              <a:rPr lang="en-IN" b="1" dirty="0"/>
              <a:t>Command Prompt</a:t>
            </a:r>
            <a:r>
              <a:rPr lang="en-IN" dirty="0"/>
              <a:t> (Windows) or </a:t>
            </a:r>
            <a:r>
              <a:rPr lang="en-IN" b="1" dirty="0"/>
              <a:t>Terminal</a:t>
            </a:r>
            <a:r>
              <a:rPr lang="en-IN" dirty="0"/>
              <a:t> (Linux/macOS).</a:t>
            </a:r>
            <a:endParaRPr lang="en-IN" dirty="0"/>
          </a:p>
          <a:p>
            <a:pPr marL="457200" lvl="1" indent="0">
              <a:buNone/>
            </a:pPr>
            <a:r>
              <a:rPr lang="en-IN" dirty="0"/>
              <a:t>Type:</a:t>
            </a:r>
            <a:endParaRPr lang="en-IN" dirty="0"/>
          </a:p>
          <a:p>
            <a:pPr marL="457200" lvl="1" indent="0">
              <a:buNone/>
            </a:pPr>
            <a:r>
              <a:rPr lang="en-IN" dirty="0"/>
              <a:t>python</a:t>
            </a:r>
            <a:endParaRPr lang="en-IN" dirty="0"/>
          </a:p>
          <a:p>
            <a:pPr marL="457200" lvl="1" indent="0">
              <a:buNone/>
            </a:pPr>
            <a:r>
              <a:rPr lang="en-IN" dirty="0"/>
              <a:t>or</a:t>
            </a:r>
            <a:endParaRPr lang="en-IN" dirty="0"/>
          </a:p>
          <a:p>
            <a:pPr marL="457200" lvl="1" indent="0">
              <a:buNone/>
            </a:pPr>
            <a:r>
              <a:rPr lang="en-IN" dirty="0" err="1"/>
              <a:t>py</a:t>
            </a:r>
            <a:endParaRPr lang="en-IN" dirty="0"/>
          </a:p>
          <a:p>
            <a:pPr marL="457200" lvl="1" indent="0">
              <a:buNone/>
            </a:pPr>
            <a:r>
              <a:rPr lang="en-IN" dirty="0"/>
              <a:t>The Python prompt (&gt;&gt;&gt;) appears, indicating that Python is ready to accept commands.</a:t>
            </a:r>
            <a:endParaRPr lang="en-IN" dirty="0"/>
          </a:p>
          <a:p>
            <a:pPr marL="400050" lvl="1" indent="0">
              <a:buNone/>
            </a:pPr>
            <a:endParaRPr lang="en-IN" dirty="0"/>
          </a:p>
          <a:p>
            <a:pPr marL="400050" lvl="1" indent="0">
              <a:buNone/>
            </a:pPr>
            <a:endParaRPr lang="en-IN" dirty="0"/>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2. Script Mode</a:t>
            </a:r>
            <a:br>
              <a:rPr lang="en-IN" b="1" dirty="0"/>
            </a:br>
            <a:endParaRPr lang="en-IN" dirty="0"/>
          </a:p>
        </p:txBody>
      </p:sp>
      <p:sp>
        <p:nvSpPr>
          <p:cNvPr id="3" name="Content Placeholder 2"/>
          <p:cNvSpPr>
            <a:spLocks noGrp="1"/>
          </p:cNvSpPr>
          <p:nvPr>
            <p:ph idx="1"/>
          </p:nvPr>
        </p:nvSpPr>
        <p:spPr>
          <a:xfrm>
            <a:off x="1122830" y="2393638"/>
            <a:ext cx="8825659" cy="3416300"/>
          </a:xfrm>
        </p:spPr>
        <p:txBody>
          <a:bodyPr>
            <a:normAutofit fontScale="55000" lnSpcReduction="20000"/>
          </a:bodyPr>
          <a:lstStyle/>
          <a:p>
            <a:r>
              <a:rPr lang="en-IN" b="1" dirty="0"/>
              <a:t>What is Script Mode?</a:t>
            </a:r>
            <a:endParaRPr lang="en-IN" b="1" dirty="0"/>
          </a:p>
          <a:p>
            <a:pPr marL="457200" lvl="1" indent="0">
              <a:buNone/>
            </a:pPr>
            <a:r>
              <a:rPr lang="en-IN" dirty="0"/>
              <a:t>Script Mode allows programmers to </a:t>
            </a:r>
            <a:r>
              <a:rPr lang="en-IN" b="1" dirty="0"/>
              <a:t>write the entire Python program in a file</a:t>
            </a:r>
            <a:r>
              <a:rPr lang="en-IN" dirty="0"/>
              <a:t>, save it with the </a:t>
            </a:r>
            <a:r>
              <a:rPr lang="en-IN" b="1" dirty="0"/>
              <a:t>.</a:t>
            </a:r>
            <a:r>
              <a:rPr lang="en-IN" b="1" dirty="0" err="1"/>
              <a:t>py</a:t>
            </a:r>
            <a:r>
              <a:rPr lang="en-IN" b="1" dirty="0"/>
              <a:t> extension</a:t>
            </a:r>
            <a:r>
              <a:rPr lang="en-IN" dirty="0"/>
              <a:t>, and execute it whenever required.</a:t>
            </a:r>
            <a:endParaRPr lang="en-IN" dirty="0"/>
          </a:p>
          <a:p>
            <a:r>
              <a:rPr lang="en-IN" dirty="0"/>
              <a:t>It is used for:</a:t>
            </a:r>
            <a:endParaRPr lang="en-IN" dirty="0"/>
          </a:p>
          <a:p>
            <a:pPr marL="457200" lvl="1" indent="0">
              <a:buNone/>
            </a:pPr>
            <a:r>
              <a:rPr lang="en-IN" dirty="0"/>
              <a:t>Large applications</a:t>
            </a:r>
            <a:endParaRPr lang="en-IN" dirty="0"/>
          </a:p>
          <a:p>
            <a:pPr marL="457200" lvl="1" indent="0">
              <a:buNone/>
            </a:pPr>
            <a:r>
              <a:rPr lang="en-IN" dirty="0"/>
              <a:t>Software development</a:t>
            </a:r>
            <a:endParaRPr lang="en-IN" dirty="0"/>
          </a:p>
          <a:p>
            <a:pPr marL="457200" lvl="1" indent="0">
              <a:buNone/>
            </a:pPr>
            <a:r>
              <a:rPr lang="en-IN" dirty="0"/>
              <a:t>Projects</a:t>
            </a:r>
            <a:endParaRPr lang="en-IN" dirty="0"/>
          </a:p>
          <a:p>
            <a:pPr marL="457200" lvl="1" indent="0">
              <a:buNone/>
            </a:pPr>
            <a:r>
              <a:rPr lang="en-IN" dirty="0"/>
              <a:t>Reusable programs</a:t>
            </a:r>
            <a:br>
              <a:rPr lang="en-IN" dirty="0"/>
            </a:br>
            <a:endParaRPr lang="en-IN" dirty="0"/>
          </a:p>
          <a:p>
            <a:r>
              <a:rPr lang="en-IN" b="1" dirty="0"/>
              <a:t>Steps to Execute a Python Script</a:t>
            </a:r>
            <a:endParaRPr lang="en-IN" b="1" dirty="0"/>
          </a:p>
          <a:p>
            <a:pPr marL="457200" lvl="1" indent="0">
              <a:buNone/>
            </a:pPr>
            <a:r>
              <a:rPr lang="en-IN" dirty="0"/>
              <a:t>Open a Python editor or IDE (IDLE, VS Code, PyCharm, etc.).</a:t>
            </a:r>
            <a:endParaRPr lang="en-IN" dirty="0"/>
          </a:p>
          <a:p>
            <a:pPr marL="457200" lvl="1" indent="0">
              <a:buNone/>
            </a:pPr>
            <a:r>
              <a:rPr lang="en-IN" dirty="0"/>
              <a:t>Create a new file.</a:t>
            </a:r>
            <a:endParaRPr lang="en-IN" dirty="0"/>
          </a:p>
          <a:p>
            <a:pPr marL="457200" lvl="1" indent="0">
              <a:buNone/>
            </a:pPr>
            <a:r>
              <a:rPr lang="en-IN" dirty="0"/>
              <a:t>Write the Python code.</a:t>
            </a:r>
            <a:endParaRPr lang="en-IN" dirty="0"/>
          </a:p>
          <a:p>
            <a:pPr marL="457200" lvl="1" indent="0">
              <a:buNone/>
            </a:pPr>
            <a:r>
              <a:rPr lang="en-IN" dirty="0"/>
              <a:t>Save the file with the extension </a:t>
            </a:r>
            <a:r>
              <a:rPr lang="en-IN" b="1" dirty="0"/>
              <a:t>.</a:t>
            </a:r>
            <a:r>
              <a:rPr lang="en-IN" b="1" dirty="0" err="1"/>
              <a:t>py</a:t>
            </a:r>
            <a:r>
              <a:rPr lang="en-IN" dirty="0"/>
              <a:t>.</a:t>
            </a:r>
            <a:endParaRPr lang="en-IN" dirty="0"/>
          </a:p>
          <a:p>
            <a:pPr marL="457200" lvl="1" indent="0">
              <a:buNone/>
            </a:pPr>
            <a:r>
              <a:rPr lang="en-IN" dirty="0"/>
              <a:t>Run the program.</a:t>
            </a:r>
            <a:endParaRPr lang="en-IN" dirty="0"/>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types in Python</a:t>
            </a:r>
            <a:endParaRPr lang="en-IN" dirty="0"/>
          </a:p>
        </p:txBody>
      </p:sp>
      <p:sp>
        <p:nvSpPr>
          <p:cNvPr id="3" name="Content Placeholder 2"/>
          <p:cNvSpPr>
            <a:spLocks noGrp="1"/>
          </p:cNvSpPr>
          <p:nvPr>
            <p:ph idx="1"/>
          </p:nvPr>
        </p:nvSpPr>
        <p:spPr/>
        <p:txBody>
          <a:bodyPr/>
          <a:lstStyle/>
          <a:p>
            <a:r>
              <a:rPr lang="en-IN" dirty="0"/>
              <a:t>Data type specifies the type of value a variable requires to do various operations without causing an error. By default, Python provides the following built-in data types:</a:t>
            </a:r>
            <a:endParaRPr lang="en-IN" dirty="0"/>
          </a:p>
          <a:p>
            <a:r>
              <a:rPr lang="en-IN" b="1" dirty="0"/>
              <a:t>Numeric data: int, float, complex</a:t>
            </a:r>
            <a:endParaRPr lang="en-IN" b="1" dirty="0"/>
          </a:p>
          <a:p>
            <a:pPr lvl="1"/>
            <a:r>
              <a:rPr lang="en-IN" b="1" dirty="0"/>
              <a:t>int</a:t>
            </a:r>
            <a:r>
              <a:rPr lang="en-IN" dirty="0"/>
              <a:t>: 3, -8, 0</a:t>
            </a:r>
            <a:endParaRPr lang="en-IN" dirty="0"/>
          </a:p>
          <a:p>
            <a:pPr lvl="1"/>
            <a:r>
              <a:rPr lang="en-IN" b="1" dirty="0"/>
              <a:t>float</a:t>
            </a:r>
            <a:r>
              <a:rPr lang="en-IN" dirty="0"/>
              <a:t>: 7.349, -9.0, 0.0000001</a:t>
            </a:r>
            <a:endParaRPr lang="en-IN" dirty="0"/>
          </a:p>
          <a:p>
            <a:pPr lvl="1"/>
            <a:r>
              <a:rPr lang="en-IN" b="1" dirty="0"/>
              <a:t>complex</a:t>
            </a:r>
            <a:r>
              <a:rPr lang="en-IN" dirty="0"/>
              <a:t>: 6 + 2j</a:t>
            </a:r>
            <a:endParaRPr lang="en-IN" dirty="0"/>
          </a:p>
          <a:p>
            <a:r>
              <a:rPr lang="en-IN" b="1" dirty="0"/>
              <a:t>Text data: str</a:t>
            </a:r>
            <a:endParaRPr lang="en-IN" b="1" dirty="0"/>
          </a:p>
          <a:p>
            <a:pPr lvl="1"/>
            <a:r>
              <a:rPr lang="en-IN" b="1" dirty="0"/>
              <a:t>str</a:t>
            </a:r>
            <a:r>
              <a:rPr lang="en-IN" dirty="0"/>
              <a:t>: "Hello World!!!", "Python Programming"</a:t>
            </a:r>
            <a:endParaRPr lang="en-IN" dirty="0"/>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p:txBody>
          <a:bodyPr>
            <a:normAutofit fontScale="70000"/>
          </a:bodyPr>
          <a:lstStyle/>
          <a:p>
            <a:r>
              <a:rPr lang="en-IN" b="1" dirty="0"/>
              <a:t>Boolean data:</a:t>
            </a:r>
            <a:endParaRPr lang="en-IN" b="1" dirty="0"/>
          </a:p>
          <a:p>
            <a:pPr lvl="1"/>
            <a:r>
              <a:rPr lang="en-IN" dirty="0"/>
              <a:t>Boolean data consists of values True or False.</a:t>
            </a:r>
            <a:endParaRPr lang="en-IN" dirty="0"/>
          </a:p>
          <a:p>
            <a:r>
              <a:rPr lang="en-IN" b="1" dirty="0"/>
              <a:t>Sequenced data: list, tuple, range</a:t>
            </a:r>
            <a:endParaRPr lang="en-IN" b="1" dirty="0"/>
          </a:p>
          <a:p>
            <a:pPr lvl="1"/>
            <a:r>
              <a:rPr lang="en-IN" b="1" dirty="0"/>
              <a:t>list</a:t>
            </a:r>
            <a:r>
              <a:rPr lang="en-IN" dirty="0"/>
              <a:t>: A list is an ordered collection of data with elements separated by a comma and enclosed within square brackets. Lists are mutable and can be modified after creation.</a:t>
            </a:r>
            <a:endParaRPr lang="en-IN" dirty="0"/>
          </a:p>
          <a:p>
            <a:pPr marL="1371600" lvl="3" indent="0">
              <a:buNone/>
            </a:pPr>
            <a:r>
              <a:rPr lang="en-US" altLang="en-US" dirty="0"/>
              <a:t>lst1 = [1, 2, 2, 3, 5, 4, 6]</a:t>
            </a:r>
            <a:endParaRPr lang="en-US" altLang="en-US" dirty="0"/>
          </a:p>
          <a:p>
            <a:pPr marL="1371600" lvl="3" indent="0">
              <a:buNone/>
            </a:pPr>
            <a:r>
              <a:rPr lang="en-US" altLang="en-US" dirty="0"/>
              <a:t>lst2 = ["Red", "Green", "Blue"]</a:t>
            </a:r>
            <a:endParaRPr lang="en-US" altLang="en-US" dirty="0"/>
          </a:p>
          <a:p>
            <a:pPr marL="1371600" lvl="3" indent="0">
              <a:buNone/>
            </a:pPr>
            <a:r>
              <a:rPr lang="en-US" altLang="en-US" dirty="0"/>
              <a:t>print(lst1)</a:t>
            </a:r>
            <a:endParaRPr lang="en-US" altLang="en-US" dirty="0"/>
          </a:p>
          <a:p>
            <a:pPr marL="1371600" lvl="3" indent="0">
              <a:buNone/>
            </a:pPr>
            <a:r>
              <a:rPr lang="en-US" altLang="en-US" dirty="0"/>
              <a:t>print(lst2)</a:t>
            </a:r>
            <a:endParaRPr lang="en-US" altLang="en-US" dirty="0"/>
          </a:p>
          <a:p>
            <a:pPr lvl="1"/>
            <a:r>
              <a:rPr lang="en-IN" b="1" dirty="0"/>
              <a:t>tuple</a:t>
            </a:r>
            <a:r>
              <a:rPr lang="en-IN" dirty="0"/>
              <a:t>: A tuple is an ordered collection of data with elements separated by a comma and enclosed within parentheses. Tuples are immutable and cannot be modified after creation.</a:t>
            </a:r>
            <a:endParaRPr lang="en-IN" dirty="0"/>
          </a:p>
          <a:p>
            <a:pPr lvl="1"/>
            <a:r>
              <a:rPr lang="en-IN" b="1" dirty="0"/>
              <a:t>range</a:t>
            </a:r>
            <a:r>
              <a:rPr lang="en-IN" dirty="0"/>
              <a:t>: Returns a sequence of numbers as specified by the user. If not specified by the user, it starts from 0 by default and increments by 1.</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p:txBody>
          <a:bodyPr/>
          <a:lstStyle/>
          <a:p>
            <a:r>
              <a:rPr lang="en-IN" b="1" dirty="0"/>
              <a:t>Mapped data: </a:t>
            </a:r>
            <a:r>
              <a:rPr lang="en-IN" b="1" dirty="0" err="1"/>
              <a:t>dict</a:t>
            </a:r>
            <a:endParaRPr lang="en-IN" b="1" dirty="0"/>
          </a:p>
          <a:p>
            <a:pPr lvl="1"/>
            <a:r>
              <a:rPr lang="en-IN" b="1" dirty="0" err="1"/>
              <a:t>dict</a:t>
            </a:r>
            <a:r>
              <a:rPr lang="en-IN" dirty="0"/>
              <a:t>: A dictionary is an unordered collection of data containing a </a:t>
            </a:r>
            <a:r>
              <a:rPr lang="en-IN" dirty="0" err="1"/>
              <a:t>key:value</a:t>
            </a:r>
            <a:r>
              <a:rPr lang="en-IN" dirty="0"/>
              <a:t> pair. The key-value pairs are enclosed within curly brackets.</a:t>
            </a:r>
            <a:endParaRPr lang="en-IN" dirty="0"/>
          </a:p>
          <a:p>
            <a:r>
              <a:rPr lang="en-IN" b="1" dirty="0"/>
              <a:t>Binary data: bytes, </a:t>
            </a:r>
            <a:r>
              <a:rPr lang="en-IN" b="1" dirty="0" err="1"/>
              <a:t>bytearray</a:t>
            </a:r>
            <a:r>
              <a:rPr lang="en-IN" b="1" dirty="0"/>
              <a:t>, </a:t>
            </a:r>
            <a:r>
              <a:rPr lang="en-IN" b="1" dirty="0" err="1"/>
              <a:t>memoryview</a:t>
            </a:r>
            <a:endParaRPr lang="en-IN" b="1" dirty="0"/>
          </a:p>
          <a:p>
            <a:pPr lvl="1"/>
            <a:r>
              <a:rPr lang="en-IN" b="1" dirty="0"/>
              <a:t>bytes</a:t>
            </a:r>
            <a:r>
              <a:rPr lang="en-IN" dirty="0"/>
              <a:t>: bytes() function is used to convert objects into byte objects, or create an empty bytes object of the specified size</a:t>
            </a:r>
            <a:endParaRPr lang="en-IN" dirty="0"/>
          </a:p>
          <a:p>
            <a:pPr lvl="1"/>
            <a:r>
              <a:rPr lang="en-IN" b="1" dirty="0" err="1"/>
              <a:t>bytearray</a:t>
            </a:r>
            <a:r>
              <a:rPr lang="en-IN" dirty="0"/>
              <a:t>: </a:t>
            </a:r>
            <a:r>
              <a:rPr lang="en-IN" dirty="0" err="1"/>
              <a:t>bytearray</a:t>
            </a:r>
            <a:r>
              <a:rPr lang="en-IN" dirty="0"/>
              <a:t>() function is used to convert objects into </a:t>
            </a:r>
            <a:r>
              <a:rPr lang="en-IN" dirty="0" err="1"/>
              <a:t>bytearray</a:t>
            </a:r>
            <a:r>
              <a:rPr lang="en-IN" dirty="0"/>
              <a:t> objects, or create an empty </a:t>
            </a:r>
            <a:r>
              <a:rPr lang="en-IN" dirty="0" err="1"/>
              <a:t>bytearray</a:t>
            </a:r>
            <a:r>
              <a:rPr lang="en-IN" dirty="0"/>
              <a:t> object of the specified size.</a:t>
            </a:r>
            <a:endParaRPr lang="en-IN" dirty="0"/>
          </a:p>
          <a:p>
            <a:pPr lvl="1"/>
            <a:r>
              <a:rPr lang="en-IN" b="1" dirty="0" err="1"/>
              <a:t>memoryview</a:t>
            </a:r>
            <a:r>
              <a:rPr lang="en-IN" dirty="0"/>
              <a:t>: </a:t>
            </a:r>
            <a:r>
              <a:rPr lang="en-IN" dirty="0" err="1"/>
              <a:t>memoryview</a:t>
            </a:r>
            <a:r>
              <a:rPr lang="en-IN" dirty="0"/>
              <a:t>() function returns a memory view object from a specified object.</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lstStyle/>
          <a:p>
            <a:r>
              <a:rPr lang="en-IN" b="1" dirty="0"/>
              <a:t>Set data:</a:t>
            </a:r>
            <a:endParaRPr lang="en-IN" b="1" dirty="0"/>
          </a:p>
          <a:p>
            <a:pPr lvl="1"/>
            <a:r>
              <a:rPr lang="en-IN" dirty="0"/>
              <a:t>Set is an unordered collection of elements in which no element is repeated. The elements of sets are separated by a comma and contained within curly braces.</a:t>
            </a:r>
            <a:endParaRPr lang="en-IN" dirty="0"/>
          </a:p>
          <a:p>
            <a:r>
              <a:rPr lang="en-IN" b="1" dirty="0"/>
              <a:t>None:</a:t>
            </a:r>
            <a:endParaRPr lang="en-IN" b="1" dirty="0"/>
          </a:p>
          <a:p>
            <a:pPr lvl="1"/>
            <a:r>
              <a:rPr lang="en-IN" dirty="0"/>
              <a:t>None is used to define a null value. When we assign a None value to a variable, we are essentially resetting it to its original empty state, which is not the same as zero, an empty string, or a False value.</a:t>
            </a:r>
            <a:endParaRPr lang="en-IN" dirty="0"/>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Mutable vs Immutable Data Types</a:t>
            </a:r>
            <a:endParaRPr lang="en-IN" dirty="0"/>
          </a:p>
        </p:txBody>
      </p:sp>
      <p:sp>
        <p:nvSpPr>
          <p:cNvPr id="3" name="Content Placeholder 2"/>
          <p:cNvSpPr>
            <a:spLocks noGrp="1"/>
          </p:cNvSpPr>
          <p:nvPr>
            <p:ph idx="1"/>
          </p:nvPr>
        </p:nvSpPr>
        <p:spPr/>
        <p:txBody>
          <a:bodyPr>
            <a:normAutofit fontScale="85000" lnSpcReduction="20000"/>
          </a:bodyPr>
          <a:lstStyle/>
          <a:p>
            <a:r>
              <a:rPr lang="en-IN" dirty="0"/>
              <a:t>In Python, every value we store in a variable has a </a:t>
            </a:r>
            <a:r>
              <a:rPr lang="en-IN" b="1" dirty="0"/>
              <a:t>data type</a:t>
            </a:r>
            <a:r>
              <a:rPr lang="en-IN" dirty="0"/>
              <a:t>. These data types are divided into two categories: </a:t>
            </a:r>
            <a:r>
              <a:rPr lang="en-IN" b="1" dirty="0"/>
              <a:t>mutable</a:t>
            </a:r>
            <a:r>
              <a:rPr lang="en-IN" dirty="0"/>
              <a:t> and </a:t>
            </a:r>
            <a:r>
              <a:rPr lang="en-IN" b="1" dirty="0"/>
              <a:t>immutable</a:t>
            </a:r>
            <a:r>
              <a:rPr lang="en-IN" dirty="0"/>
              <a:t>, depending on whether their values can be changed after creation.</a:t>
            </a:r>
            <a:endParaRPr lang="en-IN" dirty="0"/>
          </a:p>
          <a:p>
            <a:r>
              <a:rPr lang="en-IN" b="1" dirty="0"/>
              <a:t>Mutable Data Types</a:t>
            </a:r>
            <a:endParaRPr lang="en-IN" b="1" dirty="0"/>
          </a:p>
          <a:p>
            <a:r>
              <a:rPr lang="en-IN" dirty="0"/>
              <a:t>Mutable means </a:t>
            </a:r>
            <a:r>
              <a:rPr lang="en-IN" b="1" dirty="0"/>
              <a:t>changeable</a:t>
            </a:r>
            <a:r>
              <a:rPr lang="en-IN" dirty="0"/>
              <a:t>. If a data type is </a:t>
            </a:r>
            <a:r>
              <a:rPr lang="en-IN" b="1" dirty="0"/>
              <a:t>mutable</a:t>
            </a:r>
            <a:r>
              <a:rPr lang="en-IN" dirty="0"/>
              <a:t>, it means you can </a:t>
            </a:r>
            <a:r>
              <a:rPr lang="en-IN" b="1" dirty="0"/>
              <a:t>add, remove, or modify</a:t>
            </a:r>
            <a:r>
              <a:rPr lang="en-IN" dirty="0"/>
              <a:t> its elements </a:t>
            </a:r>
            <a:r>
              <a:rPr lang="en-IN" b="1" dirty="0"/>
              <a:t>without creating a new object in memory</a:t>
            </a:r>
            <a:r>
              <a:rPr lang="en-IN" dirty="0"/>
              <a:t>. When you change a mutable object, its </a:t>
            </a:r>
            <a:r>
              <a:rPr lang="en-IN" b="1" dirty="0"/>
              <a:t>memory address (ID)</a:t>
            </a:r>
            <a:r>
              <a:rPr lang="en-IN" dirty="0"/>
              <a:t> stays the same.</a:t>
            </a:r>
            <a:endParaRPr lang="en-IN" dirty="0"/>
          </a:p>
          <a:p>
            <a:r>
              <a:rPr lang="en-IN" b="1" dirty="0"/>
              <a:t>Common mutable data types:</a:t>
            </a:r>
            <a:endParaRPr lang="en-IN" dirty="0"/>
          </a:p>
          <a:p>
            <a:pPr lvl="0"/>
            <a:r>
              <a:rPr lang="en-IN" dirty="0"/>
              <a:t>list</a:t>
            </a:r>
            <a:endParaRPr lang="en-IN" dirty="0"/>
          </a:p>
          <a:p>
            <a:pPr lvl="0"/>
            <a:r>
              <a:rPr lang="en-IN" dirty="0" err="1"/>
              <a:t>dict</a:t>
            </a:r>
            <a:endParaRPr lang="en-IN" dirty="0"/>
          </a:p>
          <a:p>
            <a:pPr lvl="0"/>
            <a:r>
              <a:rPr lang="en-IN" dirty="0"/>
              <a:t>set</a:t>
            </a:r>
            <a:endParaRPr lang="en-IN" dirty="0"/>
          </a:p>
          <a:p>
            <a:pPr lvl="0"/>
            <a:r>
              <a:rPr lang="en-IN" dirty="0" err="1"/>
              <a:t>bytearray</a:t>
            </a:r>
            <a:endParaRPr lang="en-IN" dirty="0"/>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normAutofit fontScale="77500" lnSpcReduction="20000"/>
          </a:bodyPr>
          <a:lstStyle/>
          <a:p>
            <a:r>
              <a:rPr lang="en-IN" b="1" dirty="0"/>
              <a:t>Immutable Data Types</a:t>
            </a:r>
            <a:endParaRPr lang="en-IN" b="1" dirty="0"/>
          </a:p>
          <a:p>
            <a:r>
              <a:rPr lang="en-IN" dirty="0"/>
              <a:t>Immutable means </a:t>
            </a:r>
            <a:r>
              <a:rPr lang="en-IN" b="1" dirty="0"/>
              <a:t>unchangeable</a:t>
            </a:r>
            <a:r>
              <a:rPr lang="en-IN" dirty="0"/>
              <a:t>. If a data type is </a:t>
            </a:r>
            <a:r>
              <a:rPr lang="en-IN" b="1" dirty="0"/>
              <a:t>immutable</a:t>
            </a:r>
            <a:r>
              <a:rPr lang="en-IN" dirty="0"/>
              <a:t>, it means its value </a:t>
            </a:r>
            <a:r>
              <a:rPr lang="en-IN" b="1" dirty="0"/>
              <a:t>cannot be changed</a:t>
            </a:r>
            <a:r>
              <a:rPr lang="en-IN" dirty="0"/>
              <a:t> once created. If you try to modify it, Python will </a:t>
            </a:r>
            <a:r>
              <a:rPr lang="en-IN" b="1" dirty="0"/>
              <a:t>create a new object</a:t>
            </a:r>
            <a:r>
              <a:rPr lang="en-IN" dirty="0"/>
              <a:t> instead of changing the existing one. As a result, its </a:t>
            </a:r>
            <a:r>
              <a:rPr lang="en-IN" b="1" dirty="0"/>
              <a:t>memory address (ID)</a:t>
            </a:r>
            <a:r>
              <a:rPr lang="en-IN" dirty="0"/>
              <a:t> changes.</a:t>
            </a:r>
            <a:endParaRPr lang="en-IN" dirty="0"/>
          </a:p>
          <a:p>
            <a:r>
              <a:rPr lang="en-IN" b="1" dirty="0"/>
              <a:t>Common immutable data types:</a:t>
            </a:r>
            <a:endParaRPr lang="en-IN" dirty="0"/>
          </a:p>
          <a:p>
            <a:pPr lvl="0"/>
            <a:r>
              <a:rPr lang="en-IN" dirty="0"/>
              <a:t>int</a:t>
            </a:r>
            <a:endParaRPr lang="en-IN" dirty="0"/>
          </a:p>
          <a:p>
            <a:pPr lvl="0"/>
            <a:r>
              <a:rPr lang="en-IN" dirty="0"/>
              <a:t>float</a:t>
            </a:r>
            <a:endParaRPr lang="en-IN" dirty="0"/>
          </a:p>
          <a:p>
            <a:pPr lvl="0"/>
            <a:r>
              <a:rPr lang="en-IN" dirty="0"/>
              <a:t>complex</a:t>
            </a:r>
            <a:endParaRPr lang="en-IN" dirty="0"/>
          </a:p>
          <a:p>
            <a:pPr lvl="0"/>
            <a:r>
              <a:rPr lang="en-IN" dirty="0"/>
              <a:t>str</a:t>
            </a:r>
            <a:endParaRPr lang="en-IN" dirty="0"/>
          </a:p>
          <a:p>
            <a:pPr lvl="0"/>
            <a:r>
              <a:rPr lang="en-IN" dirty="0"/>
              <a:t>tuple</a:t>
            </a:r>
            <a:endParaRPr lang="en-IN" dirty="0"/>
          </a:p>
          <a:p>
            <a:pPr lvl="0"/>
            <a:r>
              <a:rPr lang="en-IN" dirty="0"/>
              <a:t>bool</a:t>
            </a:r>
            <a:endParaRPr lang="en-IN" dirty="0"/>
          </a:p>
          <a:p>
            <a:pPr lvl="0"/>
            <a:r>
              <a:rPr lang="en-IN" dirty="0"/>
              <a:t>bytes</a:t>
            </a:r>
            <a:endParaRPr lang="en-IN" dirty="0"/>
          </a:p>
          <a:p>
            <a:pPr marL="0" indent="0">
              <a:buNone/>
            </a:pPr>
            <a:endParaRPr lang="en-IN"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Numbers Datatype</a:t>
            </a:r>
            <a:endParaRPr lang="en-IN" dirty="0"/>
          </a:p>
        </p:txBody>
      </p:sp>
      <p:sp>
        <p:nvSpPr>
          <p:cNvPr id="3" name="Content Placeholder 2"/>
          <p:cNvSpPr>
            <a:spLocks noGrp="1"/>
          </p:cNvSpPr>
          <p:nvPr>
            <p:ph idx="1"/>
          </p:nvPr>
        </p:nvSpPr>
        <p:spPr/>
        <p:txBody>
          <a:bodyPr>
            <a:normAutofit lnSpcReduction="10000"/>
          </a:bodyPr>
          <a:lstStyle/>
          <a:p>
            <a:r>
              <a:rPr lang="en-IN" dirty="0"/>
              <a:t>In Python, numbers are of the following data types:</a:t>
            </a:r>
            <a:endParaRPr lang="en-IN" dirty="0"/>
          </a:p>
          <a:p>
            <a:pPr lvl="1"/>
            <a:r>
              <a:rPr lang="en-IN" dirty="0"/>
              <a:t>int</a:t>
            </a:r>
            <a:endParaRPr lang="en-IN" dirty="0"/>
          </a:p>
          <a:p>
            <a:pPr lvl="1"/>
            <a:r>
              <a:rPr lang="en-IN" dirty="0"/>
              <a:t>float</a:t>
            </a:r>
            <a:endParaRPr lang="en-IN" dirty="0"/>
          </a:p>
          <a:p>
            <a:pPr lvl="1"/>
            <a:r>
              <a:rPr lang="en-IN" dirty="0"/>
              <a:t>complex</a:t>
            </a:r>
            <a:endParaRPr lang="en-IN" dirty="0"/>
          </a:p>
          <a:p>
            <a:r>
              <a:rPr lang="en-IN" b="1" dirty="0"/>
              <a:t>int</a:t>
            </a:r>
            <a:endParaRPr lang="en-IN" b="1" dirty="0"/>
          </a:p>
          <a:p>
            <a:pPr lvl="1"/>
            <a:r>
              <a:rPr lang="en-IN" dirty="0"/>
              <a:t>int is a positive or a negative integer of any length. int should not be a decimal or a fraction.</a:t>
            </a:r>
            <a:endParaRPr lang="en-IN" dirty="0"/>
          </a:p>
          <a:p>
            <a:r>
              <a:rPr lang="en-IN" b="1" dirty="0"/>
              <a:t>float</a:t>
            </a:r>
            <a:endParaRPr lang="en-IN" b="1" dirty="0"/>
          </a:p>
          <a:p>
            <a:pPr lvl="1"/>
            <a:r>
              <a:rPr lang="en-IN" dirty="0"/>
              <a:t>A float is a positive or negative decimal number. It can also be represented in exponential (scientific) notation, but not as an exact fraction.</a:t>
            </a:r>
            <a:endParaRPr lang="en-IN" dirty="0"/>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p:txBody>
          <a:bodyPr/>
          <a:lstStyle/>
          <a:p>
            <a:r>
              <a:rPr lang="en-IN" b="1" dirty="0"/>
              <a:t>complex</a:t>
            </a:r>
            <a:endParaRPr lang="en-IN" b="1" dirty="0"/>
          </a:p>
          <a:p>
            <a:pPr lvl="1"/>
            <a:r>
              <a:rPr lang="en-IN" dirty="0"/>
              <a:t>Complex numbers are a combination of real and imaginary numbers. They are of the form a + </a:t>
            </a:r>
            <a:r>
              <a:rPr lang="en-IN" dirty="0" err="1"/>
              <a:t>bj</a:t>
            </a:r>
            <a:r>
              <a:rPr lang="en-IN" dirty="0"/>
              <a:t>, where a is the real part and </a:t>
            </a:r>
            <a:r>
              <a:rPr lang="en-IN" dirty="0" err="1"/>
              <a:t>bj</a:t>
            </a:r>
            <a:r>
              <a:rPr lang="en-IN" dirty="0"/>
              <a:t> is the imaginary part.</a:t>
            </a:r>
            <a:endParaRPr lang="en-IN" dirty="0"/>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 Conversion</a:t>
            </a:r>
            <a:br>
              <a:rPr lang="en-IN" b="1" dirty="0"/>
            </a:br>
            <a:endParaRPr lang="en-IN" dirty="0"/>
          </a:p>
        </p:txBody>
      </p:sp>
      <p:sp>
        <p:nvSpPr>
          <p:cNvPr id="3" name="Content Placeholder 2"/>
          <p:cNvSpPr>
            <a:spLocks noGrp="1"/>
          </p:cNvSpPr>
          <p:nvPr>
            <p:ph idx="1"/>
          </p:nvPr>
        </p:nvSpPr>
        <p:spPr/>
        <p:txBody>
          <a:bodyPr/>
          <a:lstStyle/>
          <a:p>
            <a:pPr lvl="0"/>
            <a:r>
              <a:rPr lang="en-IN" dirty="0"/>
              <a:t>The process of converting numeric data from one type to another is called type conversion.</a:t>
            </a:r>
            <a:endParaRPr lang="en-IN" dirty="0"/>
          </a:p>
          <a:p>
            <a:pPr lvl="0"/>
            <a:r>
              <a:rPr lang="en-IN" dirty="0"/>
              <a:t>To convert an integer to a float, we use the float() function.</a:t>
            </a:r>
            <a:endParaRPr lang="en-IN" dirty="0"/>
          </a:p>
          <a:p>
            <a:r>
              <a:rPr lang="en-IN" dirty="0"/>
              <a:t>To convert an integer to a complex number, we use the complex() function.</a:t>
            </a:r>
            <a:endParaRPr lang="en-IN" dirty="0"/>
          </a:p>
          <a:p>
            <a:pPr lvl="0"/>
            <a:r>
              <a:rPr lang="en-IN" dirty="0"/>
              <a:t>To convert from float to integer, we use the int() function. The int() function rounds off the given number to the nearest integer value.</a:t>
            </a:r>
            <a:endParaRPr lang="en-IN" dirty="0"/>
          </a:p>
          <a:p>
            <a:r>
              <a:rPr lang="en-IN" dirty="0"/>
              <a:t>To convert a float to a complex number, we use the complex() function.</a:t>
            </a:r>
            <a:endParaRPr lang="en-IN" dirty="0"/>
          </a:p>
          <a:p>
            <a:r>
              <a:rPr lang="en-IN" b="1" dirty="0"/>
              <a:t>Note:</a:t>
            </a:r>
            <a:r>
              <a:rPr lang="en-IN" dirty="0"/>
              <a:t> Complex numbers cannot be converted to integer or float.</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a:t>
            </a:r>
            <a:endParaRPr lang="en-IN" dirty="0"/>
          </a:p>
        </p:txBody>
      </p:sp>
      <p:sp>
        <p:nvSpPr>
          <p:cNvPr id="3" name="Content Placeholder 2"/>
          <p:cNvSpPr>
            <a:spLocks noGrp="1"/>
          </p:cNvSpPr>
          <p:nvPr>
            <p:ph idx="1"/>
          </p:nvPr>
        </p:nvSpPr>
        <p:spPr>
          <a:xfrm>
            <a:off x="1154954" y="2603500"/>
            <a:ext cx="8825659" cy="4202034"/>
          </a:xfrm>
        </p:spPr>
        <p:txBody>
          <a:bodyPr>
            <a:normAutofit lnSpcReduction="10000"/>
          </a:bodyPr>
          <a:lstStyle/>
          <a:p>
            <a:r>
              <a:rPr lang="en-IN" dirty="0"/>
              <a:t>In Python, anything enclosed within single or double quotation marks is considered a string. A string is essentially a sequence of characters.</a:t>
            </a:r>
            <a:endParaRPr lang="en-IN" dirty="0"/>
          </a:p>
          <a:p>
            <a:pPr marL="0" indent="0">
              <a:buNone/>
            </a:pPr>
            <a:r>
              <a:rPr lang="en-GB" dirty="0"/>
              <a:t>name = "Sam"</a:t>
            </a:r>
            <a:endParaRPr lang="en-GB" dirty="0"/>
          </a:p>
          <a:p>
            <a:pPr marL="0" indent="0">
              <a:buNone/>
            </a:pPr>
            <a:r>
              <a:rPr lang="en-GB" dirty="0"/>
              <a:t>print("Hello, " + name)</a:t>
            </a:r>
            <a:endParaRPr lang="en-GB" dirty="0"/>
          </a:p>
          <a:p>
            <a:pPr marL="0" indent="0">
              <a:buNone/>
            </a:pPr>
            <a:r>
              <a:rPr lang="en-IN" b="1" dirty="0"/>
              <a:t>Note:</a:t>
            </a:r>
            <a:r>
              <a:rPr lang="en-IN" dirty="0"/>
              <a:t> It does not matter whether you enclose your strings in single or double quotes, the output remains the same.</a:t>
            </a:r>
            <a:endParaRPr lang="en-IN" dirty="0"/>
          </a:p>
          <a:p>
            <a:pPr marL="0" indent="0">
              <a:buNone/>
            </a:pPr>
            <a:r>
              <a:rPr lang="en-IN" dirty="0"/>
              <a:t>Sometimes, you may need to include quotation marks inside a string. For example: He said, “I want to play cricket.”</a:t>
            </a:r>
            <a:endParaRPr lang="en-IN" dirty="0"/>
          </a:p>
          <a:p>
            <a:pPr marL="0" indent="0">
              <a:buNone/>
            </a:pPr>
            <a:r>
              <a:rPr lang="en-IN" dirty="0"/>
              <a:t>To print above statement :</a:t>
            </a:r>
            <a:endParaRPr lang="en-IN" dirty="0"/>
          </a:p>
          <a:p>
            <a:pPr marL="0" indent="0">
              <a:buNone/>
            </a:pPr>
            <a:r>
              <a:rPr lang="en-IN" dirty="0"/>
              <a:t>print('He said, " I want to play cricket ".’)</a:t>
            </a:r>
            <a:endParaRPr lang="en-IN" dirty="0"/>
          </a:p>
          <a:p>
            <a:pPr marL="0" indent="0">
              <a:buNone/>
            </a:pPr>
            <a:r>
              <a:rPr lang="en-IN" dirty="0"/>
              <a:t>#OR</a:t>
            </a:r>
            <a:endParaRPr lang="en-IN" dirty="0"/>
          </a:p>
          <a:p>
            <a:pPr marL="0" indent="0">
              <a:buNone/>
            </a:pPr>
            <a:r>
              <a:rPr lang="en-IN" dirty="0"/>
              <a:t>print("He said, \" I want to play cricket \".")</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if you want to write multiline strings?</a:t>
            </a:r>
            <a:br>
              <a:rPr lang="en-IN" b="1" dirty="0"/>
            </a:br>
            <a:endParaRPr lang="en-IN" dirty="0"/>
          </a:p>
        </p:txBody>
      </p:sp>
      <p:sp>
        <p:nvSpPr>
          <p:cNvPr id="3" name="Content Placeholder 2"/>
          <p:cNvSpPr>
            <a:spLocks noGrp="1"/>
          </p:cNvSpPr>
          <p:nvPr>
            <p:ph sz="half" idx="1"/>
          </p:nvPr>
        </p:nvSpPr>
        <p:spPr/>
        <p:txBody>
          <a:bodyPr/>
          <a:lstStyle/>
          <a:p>
            <a:r>
              <a:rPr lang="en-GB" dirty="0"/>
              <a:t>rules = """</a:t>
            </a:r>
            <a:endParaRPr lang="en-GB" dirty="0"/>
          </a:p>
          <a:p>
            <a:pPr marL="400050" lvl="1" indent="0">
              <a:buNone/>
            </a:pPr>
            <a:r>
              <a:rPr lang="en-GB" dirty="0"/>
              <a:t>1. Attend classes regularly.</a:t>
            </a:r>
            <a:endParaRPr lang="en-GB" dirty="0"/>
          </a:p>
          <a:p>
            <a:pPr marL="400050" lvl="1" indent="0">
              <a:buNone/>
            </a:pPr>
            <a:r>
              <a:rPr lang="en-GB" dirty="0"/>
              <a:t>2. Submit assignments on time.</a:t>
            </a:r>
            <a:endParaRPr lang="en-GB" dirty="0"/>
          </a:p>
          <a:p>
            <a:pPr marL="400050" lvl="1" indent="0">
              <a:buNone/>
            </a:pPr>
            <a:r>
              <a:rPr lang="en-GB" dirty="0"/>
              <a:t>3. Maintain discipline in the classroom.</a:t>
            </a:r>
            <a:endParaRPr lang="en-GB" dirty="0"/>
          </a:p>
          <a:p>
            <a:pPr marL="400050" lvl="1" indent="0">
              <a:buNone/>
            </a:pPr>
            <a:r>
              <a:rPr lang="en-GB" dirty="0"/>
              <a:t>4. Carry your ID card every day.</a:t>
            </a:r>
            <a:endParaRPr lang="en-GB" dirty="0"/>
          </a:p>
          <a:p>
            <a:pPr marL="400050" lvl="1" indent="0">
              <a:buNone/>
            </a:pPr>
            <a:r>
              <a:rPr lang="en-GB" dirty="0"/>
              <a:t>"""</a:t>
            </a:r>
            <a:endParaRPr lang="en-GB" dirty="0"/>
          </a:p>
          <a:p>
            <a:r>
              <a:rPr lang="en-GB" dirty="0"/>
              <a:t>print(rules)</a:t>
            </a:r>
            <a:endParaRPr lang="en-IN" dirty="0"/>
          </a:p>
        </p:txBody>
      </p:sp>
      <p:sp>
        <p:nvSpPr>
          <p:cNvPr id="4" name="Content Placeholder 3"/>
          <p:cNvSpPr>
            <a:spLocks noGrp="1"/>
          </p:cNvSpPr>
          <p:nvPr>
            <p:ph sz="half" idx="2"/>
          </p:nvPr>
        </p:nvSpPr>
        <p:spPr/>
        <p:txBody>
          <a:bodyPr/>
          <a:lstStyle/>
          <a:p>
            <a:r>
              <a:rPr lang="en-GB" dirty="0"/>
              <a:t>shopping = '''</a:t>
            </a:r>
            <a:endParaRPr lang="en-GB" dirty="0"/>
          </a:p>
          <a:p>
            <a:pPr marL="400050" lvl="1" indent="0">
              <a:buNone/>
            </a:pPr>
            <a:r>
              <a:rPr lang="en-GB" dirty="0"/>
              <a:t>Shopping List:</a:t>
            </a:r>
            <a:endParaRPr lang="en-GB" dirty="0"/>
          </a:p>
          <a:p>
            <a:pPr marL="400050" lvl="1" indent="0">
              <a:buNone/>
            </a:pPr>
            <a:r>
              <a:rPr lang="en-GB" dirty="0"/>
              <a:t>1. Milk</a:t>
            </a:r>
            <a:endParaRPr lang="en-GB" dirty="0"/>
          </a:p>
          <a:p>
            <a:pPr marL="400050" lvl="1" indent="0">
              <a:buNone/>
            </a:pPr>
            <a:r>
              <a:rPr lang="en-GB" dirty="0"/>
              <a:t>2. Bread</a:t>
            </a:r>
            <a:endParaRPr lang="en-GB" dirty="0"/>
          </a:p>
          <a:p>
            <a:pPr marL="400050" lvl="1" indent="0">
              <a:buNone/>
            </a:pPr>
            <a:r>
              <a:rPr lang="en-GB" dirty="0"/>
              <a:t>3. Eggs</a:t>
            </a:r>
            <a:endParaRPr lang="en-GB" dirty="0"/>
          </a:p>
          <a:p>
            <a:pPr marL="400050" lvl="1" indent="0">
              <a:buNone/>
            </a:pPr>
            <a:r>
              <a:rPr lang="en-GB" dirty="0"/>
              <a:t>4. Fruits</a:t>
            </a:r>
            <a:endParaRPr lang="en-GB" dirty="0"/>
          </a:p>
          <a:p>
            <a:pPr marL="400050" lvl="1" indent="0">
              <a:buNone/>
            </a:pPr>
            <a:r>
              <a:rPr lang="en-GB" dirty="0"/>
              <a:t>'''</a:t>
            </a:r>
            <a:endParaRPr lang="en-GB" dirty="0"/>
          </a:p>
          <a:p>
            <a:r>
              <a:rPr lang="en-GB" dirty="0"/>
              <a:t>print(shopping)</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Operations on string</a:t>
            </a:r>
            <a:endParaRPr lang="en-IN" dirty="0"/>
          </a:p>
        </p:txBody>
      </p:sp>
      <p:sp>
        <p:nvSpPr>
          <p:cNvPr id="6" name="Content Placeholder 5"/>
          <p:cNvSpPr>
            <a:spLocks noGrp="1"/>
          </p:cNvSpPr>
          <p:nvPr>
            <p:ph idx="1"/>
          </p:nvPr>
        </p:nvSpPr>
        <p:spPr/>
        <p:txBody>
          <a:bodyPr>
            <a:normAutofit fontScale="92500" lnSpcReduction="20000"/>
          </a:bodyPr>
          <a:lstStyle/>
          <a:p>
            <a:r>
              <a:rPr lang="en-IN" b="1" dirty="0"/>
              <a:t>Length of a String:</a:t>
            </a:r>
            <a:endParaRPr lang="en-IN" b="1" dirty="0"/>
          </a:p>
          <a:p>
            <a:pPr lvl="1"/>
            <a:r>
              <a:rPr lang="en-IN" dirty="0"/>
              <a:t>We can find the length of a string using the </a:t>
            </a:r>
            <a:r>
              <a:rPr lang="en-IN" dirty="0" err="1"/>
              <a:t>len</a:t>
            </a:r>
            <a:r>
              <a:rPr lang="en-IN" dirty="0"/>
              <a:t>() function.</a:t>
            </a:r>
            <a:endParaRPr lang="en-IN" dirty="0"/>
          </a:p>
          <a:p>
            <a:pPr lvl="1"/>
            <a:endParaRPr lang="en-IN" dirty="0"/>
          </a:p>
          <a:p>
            <a:r>
              <a:rPr lang="en-IN" b="1" dirty="0"/>
              <a:t>String as an Array:</a:t>
            </a:r>
            <a:endParaRPr lang="en-IN" b="1" dirty="0"/>
          </a:p>
          <a:p>
            <a:r>
              <a:rPr lang="en-IN" dirty="0"/>
              <a:t>A string is essentially a sequence of characters and can be accessed like an array, although it is not technically one. Thus, we can access the elements of this array.</a:t>
            </a:r>
            <a:endParaRPr lang="en-IN" dirty="0"/>
          </a:p>
          <a:p>
            <a:r>
              <a:rPr lang="en-GB" dirty="0"/>
              <a:t>pie = "ApplePie"</a:t>
            </a:r>
            <a:endParaRPr lang="en-GB" dirty="0"/>
          </a:p>
          <a:p>
            <a:r>
              <a:rPr lang="en-GB" dirty="0"/>
              <a:t>print(pie[:5])#returns characters from the beginning of the string to the specified index</a:t>
            </a:r>
            <a:endParaRPr lang="en-GB" dirty="0"/>
          </a:p>
          <a:p>
            <a:r>
              <a:rPr lang="en-GB" dirty="0"/>
              <a:t>print(pie[6])  # returns character at specified index</a:t>
            </a:r>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a:xfrm>
            <a:off x="1154954" y="2281212"/>
            <a:ext cx="8825659" cy="4411896"/>
          </a:xfrm>
        </p:spPr>
        <p:txBody>
          <a:bodyPr>
            <a:normAutofit fontScale="92500"/>
          </a:bodyPr>
          <a:lstStyle/>
          <a:p>
            <a:r>
              <a:rPr lang="en-IN" b="1" dirty="0"/>
              <a:t>Loop through a String:</a:t>
            </a:r>
            <a:endParaRPr lang="en-IN" b="1" dirty="0"/>
          </a:p>
          <a:p>
            <a:r>
              <a:rPr lang="en-IN" dirty="0"/>
              <a:t>Strings are arrays, and arrays are </a:t>
            </a:r>
            <a:r>
              <a:rPr lang="en-IN" dirty="0" err="1"/>
              <a:t>iterable</a:t>
            </a:r>
            <a:r>
              <a:rPr lang="en-IN" dirty="0"/>
              <a:t>. Thus, we can loop through strings.</a:t>
            </a:r>
            <a:endParaRPr lang="en-IN" dirty="0"/>
          </a:p>
          <a:p>
            <a:pPr marL="0" indent="0">
              <a:buNone/>
            </a:pPr>
            <a:endParaRPr lang="en-IN" dirty="0"/>
          </a:p>
          <a:p>
            <a:r>
              <a:rPr lang="en-IN" dirty="0"/>
              <a:t>alphabets = "ABCDE"</a:t>
            </a:r>
            <a:endParaRPr lang="en-IN" dirty="0"/>
          </a:p>
          <a:p>
            <a:r>
              <a:rPr lang="en-IN" dirty="0"/>
              <a:t>for </a:t>
            </a:r>
            <a:r>
              <a:rPr lang="en-IN" dirty="0" err="1"/>
              <a:t>i</a:t>
            </a:r>
            <a:r>
              <a:rPr lang="en-IN" dirty="0"/>
              <a:t> in alphabets:</a:t>
            </a:r>
            <a:endParaRPr lang="en-IN" dirty="0"/>
          </a:p>
          <a:p>
            <a:r>
              <a:rPr lang="en-IN" dirty="0"/>
              <a:t>    print(</a:t>
            </a:r>
            <a:r>
              <a:rPr lang="en-IN" dirty="0" err="1"/>
              <a:t>i</a:t>
            </a:r>
            <a:r>
              <a:rPr lang="en-IN" dirty="0"/>
              <a:t>)</a:t>
            </a:r>
            <a:endParaRPr lang="en-IN" dirty="0"/>
          </a:p>
          <a:p>
            <a:r>
              <a:rPr lang="en-IN" dirty="0"/>
              <a:t>Output</a:t>
            </a:r>
            <a:endParaRPr lang="en-IN" dirty="0"/>
          </a:p>
          <a:p>
            <a:pPr marL="800100" lvl="2" indent="0">
              <a:buNone/>
            </a:pPr>
            <a:r>
              <a:rPr lang="en-IN" b="1" dirty="0"/>
              <a:t>A</a:t>
            </a:r>
            <a:endParaRPr lang="en-IN" b="1" dirty="0"/>
          </a:p>
          <a:p>
            <a:pPr marL="800100" lvl="2" indent="0">
              <a:buNone/>
            </a:pPr>
            <a:r>
              <a:rPr lang="en-IN" b="1" dirty="0"/>
              <a:t>B</a:t>
            </a:r>
            <a:endParaRPr lang="en-IN" b="1" dirty="0"/>
          </a:p>
          <a:p>
            <a:pPr marL="800100" lvl="2" indent="0">
              <a:buNone/>
            </a:pPr>
            <a:r>
              <a:rPr lang="en-IN" b="1" dirty="0"/>
              <a:t>C</a:t>
            </a:r>
            <a:endParaRPr lang="en-IN" b="1" dirty="0"/>
          </a:p>
          <a:p>
            <a:pPr marL="800100" lvl="2" indent="0">
              <a:buNone/>
            </a:pPr>
            <a:r>
              <a:rPr lang="en-IN" b="1" dirty="0"/>
              <a:t>D</a:t>
            </a:r>
            <a:endParaRPr lang="en-IN" b="1" dirty="0"/>
          </a:p>
          <a:p>
            <a:pPr marL="800100" lvl="2" indent="0">
              <a:buNone/>
            </a:pPr>
            <a:r>
              <a:rPr lang="en-IN" b="1" dirty="0"/>
              <a:t>E</a:t>
            </a:r>
            <a:endParaRPr lang="en-IN" b="1" dirty="0"/>
          </a:p>
          <a:p>
            <a:endParaRPr lang="en-IN" dirty="0"/>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 Methods</a:t>
            </a:r>
            <a:endParaRPr lang="en-IN" dirty="0"/>
          </a:p>
        </p:txBody>
      </p:sp>
      <p:sp>
        <p:nvSpPr>
          <p:cNvPr id="3" name="Content Placeholder 2"/>
          <p:cNvSpPr>
            <a:spLocks noGrp="1"/>
          </p:cNvSpPr>
          <p:nvPr>
            <p:ph idx="1"/>
          </p:nvPr>
        </p:nvSpPr>
        <p:spPr>
          <a:xfrm>
            <a:off x="1154954" y="2307976"/>
            <a:ext cx="8825659" cy="4174760"/>
          </a:xfrm>
        </p:spPr>
        <p:txBody>
          <a:bodyPr>
            <a:normAutofit fontScale="92500" lnSpcReduction="10000"/>
          </a:bodyPr>
          <a:lstStyle/>
          <a:p>
            <a:r>
              <a:rPr lang="en-IN" dirty="0"/>
              <a:t>Python provides a set of built-in methods that we can use to modify and manipulate strings.</a:t>
            </a:r>
            <a:endParaRPr lang="en-IN" dirty="0"/>
          </a:p>
          <a:p>
            <a:pPr marL="0" indent="0">
              <a:buNone/>
            </a:pPr>
            <a:r>
              <a:rPr lang="en-IN" b="1" dirty="0"/>
              <a:t>1.upper():</a:t>
            </a:r>
            <a:endParaRPr lang="en-IN" b="1" dirty="0"/>
          </a:p>
          <a:p>
            <a:pPr lvl="1"/>
            <a:r>
              <a:rPr lang="en-IN" dirty="0"/>
              <a:t>The upper() method converts a string to uppercase.</a:t>
            </a:r>
            <a:endParaRPr lang="en-IN" dirty="0"/>
          </a:p>
          <a:p>
            <a:r>
              <a:rPr lang="en-IN" b="1" dirty="0"/>
              <a:t>Example:</a:t>
            </a:r>
            <a:endParaRPr lang="en-IN" dirty="0"/>
          </a:p>
          <a:p>
            <a:pPr lvl="1"/>
            <a:r>
              <a:rPr lang="en-IN" dirty="0"/>
              <a:t>str1 = "</a:t>
            </a:r>
            <a:r>
              <a:rPr lang="en-IN" dirty="0" err="1"/>
              <a:t>AbcDEfghIJ</a:t>
            </a:r>
            <a:r>
              <a:rPr lang="en-IN" dirty="0"/>
              <a:t>"</a:t>
            </a:r>
            <a:endParaRPr lang="en-IN" dirty="0"/>
          </a:p>
          <a:p>
            <a:pPr lvl="1"/>
            <a:r>
              <a:rPr lang="en-IN" dirty="0"/>
              <a:t>print(str1.upper())</a:t>
            </a:r>
            <a:endParaRPr lang="en-IN" dirty="0"/>
          </a:p>
          <a:p>
            <a:pPr marL="0" indent="0">
              <a:buNone/>
            </a:pPr>
            <a:r>
              <a:rPr lang="en-IN" b="1" dirty="0"/>
              <a:t>2.lower():</a:t>
            </a:r>
            <a:endParaRPr lang="en-IN" b="1" dirty="0"/>
          </a:p>
          <a:p>
            <a:pPr lvl="1"/>
            <a:r>
              <a:rPr lang="en-IN" dirty="0"/>
              <a:t>The lower() method converts a string to lowercase.</a:t>
            </a:r>
            <a:endParaRPr lang="en-IN" dirty="0"/>
          </a:p>
          <a:p>
            <a:r>
              <a:rPr lang="en-IN" b="1" dirty="0"/>
              <a:t>Example:</a:t>
            </a:r>
            <a:endParaRPr lang="en-IN" dirty="0"/>
          </a:p>
          <a:p>
            <a:pPr lvl="1"/>
            <a:r>
              <a:rPr lang="en-GB" dirty="0"/>
              <a:t>str1 = "</a:t>
            </a:r>
            <a:r>
              <a:rPr lang="en-GB" dirty="0" err="1"/>
              <a:t>AbcDEfghIJ</a:t>
            </a:r>
            <a:r>
              <a:rPr lang="en-GB" dirty="0"/>
              <a:t>"</a:t>
            </a:r>
            <a:endParaRPr lang="en-GB" dirty="0"/>
          </a:p>
          <a:p>
            <a:pPr lvl="1"/>
            <a:r>
              <a:rPr lang="en-GB" dirty="0"/>
              <a:t>print(str1.lower())</a:t>
            </a:r>
            <a:endParaRPr lang="en-IN" dirty="0"/>
          </a:p>
          <a:p>
            <a:pPr marL="457200" lvl="1" indent="0">
              <a:buNone/>
            </a:pP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a:t>3.strip()</a:t>
            </a:r>
            <a:r>
              <a:rPr lang="en-IN" b="1" dirty="0"/>
              <a:t>:</a:t>
            </a:r>
            <a:endParaRPr lang="en-IN" b="1" dirty="0"/>
          </a:p>
          <a:p>
            <a:pPr lvl="1"/>
            <a:r>
              <a:rPr lang="en-IN" dirty="0"/>
              <a:t>The strip() method removes any white spaces before and after the string.</a:t>
            </a:r>
            <a:endParaRPr lang="en-IN" dirty="0"/>
          </a:p>
          <a:p>
            <a:r>
              <a:rPr lang="en-IN" b="1" dirty="0"/>
              <a:t>Example:</a:t>
            </a:r>
            <a:endParaRPr lang="en-IN" dirty="0"/>
          </a:p>
          <a:p>
            <a:pPr lvl="1"/>
            <a:r>
              <a:rPr lang="en-IN" dirty="0"/>
              <a:t>str2 = " Silver Spoon</a:t>
            </a:r>
            <a:endParaRPr lang="en-IN" dirty="0"/>
          </a:p>
          <a:p>
            <a:pPr lvl="1"/>
            <a:r>
              <a:rPr lang="en-IN" dirty="0"/>
              <a:t> "print(str2.strip())</a:t>
            </a:r>
            <a:endParaRPr lang="en-IN" dirty="0"/>
          </a:p>
          <a:p>
            <a:pPr marL="0" indent="0">
              <a:buNone/>
            </a:pPr>
            <a:r>
              <a:rPr lang="en-IN" dirty="0"/>
              <a:t>4.rstrip()</a:t>
            </a:r>
            <a:r>
              <a:rPr lang="en-IN" b="1" dirty="0"/>
              <a:t>:</a:t>
            </a:r>
            <a:endParaRPr lang="en-IN" b="1" dirty="0"/>
          </a:p>
          <a:p>
            <a:pPr lvl="1"/>
            <a:r>
              <a:rPr lang="en-IN" dirty="0"/>
              <a:t>The </a:t>
            </a:r>
            <a:r>
              <a:rPr lang="en-IN" dirty="0" err="1"/>
              <a:t>rstrip</a:t>
            </a:r>
            <a:r>
              <a:rPr lang="en-IN" dirty="0"/>
              <a:t>() method removes specified trailing characters (defaults to whitespace).</a:t>
            </a:r>
            <a:endParaRPr lang="en-IN" dirty="0"/>
          </a:p>
          <a:p>
            <a:r>
              <a:rPr lang="en-IN" b="1" dirty="0"/>
              <a:t>Example:</a:t>
            </a:r>
            <a:endParaRPr lang="en-IN" dirty="0"/>
          </a:p>
          <a:p>
            <a:pPr lvl="1"/>
            <a:r>
              <a:rPr lang="en-IN" dirty="0"/>
              <a:t>str3 = "Hello !!!“</a:t>
            </a:r>
            <a:endParaRPr lang="en-IN" dirty="0"/>
          </a:p>
          <a:p>
            <a:pPr lvl="1"/>
            <a:r>
              <a:rPr lang="en-IN" dirty="0"/>
              <a:t>print(str3.rstrip("!"))</a:t>
            </a:r>
            <a:endParaRPr lang="en-IN" dirty="0"/>
          </a:p>
          <a:p>
            <a:pPr lvl="1"/>
            <a:endParaRPr lang="en-IN" dirty="0"/>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b="1" dirty="0"/>
              <a:t>6.replace():</a:t>
            </a:r>
            <a:endParaRPr lang="en-IN" b="1" dirty="0"/>
          </a:p>
          <a:p>
            <a:pPr lvl="1"/>
            <a:r>
              <a:rPr lang="en-IN" dirty="0"/>
              <a:t>The replace() method replaces a string with another string.</a:t>
            </a:r>
            <a:endParaRPr lang="en-IN" dirty="0"/>
          </a:p>
          <a:p>
            <a:r>
              <a:rPr lang="en-IN" b="1" dirty="0"/>
              <a:t>Example:</a:t>
            </a:r>
            <a:endParaRPr lang="en-IN" dirty="0"/>
          </a:p>
          <a:p>
            <a:pPr lvl="1"/>
            <a:r>
              <a:rPr lang="en-IN" dirty="0"/>
              <a:t>str2 = "Silver Spoon“</a:t>
            </a:r>
            <a:endParaRPr lang="en-IN" dirty="0"/>
          </a:p>
          <a:p>
            <a:pPr lvl="1"/>
            <a:r>
              <a:rPr lang="en-IN" dirty="0"/>
              <a:t>print(str2.replace("</a:t>
            </a:r>
            <a:r>
              <a:rPr lang="en-IN" dirty="0" err="1"/>
              <a:t>Sp</a:t>
            </a:r>
            <a:r>
              <a:rPr lang="en-IN" dirty="0"/>
              <a:t>", "M"))</a:t>
            </a:r>
            <a:endParaRPr lang="en-IN" dirty="0"/>
          </a:p>
          <a:p>
            <a:pPr marL="0" indent="0">
              <a:buNone/>
            </a:pPr>
            <a:r>
              <a:rPr lang="en-IN" b="1" dirty="0"/>
              <a:t>7.split():</a:t>
            </a:r>
            <a:endParaRPr lang="en-IN" b="1" dirty="0"/>
          </a:p>
          <a:p>
            <a:r>
              <a:rPr lang="en-IN" dirty="0"/>
              <a:t>The split() method splits the given string at the specified instance and returns the separated strings as list items.</a:t>
            </a:r>
            <a:endParaRPr lang="en-IN" dirty="0"/>
          </a:p>
          <a:p>
            <a:r>
              <a:rPr lang="en-GB" dirty="0"/>
              <a:t>str2 = "Silver Spoon"</a:t>
            </a:r>
            <a:endParaRPr lang="en-GB" dirty="0"/>
          </a:p>
          <a:p>
            <a:r>
              <a:rPr lang="en-GB" dirty="0"/>
              <a:t>print(str2.split(" "))  # Splits the string at the whitespace " ".</a:t>
            </a:r>
            <a:endParaRPr lang="en-IN" dirty="0"/>
          </a:p>
          <a:p>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a:xfrm>
            <a:off x="1154954" y="2368446"/>
            <a:ext cx="8825659" cy="3651354"/>
          </a:xfrm>
        </p:spPr>
        <p:txBody>
          <a:bodyPr>
            <a:normAutofit lnSpcReduction="10000"/>
          </a:bodyPr>
          <a:lstStyle/>
          <a:p>
            <a:pPr marL="0" indent="0">
              <a:buNone/>
            </a:pPr>
            <a:r>
              <a:rPr lang="en-IN" b="1" dirty="0"/>
              <a:t>8.capitalize():</a:t>
            </a:r>
            <a:endParaRPr lang="en-IN" b="1" dirty="0"/>
          </a:p>
          <a:p>
            <a:r>
              <a:rPr lang="en-IN" dirty="0"/>
              <a:t>The capitalize() method turns only the first character of the string to uppercase and the rest other characters of the string are turned to lowercase. The string has no effect if the first character is already uppercase.</a:t>
            </a:r>
            <a:endParaRPr lang="en-IN" dirty="0"/>
          </a:p>
          <a:p>
            <a:pPr marL="457200" lvl="1" indent="0">
              <a:buNone/>
            </a:pPr>
            <a:r>
              <a:rPr lang="en-IN" dirty="0"/>
              <a:t>str1 = "hello"</a:t>
            </a:r>
            <a:endParaRPr lang="en-IN" dirty="0"/>
          </a:p>
          <a:p>
            <a:pPr marL="457200" lvl="1" indent="0">
              <a:buNone/>
            </a:pPr>
            <a:r>
              <a:rPr lang="en-IN" dirty="0"/>
              <a:t>capStr1 = str1.capitalize()</a:t>
            </a:r>
            <a:endParaRPr lang="en-IN" dirty="0"/>
          </a:p>
          <a:p>
            <a:pPr marL="457200" lvl="1" indent="0">
              <a:buNone/>
            </a:pPr>
            <a:r>
              <a:rPr lang="en-IN" dirty="0"/>
              <a:t>print(capStr1)</a:t>
            </a:r>
            <a:endParaRPr lang="en-IN" dirty="0"/>
          </a:p>
          <a:p>
            <a:pPr marL="457200" lvl="1" indent="0">
              <a:buNone/>
            </a:pPr>
            <a:r>
              <a:rPr lang="en-IN" dirty="0"/>
              <a:t>str2 = "hello </a:t>
            </a:r>
            <a:r>
              <a:rPr lang="en-IN" dirty="0" err="1"/>
              <a:t>WorlD</a:t>
            </a:r>
            <a:r>
              <a:rPr lang="en-IN" dirty="0"/>
              <a:t>"</a:t>
            </a:r>
            <a:endParaRPr lang="en-IN" dirty="0"/>
          </a:p>
          <a:p>
            <a:pPr marL="457200" lvl="1" indent="0">
              <a:buNone/>
            </a:pPr>
            <a:r>
              <a:rPr lang="en-IN" dirty="0"/>
              <a:t>capStr2 = str2.capitalize()</a:t>
            </a:r>
            <a:endParaRPr lang="en-IN" dirty="0"/>
          </a:p>
          <a:p>
            <a:pPr marL="457200" lvl="1" indent="0">
              <a:buNone/>
            </a:pPr>
            <a:r>
              <a:rPr lang="en-IN" dirty="0"/>
              <a:t>print(capStr2)</a:t>
            </a:r>
            <a:endParaRPr lang="en-IN" dirty="0"/>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b="1" dirty="0"/>
              <a:t>9.center():</a:t>
            </a:r>
            <a:endParaRPr lang="en-IN" b="1" dirty="0"/>
          </a:p>
          <a:p>
            <a:r>
              <a:rPr lang="en-IN" dirty="0"/>
              <a:t>The </a:t>
            </a:r>
            <a:r>
              <a:rPr lang="en-IN" dirty="0" err="1"/>
              <a:t>center</a:t>
            </a:r>
            <a:r>
              <a:rPr lang="en-IN" dirty="0"/>
              <a:t>() method aligns the string to the </a:t>
            </a:r>
            <a:r>
              <a:rPr lang="en-IN" dirty="0" err="1"/>
              <a:t>center</a:t>
            </a:r>
            <a:r>
              <a:rPr lang="en-IN" dirty="0"/>
              <a:t> as per the parameters given by the user.</a:t>
            </a:r>
            <a:endParaRPr lang="en-IN" dirty="0"/>
          </a:p>
          <a:p>
            <a:pPr lvl="1"/>
            <a:r>
              <a:rPr lang="en-GB" dirty="0"/>
              <a:t>str1 = "Welcome to the Console!!!"</a:t>
            </a:r>
            <a:endParaRPr lang="en-GB" dirty="0"/>
          </a:p>
          <a:p>
            <a:pPr lvl="1"/>
            <a:r>
              <a:rPr lang="en-GB" dirty="0"/>
              <a:t>print(str1.center(50))</a:t>
            </a:r>
            <a:endParaRPr lang="en-GB" dirty="0"/>
          </a:p>
          <a:p>
            <a:pPr marL="0" indent="0">
              <a:buNone/>
            </a:pPr>
            <a:r>
              <a:rPr lang="en-IN" b="1" dirty="0"/>
              <a:t>10.count():</a:t>
            </a:r>
            <a:endParaRPr lang="en-IN" b="1" dirty="0"/>
          </a:p>
          <a:p>
            <a:r>
              <a:rPr lang="en-IN" dirty="0"/>
              <a:t>The count() method returns the number of times the given value has occurred within the given string.</a:t>
            </a:r>
            <a:endParaRPr lang="en-IN" dirty="0"/>
          </a:p>
          <a:p>
            <a:r>
              <a:rPr lang="en-IN" b="1" dirty="0"/>
              <a:t>Example:</a:t>
            </a:r>
            <a:endParaRPr lang="en-IN" dirty="0"/>
          </a:p>
          <a:p>
            <a:r>
              <a:rPr lang="en-IN" dirty="0"/>
              <a:t>str2 = "Abracadabra“</a:t>
            </a:r>
            <a:endParaRPr lang="en-IN" dirty="0"/>
          </a:p>
          <a:p>
            <a:r>
              <a:rPr lang="en-IN" dirty="0" err="1"/>
              <a:t>countStr</a:t>
            </a:r>
            <a:r>
              <a:rPr lang="en-IN" dirty="0"/>
              <a:t> = str2.count("a")</a:t>
            </a:r>
            <a:endParaRPr lang="en-IN" dirty="0"/>
          </a:p>
          <a:p>
            <a:r>
              <a:rPr lang="en-IN" dirty="0"/>
              <a:t>print(</a:t>
            </a:r>
            <a:r>
              <a:rPr lang="en-IN" dirty="0" err="1"/>
              <a:t>countStr</a:t>
            </a:r>
            <a:r>
              <a:rPr lang="en-IN" dirty="0"/>
              <a:t>)</a:t>
            </a:r>
            <a:endParaRPr lang="en-IN" dirty="0"/>
          </a:p>
          <a:p>
            <a:pPr marL="457200" lvl="1" indent="0">
              <a:buNone/>
            </a:pP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a:xfrm>
            <a:off x="1154954" y="2293495"/>
            <a:ext cx="8825659" cy="3726305"/>
          </a:xfrm>
        </p:spPr>
        <p:txBody>
          <a:bodyPr>
            <a:normAutofit fontScale="92500" lnSpcReduction="20000"/>
          </a:bodyPr>
          <a:lstStyle/>
          <a:p>
            <a:pPr marL="0" indent="0">
              <a:buNone/>
            </a:pPr>
            <a:r>
              <a:rPr lang="en-IN" b="1" dirty="0"/>
              <a:t>11.endswith():</a:t>
            </a:r>
            <a:endParaRPr lang="en-IN" b="1" dirty="0"/>
          </a:p>
          <a:p>
            <a:r>
              <a:rPr lang="en-IN" dirty="0"/>
              <a:t>The </a:t>
            </a:r>
            <a:r>
              <a:rPr lang="en-IN" dirty="0" err="1"/>
              <a:t>endswith</a:t>
            </a:r>
            <a:r>
              <a:rPr lang="en-IN" dirty="0"/>
              <a:t>() method checks if the string ends with a given value. If yes, then return True, else return False.</a:t>
            </a:r>
            <a:endParaRPr lang="en-IN" dirty="0"/>
          </a:p>
          <a:p>
            <a:r>
              <a:rPr lang="en-IN" b="1" dirty="0"/>
              <a:t>Example 1:</a:t>
            </a:r>
            <a:endParaRPr lang="en-IN" dirty="0"/>
          </a:p>
          <a:p>
            <a:r>
              <a:rPr lang="en-IN" dirty="0"/>
              <a:t>str1 = "Welcome to the Console !!!“</a:t>
            </a:r>
            <a:endParaRPr lang="en-IN" dirty="0"/>
          </a:p>
          <a:p>
            <a:r>
              <a:rPr lang="en-IN" dirty="0"/>
              <a:t>print(str1.endswith("!!!"))</a:t>
            </a:r>
            <a:endParaRPr lang="en-IN" dirty="0"/>
          </a:p>
          <a:p>
            <a:pPr marL="0" indent="0">
              <a:buNone/>
            </a:pPr>
            <a:r>
              <a:rPr lang="en-IN" b="1" dirty="0"/>
              <a:t>12. find():</a:t>
            </a:r>
            <a:endParaRPr lang="en-IN" b="1" dirty="0"/>
          </a:p>
          <a:p>
            <a:pPr lvl="1"/>
            <a:r>
              <a:rPr lang="en-IN" dirty="0"/>
              <a:t>The find() method searches for the first occurrence of the given value and returns the index where it is present. If the given value is absent from the string, then return -1.</a:t>
            </a:r>
            <a:endParaRPr lang="en-IN" dirty="0"/>
          </a:p>
          <a:p>
            <a:r>
              <a:rPr lang="en-IN" b="1" dirty="0"/>
              <a:t>Example:</a:t>
            </a:r>
            <a:endParaRPr lang="en-IN" dirty="0"/>
          </a:p>
          <a:p>
            <a:pPr lvl="1"/>
            <a:r>
              <a:rPr lang="en-IN" dirty="0"/>
              <a:t>str1 = "He's name is Dan. He is an honest man.“</a:t>
            </a:r>
            <a:endParaRPr lang="en-IN" dirty="0"/>
          </a:p>
          <a:p>
            <a:pPr lvl="1"/>
            <a:r>
              <a:rPr lang="en-IN" dirty="0"/>
              <a:t>print(str1.find("Daniel"))</a:t>
            </a:r>
            <a:endParaRPr lang="en-IN" dirty="0"/>
          </a:p>
          <a:p>
            <a:pPr marL="0" indent="0">
              <a:buNone/>
            </a:pPr>
            <a:endParaRPr lang="en-IN" dirty="0"/>
          </a:p>
          <a:p>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a:xfrm>
            <a:off x="1154954" y="2248525"/>
            <a:ext cx="8825659" cy="4272195"/>
          </a:xfrm>
        </p:spPr>
        <p:txBody>
          <a:bodyPr>
            <a:normAutofit/>
          </a:bodyPr>
          <a:lstStyle/>
          <a:p>
            <a:pPr marL="0" indent="0">
              <a:buNone/>
            </a:pPr>
            <a:r>
              <a:rPr lang="en-IN" b="1" dirty="0"/>
              <a:t>13.index():</a:t>
            </a:r>
            <a:endParaRPr lang="en-IN" b="1" dirty="0"/>
          </a:p>
          <a:p>
            <a:pPr lvl="1"/>
            <a:r>
              <a:rPr lang="en-IN" dirty="0"/>
              <a:t>The index() method searches for the first occurrence of the given value and returns the index where it is present. If the given value is absent from the string, then raise an exception.</a:t>
            </a:r>
            <a:endParaRPr lang="en-IN" dirty="0"/>
          </a:p>
          <a:p>
            <a:r>
              <a:rPr lang="en-IN" b="1" dirty="0"/>
              <a:t>Example:</a:t>
            </a:r>
            <a:endParaRPr lang="en-IN" dirty="0"/>
          </a:p>
          <a:p>
            <a:pPr lvl="1"/>
            <a:r>
              <a:rPr lang="en-IN" dirty="0"/>
              <a:t>str1 = "He's name is Dan. Dan is an honest man.“</a:t>
            </a:r>
            <a:endParaRPr lang="en-IN" dirty="0"/>
          </a:p>
          <a:p>
            <a:pPr lvl="1"/>
            <a:r>
              <a:rPr lang="en-IN" dirty="0"/>
              <a:t>print(str1.index("Dan"))</a:t>
            </a:r>
            <a:endParaRPr lang="en-IN" dirty="0"/>
          </a:p>
          <a:p>
            <a:pPr marL="0" indent="0">
              <a:buNone/>
            </a:pPr>
            <a:r>
              <a:rPr lang="en-IN" b="1" dirty="0"/>
              <a:t>14.isalnum():</a:t>
            </a:r>
            <a:endParaRPr lang="en-IN" b="1" dirty="0"/>
          </a:p>
          <a:p>
            <a:pPr lvl="1"/>
            <a:r>
              <a:rPr lang="en-IN" dirty="0"/>
              <a:t>The </a:t>
            </a:r>
            <a:r>
              <a:rPr lang="en-IN" dirty="0" err="1"/>
              <a:t>isalnum</a:t>
            </a:r>
            <a:r>
              <a:rPr lang="en-IN" dirty="0"/>
              <a:t>() method returns True only if the entire string consists of A-Z, a-z, 0-9. If any other characters or punctuation are present, then it returns False.</a:t>
            </a:r>
            <a:endParaRPr lang="en-IN" dirty="0"/>
          </a:p>
          <a:p>
            <a:pPr lvl="1"/>
            <a:r>
              <a:rPr lang="en-GB" dirty="0"/>
              <a:t>str1 = "</a:t>
            </a:r>
            <a:r>
              <a:rPr lang="en-GB" dirty="0" err="1"/>
              <a:t>WelcomeToTheConsole</a:t>
            </a:r>
            <a:r>
              <a:rPr lang="en-GB" dirty="0"/>
              <a:t>"</a:t>
            </a:r>
            <a:endParaRPr lang="en-GB" dirty="0"/>
          </a:p>
          <a:p>
            <a:pPr lvl="1"/>
            <a:r>
              <a:rPr lang="en-GB" dirty="0"/>
              <a:t>print(str1.isalnum())</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154954" y="2241030"/>
            <a:ext cx="8825659" cy="4369632"/>
          </a:xfrm>
        </p:spPr>
        <p:txBody>
          <a:bodyPr>
            <a:normAutofit fontScale="92500" lnSpcReduction="10000"/>
          </a:bodyPr>
          <a:lstStyle/>
          <a:p>
            <a:pPr marL="0" indent="0">
              <a:buNone/>
            </a:pPr>
            <a:r>
              <a:rPr lang="en-IN" b="1" dirty="0"/>
              <a:t>15.isprintable():</a:t>
            </a:r>
            <a:endParaRPr lang="en-IN" b="1" dirty="0"/>
          </a:p>
          <a:p>
            <a:r>
              <a:rPr lang="en-IN" dirty="0"/>
              <a:t>The </a:t>
            </a:r>
            <a:r>
              <a:rPr lang="en-IN" dirty="0" err="1"/>
              <a:t>isprintable</a:t>
            </a:r>
            <a:r>
              <a:rPr lang="en-IN" dirty="0"/>
              <a:t>() method returns True if all the values within the given string are printable, if not, then return False.</a:t>
            </a:r>
            <a:endParaRPr lang="en-IN" dirty="0"/>
          </a:p>
          <a:p>
            <a:r>
              <a:rPr lang="en-IN" b="1" dirty="0"/>
              <a:t>Example 1:</a:t>
            </a:r>
            <a:endParaRPr lang="en-IN" dirty="0"/>
          </a:p>
          <a:p>
            <a:pPr marL="457200" lvl="1" indent="0">
              <a:buNone/>
            </a:pPr>
            <a:r>
              <a:rPr lang="en-IN" dirty="0"/>
              <a:t>str1 = "We wish you a Merry Christmas“</a:t>
            </a:r>
            <a:endParaRPr lang="en-IN" dirty="0"/>
          </a:p>
          <a:p>
            <a:pPr marL="457200" lvl="1" indent="0">
              <a:buNone/>
            </a:pPr>
            <a:r>
              <a:rPr lang="en-IN" dirty="0"/>
              <a:t>print(str1.isprintable())</a:t>
            </a:r>
            <a:endParaRPr lang="en-IN" dirty="0"/>
          </a:p>
          <a:p>
            <a:pPr marL="0" indent="0">
              <a:buNone/>
            </a:pPr>
            <a:r>
              <a:rPr lang="en-IN" b="1" dirty="0"/>
              <a:t>16.isspace():</a:t>
            </a:r>
            <a:endParaRPr lang="en-IN" b="1" dirty="0"/>
          </a:p>
          <a:p>
            <a:r>
              <a:rPr lang="en-IN" dirty="0"/>
              <a:t>The </a:t>
            </a:r>
            <a:r>
              <a:rPr lang="en-IN" dirty="0" err="1"/>
              <a:t>isspace</a:t>
            </a:r>
            <a:r>
              <a:rPr lang="en-IN" dirty="0"/>
              <a:t>() method returns True only and only if the string contains white spaces, else returns False.</a:t>
            </a:r>
            <a:endParaRPr lang="en-IN" dirty="0"/>
          </a:p>
          <a:p>
            <a:pPr marL="400050" lvl="1" indent="0">
              <a:buNone/>
            </a:pPr>
            <a:r>
              <a:rPr lang="en-GB" dirty="0"/>
              <a:t>str1 = "        "  # using Spacebar</a:t>
            </a:r>
            <a:endParaRPr lang="en-GB" dirty="0"/>
          </a:p>
          <a:p>
            <a:pPr marL="400050" lvl="1" indent="0">
              <a:buNone/>
            </a:pPr>
            <a:r>
              <a:rPr lang="en-GB" dirty="0"/>
              <a:t>print(str1.isspace())</a:t>
            </a:r>
            <a:endParaRPr lang="en-GB" dirty="0"/>
          </a:p>
          <a:p>
            <a:pPr marL="400050" lvl="1" indent="0">
              <a:buNone/>
            </a:pPr>
            <a:r>
              <a:rPr lang="en-GB" dirty="0"/>
              <a:t>str2 = "        "  # using Tab</a:t>
            </a:r>
            <a:endParaRPr lang="en-GB" dirty="0"/>
          </a:p>
          <a:p>
            <a:pPr marL="400050" lvl="1" indent="0">
              <a:buNone/>
            </a:pPr>
            <a:r>
              <a:rPr lang="en-GB" dirty="0"/>
              <a:t>print(str2.isspace())</a:t>
            </a: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b="1" dirty="0"/>
              <a:t>17.istitle():</a:t>
            </a:r>
            <a:endParaRPr lang="en-IN" b="1" dirty="0"/>
          </a:p>
          <a:p>
            <a:r>
              <a:rPr lang="en-IN" dirty="0"/>
              <a:t>The </a:t>
            </a:r>
            <a:r>
              <a:rPr lang="en-IN" dirty="0" err="1"/>
              <a:t>istitle</a:t>
            </a:r>
            <a:r>
              <a:rPr lang="en-IN" dirty="0"/>
              <a:t>() returns True only if the first letter of each word of the string is capitalized, else it returns False.</a:t>
            </a:r>
            <a:endParaRPr lang="en-IN" dirty="0"/>
          </a:p>
          <a:p>
            <a:r>
              <a:rPr lang="en-IN" b="1" dirty="0"/>
              <a:t>Example 1:</a:t>
            </a:r>
            <a:endParaRPr lang="en-IN" dirty="0"/>
          </a:p>
          <a:p>
            <a:r>
              <a:rPr lang="en-IN" dirty="0"/>
              <a:t>str1 = "World Health </a:t>
            </a:r>
            <a:r>
              <a:rPr lang="en-IN" dirty="0" err="1"/>
              <a:t>Organization"print</a:t>
            </a:r>
            <a:r>
              <a:rPr lang="en-IN" dirty="0"/>
              <a:t>(str1.istitle())</a:t>
            </a:r>
            <a:endParaRPr lang="en-IN" dirty="0"/>
          </a:p>
          <a:p>
            <a:pPr marL="0" indent="0">
              <a:buNone/>
            </a:pPr>
            <a:r>
              <a:rPr lang="en-IN" b="1" dirty="0"/>
              <a:t>18. </a:t>
            </a:r>
            <a:r>
              <a:rPr lang="en-IN" b="1" dirty="0" err="1"/>
              <a:t>isupper</a:t>
            </a:r>
            <a:r>
              <a:rPr lang="en-IN" b="1" dirty="0"/>
              <a:t>():</a:t>
            </a:r>
            <a:endParaRPr lang="en-IN" b="1" dirty="0"/>
          </a:p>
          <a:p>
            <a:r>
              <a:rPr lang="en-IN" dirty="0"/>
              <a:t>The </a:t>
            </a:r>
            <a:r>
              <a:rPr lang="en-IN" dirty="0" err="1"/>
              <a:t>isupper</a:t>
            </a:r>
            <a:r>
              <a:rPr lang="en-IN" dirty="0"/>
              <a:t>() method returns True if all the characters in the string are upper case, else it returns False.</a:t>
            </a:r>
            <a:endParaRPr lang="en-IN" dirty="0"/>
          </a:p>
          <a:p>
            <a:r>
              <a:rPr lang="en-IN" b="1" dirty="0"/>
              <a:t>Example 1:</a:t>
            </a:r>
            <a:endParaRPr lang="en-IN" dirty="0"/>
          </a:p>
          <a:p>
            <a:pPr lvl="1"/>
            <a:r>
              <a:rPr lang="en-IN" dirty="0"/>
              <a:t>str1 = "WORLD HEALTH ORGANIZATION“</a:t>
            </a:r>
            <a:endParaRPr lang="en-IN" dirty="0"/>
          </a:p>
          <a:p>
            <a:pPr lvl="1"/>
            <a:r>
              <a:rPr lang="en-IN" dirty="0"/>
              <a:t>print(str1.isupper())</a:t>
            </a:r>
            <a:endParaRPr lang="en-IN" dirty="0"/>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 </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b="1" dirty="0"/>
              <a:t>19. replace():</a:t>
            </a:r>
            <a:endParaRPr lang="en-IN" b="1" dirty="0"/>
          </a:p>
          <a:p>
            <a:r>
              <a:rPr lang="en-IN" dirty="0"/>
              <a:t>The replace() method can be used to replace a part of the original string with another string.</a:t>
            </a:r>
            <a:endParaRPr lang="en-IN" dirty="0"/>
          </a:p>
          <a:p>
            <a:r>
              <a:rPr lang="en-IN" b="1" dirty="0"/>
              <a:t>Example:</a:t>
            </a:r>
            <a:endParaRPr lang="en-IN" dirty="0"/>
          </a:p>
          <a:p>
            <a:pPr marL="0" indent="0">
              <a:buNone/>
            </a:pPr>
            <a:r>
              <a:rPr lang="en-IN" dirty="0"/>
              <a:t>	str1 = "Python is a Compiled Language.“</a:t>
            </a:r>
            <a:endParaRPr lang="en-IN" dirty="0"/>
          </a:p>
          <a:p>
            <a:pPr marL="0" indent="0">
              <a:buNone/>
            </a:pPr>
            <a:r>
              <a:rPr lang="en-IN" dirty="0"/>
              <a:t>	print(str1.replace("Compiled", "Interpreted"))</a:t>
            </a:r>
            <a:endParaRPr lang="en-IN" dirty="0"/>
          </a:p>
          <a:p>
            <a:pPr marL="0" indent="0">
              <a:buNone/>
            </a:pPr>
            <a:r>
              <a:rPr lang="en-IN" b="1" dirty="0"/>
              <a:t>20.startswith():</a:t>
            </a:r>
            <a:endParaRPr lang="en-IN" b="1" dirty="0"/>
          </a:p>
          <a:p>
            <a:r>
              <a:rPr lang="en-IN" dirty="0"/>
              <a:t>The </a:t>
            </a:r>
            <a:r>
              <a:rPr lang="en-IN" dirty="0" err="1"/>
              <a:t>startswith</a:t>
            </a:r>
            <a:r>
              <a:rPr lang="en-IN" dirty="0"/>
              <a:t>() method checks if the string starts with a given value. If yes, then return True, else return False.</a:t>
            </a:r>
            <a:endParaRPr lang="en-IN" dirty="0"/>
          </a:p>
          <a:p>
            <a:r>
              <a:rPr lang="en-IN" b="1" dirty="0"/>
              <a:t>Example 1:</a:t>
            </a:r>
            <a:endParaRPr lang="en-IN" dirty="0"/>
          </a:p>
          <a:p>
            <a:pPr lvl="1"/>
            <a:r>
              <a:rPr lang="en-IN" dirty="0"/>
              <a:t>str1 = "Python is a Interpreted Language“</a:t>
            </a:r>
            <a:endParaRPr lang="en-IN" dirty="0"/>
          </a:p>
          <a:p>
            <a:pPr lvl="1"/>
            <a:r>
              <a:rPr lang="en-IN" dirty="0"/>
              <a:t>print(str1.startswith("Python"))</a:t>
            </a:r>
            <a:endParaRPr lang="en-IN" dirty="0"/>
          </a:p>
          <a:p>
            <a:pPr marL="0" indent="0">
              <a:buNone/>
            </a:pPr>
            <a:endParaRPr lang="en-IN" dirty="0"/>
          </a:p>
          <a:p>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dirty="0"/>
              <a:t>We can even also check for a value in-between the string by providing start and end index positions.</a:t>
            </a:r>
            <a:endParaRPr lang="en-IN" dirty="0"/>
          </a:p>
          <a:p>
            <a:r>
              <a:rPr lang="en-IN" b="1" dirty="0"/>
              <a:t>Example:</a:t>
            </a:r>
            <a:endParaRPr lang="en-IN" dirty="0"/>
          </a:p>
          <a:p>
            <a:pPr lvl="1"/>
            <a:r>
              <a:rPr lang="en-IN" dirty="0"/>
              <a:t>str1 = "Python is a Interpreted Language“</a:t>
            </a:r>
            <a:endParaRPr lang="en-IN" dirty="0"/>
          </a:p>
          <a:p>
            <a:pPr lvl="1"/>
            <a:r>
              <a:rPr lang="en-IN" dirty="0"/>
              <a:t>print(str1.startswith("Inter", 12, 20))</a:t>
            </a:r>
            <a:endParaRPr lang="en-IN" dirty="0"/>
          </a:p>
          <a:p>
            <a:pPr marL="0" indent="0">
              <a:buNone/>
            </a:pPr>
            <a:r>
              <a:rPr lang="en-IN" b="1" dirty="0"/>
              <a:t>21. </a:t>
            </a:r>
            <a:r>
              <a:rPr lang="en-IN" b="1" dirty="0" err="1"/>
              <a:t>swapcase</a:t>
            </a:r>
            <a:r>
              <a:rPr lang="en-IN" b="1" dirty="0"/>
              <a:t>():</a:t>
            </a:r>
            <a:endParaRPr lang="en-IN" b="1" dirty="0"/>
          </a:p>
          <a:p>
            <a:r>
              <a:rPr lang="en-IN" dirty="0"/>
              <a:t>The </a:t>
            </a:r>
            <a:r>
              <a:rPr lang="en-IN" dirty="0" err="1"/>
              <a:t>swapcase</a:t>
            </a:r>
            <a:r>
              <a:rPr lang="en-IN" dirty="0"/>
              <a:t>() method changes the character casing of the string. Upper case are converted to lower case and lower case to upper case.</a:t>
            </a:r>
            <a:endParaRPr lang="en-IN" dirty="0"/>
          </a:p>
          <a:p>
            <a:r>
              <a:rPr lang="en-IN" b="1" dirty="0"/>
              <a:t>Example:</a:t>
            </a:r>
            <a:endParaRPr lang="en-IN" dirty="0"/>
          </a:p>
          <a:p>
            <a:pPr lvl="1"/>
            <a:r>
              <a:rPr lang="en-IN" dirty="0"/>
              <a:t>str1 = "Python is a Interpreted Language“</a:t>
            </a:r>
            <a:endParaRPr lang="en-IN" dirty="0"/>
          </a:p>
          <a:p>
            <a:pPr lvl="1"/>
            <a:r>
              <a:rPr lang="en-IN" dirty="0"/>
              <a:t>print(str1.swapcase())</a:t>
            </a:r>
            <a:endParaRPr lang="en-IN" dirty="0"/>
          </a:p>
          <a:p>
            <a:pPr lvl="1"/>
            <a:endParaRPr lang="en-IN" dirty="0"/>
          </a:p>
          <a:p>
            <a:pPr marL="457200" lvl="1" indent="0">
              <a:buNone/>
            </a:pPr>
            <a:endParaRPr lang="en-IN" dirty="0"/>
          </a:p>
          <a:p>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Cont</a:t>
            </a:r>
            <a:r>
              <a:rPr lang="en-IN" dirty="0"/>
              <a:t>…</a:t>
            </a:r>
            <a:endParaRPr lang="en-IN" dirty="0"/>
          </a:p>
        </p:txBody>
      </p:sp>
      <p:sp>
        <p:nvSpPr>
          <p:cNvPr id="3" name="Content Placeholder 2"/>
          <p:cNvSpPr>
            <a:spLocks noGrp="1"/>
          </p:cNvSpPr>
          <p:nvPr>
            <p:ph idx="1"/>
          </p:nvPr>
        </p:nvSpPr>
        <p:spPr/>
        <p:txBody>
          <a:bodyPr/>
          <a:lstStyle/>
          <a:p>
            <a:pPr marL="0" indent="0">
              <a:buNone/>
            </a:pPr>
            <a:r>
              <a:rPr lang="en-IN" b="1" dirty="0"/>
              <a:t>22.title():</a:t>
            </a:r>
            <a:endParaRPr lang="en-IN" b="1" dirty="0"/>
          </a:p>
          <a:p>
            <a:r>
              <a:rPr lang="en-IN" dirty="0"/>
              <a:t>The title() method capitalizes each letter of the word within the string.</a:t>
            </a:r>
            <a:endParaRPr lang="en-IN" dirty="0"/>
          </a:p>
          <a:p>
            <a:pPr lvl="1"/>
            <a:r>
              <a:rPr lang="en-IN" b="1" dirty="0"/>
              <a:t>Example:</a:t>
            </a:r>
            <a:endParaRPr lang="en-IN" dirty="0"/>
          </a:p>
          <a:p>
            <a:pPr lvl="1"/>
            <a:r>
              <a:rPr lang="en-IN" dirty="0"/>
              <a:t>str1 = "He's name is Dan. Dan is an honest man.“</a:t>
            </a:r>
            <a:endParaRPr lang="en-IN" dirty="0"/>
          </a:p>
          <a:p>
            <a:pPr lvl="1"/>
            <a:r>
              <a:rPr lang="en-IN" dirty="0"/>
              <a:t>print(str1.title())</a:t>
            </a:r>
            <a:endParaRPr lang="en-IN" dirty="0"/>
          </a:p>
          <a:p>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Variables,Identifiers</a:t>
            </a:r>
            <a:r>
              <a:rPr lang="en-IN" dirty="0"/>
              <a:t>, Keywords and Literals</a:t>
            </a:r>
            <a:endParaRPr lang="en-IN" dirty="0"/>
          </a:p>
        </p:txBody>
      </p:sp>
      <p:sp>
        <p:nvSpPr>
          <p:cNvPr id="3" name="Content Placeholder 2"/>
          <p:cNvSpPr>
            <a:spLocks noGrp="1"/>
          </p:cNvSpPr>
          <p:nvPr>
            <p:ph idx="1"/>
          </p:nvPr>
        </p:nvSpPr>
        <p:spPr/>
        <p:txBody>
          <a:bodyPr/>
          <a:lstStyle/>
          <a:p>
            <a:r>
              <a:rPr lang="en-IN" b="1" dirty="0"/>
              <a:t>Literals</a:t>
            </a:r>
            <a:r>
              <a:rPr lang="en-IN" dirty="0"/>
              <a:t> are fixed values that are directly written in a program. They represent constant values and do not change during program execution.</a:t>
            </a:r>
            <a:endParaRPr lang="en-IN" b="1" dirty="0"/>
          </a:p>
          <a:p>
            <a:endParaRPr lang="en-IN" b="1" dirty="0"/>
          </a:p>
          <a:p>
            <a:r>
              <a:rPr lang="en-IN" b="1" dirty="0"/>
              <a:t>Variables: </a:t>
            </a:r>
            <a:endParaRPr lang="en-IN" b="1" dirty="0"/>
          </a:p>
          <a:p>
            <a:pPr lvl="2"/>
            <a:r>
              <a:rPr lang="en-IN" dirty="0"/>
              <a:t>Python variables are the reserved memory locations used to store values within a Python Program.</a:t>
            </a:r>
            <a:endParaRPr lang="en-IN" dirty="0"/>
          </a:p>
          <a:p>
            <a:pPr lvl="2"/>
            <a:r>
              <a:rPr lang="en-IN" dirty="0"/>
              <a:t>A Python variable is created automatically when you assign a value to it. The equal sign (=) is used to assign values to variables.</a:t>
            </a:r>
            <a:endParaRPr lang="en-IN" dirty="0"/>
          </a:p>
          <a:p>
            <a:pPr lvl="2"/>
            <a:r>
              <a:rPr lang="en-IN" b="1" dirty="0"/>
              <a:t>Syntax</a:t>
            </a:r>
            <a:endParaRPr lang="en-IN" b="1" dirty="0"/>
          </a:p>
          <a:p>
            <a:pPr lvl="2"/>
            <a:r>
              <a:rPr lang="en-IN" dirty="0" err="1"/>
              <a:t>variable_name</a:t>
            </a:r>
            <a:r>
              <a:rPr lang="en-IN" dirty="0"/>
              <a:t> = value</a:t>
            </a:r>
            <a:endParaRPr lang="en-IN" dirty="0"/>
          </a:p>
          <a:p>
            <a:pPr lvl="2"/>
            <a:endParaRPr lang="en-IN" b="1"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a:t>
            </a:r>
            <a:endParaRPr lang="en-IN" dirty="0"/>
          </a:p>
        </p:txBody>
      </p:sp>
      <p:sp>
        <p:nvSpPr>
          <p:cNvPr id="3" name="Content Placeholder 2"/>
          <p:cNvSpPr>
            <a:spLocks noGrp="1"/>
          </p:cNvSpPr>
          <p:nvPr>
            <p:ph idx="1"/>
          </p:nvPr>
        </p:nvSpPr>
        <p:spPr>
          <a:xfrm>
            <a:off x="1154954" y="2390931"/>
            <a:ext cx="8825659" cy="3912433"/>
          </a:xfrm>
        </p:spPr>
        <p:txBody>
          <a:bodyPr>
            <a:normAutofit/>
          </a:bodyPr>
          <a:lstStyle/>
          <a:p>
            <a:r>
              <a:rPr lang="en-IN" b="1" dirty="0"/>
              <a:t>Identifiers-</a:t>
            </a:r>
            <a:endParaRPr lang="en-IN" b="1" dirty="0"/>
          </a:p>
          <a:p>
            <a:pPr marL="0" indent="0">
              <a:buNone/>
            </a:pPr>
            <a:r>
              <a:rPr lang="en-IN" dirty="0"/>
              <a:t>	An </a:t>
            </a:r>
            <a:r>
              <a:rPr lang="en-IN" b="1" dirty="0"/>
              <a:t>identifier</a:t>
            </a:r>
            <a:r>
              <a:rPr lang="en-IN" dirty="0"/>
              <a:t> is the name given to variables, functions, classes, objects, or modules to uniquely identify them in a program.</a:t>
            </a:r>
            <a:endParaRPr lang="en-IN" dirty="0"/>
          </a:p>
          <a:p>
            <a:pPr lvl="1"/>
            <a:r>
              <a:rPr lang="en-IN" b="1" dirty="0"/>
              <a:t>Examples</a:t>
            </a:r>
            <a:endParaRPr lang="en-IN" b="1" dirty="0"/>
          </a:p>
          <a:p>
            <a:pPr lvl="1"/>
            <a:r>
              <a:rPr lang="en-IN" dirty="0" err="1"/>
              <a:t>student_name</a:t>
            </a:r>
            <a:r>
              <a:rPr lang="en-IN" dirty="0"/>
              <a:t> = "Rahul"</a:t>
            </a:r>
            <a:endParaRPr lang="en-IN" dirty="0"/>
          </a:p>
          <a:p>
            <a:r>
              <a:rPr lang="en-IN" b="1" dirty="0"/>
              <a:t>Keywords:</a:t>
            </a:r>
            <a:endParaRPr lang="en-IN" b="1" dirty="0"/>
          </a:p>
          <a:p>
            <a:pPr lvl="1"/>
            <a:r>
              <a:rPr lang="en-IN" b="1" dirty="0"/>
              <a:t>Keywords</a:t>
            </a:r>
            <a:r>
              <a:rPr lang="en-IN" dirty="0"/>
              <a:t> are reserved words in Python that have predefined meanings. They cannot be used as variable names, function names, or identifiers.</a:t>
            </a:r>
            <a:endParaRPr lang="en-IN" dirty="0"/>
          </a:p>
          <a:p>
            <a:r>
              <a:rPr lang="en-IN" dirty="0"/>
              <a:t>Python provides the keyword module to display all reserved keywords.</a:t>
            </a:r>
            <a:endParaRPr lang="en-IN" dirty="0"/>
          </a:p>
          <a:p>
            <a:pPr marL="1257300" lvl="3" indent="0">
              <a:buNone/>
            </a:pPr>
            <a:r>
              <a:rPr lang="en-IN" dirty="0"/>
              <a:t>import keyword</a:t>
            </a:r>
            <a:endParaRPr lang="en-IN" dirty="0"/>
          </a:p>
          <a:p>
            <a:pPr marL="1257300" lvl="3" indent="0">
              <a:buNone/>
            </a:pPr>
            <a:r>
              <a:rPr lang="en-IN" dirty="0"/>
              <a:t>print(</a:t>
            </a:r>
            <a:r>
              <a:rPr lang="en-IN" dirty="0" err="1"/>
              <a:t>keyword.kwlist</a:t>
            </a:r>
            <a:r>
              <a:rPr lang="en-IN" dirty="0"/>
              <a:t>)</a:t>
            </a:r>
            <a:endParaRPr lang="en-IN" dirty="0"/>
          </a:p>
          <a:p>
            <a:pPr lvl="1"/>
            <a:endParaRPr lang="en-IN"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Operators </a:t>
            </a:r>
            <a:endParaRPr lang="en-IN" dirty="0"/>
          </a:p>
        </p:txBody>
      </p:sp>
      <p:sp>
        <p:nvSpPr>
          <p:cNvPr id="3" name="Content Placeholder 2"/>
          <p:cNvSpPr>
            <a:spLocks noGrp="1"/>
          </p:cNvSpPr>
          <p:nvPr>
            <p:ph idx="1"/>
          </p:nvPr>
        </p:nvSpPr>
        <p:spPr>
          <a:xfrm>
            <a:off x="1155065" y="2353945"/>
            <a:ext cx="9577070" cy="4268470"/>
          </a:xfrm>
        </p:spPr>
        <p:txBody>
          <a:bodyPr>
            <a:normAutofit fontScale="90000"/>
          </a:bodyPr>
          <a:lstStyle/>
          <a:p>
            <a:r>
              <a:rPr lang="en-US" altLang="en-US" dirty="0"/>
              <a:t>In Python programming, Operators in general are used to perform operations on values and variables.</a:t>
            </a:r>
            <a:endParaRPr lang="en-US" altLang="en-US" dirty="0"/>
          </a:p>
          <a:p>
            <a:r>
              <a:rPr lang="en-US" altLang="en-US" dirty="0"/>
              <a:t>Operators: Special symbols like -, + , * , /, etc.</a:t>
            </a:r>
            <a:endParaRPr lang="en-US" altLang="en-US" dirty="0"/>
          </a:p>
          <a:p>
            <a:r>
              <a:rPr lang="en-US" altLang="en-US" dirty="0"/>
              <a:t>Operands: Value on which the operator is applied.</a:t>
            </a:r>
            <a:endParaRPr lang="en-US" altLang="en-US" dirty="0"/>
          </a:p>
          <a:p>
            <a:r>
              <a:rPr lang="en-IN" dirty="0"/>
              <a:t> Python language supports the following types of operators. </a:t>
            </a:r>
            <a:endParaRPr lang="en-IN" dirty="0"/>
          </a:p>
          <a:p>
            <a:pPr lvl="1">
              <a:buFont typeface="Wingdings" panose="05000000000000000000" pitchFamily="2" charset="2"/>
              <a:buChar char="v"/>
            </a:pPr>
            <a:r>
              <a:rPr lang="en-IN" dirty="0"/>
              <a:t>Arithmetic Operators, </a:t>
            </a:r>
            <a:endParaRPr lang="en-IN" dirty="0"/>
          </a:p>
          <a:p>
            <a:pPr lvl="1">
              <a:buFont typeface="Wingdings" panose="05000000000000000000" pitchFamily="2" charset="2"/>
              <a:buChar char="v"/>
            </a:pPr>
            <a:r>
              <a:rPr lang="en-IN" dirty="0"/>
              <a:t>Comparison(i.e., Relational) Operators, </a:t>
            </a:r>
            <a:endParaRPr lang="en-IN" dirty="0"/>
          </a:p>
          <a:p>
            <a:pPr lvl="1">
              <a:buFont typeface="Wingdings" panose="05000000000000000000" pitchFamily="2" charset="2"/>
              <a:buChar char="v"/>
            </a:pPr>
            <a:r>
              <a:rPr lang="en-IN" dirty="0"/>
              <a:t>Assignment Operators,</a:t>
            </a:r>
            <a:endParaRPr lang="en-IN" dirty="0"/>
          </a:p>
          <a:p>
            <a:pPr lvl="1">
              <a:buFont typeface="Wingdings" panose="05000000000000000000" pitchFamily="2" charset="2"/>
              <a:buChar char="v"/>
            </a:pPr>
            <a:r>
              <a:rPr lang="en-IN" dirty="0"/>
              <a:t> Logical Operators, </a:t>
            </a:r>
            <a:endParaRPr lang="en-IN" dirty="0"/>
          </a:p>
          <a:p>
            <a:pPr lvl="1">
              <a:buFont typeface="Wingdings" panose="05000000000000000000" pitchFamily="2" charset="2"/>
              <a:buChar char="v"/>
            </a:pPr>
            <a:r>
              <a:rPr lang="en-IN" dirty="0"/>
              <a:t>Bitwise Operators,</a:t>
            </a:r>
            <a:endParaRPr lang="en-IN" dirty="0"/>
          </a:p>
          <a:p>
            <a:pPr lvl="1">
              <a:buFont typeface="Wingdings" panose="05000000000000000000" pitchFamily="2" charset="2"/>
              <a:buChar char="v"/>
            </a:pPr>
            <a:r>
              <a:rPr lang="en-IN" dirty="0"/>
              <a:t> Membership Operators</a:t>
            </a:r>
            <a:endParaRPr lang="en-IN" dirty="0"/>
          </a:p>
          <a:p>
            <a:pPr lvl="1">
              <a:buFont typeface="Wingdings" panose="05000000000000000000" pitchFamily="2" charset="2"/>
              <a:buChar char="v"/>
            </a:pPr>
            <a:r>
              <a:rPr lang="en-IN" dirty="0"/>
              <a:t> Identity Operators</a:t>
            </a: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Arithmetic Operators</a:t>
            </a:r>
            <a:endParaRPr lang="en-IN" altLang="en-US"/>
          </a:p>
        </p:txBody>
      </p:sp>
      <p:sp>
        <p:nvSpPr>
          <p:cNvPr id="3" name="Content Placeholder 2"/>
          <p:cNvSpPr>
            <a:spLocks noGrp="1"/>
          </p:cNvSpPr>
          <p:nvPr>
            <p:ph idx="1"/>
          </p:nvPr>
        </p:nvSpPr>
        <p:spPr/>
        <p:txBody>
          <a:bodyPr/>
          <a:p>
            <a:r>
              <a:rPr lang="en-US" altLang="en-US"/>
              <a:t>Arithmetic operators perform mathematical calculations such as addition, subtraction, multiplication, division, floor division, remainder, and exponentiation.</a:t>
            </a:r>
            <a:endParaRPr lang="en-US" altLang="en-US"/>
          </a:p>
          <a:p>
            <a:endParaRPr lang="en-US" altLang="en-US"/>
          </a:p>
        </p:txBody>
      </p:sp>
      <p:graphicFrame>
        <p:nvGraphicFramePr>
          <p:cNvPr id="4" name="Table 3"/>
          <p:cNvGraphicFramePr/>
          <p:nvPr/>
        </p:nvGraphicFramePr>
        <p:xfrm>
          <a:off x="1671955" y="3636010"/>
          <a:ext cx="6751320" cy="2250440"/>
        </p:xfrm>
        <a:graphic>
          <a:graphicData uri="http://schemas.openxmlformats.org/drawingml/2006/table">
            <a:tbl>
              <a:tblPr/>
              <a:tblGrid>
                <a:gridCol w="2250440"/>
                <a:gridCol w="2250440"/>
                <a:gridCol w="2250440"/>
              </a:tblGrid>
              <a:tr h="281305">
                <a:tc>
                  <a:txBody>
                    <a:bodyPr/>
                    <a:p>
                      <a:pPr>
                        <a:lnSpc>
                          <a:spcPct val="114000"/>
                        </a:lnSpc>
                        <a:spcBef>
                          <a:spcPct val="0"/>
                        </a:spcBef>
                        <a:spcAft>
                          <a:spcPct val="0"/>
                        </a:spcAft>
                      </a:pPr>
                      <a:r>
                        <a:rPr sz="1800" b="1">
                          <a:latin typeface="Arial" panose="020B0604020202020204"/>
                          <a:ea typeface="ＭＳ 明朝"/>
                        </a:rPr>
                        <a:t>Operator</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Description</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Example</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Addition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+ 3 → 8</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Subtraction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5 - 3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Multiplication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3 → 15</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Division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2 → 2.5</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Floor Division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2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Modulus (Remainder)</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2 → 1</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81305">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Exponentiation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 2 → 25</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Comparison (Relational) Operators</a:t>
            </a:r>
            <a:endParaRPr lang="en-US" altLang="en-US"/>
          </a:p>
        </p:txBody>
      </p:sp>
      <p:sp>
        <p:nvSpPr>
          <p:cNvPr id="3" name="Content Placeholder 2"/>
          <p:cNvSpPr>
            <a:spLocks noGrp="1"/>
          </p:cNvSpPr>
          <p:nvPr>
            <p:ph idx="1"/>
          </p:nvPr>
        </p:nvSpPr>
        <p:spPr/>
        <p:txBody>
          <a:bodyPr/>
          <a:p>
            <a:r>
              <a:rPr lang="en-US" altLang="en-US"/>
              <a:t>Comparison operators compare two values and produce a Boolean result: True or False. </a:t>
            </a:r>
            <a:endParaRPr lang="en-US" altLang="en-US"/>
          </a:p>
        </p:txBody>
      </p:sp>
      <p:graphicFrame>
        <p:nvGraphicFramePr>
          <p:cNvPr id="4" name="Table 3"/>
          <p:cNvGraphicFramePr/>
          <p:nvPr/>
        </p:nvGraphicFramePr>
        <p:xfrm>
          <a:off x="1724025" y="3284220"/>
          <a:ext cx="7644765" cy="3749040"/>
        </p:xfrm>
        <a:graphic>
          <a:graphicData uri="http://schemas.openxmlformats.org/drawingml/2006/table">
            <a:tbl>
              <a:tblPr/>
              <a:tblGrid>
                <a:gridCol w="2548255"/>
                <a:gridCol w="2548255"/>
                <a:gridCol w="2548255"/>
              </a:tblGrid>
              <a:tr h="334645">
                <a:tc>
                  <a:txBody>
                    <a:bodyPr/>
                    <a:p>
                      <a:pPr>
                        <a:lnSpc>
                          <a:spcPct val="114000"/>
                        </a:lnSpc>
                        <a:spcBef>
                          <a:spcPct val="0"/>
                        </a:spcBef>
                        <a:spcAft>
                          <a:spcPct val="0"/>
                        </a:spcAft>
                      </a:pPr>
                      <a:r>
                        <a:rPr sz="2400" b="1">
                          <a:latin typeface="Arial" panose="020B0604020202020204"/>
                          <a:ea typeface="ＭＳ 明朝"/>
                        </a:rPr>
                        <a:t>Operator</a:t>
                      </a:r>
                      <a:endParaRPr sz="24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b="1">
                          <a:latin typeface="Arial" panose="020B0604020202020204"/>
                          <a:ea typeface="ＭＳ 明朝"/>
                        </a:rPr>
                        <a:t>Description</a:t>
                      </a:r>
                      <a:endParaRPr sz="24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b="1">
                          <a:latin typeface="Arial" panose="020B0604020202020204"/>
                          <a:ea typeface="ＭＳ 明朝"/>
                        </a:rPr>
                        <a:t>Example</a:t>
                      </a:r>
                      <a:endParaRPr sz="24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Equal to</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 3 → False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Not equal to</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 3 → True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&gt;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Greater than</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&gt; 3 → True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&lt;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Less than</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&lt; 3 → False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&gt;=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Greater than or equal to</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&gt;= 5 → True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334645">
                <a:tc>
                  <a:txBody>
                    <a:bodyPr/>
                    <a:p>
                      <a:pPr>
                        <a:lnSpc>
                          <a:spcPct val="114000"/>
                        </a:lnSpc>
                        <a:spcBef>
                          <a:spcPct val="0"/>
                        </a:spcBef>
                        <a:spcAft>
                          <a:spcPct val="0"/>
                        </a:spcAft>
                      </a:pPr>
                      <a:r>
                        <a:rPr sz="2400">
                          <a:latin typeface="Arial" panose="020B0604020202020204"/>
                          <a:ea typeface="ＭＳ 明朝"/>
                        </a:rPr>
                        <a:t>&lt;=</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Less than or equal to</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2400">
                          <a:latin typeface="Arial" panose="020B0604020202020204"/>
                          <a:ea typeface="ＭＳ 明朝"/>
                        </a:rPr>
                        <a:t>5 &lt;= 3 → False</a:t>
                      </a:r>
                      <a:endParaRPr sz="24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 Logical Operators</a:t>
            </a:r>
            <a:endParaRPr lang="en-US"/>
          </a:p>
        </p:txBody>
      </p:sp>
      <p:sp>
        <p:nvSpPr>
          <p:cNvPr id="3" name="Content Placeholder 2"/>
          <p:cNvSpPr>
            <a:spLocks noGrp="1"/>
          </p:cNvSpPr>
          <p:nvPr>
            <p:ph idx="1"/>
          </p:nvPr>
        </p:nvSpPr>
        <p:spPr/>
        <p:txBody>
          <a:bodyPr/>
          <a:p>
            <a:r>
              <a:rPr lang="en-US" altLang="en-US"/>
              <a:t>Logical operators are used to combine multiple conditions. They return a Boolean result (True or False) when used with Boolean conditions.</a:t>
            </a:r>
            <a:endParaRPr lang="en-US" altLang="en-US"/>
          </a:p>
        </p:txBody>
      </p:sp>
      <p:graphicFrame>
        <p:nvGraphicFramePr>
          <p:cNvPr id="4" name="Table 3"/>
          <p:cNvGraphicFramePr/>
          <p:nvPr/>
        </p:nvGraphicFramePr>
        <p:xfrm>
          <a:off x="1447165" y="3729990"/>
          <a:ext cx="6781800" cy="1784985"/>
        </p:xfrm>
        <a:graphic>
          <a:graphicData uri="http://schemas.openxmlformats.org/drawingml/2006/table">
            <a:tbl>
              <a:tblPr/>
              <a:tblGrid>
                <a:gridCol w="2260600"/>
                <a:gridCol w="2260600"/>
                <a:gridCol w="2260600"/>
              </a:tblGrid>
              <a:tr h="297815">
                <a:tc>
                  <a:txBody>
                    <a:bodyPr/>
                    <a:p>
                      <a:pPr>
                        <a:lnSpc>
                          <a:spcPct val="114000"/>
                        </a:lnSpc>
                        <a:spcBef>
                          <a:spcPct val="0"/>
                        </a:spcBef>
                        <a:spcAft>
                          <a:spcPct val="0"/>
                        </a:spcAft>
                      </a:pPr>
                      <a:r>
                        <a:rPr sz="1800" b="1">
                          <a:latin typeface="Arial" panose="020B0604020202020204"/>
                          <a:ea typeface="ＭＳ 明朝"/>
                        </a:rPr>
                        <a:t>Operator</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Description</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Example</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94995">
                <a:tc>
                  <a:txBody>
                    <a:bodyPr/>
                    <a:p>
                      <a:pPr>
                        <a:lnSpc>
                          <a:spcPct val="114000"/>
                        </a:lnSpc>
                        <a:spcBef>
                          <a:spcPct val="0"/>
                        </a:spcBef>
                        <a:spcAft>
                          <a:spcPct val="0"/>
                        </a:spcAft>
                      </a:pPr>
                      <a:r>
                        <a:rPr sz="1800">
                          <a:latin typeface="Arial" panose="020B0604020202020204"/>
                          <a:ea typeface="ＭＳ 明朝"/>
                        </a:rPr>
                        <a:t>and</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True only when both conditions are True.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&gt; 3) and (3 &gt; 1) → True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94995">
                <a:tc>
                  <a:txBody>
                    <a:bodyPr/>
                    <a:p>
                      <a:pPr>
                        <a:lnSpc>
                          <a:spcPct val="114000"/>
                        </a:lnSpc>
                        <a:spcBef>
                          <a:spcPct val="0"/>
                        </a:spcBef>
                        <a:spcAft>
                          <a:spcPct val="0"/>
                        </a:spcAft>
                      </a:pPr>
                      <a:r>
                        <a:rPr sz="1800">
                          <a:latin typeface="Arial" panose="020B0604020202020204"/>
                          <a:ea typeface="ＭＳ 明朝"/>
                        </a:rPr>
                        <a:t>or</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True when at least one condition is True.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(5 &gt; 3) or (3 &lt; 1) → True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97180">
                <a:tc>
                  <a:txBody>
                    <a:bodyPr/>
                    <a:p>
                      <a:pPr>
                        <a:lnSpc>
                          <a:spcPct val="114000"/>
                        </a:lnSpc>
                        <a:spcBef>
                          <a:spcPct val="0"/>
                        </a:spcBef>
                        <a:spcAft>
                          <a:spcPct val="0"/>
                        </a:spcAft>
                      </a:pPr>
                      <a:r>
                        <a:rPr sz="1800">
                          <a:latin typeface="Arial" panose="020B0604020202020204"/>
                          <a:ea typeface="ＭＳ 明朝"/>
                        </a:rPr>
                        <a:t>not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Reverses a Boolean result.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not(5 &gt; 3) → False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and operator</a:t>
            </a:r>
            <a:endParaRPr lang="en-IN" altLang="en-US"/>
          </a:p>
        </p:txBody>
      </p:sp>
      <p:graphicFrame>
        <p:nvGraphicFramePr>
          <p:cNvPr id="4" name="Content Placeholder 3"/>
          <p:cNvGraphicFramePr/>
          <p:nvPr>
            <p:ph idx="1"/>
          </p:nvPr>
        </p:nvGraphicFramePr>
        <p:xfrm>
          <a:off x="1154954" y="2608580"/>
          <a:ext cx="8825865" cy="1905000"/>
        </p:xfrm>
        <a:graphic>
          <a:graphicData uri="http://schemas.openxmlformats.org/drawingml/2006/table">
            <a:tbl>
              <a:tblPr firstRow="1" bandRow="1">
                <a:tableStyleId>{5C22544A-7EE6-4342-B048-85BDC9FD1C3A}</a:tableStyleId>
              </a:tblPr>
              <a:tblGrid>
                <a:gridCol w="2941955"/>
                <a:gridCol w="2941955"/>
                <a:gridCol w="2941955"/>
              </a:tblGrid>
              <a:tr h="381000">
                <a:tc>
                  <a:txBody>
                    <a:bodyPr/>
                    <a:p>
                      <a:pPr>
                        <a:buNone/>
                      </a:pPr>
                      <a:r>
                        <a:rPr lang="en-IN" altLang="en-US"/>
                        <a:t>1st Condition</a:t>
                      </a:r>
                      <a:endParaRPr lang="en-IN" altLang="en-US"/>
                    </a:p>
                  </a:txBody>
                  <a:tcPr/>
                </a:tc>
                <a:tc>
                  <a:txBody>
                    <a:bodyPr/>
                    <a:p>
                      <a:pPr>
                        <a:buNone/>
                      </a:pPr>
                      <a:r>
                        <a:rPr lang="en-IN" altLang="en-US"/>
                        <a:t>2nd Condition</a:t>
                      </a:r>
                      <a:endParaRPr lang="en-IN" altLang="en-US"/>
                    </a:p>
                  </a:txBody>
                  <a:tcPr/>
                </a:tc>
                <a:tc>
                  <a:txBody>
                    <a:bodyPr/>
                    <a:p>
                      <a:pPr>
                        <a:buNone/>
                      </a:pPr>
                      <a:r>
                        <a:rPr lang="en-IN" altLang="en-US"/>
                        <a:t>Output</a:t>
                      </a:r>
                      <a:endParaRPr lang="en-IN" altLang="en-US"/>
                    </a:p>
                  </a:txBody>
                  <a:tcPr/>
                </a:tc>
              </a:tr>
              <a:tr h="381000">
                <a:tc>
                  <a:txBody>
                    <a:bodyPr/>
                    <a:p>
                      <a:pPr>
                        <a:buNone/>
                      </a:pPr>
                      <a:r>
                        <a:rPr lang="en-IN" altLang="en-US"/>
                        <a:t>True</a:t>
                      </a:r>
                      <a:endParaRPr lang="en-IN" altLang="en-US"/>
                    </a:p>
                  </a:txBody>
                  <a:tcPr/>
                </a:tc>
                <a:tc>
                  <a:txBody>
                    <a:bodyPr/>
                    <a:p>
                      <a:pPr>
                        <a:buNone/>
                      </a:pPr>
                      <a:r>
                        <a:rPr lang="en-IN" altLang="en-US"/>
                        <a:t>True</a:t>
                      </a:r>
                      <a:endParaRPr lang="en-IN" altLang="en-US"/>
                    </a:p>
                  </a:txBody>
                  <a:tcPr/>
                </a:tc>
                <a:tc>
                  <a:txBody>
                    <a:bodyPr/>
                    <a:p>
                      <a:pPr>
                        <a:buNone/>
                      </a:pPr>
                      <a:r>
                        <a:rPr lang="en-IN" altLang="en-US"/>
                        <a:t>True</a:t>
                      </a:r>
                      <a:endParaRPr lang="en-IN" altLang="en-US"/>
                    </a:p>
                  </a:txBody>
                  <a:tcPr/>
                </a:tc>
              </a:tr>
              <a:tr h="381000">
                <a:tc>
                  <a:txBody>
                    <a:bodyPr/>
                    <a:p>
                      <a:pPr>
                        <a:buNone/>
                      </a:pPr>
                      <a:r>
                        <a:rPr lang="en-IN" altLang="en-US"/>
                        <a:t>True</a:t>
                      </a:r>
                      <a:endParaRPr lang="en-IN" altLang="en-US"/>
                    </a:p>
                  </a:txBody>
                  <a:tcPr/>
                </a:tc>
                <a:tc>
                  <a:txBody>
                    <a:bodyPr/>
                    <a:p>
                      <a:pPr>
                        <a:buNone/>
                      </a:pPr>
                      <a:r>
                        <a:rPr lang="en-IN" altLang="en-US"/>
                        <a:t>False</a:t>
                      </a:r>
                      <a:endParaRPr lang="en-IN" altLang="en-US"/>
                    </a:p>
                  </a:txBody>
                  <a:tcPr/>
                </a:tc>
                <a:tc>
                  <a:txBody>
                    <a:bodyPr/>
                    <a:p>
                      <a:pPr>
                        <a:buNone/>
                      </a:pPr>
                      <a:r>
                        <a:rPr lang="en-IN" altLang="en-US"/>
                        <a:t>False</a:t>
                      </a:r>
                      <a:endParaRPr lang="en-IN" altLang="en-US"/>
                    </a:p>
                  </a:txBody>
                  <a:tcPr/>
                </a:tc>
              </a:tr>
              <a:tr h="381000">
                <a:tc>
                  <a:txBody>
                    <a:bodyPr/>
                    <a:p>
                      <a:pPr>
                        <a:buNone/>
                      </a:pPr>
                      <a:r>
                        <a:rPr lang="en-IN" altLang="en-US"/>
                        <a:t>False</a:t>
                      </a:r>
                      <a:endParaRPr lang="en-IN" altLang="en-US"/>
                    </a:p>
                  </a:txBody>
                  <a:tcPr/>
                </a:tc>
                <a:tc>
                  <a:txBody>
                    <a:bodyPr/>
                    <a:p>
                      <a:pPr>
                        <a:buNone/>
                      </a:pPr>
                      <a:r>
                        <a:rPr lang="en-IN" altLang="en-US"/>
                        <a:t>True</a:t>
                      </a:r>
                      <a:endParaRPr lang="en-IN" altLang="en-US"/>
                    </a:p>
                  </a:txBody>
                  <a:tcPr/>
                </a:tc>
                <a:tc>
                  <a:txBody>
                    <a:bodyPr/>
                    <a:p>
                      <a:pPr>
                        <a:buNone/>
                      </a:pPr>
                      <a:r>
                        <a:rPr lang="en-IN" altLang="en-US"/>
                        <a:t>False</a:t>
                      </a:r>
                      <a:endParaRPr lang="en-IN" altLang="en-US"/>
                    </a:p>
                  </a:txBody>
                  <a:tcPr/>
                </a:tc>
              </a:tr>
              <a:tr h="381000">
                <a:tc>
                  <a:txBody>
                    <a:bodyPr/>
                    <a:p>
                      <a:pPr>
                        <a:buNone/>
                      </a:pPr>
                      <a:r>
                        <a:rPr lang="en-IN" altLang="en-US"/>
                        <a:t>False</a:t>
                      </a:r>
                      <a:endParaRPr lang="en-IN" altLang="en-US"/>
                    </a:p>
                  </a:txBody>
                  <a:tcPr/>
                </a:tc>
                <a:tc>
                  <a:txBody>
                    <a:bodyPr/>
                    <a:p>
                      <a:pPr>
                        <a:buNone/>
                      </a:pPr>
                      <a:r>
                        <a:rPr lang="en-IN" altLang="en-US"/>
                        <a:t>False</a:t>
                      </a:r>
                      <a:endParaRPr lang="en-IN" altLang="en-US"/>
                    </a:p>
                  </a:txBody>
                  <a:tcPr/>
                </a:tc>
                <a:tc>
                  <a:txBody>
                    <a:bodyPr/>
                    <a:p>
                      <a:pPr>
                        <a:buNone/>
                      </a:pPr>
                      <a:r>
                        <a:rPr lang="en-IN" altLang="en-US"/>
                        <a:t>False</a:t>
                      </a:r>
                      <a:endParaRPr lang="en-IN" altLang="en-US"/>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OR Operator</a:t>
            </a:r>
            <a:endParaRPr lang="en-IN" altLang="en-US"/>
          </a:p>
        </p:txBody>
      </p:sp>
      <p:graphicFrame>
        <p:nvGraphicFramePr>
          <p:cNvPr id="4" name="Content Placeholder 3"/>
          <p:cNvGraphicFramePr/>
          <p:nvPr>
            <p:ph idx="1"/>
          </p:nvPr>
        </p:nvGraphicFramePr>
        <p:xfrm>
          <a:off x="1154954" y="2603500"/>
          <a:ext cx="8825865" cy="1905000"/>
        </p:xfrm>
        <a:graphic>
          <a:graphicData uri="http://schemas.openxmlformats.org/drawingml/2006/table">
            <a:tbl>
              <a:tblPr firstRow="1" bandRow="1">
                <a:tableStyleId>{5C22544A-7EE6-4342-B048-85BDC9FD1C3A}</a:tableStyleId>
              </a:tblPr>
              <a:tblGrid>
                <a:gridCol w="2941955"/>
                <a:gridCol w="2941955"/>
                <a:gridCol w="2941955"/>
              </a:tblGrid>
              <a:tr h="381000">
                <a:tc>
                  <a:txBody>
                    <a:bodyPr/>
                    <a:p>
                      <a:pPr>
                        <a:buNone/>
                      </a:pPr>
                      <a:r>
                        <a:rPr lang="en-IN" altLang="en-US" sz="2400" b="1"/>
                        <a:t>1st condition</a:t>
                      </a:r>
                      <a:endParaRPr lang="en-IN" altLang="en-US" sz="2400" b="1"/>
                    </a:p>
                  </a:txBody>
                  <a:tcPr/>
                </a:tc>
                <a:tc>
                  <a:txBody>
                    <a:bodyPr/>
                    <a:p>
                      <a:pPr>
                        <a:buNone/>
                      </a:pPr>
                      <a:r>
                        <a:rPr lang="en-IN" altLang="en-US" sz="2400" b="1"/>
                        <a:t>2nd Condition</a:t>
                      </a:r>
                      <a:endParaRPr lang="en-IN" altLang="en-US" sz="2400" b="1"/>
                    </a:p>
                  </a:txBody>
                  <a:tcPr/>
                </a:tc>
                <a:tc>
                  <a:txBody>
                    <a:bodyPr/>
                    <a:p>
                      <a:pPr>
                        <a:buNone/>
                      </a:pPr>
                      <a:r>
                        <a:rPr lang="en-IN" altLang="en-US" sz="2400" b="1"/>
                        <a:t>Output</a:t>
                      </a:r>
                      <a:endParaRPr lang="en-IN" altLang="en-US" sz="2400" b="1"/>
                    </a:p>
                  </a:txBody>
                  <a:tcPr/>
                </a:tc>
              </a:tr>
              <a:tr h="381000">
                <a:tc>
                  <a:txBody>
                    <a:bodyPr/>
                    <a:p>
                      <a:pPr>
                        <a:buNone/>
                      </a:pPr>
                      <a:r>
                        <a:rPr lang="en-IN" altLang="en-US" sz="2400" b="1"/>
                        <a:t>True</a:t>
                      </a:r>
                      <a:endParaRPr lang="en-IN" altLang="en-US" sz="2400" b="1"/>
                    </a:p>
                  </a:txBody>
                  <a:tcPr/>
                </a:tc>
                <a:tc>
                  <a:txBody>
                    <a:bodyPr/>
                    <a:p>
                      <a:pPr>
                        <a:buNone/>
                      </a:pPr>
                      <a:r>
                        <a:rPr lang="en-IN" altLang="en-US" sz="2400" b="1">
                          <a:sym typeface="+mn-ea"/>
                        </a:rPr>
                        <a:t>True</a:t>
                      </a:r>
                      <a:endParaRPr lang="en-IN" altLang="en-US" sz="2400" b="1">
                        <a:sym typeface="+mn-ea"/>
                      </a:endParaRPr>
                    </a:p>
                  </a:txBody>
                  <a:tcPr/>
                </a:tc>
                <a:tc>
                  <a:txBody>
                    <a:bodyPr/>
                    <a:p>
                      <a:pPr>
                        <a:buNone/>
                      </a:pPr>
                      <a:r>
                        <a:rPr lang="en-IN" altLang="en-US" sz="2400" b="1">
                          <a:sym typeface="+mn-ea"/>
                        </a:rPr>
                        <a:t>True</a:t>
                      </a:r>
                      <a:endParaRPr lang="en-IN" altLang="en-US" sz="2400" b="1">
                        <a:sym typeface="+mn-ea"/>
                      </a:endParaRPr>
                    </a:p>
                  </a:txBody>
                  <a:tcPr/>
                </a:tc>
              </a:tr>
              <a:tr h="381000">
                <a:tc>
                  <a:txBody>
                    <a:bodyPr/>
                    <a:p>
                      <a:pPr>
                        <a:buNone/>
                      </a:pPr>
                      <a:r>
                        <a:rPr lang="en-IN" altLang="en-US" sz="2400" b="1">
                          <a:sym typeface="+mn-ea"/>
                        </a:rPr>
                        <a:t>True</a:t>
                      </a:r>
                      <a:endParaRPr lang="en-IN" altLang="en-US" sz="2400" b="1">
                        <a:sym typeface="+mn-ea"/>
                      </a:endParaRPr>
                    </a:p>
                  </a:txBody>
                  <a:tcPr/>
                </a:tc>
                <a:tc>
                  <a:txBody>
                    <a:bodyPr/>
                    <a:p>
                      <a:pPr>
                        <a:buNone/>
                      </a:pPr>
                      <a:r>
                        <a:rPr lang="en-IN" altLang="en-US" sz="2400" b="1"/>
                        <a:t>False</a:t>
                      </a:r>
                      <a:endParaRPr lang="en-IN" altLang="en-US" sz="2400" b="1"/>
                    </a:p>
                  </a:txBody>
                  <a:tcPr/>
                </a:tc>
                <a:tc>
                  <a:txBody>
                    <a:bodyPr/>
                    <a:p>
                      <a:pPr>
                        <a:buNone/>
                      </a:pPr>
                      <a:r>
                        <a:rPr lang="en-IN" altLang="en-US" sz="2400" b="1">
                          <a:sym typeface="+mn-ea"/>
                        </a:rPr>
                        <a:t>True</a:t>
                      </a:r>
                      <a:endParaRPr lang="en-IN" altLang="en-US" sz="2400" b="1">
                        <a:sym typeface="+mn-ea"/>
                      </a:endParaRPr>
                    </a:p>
                  </a:txBody>
                  <a:tcPr/>
                </a:tc>
              </a:tr>
              <a:tr h="381000">
                <a:tc>
                  <a:txBody>
                    <a:bodyPr/>
                    <a:p>
                      <a:pPr>
                        <a:buNone/>
                      </a:pPr>
                      <a:r>
                        <a:rPr lang="en-IN" altLang="en-US" sz="2400" b="1">
                          <a:sym typeface="+mn-ea"/>
                        </a:rPr>
                        <a:t>False</a:t>
                      </a:r>
                      <a:endParaRPr lang="en-IN" altLang="en-US" sz="2400" b="1">
                        <a:sym typeface="+mn-ea"/>
                      </a:endParaRPr>
                    </a:p>
                  </a:txBody>
                  <a:tcPr/>
                </a:tc>
                <a:tc>
                  <a:txBody>
                    <a:bodyPr/>
                    <a:p>
                      <a:pPr>
                        <a:buNone/>
                      </a:pPr>
                      <a:r>
                        <a:rPr lang="en-IN" altLang="en-US" sz="2400" b="1">
                          <a:sym typeface="+mn-ea"/>
                        </a:rPr>
                        <a:t>True</a:t>
                      </a:r>
                      <a:endParaRPr lang="en-IN" altLang="en-US" sz="2400" b="1">
                        <a:sym typeface="+mn-ea"/>
                      </a:endParaRPr>
                    </a:p>
                  </a:txBody>
                  <a:tcPr/>
                </a:tc>
                <a:tc>
                  <a:txBody>
                    <a:bodyPr/>
                    <a:p>
                      <a:pPr>
                        <a:buNone/>
                      </a:pPr>
                      <a:r>
                        <a:rPr lang="en-IN" altLang="en-US" sz="2400" b="1">
                          <a:sym typeface="+mn-ea"/>
                        </a:rPr>
                        <a:t>True</a:t>
                      </a:r>
                      <a:endParaRPr lang="en-IN" altLang="en-US" sz="2400" b="1">
                        <a:sym typeface="+mn-ea"/>
                      </a:endParaRPr>
                    </a:p>
                  </a:txBody>
                  <a:tcPr/>
                </a:tc>
              </a:tr>
              <a:tr h="381000">
                <a:tc>
                  <a:txBody>
                    <a:bodyPr/>
                    <a:p>
                      <a:pPr>
                        <a:buNone/>
                      </a:pPr>
                      <a:r>
                        <a:rPr lang="en-IN" altLang="en-US" sz="2400" b="1">
                          <a:sym typeface="+mn-ea"/>
                        </a:rPr>
                        <a:t>False</a:t>
                      </a:r>
                      <a:endParaRPr lang="en-IN" altLang="en-US" sz="2400" b="1">
                        <a:sym typeface="+mn-ea"/>
                      </a:endParaRPr>
                    </a:p>
                  </a:txBody>
                  <a:tcPr/>
                </a:tc>
                <a:tc>
                  <a:txBody>
                    <a:bodyPr/>
                    <a:p>
                      <a:pPr>
                        <a:buNone/>
                      </a:pPr>
                      <a:r>
                        <a:rPr lang="en-IN" altLang="en-US" sz="2400" b="1">
                          <a:sym typeface="+mn-ea"/>
                        </a:rPr>
                        <a:t>False</a:t>
                      </a:r>
                      <a:endParaRPr lang="en-IN" altLang="en-US" sz="2400" b="1">
                        <a:sym typeface="+mn-ea"/>
                      </a:endParaRPr>
                    </a:p>
                  </a:txBody>
                  <a:tcPr/>
                </a:tc>
                <a:tc>
                  <a:txBody>
                    <a:bodyPr/>
                    <a:p>
                      <a:pPr>
                        <a:buNone/>
                      </a:pPr>
                      <a:r>
                        <a:rPr lang="en-IN" altLang="en-US" sz="2400" b="1">
                          <a:sym typeface="+mn-ea"/>
                        </a:rPr>
                        <a:t>False</a:t>
                      </a:r>
                      <a:endParaRPr lang="en-IN" altLang="en-US" sz="2400" b="1">
                        <a:sym typeface="+mn-ea"/>
                      </a:endParaRPr>
                    </a:p>
                  </a:txBody>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Assignment Operators</a:t>
            </a:r>
            <a:endParaRPr lang="en-US" altLang="en-US"/>
          </a:p>
        </p:txBody>
      </p:sp>
      <p:sp>
        <p:nvSpPr>
          <p:cNvPr id="3" name="Content Placeholder 2"/>
          <p:cNvSpPr>
            <a:spLocks noGrp="1"/>
          </p:cNvSpPr>
          <p:nvPr>
            <p:ph idx="1"/>
          </p:nvPr>
        </p:nvSpPr>
        <p:spPr/>
        <p:txBody>
          <a:bodyPr/>
          <a:p>
            <a:r>
              <a:rPr lang="en-US" altLang="en-US"/>
              <a:t>Assignment operators are used to assign a value to a variable.</a:t>
            </a:r>
            <a:endParaRPr lang="en-US" altLang="en-US"/>
          </a:p>
        </p:txBody>
      </p:sp>
      <p:graphicFrame>
        <p:nvGraphicFramePr>
          <p:cNvPr id="5" name="Table 4"/>
          <p:cNvGraphicFramePr/>
          <p:nvPr/>
        </p:nvGraphicFramePr>
        <p:xfrm>
          <a:off x="1444625" y="3649980"/>
          <a:ext cx="7191375" cy="1948180"/>
        </p:xfrm>
        <a:graphic>
          <a:graphicData uri="http://schemas.openxmlformats.org/drawingml/2006/table">
            <a:tbl>
              <a:tblPr/>
              <a:tblGrid>
                <a:gridCol w="2397125"/>
                <a:gridCol w="2397125"/>
                <a:gridCol w="2397125"/>
              </a:tblGrid>
              <a:tr h="0">
                <a:tc>
                  <a:txBody>
                    <a:bodyPr/>
                    <a:p>
                      <a:pPr>
                        <a:lnSpc>
                          <a:spcPct val="114000"/>
                        </a:lnSpc>
                        <a:spcBef>
                          <a:spcPct val="0"/>
                        </a:spcBef>
                        <a:spcAft>
                          <a:spcPct val="0"/>
                        </a:spcAft>
                      </a:pPr>
                      <a:r>
                        <a:rPr sz="1800" b="1">
                          <a:latin typeface="Arial" panose="020B0604020202020204"/>
                          <a:ea typeface="ＭＳ 明朝"/>
                        </a:rPr>
                        <a:t>Operator</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Description</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b="1">
                          <a:latin typeface="Arial" panose="020B0604020202020204"/>
                          <a:ea typeface="ＭＳ 明朝"/>
                        </a:rPr>
                        <a:t>Example</a:t>
                      </a:r>
                      <a:endParaRPr sz="18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Assign value</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5</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Add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3 → x = x + 3</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Subtract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2 → x = x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Multiply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4 → x = x * 4</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Divide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2 → x = x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Floor divide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2 → x = x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Modulus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3 → x = x % 3</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219710">
                <a:tc>
                  <a:txBody>
                    <a:bodyPr/>
                    <a:p>
                      <a:pPr>
                        <a:lnSpc>
                          <a:spcPct val="114000"/>
                        </a:lnSpc>
                        <a:spcBef>
                          <a:spcPct val="0"/>
                        </a:spcBef>
                        <a:spcAft>
                          <a:spcPct val="0"/>
                        </a:spcAft>
                      </a:pPr>
                      <a:r>
                        <a:rPr sz="1800">
                          <a:latin typeface="Arial" panose="020B0604020202020204"/>
                          <a:ea typeface="ＭＳ 明朝"/>
                        </a:rPr>
                        <a:t>**=</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Exponentiate and assign</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800">
                          <a:latin typeface="Arial" panose="020B0604020202020204"/>
                          <a:ea typeface="ＭＳ 明朝"/>
                        </a:rPr>
                        <a:t>x **= 2 → x = x ** 2</a:t>
                      </a:r>
                      <a:endParaRPr sz="18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5. Bitwise Operators</a:t>
            </a:r>
            <a:endParaRPr lang="en-US"/>
          </a:p>
        </p:txBody>
      </p:sp>
      <p:sp>
        <p:nvSpPr>
          <p:cNvPr id="3" name="Content Placeholder 2"/>
          <p:cNvSpPr>
            <a:spLocks noGrp="1"/>
          </p:cNvSpPr>
          <p:nvPr>
            <p:ph idx="1"/>
          </p:nvPr>
        </p:nvSpPr>
        <p:spPr>
          <a:xfrm>
            <a:off x="1155065" y="2526030"/>
            <a:ext cx="8825865" cy="3493770"/>
          </a:xfrm>
        </p:spPr>
        <p:txBody>
          <a:bodyPr>
            <a:normAutofit/>
          </a:bodyPr>
          <a:p>
            <a:r>
              <a:rPr lang="en-US" altLang="en-US"/>
              <a:t>Bitwise operators work on the binary representation of integers and manipulate individual bits.</a:t>
            </a:r>
            <a:endParaRPr lang="en-US" altLang="en-US"/>
          </a:p>
          <a:p>
            <a:r>
              <a:rPr lang="en-US" altLang="en-US"/>
              <a:t>AND (&amp;): Produces 1 only when both corresponding bits are 1.</a:t>
            </a:r>
            <a:endParaRPr lang="en-US" altLang="en-US"/>
          </a:p>
          <a:p>
            <a:r>
              <a:rPr lang="en-US" altLang="en-US"/>
              <a:t>OR (|): Produces 1 when at least one corresponding bit is 1.</a:t>
            </a:r>
            <a:endParaRPr lang="en-US" altLang="en-US"/>
          </a:p>
          <a:p>
            <a:r>
              <a:rPr lang="en-US" altLang="en-US"/>
              <a:t>XOR (^): Produces 1 when corresponding bits are different.</a:t>
            </a:r>
            <a:endParaRPr lang="en-US" altLang="en-US"/>
          </a:p>
          <a:p>
            <a:r>
              <a:rPr lang="en-US" altLang="en-US"/>
              <a:t>NOT (~): Inverts the bits.</a:t>
            </a:r>
            <a:endParaRPr lang="en-US" altLang="en-US"/>
          </a:p>
          <a:p>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4" name="Content Placeholder 3"/>
          <p:cNvGraphicFramePr/>
          <p:nvPr>
            <p:ph idx="1"/>
          </p:nvPr>
        </p:nvGraphicFramePr>
        <p:xfrm>
          <a:off x="1154954" y="2603500"/>
          <a:ext cx="8825230" cy="3794760"/>
        </p:xfrm>
        <a:graphic>
          <a:graphicData uri="http://schemas.openxmlformats.org/drawingml/2006/table">
            <a:tbl>
              <a:tblPr firstRow="1" bandRow="1">
                <a:tableStyleId>{5C22544A-7EE6-4342-B048-85BDC9FD1C3A}</a:tableStyleId>
              </a:tblPr>
              <a:tblGrid>
                <a:gridCol w="2444115"/>
                <a:gridCol w="6381115"/>
              </a:tblGrid>
              <a:tr h="203200">
                <a:tc>
                  <a:txBody>
                    <a:bodyPr/>
                    <a:p>
                      <a:pPr>
                        <a:buNone/>
                      </a:pPr>
                      <a:r>
                        <a:rPr lang="en-IN" altLang="en-US" sz="2000"/>
                        <a:t>Decimal Number</a:t>
                      </a:r>
                      <a:endParaRPr lang="en-IN" altLang="en-US" sz="2000"/>
                    </a:p>
                  </a:txBody>
                  <a:tcPr/>
                </a:tc>
                <a:tc>
                  <a:txBody>
                    <a:bodyPr/>
                    <a:p>
                      <a:pPr>
                        <a:buNone/>
                      </a:pPr>
                      <a:r>
                        <a:rPr lang="en-IN" altLang="en-US" sz="2000"/>
                        <a:t>Binary Number</a:t>
                      </a:r>
                      <a:endParaRPr lang="en-IN" altLang="en-US" sz="2000"/>
                    </a:p>
                  </a:txBody>
                  <a:tcPr/>
                </a:tc>
              </a:tr>
              <a:tr h="381000">
                <a:tc>
                  <a:txBody>
                    <a:bodyPr/>
                    <a:p>
                      <a:pPr>
                        <a:buNone/>
                      </a:pPr>
                      <a:r>
                        <a:rPr lang="en-IN" altLang="en-US" sz="2000"/>
                        <a:t>0</a:t>
                      </a:r>
                      <a:endParaRPr lang="en-IN" altLang="en-US" sz="2000"/>
                    </a:p>
                  </a:txBody>
                  <a:tcPr/>
                </a:tc>
                <a:tc>
                  <a:txBody>
                    <a:bodyPr/>
                    <a:p>
                      <a:pPr>
                        <a:buNone/>
                      </a:pPr>
                      <a:r>
                        <a:rPr lang="en-IN" altLang="en-US" sz="2000"/>
                        <a:t>0000</a:t>
                      </a:r>
                      <a:endParaRPr lang="en-IN" altLang="en-US" sz="2000"/>
                    </a:p>
                  </a:txBody>
                  <a:tcPr/>
                </a:tc>
              </a:tr>
              <a:tr h="381000">
                <a:tc>
                  <a:txBody>
                    <a:bodyPr/>
                    <a:p>
                      <a:pPr>
                        <a:buNone/>
                      </a:pPr>
                      <a:r>
                        <a:rPr lang="en-IN" altLang="en-US" sz="2000"/>
                        <a:t>1</a:t>
                      </a:r>
                      <a:endParaRPr lang="en-IN" altLang="en-US" sz="2000"/>
                    </a:p>
                  </a:txBody>
                  <a:tcPr/>
                </a:tc>
                <a:tc>
                  <a:txBody>
                    <a:bodyPr/>
                    <a:p>
                      <a:pPr>
                        <a:buNone/>
                      </a:pPr>
                      <a:r>
                        <a:rPr lang="en-IN" altLang="en-US" sz="2000"/>
                        <a:t>0001</a:t>
                      </a:r>
                      <a:endParaRPr lang="en-IN" altLang="en-US" sz="2000"/>
                    </a:p>
                  </a:txBody>
                  <a:tcPr/>
                </a:tc>
              </a:tr>
              <a:tr h="381000">
                <a:tc>
                  <a:txBody>
                    <a:bodyPr/>
                    <a:p>
                      <a:pPr>
                        <a:buNone/>
                      </a:pPr>
                      <a:r>
                        <a:rPr lang="en-IN" altLang="en-US" sz="2000"/>
                        <a:t>2</a:t>
                      </a:r>
                      <a:endParaRPr lang="en-IN" altLang="en-US" sz="2000"/>
                    </a:p>
                  </a:txBody>
                  <a:tcPr/>
                </a:tc>
                <a:tc>
                  <a:txBody>
                    <a:bodyPr/>
                    <a:p>
                      <a:pPr>
                        <a:buNone/>
                      </a:pPr>
                      <a:r>
                        <a:rPr lang="en-IN" altLang="en-US" sz="2000"/>
                        <a:t>0010</a:t>
                      </a:r>
                      <a:endParaRPr lang="en-IN" altLang="en-US" sz="2000"/>
                    </a:p>
                  </a:txBody>
                  <a:tcPr/>
                </a:tc>
              </a:tr>
              <a:tr h="381000">
                <a:tc>
                  <a:txBody>
                    <a:bodyPr/>
                    <a:p>
                      <a:pPr>
                        <a:buNone/>
                      </a:pPr>
                      <a:r>
                        <a:rPr lang="en-IN" altLang="en-US" sz="2000"/>
                        <a:t>3</a:t>
                      </a:r>
                      <a:endParaRPr lang="en-IN" altLang="en-US" sz="2000"/>
                    </a:p>
                  </a:txBody>
                  <a:tcPr/>
                </a:tc>
                <a:tc>
                  <a:txBody>
                    <a:bodyPr/>
                    <a:p>
                      <a:pPr>
                        <a:buNone/>
                      </a:pPr>
                      <a:r>
                        <a:rPr lang="en-IN" altLang="en-US" sz="2000"/>
                        <a:t>0011</a:t>
                      </a:r>
                      <a:endParaRPr lang="en-IN" altLang="en-US" sz="2000"/>
                    </a:p>
                  </a:txBody>
                  <a:tcPr/>
                </a:tc>
              </a:tr>
              <a:tr h="381000">
                <a:tc>
                  <a:txBody>
                    <a:bodyPr/>
                    <a:p>
                      <a:pPr>
                        <a:buNone/>
                      </a:pPr>
                      <a:r>
                        <a:rPr lang="en-IN" altLang="en-US" sz="2000"/>
                        <a:t>4</a:t>
                      </a:r>
                      <a:endParaRPr lang="en-IN" altLang="en-US" sz="2000"/>
                    </a:p>
                  </a:txBody>
                  <a:tcPr/>
                </a:tc>
                <a:tc>
                  <a:txBody>
                    <a:bodyPr/>
                    <a:p>
                      <a:pPr>
                        <a:buNone/>
                      </a:pPr>
                      <a:r>
                        <a:rPr lang="en-IN" altLang="en-US" sz="2000"/>
                        <a:t>0100</a:t>
                      </a:r>
                      <a:endParaRPr lang="en-IN" altLang="en-US" sz="2000"/>
                    </a:p>
                  </a:txBody>
                  <a:tcPr/>
                </a:tc>
              </a:tr>
              <a:tr h="381000">
                <a:tc>
                  <a:txBody>
                    <a:bodyPr/>
                    <a:p>
                      <a:pPr>
                        <a:buNone/>
                      </a:pPr>
                      <a:r>
                        <a:rPr lang="en-IN" altLang="en-US" sz="2000"/>
                        <a:t>5</a:t>
                      </a:r>
                      <a:endParaRPr lang="en-IN" altLang="en-US" sz="2000"/>
                    </a:p>
                  </a:txBody>
                  <a:tcPr/>
                </a:tc>
                <a:tc>
                  <a:txBody>
                    <a:bodyPr/>
                    <a:p>
                      <a:pPr>
                        <a:buNone/>
                      </a:pPr>
                      <a:r>
                        <a:rPr lang="en-IN" altLang="en-US" sz="2000"/>
                        <a:t>0101</a:t>
                      </a:r>
                      <a:endParaRPr lang="en-IN" altLang="en-US" sz="2000"/>
                    </a:p>
                  </a:txBody>
                  <a:tcPr/>
                </a:tc>
              </a:tr>
              <a:tr h="381000">
                <a:tc>
                  <a:txBody>
                    <a:bodyPr/>
                    <a:p>
                      <a:pPr>
                        <a:buNone/>
                      </a:pPr>
                      <a:r>
                        <a:rPr lang="en-IN" altLang="en-US" sz="2000"/>
                        <a:t>6</a:t>
                      </a:r>
                      <a:endParaRPr lang="en-IN" altLang="en-US" sz="2000"/>
                    </a:p>
                  </a:txBody>
                  <a:tcPr/>
                </a:tc>
                <a:tc>
                  <a:txBody>
                    <a:bodyPr/>
                    <a:p>
                      <a:pPr>
                        <a:buNone/>
                      </a:pPr>
                      <a:r>
                        <a:rPr lang="en-IN" altLang="en-US" sz="2000"/>
                        <a:t>0110</a:t>
                      </a:r>
                      <a:endParaRPr lang="en-IN" altLang="en-US" sz="2000"/>
                    </a:p>
                  </a:txBody>
                  <a:tcPr/>
                </a:tc>
              </a:tr>
              <a:tr h="381000">
                <a:tc>
                  <a:txBody>
                    <a:bodyPr/>
                    <a:p>
                      <a:pPr>
                        <a:buNone/>
                      </a:pPr>
                      <a:r>
                        <a:rPr lang="en-IN" altLang="en-US" sz="2000"/>
                        <a:t>7</a:t>
                      </a:r>
                      <a:endParaRPr lang="en-IN" altLang="en-US" sz="2000"/>
                    </a:p>
                  </a:txBody>
                  <a:tcPr/>
                </a:tc>
                <a:tc>
                  <a:txBody>
                    <a:bodyPr/>
                    <a:p>
                      <a:pPr>
                        <a:buNone/>
                      </a:pPr>
                      <a:r>
                        <a:rPr lang="en-IN" altLang="en-US" sz="2000"/>
                        <a:t>0111</a:t>
                      </a:r>
                      <a:endParaRPr lang="en-IN" altLang="en-US" sz="2000"/>
                    </a:p>
                  </a:txBody>
                  <a:tcPr/>
                </a:tc>
              </a:tr>
              <a:tr h="381000">
                <a:tc>
                  <a:txBody>
                    <a:bodyPr/>
                    <a:p>
                      <a:pPr>
                        <a:buNone/>
                      </a:pPr>
                      <a:r>
                        <a:rPr lang="en-IN" altLang="en-US" sz="2000"/>
                        <a:t>8</a:t>
                      </a:r>
                      <a:endParaRPr lang="en-IN" altLang="en-US" sz="2000"/>
                    </a:p>
                  </a:txBody>
                  <a:tcPr/>
                </a:tc>
                <a:tc>
                  <a:txBody>
                    <a:bodyPr/>
                    <a:p>
                      <a:pPr>
                        <a:buNone/>
                      </a:pPr>
                      <a:r>
                        <a:rPr lang="en-IN" altLang="en-US" sz="2000"/>
                        <a:t>1000</a:t>
                      </a:r>
                      <a:endParaRPr lang="en-IN" altLang="en-US" sz="2000"/>
                    </a:p>
                  </a:txBody>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Bitwise &amp;(and) Operator</a:t>
            </a:r>
            <a:endParaRPr lang="en-IN" altLang="en-US"/>
          </a:p>
        </p:txBody>
      </p:sp>
      <p:graphicFrame>
        <p:nvGraphicFramePr>
          <p:cNvPr id="4" name="Content Placeholder 3"/>
          <p:cNvGraphicFramePr/>
          <p:nvPr>
            <p:ph idx="1"/>
          </p:nvPr>
        </p:nvGraphicFramePr>
        <p:xfrm>
          <a:off x="1154954" y="2603500"/>
          <a:ext cx="8825865" cy="1905000"/>
        </p:xfrm>
        <a:graphic>
          <a:graphicData uri="http://schemas.openxmlformats.org/drawingml/2006/table">
            <a:tbl>
              <a:tblPr firstRow="1" bandRow="1">
                <a:tableStyleId>{5C22544A-7EE6-4342-B048-85BDC9FD1C3A}</a:tableStyleId>
              </a:tblPr>
              <a:tblGrid>
                <a:gridCol w="2941955"/>
                <a:gridCol w="2941955"/>
                <a:gridCol w="2941955"/>
              </a:tblGrid>
              <a:tr h="381000">
                <a:tc>
                  <a:txBody>
                    <a:bodyPr/>
                    <a:p>
                      <a:pPr>
                        <a:buNone/>
                      </a:pPr>
                      <a:r>
                        <a:rPr lang="en-IN" altLang="en-US"/>
                        <a:t>1st Value</a:t>
                      </a:r>
                      <a:endParaRPr lang="en-IN" altLang="en-US"/>
                    </a:p>
                  </a:txBody>
                  <a:tcPr/>
                </a:tc>
                <a:tc>
                  <a:txBody>
                    <a:bodyPr/>
                    <a:p>
                      <a:pPr>
                        <a:buNone/>
                      </a:pPr>
                      <a:r>
                        <a:rPr lang="en-IN" altLang="en-US"/>
                        <a:t>2nd Value</a:t>
                      </a:r>
                      <a:endParaRPr lang="en-IN" altLang="en-US"/>
                    </a:p>
                  </a:txBody>
                  <a:tcPr/>
                </a:tc>
                <a:tc>
                  <a:txBody>
                    <a:bodyPr/>
                    <a:p>
                      <a:pPr>
                        <a:buNone/>
                      </a:pPr>
                      <a:r>
                        <a:rPr lang="en-IN" altLang="en-US"/>
                        <a:t>Output</a:t>
                      </a:r>
                      <a:endParaRPr lang="en-IN" altLang="en-US"/>
                    </a:p>
                  </a:txBody>
                  <a:tcPr/>
                </a:tc>
              </a:tr>
              <a:tr h="381000">
                <a:tc>
                  <a:txBody>
                    <a:bodyPr/>
                    <a:p>
                      <a:pPr>
                        <a:buNone/>
                      </a:pPr>
                      <a:r>
                        <a:rPr lang="en-IN" altLang="en-US" sz="3200" b="1"/>
                        <a:t>1</a:t>
                      </a:r>
                      <a:endParaRPr lang="en-IN" altLang="en-US" sz="3200" b="1"/>
                    </a:p>
                  </a:txBody>
                  <a:tcPr anchor="ctr" anchorCtr="0"/>
                </a:tc>
                <a:tc>
                  <a:txBody>
                    <a:bodyPr/>
                    <a:p>
                      <a:pPr>
                        <a:buNone/>
                      </a:pPr>
                      <a:r>
                        <a:rPr lang="en-IN" altLang="en-US" sz="3200" b="1"/>
                        <a:t>1</a:t>
                      </a:r>
                      <a:endParaRPr lang="en-IN" altLang="en-US" sz="3200" b="1"/>
                    </a:p>
                  </a:txBody>
                  <a:tcPr anchor="ctr" anchorCtr="0"/>
                </a:tc>
                <a:tc>
                  <a:txBody>
                    <a:bodyPr/>
                    <a:p>
                      <a:pPr>
                        <a:buNone/>
                      </a:pPr>
                      <a:r>
                        <a:rPr lang="en-IN" altLang="en-US" sz="3200" b="1"/>
                        <a:t>1</a:t>
                      </a:r>
                      <a:endParaRPr lang="en-IN" altLang="en-US" sz="3200" b="1"/>
                    </a:p>
                  </a:txBody>
                  <a:tcPr anchor="ctr" anchorCtr="0"/>
                </a:tc>
              </a:tr>
              <a:tr h="381000">
                <a:tc>
                  <a:txBody>
                    <a:bodyPr/>
                    <a:p>
                      <a:pPr>
                        <a:buNone/>
                      </a:pPr>
                      <a:r>
                        <a:rPr lang="en-IN" altLang="en-US" sz="3200" b="1"/>
                        <a:t>1</a:t>
                      </a:r>
                      <a:endParaRPr lang="en-IN" altLang="en-US" sz="3200" b="1"/>
                    </a:p>
                  </a:txBody>
                  <a:tcPr anchor="ctr" anchorCtr="0"/>
                </a:tc>
                <a:tc>
                  <a:txBody>
                    <a:bodyPr/>
                    <a:p>
                      <a:pPr>
                        <a:buNone/>
                      </a:pPr>
                      <a:r>
                        <a:rPr lang="en-IN" altLang="en-US" sz="3200" b="1"/>
                        <a:t>0</a:t>
                      </a:r>
                      <a:endParaRPr lang="en-IN" altLang="en-US" sz="3200" b="1"/>
                    </a:p>
                  </a:txBody>
                  <a:tcPr anchor="ctr" anchorCtr="0"/>
                </a:tc>
                <a:tc>
                  <a:txBody>
                    <a:bodyPr/>
                    <a:p>
                      <a:pPr>
                        <a:buNone/>
                      </a:pPr>
                      <a:r>
                        <a:rPr lang="en-IN" altLang="en-US" sz="3200" b="1"/>
                        <a:t>0</a:t>
                      </a:r>
                      <a:endParaRPr lang="en-IN" altLang="en-US" sz="3200" b="1"/>
                    </a:p>
                  </a:txBody>
                  <a:tcPr anchor="ctr" anchorCtr="0"/>
                </a:tc>
              </a:tr>
              <a:tr h="381000">
                <a:tc>
                  <a:txBody>
                    <a:bodyPr/>
                    <a:p>
                      <a:pPr>
                        <a:buNone/>
                      </a:pPr>
                      <a:r>
                        <a:rPr lang="en-IN" altLang="en-US" sz="3200" b="1"/>
                        <a:t>0</a:t>
                      </a:r>
                      <a:endParaRPr lang="en-IN" altLang="en-US" sz="3200" b="1"/>
                    </a:p>
                  </a:txBody>
                  <a:tcPr anchor="ctr" anchorCtr="0"/>
                </a:tc>
                <a:tc>
                  <a:txBody>
                    <a:bodyPr/>
                    <a:p>
                      <a:pPr>
                        <a:buNone/>
                      </a:pPr>
                      <a:r>
                        <a:rPr lang="en-IN" altLang="en-US" sz="3200" b="1"/>
                        <a:t>1</a:t>
                      </a:r>
                      <a:endParaRPr lang="en-IN" altLang="en-US" sz="3200" b="1"/>
                    </a:p>
                  </a:txBody>
                  <a:tcPr anchor="ctr" anchorCtr="0"/>
                </a:tc>
                <a:tc>
                  <a:txBody>
                    <a:bodyPr/>
                    <a:p>
                      <a:pPr>
                        <a:buNone/>
                      </a:pPr>
                      <a:r>
                        <a:rPr lang="en-IN" altLang="en-US" sz="3200" b="1"/>
                        <a:t>0</a:t>
                      </a:r>
                      <a:endParaRPr lang="en-IN" altLang="en-US" sz="3200" b="1"/>
                    </a:p>
                  </a:txBody>
                  <a:tcPr anchor="ctr" anchorCtr="0"/>
                </a:tc>
              </a:tr>
              <a:tr h="381000">
                <a:tc>
                  <a:txBody>
                    <a:bodyPr/>
                    <a:p>
                      <a:pPr>
                        <a:buNone/>
                      </a:pPr>
                      <a:r>
                        <a:rPr lang="en-IN" altLang="en-US" sz="3200" b="1"/>
                        <a:t>0</a:t>
                      </a:r>
                      <a:endParaRPr lang="en-IN" altLang="en-US" sz="3200" b="1"/>
                    </a:p>
                  </a:txBody>
                  <a:tcPr anchor="ctr" anchorCtr="0"/>
                </a:tc>
                <a:tc>
                  <a:txBody>
                    <a:bodyPr/>
                    <a:p>
                      <a:pPr>
                        <a:buNone/>
                      </a:pPr>
                      <a:r>
                        <a:rPr lang="en-IN" altLang="en-US" sz="3200" b="1"/>
                        <a:t>0</a:t>
                      </a:r>
                      <a:endParaRPr lang="en-IN" altLang="en-US" sz="3200" b="1"/>
                    </a:p>
                  </a:txBody>
                  <a:tcPr anchor="ctr" anchorCtr="0"/>
                </a:tc>
                <a:tc>
                  <a:txBody>
                    <a:bodyPr/>
                    <a:p>
                      <a:pPr>
                        <a:buNone/>
                      </a:pPr>
                      <a:r>
                        <a:rPr lang="en-IN" altLang="en-US" sz="3200" b="1"/>
                        <a:t>0</a:t>
                      </a:r>
                      <a:endParaRPr lang="en-IN" altLang="en-US" sz="3200" b="1"/>
                    </a:p>
                  </a:txBody>
                  <a:tcPr anchor="ctr" anchorCtr="0"/>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Bitwise OR Operator</a:t>
            </a:r>
            <a:endParaRPr lang="en-IN" altLang="en-US"/>
          </a:p>
        </p:txBody>
      </p:sp>
      <p:graphicFrame>
        <p:nvGraphicFramePr>
          <p:cNvPr id="4" name="Content Placeholder 3"/>
          <p:cNvGraphicFramePr/>
          <p:nvPr>
            <p:ph idx="1"/>
          </p:nvPr>
        </p:nvGraphicFramePr>
        <p:xfrm>
          <a:off x="1154954" y="2603500"/>
          <a:ext cx="8825865" cy="1905000"/>
        </p:xfrm>
        <a:graphic>
          <a:graphicData uri="http://schemas.openxmlformats.org/drawingml/2006/table">
            <a:tbl>
              <a:tblPr firstRow="1" bandRow="1">
                <a:tableStyleId>{5C22544A-7EE6-4342-B048-85BDC9FD1C3A}</a:tableStyleId>
              </a:tblPr>
              <a:tblGrid>
                <a:gridCol w="2941955"/>
                <a:gridCol w="2941955"/>
                <a:gridCol w="2941955"/>
              </a:tblGrid>
              <a:tr h="381000">
                <a:tc>
                  <a:txBody>
                    <a:bodyPr/>
                    <a:p>
                      <a:pPr>
                        <a:buNone/>
                      </a:pPr>
                      <a:r>
                        <a:rPr lang="en-IN" altLang="en-US"/>
                        <a:t>1st Bit</a:t>
                      </a:r>
                      <a:endParaRPr lang="en-IN" altLang="en-US"/>
                    </a:p>
                  </a:txBody>
                  <a:tcPr/>
                </a:tc>
                <a:tc>
                  <a:txBody>
                    <a:bodyPr/>
                    <a:p>
                      <a:pPr>
                        <a:buNone/>
                      </a:pPr>
                      <a:r>
                        <a:rPr lang="en-IN" altLang="en-US"/>
                        <a:t>2nd Bit</a:t>
                      </a:r>
                      <a:endParaRPr lang="en-IN" altLang="en-US"/>
                    </a:p>
                  </a:txBody>
                  <a:tcPr/>
                </a:tc>
                <a:tc>
                  <a:txBody>
                    <a:bodyPr/>
                    <a:p>
                      <a:pPr>
                        <a:buNone/>
                      </a:pPr>
                      <a:r>
                        <a:rPr lang="en-IN" altLang="en-US"/>
                        <a:t>Output</a:t>
                      </a:r>
                      <a:endParaRPr lang="en-IN" altLang="en-US"/>
                    </a:p>
                  </a:txBody>
                  <a:tcPr/>
                </a:tc>
              </a:tr>
              <a:tr h="381000">
                <a:tc>
                  <a:txBody>
                    <a:bodyPr/>
                    <a:p>
                      <a:pPr>
                        <a:buNone/>
                      </a:pPr>
                      <a:r>
                        <a:rPr lang="en-IN" altLang="en-US" sz="3200" b="1"/>
                        <a:t>1</a:t>
                      </a:r>
                      <a:endParaRPr lang="en-IN" altLang="en-US" sz="3200" b="1"/>
                    </a:p>
                  </a:txBody>
                  <a:tcPr anchor="ctr" anchorCtr="0"/>
                </a:tc>
                <a:tc>
                  <a:txBody>
                    <a:bodyPr/>
                    <a:p>
                      <a:pPr>
                        <a:buNone/>
                      </a:pPr>
                      <a:r>
                        <a:rPr lang="en-IN" altLang="en-US" sz="3200" b="1"/>
                        <a:t>1</a:t>
                      </a:r>
                      <a:endParaRPr lang="en-IN" altLang="en-US" sz="3200" b="1"/>
                    </a:p>
                  </a:txBody>
                  <a:tcPr anchor="ctr" anchorCtr="0"/>
                </a:tc>
                <a:tc>
                  <a:txBody>
                    <a:bodyPr/>
                    <a:p>
                      <a:pPr>
                        <a:buNone/>
                      </a:pPr>
                      <a:r>
                        <a:rPr lang="en-IN" altLang="en-US" sz="3200" b="1"/>
                        <a:t>1</a:t>
                      </a:r>
                      <a:endParaRPr lang="en-IN" altLang="en-US" sz="3200" b="1"/>
                    </a:p>
                  </a:txBody>
                  <a:tcPr anchor="ctr" anchorCtr="0"/>
                </a:tc>
              </a:tr>
              <a:tr h="381000">
                <a:tc>
                  <a:txBody>
                    <a:bodyPr/>
                    <a:p>
                      <a:pPr>
                        <a:buNone/>
                      </a:pPr>
                      <a:r>
                        <a:rPr lang="en-IN" altLang="en-US" sz="3200" b="1"/>
                        <a:t>1</a:t>
                      </a:r>
                      <a:endParaRPr lang="en-IN" altLang="en-US" sz="3200" b="1"/>
                    </a:p>
                  </a:txBody>
                  <a:tcPr anchor="ctr" anchorCtr="0"/>
                </a:tc>
                <a:tc>
                  <a:txBody>
                    <a:bodyPr/>
                    <a:p>
                      <a:pPr>
                        <a:buNone/>
                      </a:pPr>
                      <a:r>
                        <a:rPr lang="en-IN" altLang="en-US" sz="3200" b="1"/>
                        <a:t>0</a:t>
                      </a:r>
                      <a:endParaRPr lang="en-IN" altLang="en-US" sz="3200" b="1"/>
                    </a:p>
                  </a:txBody>
                  <a:tcPr anchor="ctr" anchorCtr="0"/>
                </a:tc>
                <a:tc>
                  <a:txBody>
                    <a:bodyPr/>
                    <a:p>
                      <a:pPr>
                        <a:buNone/>
                      </a:pPr>
                      <a:r>
                        <a:rPr lang="en-IN" altLang="en-US" sz="3200" b="1"/>
                        <a:t>1</a:t>
                      </a:r>
                      <a:endParaRPr lang="en-IN" altLang="en-US" sz="3200" b="1"/>
                    </a:p>
                  </a:txBody>
                  <a:tcPr anchor="ctr" anchorCtr="0"/>
                </a:tc>
              </a:tr>
              <a:tr h="381000">
                <a:tc>
                  <a:txBody>
                    <a:bodyPr/>
                    <a:p>
                      <a:pPr>
                        <a:buNone/>
                      </a:pPr>
                      <a:r>
                        <a:rPr lang="en-IN" altLang="en-US" sz="3200" b="1"/>
                        <a:t>0</a:t>
                      </a:r>
                      <a:endParaRPr lang="en-IN" altLang="en-US" sz="3200" b="1"/>
                    </a:p>
                  </a:txBody>
                  <a:tcPr anchor="ctr" anchorCtr="0"/>
                </a:tc>
                <a:tc>
                  <a:txBody>
                    <a:bodyPr/>
                    <a:p>
                      <a:pPr>
                        <a:buNone/>
                      </a:pPr>
                      <a:r>
                        <a:rPr lang="en-IN" altLang="en-US" sz="3200" b="1"/>
                        <a:t>1</a:t>
                      </a:r>
                      <a:endParaRPr lang="en-IN" altLang="en-US" sz="3200" b="1"/>
                    </a:p>
                  </a:txBody>
                  <a:tcPr anchor="ctr" anchorCtr="0"/>
                </a:tc>
                <a:tc>
                  <a:txBody>
                    <a:bodyPr/>
                    <a:p>
                      <a:pPr>
                        <a:buNone/>
                      </a:pPr>
                      <a:r>
                        <a:rPr lang="en-IN" altLang="en-US" sz="3200" b="1"/>
                        <a:t>1</a:t>
                      </a:r>
                      <a:endParaRPr lang="en-IN" altLang="en-US" sz="3200" b="1"/>
                    </a:p>
                  </a:txBody>
                  <a:tcPr anchor="ctr" anchorCtr="0"/>
                </a:tc>
              </a:tr>
              <a:tr h="381000">
                <a:tc>
                  <a:txBody>
                    <a:bodyPr/>
                    <a:p>
                      <a:pPr>
                        <a:buNone/>
                      </a:pPr>
                      <a:r>
                        <a:rPr lang="en-IN" altLang="en-US" sz="3200" b="1"/>
                        <a:t>0</a:t>
                      </a:r>
                      <a:endParaRPr lang="en-IN" altLang="en-US" sz="3200" b="1"/>
                    </a:p>
                  </a:txBody>
                  <a:tcPr anchor="ctr" anchorCtr="0"/>
                </a:tc>
                <a:tc>
                  <a:txBody>
                    <a:bodyPr/>
                    <a:p>
                      <a:pPr>
                        <a:buNone/>
                      </a:pPr>
                      <a:r>
                        <a:rPr lang="en-IN" altLang="en-US" sz="3200" b="1"/>
                        <a:t>0</a:t>
                      </a:r>
                      <a:endParaRPr lang="en-IN" altLang="en-US" sz="3200" b="1"/>
                    </a:p>
                  </a:txBody>
                  <a:tcPr anchor="ctr" anchorCtr="0"/>
                </a:tc>
                <a:tc>
                  <a:txBody>
                    <a:bodyPr/>
                    <a:p>
                      <a:pPr>
                        <a:buNone/>
                      </a:pPr>
                      <a:r>
                        <a:rPr lang="en-IN" altLang="en-US" sz="3200" b="1"/>
                        <a:t>0</a:t>
                      </a:r>
                      <a:endParaRPr lang="en-IN" altLang="en-US" sz="3200" b="1"/>
                    </a:p>
                  </a:txBody>
                  <a:tcPr anchor="ctr" anchorCtr="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r>
              <a:rPr lang="en-IN" altLang="en-US"/>
              <a:t>Solve the following </a:t>
            </a:r>
            <a:endParaRPr lang="en-IN" altLang="en-US"/>
          </a:p>
          <a:p>
            <a:r>
              <a:rPr lang="en-IN" altLang="en-US" sz="2800" b="1"/>
              <a:t>7 ^9   </a:t>
            </a:r>
            <a:endParaRPr lang="en-IN" altLang="en-US" sz="2800" b="1"/>
          </a:p>
          <a:p>
            <a:r>
              <a:rPr lang="en-IN" altLang="en-US" sz="2800" b="1"/>
              <a:t>5 ^9</a:t>
            </a:r>
            <a:endParaRPr lang="en-IN" altLang="en-US" sz="2800" b="1"/>
          </a:p>
          <a:p>
            <a:r>
              <a:rPr lang="en-IN" altLang="en-US" sz="2800" b="1"/>
              <a:t>11 ^ 8</a:t>
            </a:r>
            <a:endParaRPr lang="en-IN" altLang="en-US" sz="2800" b="1"/>
          </a:p>
          <a:p>
            <a:r>
              <a:rPr lang="en-IN" altLang="en-US" sz="2800" b="1"/>
              <a:t>11^12  </a:t>
            </a:r>
            <a:endParaRPr lang="en-IN" altLang="en-US" sz="2800" b="1"/>
          </a:p>
          <a:p>
            <a:r>
              <a:rPr lang="en-IN" altLang="en-US" sz="2800" b="1"/>
              <a:t>11^10   </a:t>
            </a:r>
            <a:endParaRPr lang="en-IN" altLang="en-US" sz="2800" b="1"/>
          </a:p>
          <a:p>
            <a:r>
              <a:rPr lang="en-IN" altLang="en-US" sz="2800" b="1"/>
              <a:t>6 ^12</a:t>
            </a:r>
            <a:endParaRPr lang="en-IN" altLang="en-US" sz="2800" b="1"/>
          </a:p>
          <a:p>
            <a:endParaRPr lang="en-IN" altLang="en-US"/>
          </a:p>
          <a:p>
            <a:endParaRPr lang="en-IN" altLang="en-US"/>
          </a:p>
          <a:p>
            <a:endParaRPr lang="en-IN" altLang="en-US"/>
          </a:p>
          <a:p>
            <a:endParaRPr lang="en-IN" altLang="en-US"/>
          </a:p>
          <a:p>
            <a:endParaRPr lang="en-I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XOR Operator  (^)</a:t>
            </a:r>
            <a:endParaRPr lang="en-IN" altLang="en-US"/>
          </a:p>
        </p:txBody>
      </p:sp>
      <p:graphicFrame>
        <p:nvGraphicFramePr>
          <p:cNvPr id="4" name="Content Placeholder 3"/>
          <p:cNvGraphicFramePr/>
          <p:nvPr>
            <p:ph idx="1"/>
          </p:nvPr>
        </p:nvGraphicFramePr>
        <p:xfrm>
          <a:off x="1154954" y="2603500"/>
          <a:ext cx="8825865" cy="1905000"/>
        </p:xfrm>
        <a:graphic>
          <a:graphicData uri="http://schemas.openxmlformats.org/drawingml/2006/table">
            <a:tbl>
              <a:tblPr firstRow="1" bandRow="1">
                <a:tableStyleId>{5C22544A-7EE6-4342-B048-85BDC9FD1C3A}</a:tableStyleId>
              </a:tblPr>
              <a:tblGrid>
                <a:gridCol w="2941955"/>
                <a:gridCol w="2941955"/>
                <a:gridCol w="2941955"/>
              </a:tblGrid>
              <a:tr h="381000">
                <a:tc>
                  <a:txBody>
                    <a:bodyPr/>
                    <a:p>
                      <a:pPr>
                        <a:buNone/>
                      </a:pPr>
                      <a:r>
                        <a:rPr lang="en-IN" altLang="en-US" sz="3200" b="1"/>
                        <a:t>1st bit</a:t>
                      </a:r>
                      <a:endParaRPr lang="en-IN" altLang="en-US" sz="3200" b="1"/>
                    </a:p>
                  </a:txBody>
                  <a:tcPr/>
                </a:tc>
                <a:tc>
                  <a:txBody>
                    <a:bodyPr/>
                    <a:p>
                      <a:pPr>
                        <a:buNone/>
                      </a:pPr>
                      <a:r>
                        <a:rPr lang="en-IN" altLang="en-US" sz="3200" b="1"/>
                        <a:t>2nd Bit</a:t>
                      </a:r>
                      <a:endParaRPr lang="en-IN" altLang="en-US" sz="3200" b="1"/>
                    </a:p>
                  </a:txBody>
                  <a:tcPr/>
                </a:tc>
                <a:tc>
                  <a:txBody>
                    <a:bodyPr/>
                    <a:p>
                      <a:pPr>
                        <a:buNone/>
                      </a:pPr>
                      <a:r>
                        <a:rPr lang="en-IN" altLang="en-US" sz="3200" b="1"/>
                        <a:t>Output</a:t>
                      </a:r>
                      <a:endParaRPr lang="en-IN" altLang="en-US" sz="3200" b="1"/>
                    </a:p>
                  </a:txBody>
                  <a:tcPr/>
                </a:tc>
              </a:tr>
              <a:tr h="381000">
                <a:tc>
                  <a:txBody>
                    <a:bodyPr/>
                    <a:p>
                      <a:pPr>
                        <a:buNone/>
                      </a:pPr>
                      <a:r>
                        <a:rPr lang="en-IN" altLang="en-US" sz="3200" b="1"/>
                        <a:t>1</a:t>
                      </a:r>
                      <a:endParaRPr lang="en-IN" altLang="en-US" sz="3200" b="1"/>
                    </a:p>
                  </a:txBody>
                  <a:tcPr/>
                </a:tc>
                <a:tc>
                  <a:txBody>
                    <a:bodyPr/>
                    <a:p>
                      <a:pPr>
                        <a:buNone/>
                      </a:pPr>
                      <a:r>
                        <a:rPr lang="en-IN" altLang="en-US" sz="3200" b="1"/>
                        <a:t>1</a:t>
                      </a:r>
                      <a:endParaRPr lang="en-IN" altLang="en-US" sz="3200" b="1"/>
                    </a:p>
                  </a:txBody>
                  <a:tcPr/>
                </a:tc>
                <a:tc>
                  <a:txBody>
                    <a:bodyPr/>
                    <a:p>
                      <a:pPr>
                        <a:buNone/>
                      </a:pPr>
                      <a:r>
                        <a:rPr lang="en-IN" altLang="en-US" sz="3200" b="1"/>
                        <a:t>0</a:t>
                      </a:r>
                      <a:endParaRPr lang="en-IN" altLang="en-US" sz="3200" b="1"/>
                    </a:p>
                  </a:txBody>
                  <a:tcPr/>
                </a:tc>
              </a:tr>
              <a:tr h="381000">
                <a:tc>
                  <a:txBody>
                    <a:bodyPr/>
                    <a:p>
                      <a:pPr>
                        <a:buNone/>
                      </a:pPr>
                      <a:r>
                        <a:rPr lang="en-IN" altLang="en-US" sz="3200" b="1"/>
                        <a:t>1</a:t>
                      </a:r>
                      <a:endParaRPr lang="en-IN" altLang="en-US" sz="3200" b="1"/>
                    </a:p>
                  </a:txBody>
                  <a:tcPr/>
                </a:tc>
                <a:tc>
                  <a:txBody>
                    <a:bodyPr/>
                    <a:p>
                      <a:pPr>
                        <a:buNone/>
                      </a:pPr>
                      <a:r>
                        <a:rPr lang="en-IN" altLang="en-US" sz="3200" b="1"/>
                        <a:t>0</a:t>
                      </a:r>
                      <a:endParaRPr lang="en-IN" altLang="en-US" sz="3200" b="1"/>
                    </a:p>
                  </a:txBody>
                  <a:tcPr/>
                </a:tc>
                <a:tc>
                  <a:txBody>
                    <a:bodyPr/>
                    <a:p>
                      <a:pPr>
                        <a:buNone/>
                      </a:pPr>
                      <a:r>
                        <a:rPr lang="en-IN" altLang="en-US" sz="3200" b="1"/>
                        <a:t>1</a:t>
                      </a:r>
                      <a:endParaRPr lang="en-IN" altLang="en-US" sz="3200" b="1"/>
                    </a:p>
                  </a:txBody>
                  <a:tcPr/>
                </a:tc>
              </a:tr>
              <a:tr h="381000">
                <a:tc>
                  <a:txBody>
                    <a:bodyPr/>
                    <a:p>
                      <a:pPr>
                        <a:buNone/>
                      </a:pPr>
                      <a:r>
                        <a:rPr lang="en-IN" altLang="en-US" sz="3200" b="1"/>
                        <a:t>0</a:t>
                      </a:r>
                      <a:endParaRPr lang="en-IN" altLang="en-US" sz="3200" b="1"/>
                    </a:p>
                  </a:txBody>
                  <a:tcPr/>
                </a:tc>
                <a:tc>
                  <a:txBody>
                    <a:bodyPr/>
                    <a:p>
                      <a:pPr>
                        <a:buNone/>
                      </a:pPr>
                      <a:r>
                        <a:rPr lang="en-IN" altLang="en-US" sz="3200" b="1"/>
                        <a:t>1</a:t>
                      </a:r>
                      <a:endParaRPr lang="en-IN" altLang="en-US" sz="3200" b="1"/>
                    </a:p>
                  </a:txBody>
                  <a:tcPr/>
                </a:tc>
                <a:tc>
                  <a:txBody>
                    <a:bodyPr/>
                    <a:p>
                      <a:pPr>
                        <a:buNone/>
                      </a:pPr>
                      <a:r>
                        <a:rPr lang="en-IN" altLang="en-US" sz="3200" b="1"/>
                        <a:t>1</a:t>
                      </a:r>
                      <a:endParaRPr lang="en-IN" altLang="en-US" sz="3200" b="1"/>
                    </a:p>
                  </a:txBody>
                  <a:tcPr/>
                </a:tc>
              </a:tr>
              <a:tr h="381000">
                <a:tc>
                  <a:txBody>
                    <a:bodyPr/>
                    <a:p>
                      <a:pPr>
                        <a:buNone/>
                      </a:pPr>
                      <a:r>
                        <a:rPr lang="en-IN" altLang="en-US" sz="3200" b="1"/>
                        <a:t>0</a:t>
                      </a:r>
                      <a:endParaRPr lang="en-IN" altLang="en-US" sz="3200" b="1"/>
                    </a:p>
                  </a:txBody>
                  <a:tcPr/>
                </a:tc>
                <a:tc>
                  <a:txBody>
                    <a:bodyPr/>
                    <a:p>
                      <a:pPr>
                        <a:buNone/>
                      </a:pPr>
                      <a:r>
                        <a:rPr lang="en-IN" altLang="en-US" sz="3200" b="1"/>
                        <a:t>0</a:t>
                      </a:r>
                      <a:endParaRPr lang="en-IN" altLang="en-US" sz="3200" b="1"/>
                    </a:p>
                  </a:txBody>
                  <a:tcPr/>
                </a:tc>
                <a:tc>
                  <a:txBody>
                    <a:bodyPr/>
                    <a:p>
                      <a:pPr>
                        <a:buNone/>
                      </a:pPr>
                      <a:r>
                        <a:rPr lang="en-IN" altLang="en-US" sz="3200" b="1"/>
                        <a:t>0</a:t>
                      </a:r>
                      <a:endParaRPr lang="en-IN" altLang="en-US" sz="3200" b="1"/>
                    </a:p>
                  </a:txBody>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normAutofit fontScale="90000"/>
          </a:bodyPr>
          <a:p>
            <a:r>
              <a:rPr lang="en-US" altLang="en-US">
                <a:sym typeface="+mn-ea"/>
              </a:rPr>
              <a:t>Left Shift (&lt;&lt;): Moves bits left; for positive integers this corresponds to multiplication by powers of 2.</a:t>
            </a:r>
            <a:endParaRPr lang="en-US" altLang="en-US"/>
          </a:p>
          <a:p>
            <a:r>
              <a:rPr lang="en-US" altLang="en-US">
                <a:sym typeface="+mn-ea"/>
              </a:rPr>
              <a:t>The left shift operator moves the binary bits of a number toward the left by the specified number of positions.</a:t>
            </a:r>
            <a:endParaRPr lang="en-US" altLang="en-US"/>
          </a:p>
          <a:p>
            <a:r>
              <a:rPr lang="en-US" altLang="en-US">
                <a:sym typeface="+mn-ea"/>
              </a:rPr>
              <a:t>For positive integers, left shifting by n positions is equivalent to multiplying the number by 2ⁿ</a:t>
            </a:r>
            <a:endParaRPr lang="en-US" altLang="en-US"/>
          </a:p>
          <a:p>
            <a:r>
              <a:rPr lang="en-US" altLang="en-US">
                <a:sym typeface="+mn-ea"/>
              </a:rPr>
              <a:t>Right Shift (&gt;&gt;): Moves bits right; for positive integers this corresponds to division by powers of 2.</a:t>
            </a:r>
            <a:endParaRPr lang="en-US" altLang="en-US"/>
          </a:p>
          <a:p>
            <a:r>
              <a:rPr lang="en-US" altLang="en-US">
                <a:sym typeface="+mn-ea"/>
              </a:rPr>
              <a:t>For positive integers, right shifting by n positions is equivalent to integer division by</a:t>
            </a:r>
            <a:r>
              <a:rPr lang="en-IN" altLang="en-US">
                <a:sym typeface="+mn-ea"/>
              </a:rPr>
              <a:t> </a:t>
            </a:r>
            <a:r>
              <a:rPr lang="en-US" altLang="en-US">
                <a:sym typeface="+mn-ea"/>
              </a:rPr>
              <a:t>2ⁿ</a:t>
            </a:r>
            <a:r>
              <a:rPr lang="en-US" altLang="en-US">
                <a:sym typeface="+mn-ea"/>
              </a:rPr>
              <a:t> </a:t>
            </a:r>
            <a:r>
              <a:rPr lang="en-IN" altLang="en-US">
                <a:sym typeface="+mn-ea"/>
              </a:rPr>
              <a:t>.</a:t>
            </a:r>
            <a:endParaRPr lang="en-IN" altLang="en-US"/>
          </a:p>
          <a:p>
            <a:r>
              <a:rPr lang="en-US" altLang="en-US">
                <a:sym typeface="+mn-ea"/>
              </a:rPr>
              <a:t>Right shifting a positive integer by one position is like dividing it by 2. Shifting by two positions is like dividing by 4, and shifting by three positions is like dividing by 8.</a:t>
            </a:r>
            <a:endParaRPr lang="en-US" altLang="en-US"/>
          </a:p>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normAutofit/>
          </a:bodyPr>
          <a:p>
            <a:r>
              <a:rPr lang="en-US" altLang="en-US"/>
              <a:t>Left Shift:</a:t>
            </a:r>
            <a:endParaRPr lang="en-US" altLang="en-US"/>
          </a:p>
          <a:p>
            <a:r>
              <a:rPr lang="en-US" altLang="en-US"/>
              <a:t>x &lt;&lt; n  =  x × 2ⁿ</a:t>
            </a:r>
            <a:endParaRPr lang="en-US" altLang="en-US"/>
          </a:p>
          <a:p>
            <a:r>
              <a:rPr lang="en-US" altLang="en-US"/>
              <a:t>Right Shift:</a:t>
            </a:r>
            <a:endParaRPr lang="en-US" altLang="en-US"/>
          </a:p>
          <a:p>
            <a:r>
              <a:rPr lang="en-US" altLang="en-US"/>
              <a:t>x &gt;&gt; n  =  x // 2ⁿ</a:t>
            </a:r>
            <a:endParaRPr lang="en-US" altLang="en-US"/>
          </a:p>
          <a:p>
            <a:r>
              <a:rPr lang="en-US" altLang="en-US"/>
              <a:t>remember:</a:t>
            </a:r>
            <a:endParaRPr lang="en-US" altLang="en-US"/>
          </a:p>
          <a:p>
            <a:r>
              <a:rPr lang="en-US" altLang="en-US"/>
              <a:t>&lt;&lt; → multiply by powers of 2</a:t>
            </a:r>
            <a:endParaRPr lang="en-US" altLang="en-US"/>
          </a:p>
          <a:p>
            <a:r>
              <a:rPr lang="en-US" altLang="en-US"/>
              <a:t>&gt;&gt; → divide by powers of 2</a:t>
            </a:r>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Cont...(Bitwise Operator)</a:t>
            </a:r>
            <a:endParaRPr lang="en-IN" altLang="en-US"/>
          </a:p>
        </p:txBody>
      </p:sp>
      <p:graphicFrame>
        <p:nvGraphicFramePr>
          <p:cNvPr id="4" name="Table 3"/>
          <p:cNvGraphicFramePr/>
          <p:nvPr/>
        </p:nvGraphicFramePr>
        <p:xfrm>
          <a:off x="2526030" y="3342640"/>
          <a:ext cx="6492240" cy="0"/>
        </p:xfrm>
        <a:graphic>
          <a:graphicData uri="http://schemas.openxmlformats.org/drawingml/2006/table">
            <a:tbl>
              <a:tblPr/>
              <a:tblGrid>
                <a:gridCol w="1623060"/>
                <a:gridCol w="1623060"/>
                <a:gridCol w="1623060"/>
                <a:gridCol w="1623060"/>
              </a:tblGrid>
              <a:tr h="0">
                <a:tc>
                  <a:txBody>
                    <a:bodyPr/>
                    <a:p>
                      <a:pPr>
                        <a:lnSpc>
                          <a:spcPct val="114000"/>
                        </a:lnSpc>
                        <a:spcBef>
                          <a:spcPct val="0"/>
                        </a:spcBef>
                        <a:spcAft>
                          <a:spcPct val="0"/>
                        </a:spcAft>
                      </a:pPr>
                      <a:r>
                        <a:rPr sz="1100" b="1">
                          <a:latin typeface="Arial" panose="020B0604020202020204"/>
                          <a:ea typeface="ＭＳ 明朝"/>
                        </a:rPr>
                        <a:t>Operator</a:t>
                      </a:r>
                      <a:endParaRPr sz="11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b="1">
                          <a:latin typeface="Arial" panose="020B0604020202020204"/>
                          <a:ea typeface="ＭＳ 明朝"/>
                        </a:rPr>
                        <a:t>Description</a:t>
                      </a:r>
                      <a:endParaRPr sz="11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b="1">
                          <a:latin typeface="Arial" panose="020B0604020202020204"/>
                          <a:ea typeface="ＭＳ 明朝"/>
                        </a:rPr>
                        <a:t>Example</a:t>
                      </a:r>
                      <a:endParaRPr sz="11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b="1">
                          <a:latin typeface="Arial" panose="020B0604020202020204"/>
                          <a:ea typeface="ＭＳ 明朝"/>
                        </a:rPr>
                        <a:t>Binary Representation</a:t>
                      </a:r>
                      <a:endParaRPr sz="1100" b="1">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&amp;</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AND</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&amp; 3 → 1</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5=101; 3=011; result=001 (1)</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OR</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 3 → 7</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5=101; 3=011; result=111 (7)</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XOR</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 3 → 6</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5=101; 3=011; result=110 (6)</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NOT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 -6</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Result is -6 using two's-complement representation</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&lt;&lt;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Left Shift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&lt;&lt; 1 → 10</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101 → 1010 (10)</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0">
                <a:tc>
                  <a:txBody>
                    <a:bodyPr/>
                    <a:p>
                      <a:pPr>
                        <a:lnSpc>
                          <a:spcPct val="114000"/>
                        </a:lnSpc>
                        <a:spcBef>
                          <a:spcPct val="0"/>
                        </a:spcBef>
                        <a:spcAft>
                          <a:spcPct val="0"/>
                        </a:spcAft>
                      </a:pPr>
                      <a:r>
                        <a:rPr sz="1100">
                          <a:latin typeface="Arial" panose="020B0604020202020204"/>
                          <a:ea typeface="ＭＳ 明朝"/>
                        </a:rPr>
                        <a:t>&gt;&gt;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Right Shift</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5 &gt;&gt; 1 → 2</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nSpc>
                          <a:spcPct val="114000"/>
                        </a:lnSpc>
                        <a:spcBef>
                          <a:spcPct val="0"/>
                        </a:spcBef>
                        <a:spcAft>
                          <a:spcPct val="0"/>
                        </a:spcAft>
                      </a:pPr>
                      <a:r>
                        <a:rPr sz="1100">
                          <a:latin typeface="Arial" panose="020B0604020202020204"/>
                          <a:ea typeface="ＭＳ 明朝"/>
                        </a:rPr>
                        <a:t>101 → 10 (2)</a:t>
                      </a:r>
                      <a:endParaRPr sz="1100">
                        <a:latin typeface="Arial" panose="020B0604020202020204"/>
                        <a:ea typeface="ＭＳ 明朝"/>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ym typeface="+mn-ea"/>
              </a:rPr>
              <a:t>M</a:t>
            </a:r>
            <a:r>
              <a:rPr lang="en-US" altLang="en-US">
                <a:sym typeface="+mn-ea"/>
              </a:rPr>
              <a:t>embership </a:t>
            </a:r>
            <a:r>
              <a:rPr lang="en-IN" altLang="en-US">
                <a:sym typeface="+mn-ea"/>
              </a:rPr>
              <a:t>O</a:t>
            </a:r>
            <a:r>
              <a:rPr lang="en-US" altLang="en-US">
                <a:sym typeface="+mn-ea"/>
              </a:rPr>
              <a:t>perator</a:t>
            </a:r>
            <a:endParaRPr lang="en-US"/>
          </a:p>
        </p:txBody>
      </p:sp>
      <p:sp>
        <p:nvSpPr>
          <p:cNvPr id="3" name="Content Placeholder 2"/>
          <p:cNvSpPr>
            <a:spLocks noGrp="1"/>
          </p:cNvSpPr>
          <p:nvPr>
            <p:ph idx="1"/>
          </p:nvPr>
        </p:nvSpPr>
        <p:spPr/>
        <p:txBody>
          <a:bodyPr/>
          <a:p>
            <a:r>
              <a:rPr lang="en-US" altLang="en-US"/>
              <a:t>A membership operator in Python checks if a value exists within a sequence</a:t>
            </a:r>
            <a:endParaRPr lang="en-US" altLang="en-US"/>
          </a:p>
          <a:p>
            <a:r>
              <a:rPr lang="en-US" altLang="en-US"/>
              <a:t>The two membership operators are:</a:t>
            </a:r>
            <a:endParaRPr lang="en-US" altLang="en-US"/>
          </a:p>
          <a:p>
            <a:r>
              <a:rPr lang="en-US" altLang="en-US"/>
              <a:t>in: Returns True if the specified value is found in the sequence.</a:t>
            </a:r>
            <a:endParaRPr lang="en-US" altLang="en-US"/>
          </a:p>
          <a:p>
            <a:r>
              <a:rPr lang="en-US" altLang="en-US"/>
              <a:t>not in: Returns True if the specified value is not found in the sequence.</a:t>
            </a:r>
            <a:endParaRPr lang="en-US" altLang="en-US"/>
          </a:p>
          <a:p>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The 'in' Operator</a:t>
            </a:r>
            <a:endParaRPr lang="en-US"/>
          </a:p>
        </p:txBody>
      </p:sp>
      <p:sp>
        <p:nvSpPr>
          <p:cNvPr id="3" name="Content Placeholder 2"/>
          <p:cNvSpPr>
            <a:spLocks noGrp="1"/>
          </p:cNvSpPr>
          <p:nvPr>
            <p:ph idx="1"/>
          </p:nvPr>
        </p:nvSpPr>
        <p:spPr/>
        <p:txBody>
          <a:bodyPr/>
          <a:p>
            <a:r>
              <a:rPr lang="en-US" altLang="en-US"/>
              <a:t>The 'in' Operator</a:t>
            </a:r>
            <a:endParaRPr lang="en-US" altLang="en-US"/>
          </a:p>
          <a:p>
            <a:r>
              <a:rPr lang="en-US" altLang="en-US"/>
              <a:t>The in operator returns True if a value exists in a sequence and False otherwise. It's a simple and direct way to confirm an item's presence.</a:t>
            </a:r>
            <a:endParaRPr lang="en-US" altLang="en-US"/>
          </a:p>
          <a:p>
            <a:r>
              <a:rPr lang="en-US" altLang="en-US" b="1"/>
              <a:t>Use in with a List</a:t>
            </a:r>
            <a:endParaRPr lang="en-US" altLang="en-US" b="1"/>
          </a:p>
          <a:p>
            <a:r>
              <a:rPr lang="en-US" altLang="en-US"/>
              <a:t>You can check if an element is part of a list.</a:t>
            </a:r>
            <a:endParaRPr lang="en-US" altLang="en-US"/>
          </a:p>
          <a:p>
            <a:r>
              <a:rPr lang="en-US" altLang="en-US"/>
              <a:t>numbers = [10, 20, 30, 40, 50]</a:t>
            </a:r>
            <a:endParaRPr lang="en-US" altLang="en-US"/>
          </a:p>
          <a:p>
            <a:r>
              <a:rPr lang="en-US" altLang="en-US"/>
              <a:t>result = 20 in numbers</a:t>
            </a:r>
            <a:endParaRPr lang="en-US" altLang="en-US"/>
          </a:p>
          <a:p>
            <a:r>
              <a:rPr lang="en-US" altLang="en-US"/>
              <a:t>print(result)  # Output: True</a:t>
            </a:r>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normAutofit lnSpcReduction="20000"/>
          </a:bodyPr>
          <a:p>
            <a:r>
              <a:rPr lang="en-US" altLang="en-US"/>
              <a:t>fruits = ["apple", "banana", "cherry"]</a:t>
            </a:r>
            <a:endParaRPr lang="en-US" altLang="en-US"/>
          </a:p>
          <a:p>
            <a:r>
              <a:rPr lang="en-US" altLang="en-US"/>
              <a:t>result = "orange" in fruits</a:t>
            </a:r>
            <a:endParaRPr lang="en-US" altLang="en-US"/>
          </a:p>
          <a:p>
            <a:r>
              <a:rPr lang="en-US" altLang="en-US"/>
              <a:t>print(result)  # Output: False</a:t>
            </a:r>
            <a:endParaRPr lang="en-US" altLang="en-US"/>
          </a:p>
          <a:p>
            <a:endParaRPr lang="en-US" altLang="en-US"/>
          </a:p>
          <a:p>
            <a:r>
              <a:rPr lang="en-US" altLang="en-US" b="1"/>
              <a:t>Use in with a String</a:t>
            </a:r>
            <a:endParaRPr lang="en-US" altLang="en-US" b="1"/>
          </a:p>
          <a:p>
            <a:r>
              <a:rPr lang="en-US" altLang="en-US"/>
              <a:t>The operator can also check for a character or a substring within a larger string.</a:t>
            </a:r>
            <a:endParaRPr lang="en-US" altLang="en-US"/>
          </a:p>
          <a:p>
            <a:r>
              <a:rPr lang="en-US" altLang="en-US"/>
              <a:t>greeting = "hello world"</a:t>
            </a:r>
            <a:endParaRPr lang="en-US" altLang="en-US"/>
          </a:p>
          <a:p>
            <a:r>
              <a:rPr lang="en-US" altLang="en-US"/>
              <a:t>result = "w" in greeting</a:t>
            </a:r>
            <a:endParaRPr lang="en-US" altLang="en-US"/>
          </a:p>
          <a:p>
            <a:r>
              <a:rPr lang="en-US" altLang="en-US"/>
              <a:t>print(result) </a:t>
            </a:r>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Use in with a Tuple</a:t>
            </a:r>
            <a:br>
              <a:rPr lang="en-US" altLang="en-US"/>
            </a:br>
            <a:endParaRPr lang="en-US" altLang="en-US"/>
          </a:p>
        </p:txBody>
      </p:sp>
      <p:sp>
        <p:nvSpPr>
          <p:cNvPr id="3" name="Content Placeholder 2"/>
          <p:cNvSpPr>
            <a:spLocks noGrp="1"/>
          </p:cNvSpPr>
          <p:nvPr>
            <p:ph idx="1"/>
          </p:nvPr>
        </p:nvSpPr>
        <p:spPr/>
        <p:txBody>
          <a:bodyPr/>
          <a:p>
            <a:r>
              <a:rPr lang="en-US" altLang="en-US"/>
              <a:t>Membership checks work the same way for tuples as they do for lists.</a:t>
            </a:r>
            <a:endParaRPr lang="en-US" altLang="en-US"/>
          </a:p>
          <a:p>
            <a:endParaRPr lang="en-US" altLang="en-US"/>
          </a:p>
          <a:p>
            <a:r>
              <a:rPr lang="en-US" altLang="en-US"/>
              <a:t>permissions = ("read", "write", "execute")</a:t>
            </a:r>
            <a:endParaRPr lang="en-US" altLang="en-US"/>
          </a:p>
          <a:p>
            <a:r>
              <a:rPr lang="en-US" altLang="en-US"/>
              <a:t>result = "read" in permissions</a:t>
            </a:r>
            <a:endParaRPr lang="en-US" altLang="en-US"/>
          </a:p>
          <a:p>
            <a:r>
              <a:rPr lang="en-US" altLang="en-US"/>
              <a:t>print(result)  # Output: True</a:t>
            </a:r>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2. The 'not in' Operator</a:t>
            </a:r>
            <a:endParaRPr lang="en-US" altLang="en-US"/>
          </a:p>
        </p:txBody>
      </p:sp>
      <p:sp>
        <p:nvSpPr>
          <p:cNvPr id="3" name="Content Placeholder 2"/>
          <p:cNvSpPr>
            <a:spLocks noGrp="1"/>
          </p:cNvSpPr>
          <p:nvPr>
            <p:ph idx="1"/>
          </p:nvPr>
        </p:nvSpPr>
        <p:spPr/>
        <p:txBody>
          <a:bodyPr/>
          <a:p>
            <a:r>
              <a:rPr lang="en-US" altLang="en-US"/>
              <a:t>The not in operator does the opposite of in. It returns True if a value does not exist in a sequence. This is useful for verifying an item's absence.</a:t>
            </a:r>
            <a:endParaRPr lang="en-US" altLang="en-US"/>
          </a:p>
          <a:p>
            <a:r>
              <a:rPr lang="en-US" altLang="en-US" b="1"/>
              <a:t>Use not in with a List</a:t>
            </a:r>
            <a:endParaRPr lang="en-US" altLang="en-US" b="1"/>
          </a:p>
          <a:p>
            <a:r>
              <a:rPr lang="en-US" altLang="en-US"/>
              <a:t>You can confirm that an element does not exist in a list.</a:t>
            </a:r>
            <a:endParaRPr lang="en-US" altLang="en-US"/>
          </a:p>
          <a:p>
            <a:r>
              <a:rPr lang="en-US" altLang="en-US"/>
              <a:t>numbers = [10, 20, 30, 40, 50]</a:t>
            </a:r>
            <a:endParaRPr lang="en-US" altLang="en-US"/>
          </a:p>
          <a:p>
            <a:r>
              <a:rPr lang="en-US" altLang="en-US"/>
              <a:t>result = 100 not in numbers</a:t>
            </a:r>
            <a:endParaRPr lang="en-US" altLang="en-US"/>
          </a:p>
          <a:p>
            <a:r>
              <a:rPr lang="en-US" altLang="en-US"/>
              <a:t>print(result) </a:t>
            </a:r>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Use not in with a String</a:t>
            </a:r>
            <a:endParaRPr lang="en-US"/>
          </a:p>
        </p:txBody>
      </p:sp>
      <p:sp>
        <p:nvSpPr>
          <p:cNvPr id="3" name="Content Placeholder 2"/>
          <p:cNvSpPr>
            <a:spLocks noGrp="1"/>
          </p:cNvSpPr>
          <p:nvPr>
            <p:ph idx="1"/>
          </p:nvPr>
        </p:nvSpPr>
        <p:spPr>
          <a:xfrm>
            <a:off x="1155065" y="2225040"/>
            <a:ext cx="9257665" cy="4511040"/>
          </a:xfrm>
        </p:spPr>
        <p:txBody>
          <a:bodyPr>
            <a:noAutofit/>
          </a:bodyPr>
          <a:p>
            <a:r>
              <a:rPr lang="en-US" altLang="en-US" sz="2400"/>
              <a:t>This operator can verify the absence of a character or substring.</a:t>
            </a:r>
            <a:endParaRPr lang="en-US" altLang="en-US" sz="2400"/>
          </a:p>
          <a:p>
            <a:r>
              <a:rPr lang="en-US" altLang="en-US" sz="2400"/>
              <a:t># Check for a missing character</a:t>
            </a:r>
            <a:endParaRPr lang="en-US" altLang="en-US" sz="2400"/>
          </a:p>
          <a:p>
            <a:r>
              <a:rPr lang="en-US" altLang="en-US" sz="2400"/>
              <a:t>message = "Python is fun"</a:t>
            </a:r>
            <a:endParaRPr lang="en-US" altLang="en-US" sz="2400"/>
          </a:p>
          <a:p>
            <a:r>
              <a:rPr lang="en-US" altLang="en-US" sz="2400"/>
              <a:t>result = "z" not in message</a:t>
            </a:r>
            <a:endParaRPr lang="en-US" altLang="en-US" sz="2400"/>
          </a:p>
          <a:p>
            <a:r>
              <a:rPr lang="en-US" altLang="en-US" sz="2400"/>
              <a:t>print(result)  # Output: True</a:t>
            </a:r>
            <a:endParaRPr lang="en-US" altLang="en-US" sz="2400"/>
          </a:p>
          <a:p>
            <a:endParaRPr lang="en-US" altLang="en-US" sz="2400"/>
          </a:p>
          <a:p>
            <a:r>
              <a:rPr lang="en-US" altLang="en-US" sz="2400"/>
              <a:t>​# Check for a missing substring</a:t>
            </a:r>
            <a:endParaRPr lang="en-US" altLang="en-US" sz="2400"/>
          </a:p>
          <a:p>
            <a:r>
              <a:rPr lang="en-US" altLang="en-US" sz="2400"/>
              <a:t>result = "java" not in message</a:t>
            </a:r>
            <a:endParaRPr lang="en-US" altLang="en-US" sz="2400"/>
          </a:p>
          <a:p>
            <a:r>
              <a:rPr lang="en-US" altLang="en-US" sz="2400"/>
              <a:t>print(result)  # Output: True</a:t>
            </a:r>
            <a:endParaRPr lang="en-US" altLang="en-US" sz="2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How Membership Operators Work with Dictionaries</a:t>
            </a:r>
            <a:endParaRPr lang="en-US"/>
          </a:p>
        </p:txBody>
      </p:sp>
      <p:sp>
        <p:nvSpPr>
          <p:cNvPr id="3" name="Content Placeholder 2"/>
          <p:cNvSpPr>
            <a:spLocks noGrp="1"/>
          </p:cNvSpPr>
          <p:nvPr>
            <p:ph idx="1"/>
          </p:nvPr>
        </p:nvSpPr>
        <p:spPr/>
        <p:txBody>
          <a:bodyPr>
            <a:noAutofit/>
          </a:bodyPr>
          <a:p>
            <a:pPr marL="0" fontAlgn="auto">
              <a:spcBef>
                <a:spcPts val="0"/>
              </a:spcBef>
            </a:pPr>
            <a:r>
              <a:rPr lang="en-US" altLang="en-US"/>
              <a:t>When you use membership operators with a dictionary, they check the keys by default, not the values.</a:t>
            </a:r>
            <a:endParaRPr lang="en-US" altLang="en-US"/>
          </a:p>
          <a:p>
            <a:pPr marL="0" fontAlgn="auto">
              <a:spcBef>
                <a:spcPts val="0"/>
              </a:spcBef>
            </a:pPr>
            <a:r>
              <a:rPr lang="en-US" altLang="en-US" b="1"/>
              <a:t>Checking for Keys</a:t>
            </a:r>
            <a:endParaRPr lang="en-US" altLang="en-US" b="1"/>
          </a:p>
          <a:p>
            <a:pPr marL="0" fontAlgn="auto">
              <a:spcBef>
                <a:spcPts val="0"/>
              </a:spcBef>
            </a:pPr>
            <a:r>
              <a:rPr lang="en-US" altLang="en-US"/>
              <a:t>To see if a key exists, use the operator directly on the dictionary.</a:t>
            </a:r>
            <a:endParaRPr lang="en-US" altLang="en-US"/>
          </a:p>
          <a:p>
            <a:pPr marL="0" fontAlgn="auto">
              <a:spcBef>
                <a:spcPts val="0"/>
              </a:spcBef>
            </a:pPr>
            <a:r>
              <a:rPr lang="en-US" altLang="en-US"/>
              <a:t>user_profile = {</a:t>
            </a:r>
            <a:endParaRPr lang="en-US" altLang="en-US"/>
          </a:p>
          <a:p>
            <a:pPr marL="0" fontAlgn="auto">
              <a:spcBef>
                <a:spcPts val="0"/>
              </a:spcBef>
            </a:pPr>
            <a:r>
              <a:rPr lang="en-US" altLang="en-US"/>
              <a:t>user_profile = {</a:t>
            </a:r>
            <a:endParaRPr lang="en-US" altLang="en-US"/>
          </a:p>
          <a:p>
            <a:pPr marL="0" fontAlgn="auto">
              <a:spcBef>
                <a:spcPts val="0"/>
              </a:spcBef>
            </a:pPr>
            <a:r>
              <a:rPr lang="en-US" altLang="en-US"/>
              <a:t>    "username": "alex",</a:t>
            </a:r>
            <a:endParaRPr lang="en-US" altLang="en-US"/>
          </a:p>
          <a:p>
            <a:pPr marL="0" fontAlgn="auto">
              <a:spcBef>
                <a:spcPts val="0"/>
              </a:spcBef>
            </a:pPr>
            <a:r>
              <a:rPr lang="en-US" altLang="en-US"/>
              <a:t>    "level": 5,</a:t>
            </a:r>
            <a:endParaRPr lang="en-US" altLang="en-US"/>
          </a:p>
          <a:p>
            <a:pPr marL="0" fontAlgn="auto">
              <a:spcBef>
                <a:spcPts val="0"/>
              </a:spcBef>
            </a:pPr>
            <a:r>
              <a:rPr lang="en-US" altLang="en-US"/>
              <a:t>    "active": True</a:t>
            </a:r>
            <a:endParaRPr lang="en-US" altLang="en-US"/>
          </a:p>
          <a:p>
            <a:pPr marL="0" fontAlgn="auto">
              <a:spcBef>
                <a:spcPts val="0"/>
              </a:spcBef>
            </a:pPr>
            <a:r>
              <a:rPr lang="en-US" altLang="en-US"/>
              <a:t>}</a:t>
            </a:r>
            <a:endParaRPr lang="en-US" altLang="en-US"/>
          </a:p>
          <a:p>
            <a:pPr marL="0" fontAlgn="auto">
              <a:spcBef>
                <a:spcPts val="0"/>
              </a:spcBef>
            </a:pPr>
            <a:r>
              <a:rPr lang="en-US" altLang="en-US"/>
              <a:t># Check if 'username' is a key</a:t>
            </a:r>
            <a:endParaRPr lang="en-US" altLang="en-US"/>
          </a:p>
          <a:p>
            <a:pPr marL="0" fontAlgn="auto">
              <a:spcBef>
                <a:spcPts val="0"/>
              </a:spcBef>
            </a:pPr>
            <a:r>
              <a:rPr lang="en-US" altLang="en-US"/>
              <a:t>key_exists = "username" in user_profile</a:t>
            </a:r>
            <a:endParaRPr lang="en-US" altLang="en-US"/>
          </a:p>
          <a:p>
            <a:pPr marL="0" fontAlgn="auto">
              <a:spcBef>
                <a:spcPts val="0"/>
              </a:spcBef>
            </a:pPr>
            <a:r>
              <a:rPr lang="en-US" altLang="en-US"/>
              <a:t>print(key_exists)  # Output: True</a:t>
            </a:r>
            <a:endParaRPr lang="en-US" altLang="en-US"/>
          </a:p>
          <a:p>
            <a:pPr marL="0" fontAlgn="auto">
              <a:spcBef>
                <a:spcPts val="0"/>
              </a:spcBef>
            </a:pPr>
            <a:r>
              <a:rPr lang="en-US" altLang="en-US"/>
              <a:t># Check if 'email' is a key</a:t>
            </a:r>
            <a:endParaRPr lang="en-US" altLang="en-US"/>
          </a:p>
          <a:p>
            <a:pPr marL="0" fontAlgn="auto">
              <a:spcBef>
                <a:spcPts val="0"/>
              </a:spcBef>
            </a:pPr>
            <a:r>
              <a:rPr lang="en-US" altLang="en-US"/>
              <a:t>key_missing = "email" not in user_profile</a:t>
            </a:r>
            <a:endParaRPr lang="en-US" altLang="en-US"/>
          </a:p>
          <a:p>
            <a:pPr marL="0" fontAlgn="auto">
              <a:spcBef>
                <a:spcPts val="0"/>
              </a:spcBef>
            </a:pPr>
            <a:r>
              <a:rPr lang="en-US" altLang="en-US"/>
              <a:t>print(key_missing)  # Output: True</a:t>
            </a:r>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Checking for Values</a:t>
            </a:r>
            <a:br>
              <a:rPr lang="en-US" altLang="en-US"/>
            </a:br>
            <a:endParaRPr lang="en-US" altLang="en-US"/>
          </a:p>
        </p:txBody>
      </p:sp>
      <p:sp>
        <p:nvSpPr>
          <p:cNvPr id="3" name="Content Placeholder 2"/>
          <p:cNvSpPr>
            <a:spLocks noGrp="1"/>
          </p:cNvSpPr>
          <p:nvPr>
            <p:ph idx="1"/>
          </p:nvPr>
        </p:nvSpPr>
        <p:spPr/>
        <p:txBody>
          <a:bodyPr>
            <a:normAutofit lnSpcReduction="20000"/>
          </a:bodyPr>
          <a:p>
            <a:r>
              <a:rPr lang="en-US" altLang="en-US"/>
              <a:t>To check if a value exists in a dictionary, you must explicitly search the dictionary's values using the .values() method.</a:t>
            </a:r>
            <a:endParaRPr lang="en-US" altLang="en-US"/>
          </a:p>
          <a:p>
            <a:r>
              <a:rPr lang="en-US" altLang="en-US"/>
              <a:t>user_profile = {</a:t>
            </a:r>
            <a:endParaRPr lang="en-US" altLang="en-US"/>
          </a:p>
          <a:p>
            <a:r>
              <a:rPr lang="en-US" altLang="en-US"/>
              <a:t>    "username": "a</a:t>
            </a:r>
            <a:r>
              <a:rPr lang="en-IN" altLang="en-US"/>
              <a:t>jay</a:t>
            </a:r>
            <a:r>
              <a:rPr lang="en-US" altLang="en-US"/>
              <a:t>",</a:t>
            </a:r>
            <a:endParaRPr lang="en-US" altLang="en-US"/>
          </a:p>
          <a:p>
            <a:r>
              <a:rPr lang="en-US" altLang="en-US"/>
              <a:t>    "level": 5,</a:t>
            </a:r>
            <a:endParaRPr lang="en-US" altLang="en-US"/>
          </a:p>
          <a:p>
            <a:r>
              <a:rPr lang="en-US" altLang="en-US"/>
              <a:t>    "active": True</a:t>
            </a:r>
            <a:endParaRPr lang="en-US" altLang="en-US"/>
          </a:p>
          <a:p>
            <a:r>
              <a:rPr lang="en-US" altLang="en-US"/>
              <a:t>}</a:t>
            </a:r>
            <a:endParaRPr lang="en-US" altLang="en-US"/>
          </a:p>
          <a:p>
            <a:r>
              <a:rPr lang="en-US" altLang="en-US"/>
              <a:t># Check if the value 'a</a:t>
            </a:r>
            <a:r>
              <a:rPr lang="en-IN" altLang="en-US"/>
              <a:t>jay</a:t>
            </a:r>
            <a:r>
              <a:rPr lang="en-US" altLang="en-US"/>
              <a:t>' exists</a:t>
            </a:r>
            <a:endParaRPr lang="en-US" altLang="en-US"/>
          </a:p>
          <a:p>
            <a:r>
              <a:rPr lang="en-US" altLang="en-US"/>
              <a:t>value_exists = "a</a:t>
            </a:r>
            <a:r>
              <a:rPr lang="en-IN" altLang="en-US"/>
              <a:t>jay</a:t>
            </a:r>
            <a:r>
              <a:rPr lang="en-US" altLang="en-US"/>
              <a:t>" </a:t>
            </a:r>
            <a:r>
              <a:rPr lang="en-IN" altLang="en-US"/>
              <a:t> </a:t>
            </a:r>
            <a:r>
              <a:rPr lang="en-US" altLang="en-US"/>
              <a:t>in user_profile.values()</a:t>
            </a:r>
            <a:endParaRPr lang="en-US" altLang="en-US"/>
          </a:p>
          <a:p>
            <a:r>
              <a:rPr lang="en-US" altLang="en-US"/>
              <a:t>print(value_exists)  # Output: True</a:t>
            </a:r>
            <a:endParaRPr lang="en-US"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Identity Operators</a:t>
            </a:r>
            <a:endParaRPr lang="en-US" altLang="en-US"/>
          </a:p>
        </p:txBody>
      </p:sp>
      <p:sp>
        <p:nvSpPr>
          <p:cNvPr id="3" name="Content Placeholder 2"/>
          <p:cNvSpPr>
            <a:spLocks noGrp="1"/>
          </p:cNvSpPr>
          <p:nvPr>
            <p:ph idx="1"/>
          </p:nvPr>
        </p:nvSpPr>
        <p:spPr/>
        <p:txBody>
          <a:bodyPr>
            <a:normAutofit fontScale="90000"/>
          </a:bodyPr>
          <a:p>
            <a:r>
              <a:rPr lang="en-US" altLang="en-US"/>
              <a:t>What are Identity Operators?</a:t>
            </a:r>
            <a:endParaRPr lang="en-US" altLang="en-US"/>
          </a:p>
          <a:p>
            <a:r>
              <a:rPr lang="en-US" altLang="en-US"/>
              <a:t>Identity operators are used to check whether two variables refer to the same object in memory.</a:t>
            </a:r>
            <a:endParaRPr lang="en-US" altLang="en-US"/>
          </a:p>
          <a:p>
            <a:r>
              <a:rPr lang="en-US" altLang="en-US"/>
              <a:t>Python provides two identity operators:</a:t>
            </a:r>
            <a:endParaRPr lang="en-US" altLang="en-US"/>
          </a:p>
          <a:p>
            <a:r>
              <a:rPr lang="en-US" altLang="en-US"/>
              <a:t>• is</a:t>
            </a:r>
            <a:endParaRPr lang="en-US" altLang="en-US"/>
          </a:p>
          <a:p>
            <a:r>
              <a:rPr lang="en-US" altLang="en-US"/>
              <a:t>• is not</a:t>
            </a:r>
            <a:endParaRPr lang="en-US" altLang="en-US"/>
          </a:p>
          <a:p>
            <a:r>
              <a:rPr lang="en-US" altLang="en-US"/>
              <a:t>Remember:</a:t>
            </a:r>
            <a:endParaRPr lang="en-US" altLang="en-US"/>
          </a:p>
          <a:p>
            <a:r>
              <a:rPr lang="en-US" altLang="en-US"/>
              <a:t>is → Checks whether two variables refer to the same object.</a:t>
            </a:r>
            <a:endParaRPr lang="en-US" altLang="en-US"/>
          </a:p>
          <a:p>
            <a:r>
              <a:rPr lang="en-US" altLang="en-US"/>
              <a:t>is not → Checks whether two variables refer to different objects.</a:t>
            </a:r>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The is Operator</a:t>
            </a:r>
            <a:endParaRPr lang="en-US" altLang="en-US"/>
          </a:p>
        </p:txBody>
      </p:sp>
      <p:sp>
        <p:nvSpPr>
          <p:cNvPr id="3" name="Content Placeholder 2"/>
          <p:cNvSpPr>
            <a:spLocks noGrp="1"/>
          </p:cNvSpPr>
          <p:nvPr>
            <p:ph idx="1"/>
          </p:nvPr>
        </p:nvSpPr>
        <p:spPr/>
        <p:txBody>
          <a:bodyPr>
            <a:normAutofit fontScale="90000" lnSpcReduction="20000"/>
          </a:bodyPr>
          <a:p>
            <a:r>
              <a:rPr lang="en-US" altLang="en-US"/>
              <a:t>The is operator checks whether two variables refer to the exact same object.</a:t>
            </a:r>
            <a:endParaRPr lang="en-US" altLang="en-US"/>
          </a:p>
          <a:p>
            <a:r>
              <a:rPr lang="en-US" altLang="en-US"/>
              <a:t>It returns:</a:t>
            </a:r>
            <a:endParaRPr lang="en-US" altLang="en-US"/>
          </a:p>
          <a:p>
            <a:r>
              <a:rPr lang="en-US" altLang="en-US"/>
              <a:t>• True → if both variables refer to the same object</a:t>
            </a:r>
            <a:endParaRPr lang="en-US" altLang="en-US"/>
          </a:p>
          <a:p>
            <a:r>
              <a:rPr lang="en-US" altLang="en-US"/>
              <a:t>• False → if they refer to different objects</a:t>
            </a:r>
            <a:endParaRPr lang="en-US" altLang="en-US"/>
          </a:p>
          <a:p>
            <a:r>
              <a:rPr lang="en-IN" altLang="en-US"/>
              <a:t>For example-</a:t>
            </a:r>
            <a:endParaRPr lang="en-US" altLang="en-US"/>
          </a:p>
          <a:p>
            <a:r>
              <a:rPr lang="en-US" altLang="en-US"/>
              <a:t>list1 = [1, 2, 3]</a:t>
            </a:r>
            <a:endParaRPr lang="en-US" altLang="en-US"/>
          </a:p>
          <a:p>
            <a:r>
              <a:rPr lang="en-US" altLang="en-US"/>
              <a:t>list2 = [1, 2, 3]</a:t>
            </a:r>
            <a:endParaRPr lang="en-US" altLang="en-US"/>
          </a:p>
          <a:p>
            <a:r>
              <a:rPr lang="en-US" altLang="en-US"/>
              <a:t>list3 = list1</a:t>
            </a:r>
            <a:endParaRPr lang="en-US" altLang="en-US"/>
          </a:p>
          <a:p>
            <a:r>
              <a:rPr lang="en-US" altLang="en-US"/>
              <a:t>print(list1 is list2)</a:t>
            </a:r>
            <a:endParaRPr lang="en-US" altLang="en-US"/>
          </a:p>
          <a:p>
            <a:r>
              <a:rPr lang="en-US" altLang="en-US"/>
              <a:t>print(list1 is list3)</a:t>
            </a:r>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The is not Operator</a:t>
            </a:r>
            <a:endParaRPr lang="en-US" altLang="en-US"/>
          </a:p>
        </p:txBody>
      </p:sp>
      <p:sp>
        <p:nvSpPr>
          <p:cNvPr id="3" name="Content Placeholder 2"/>
          <p:cNvSpPr>
            <a:spLocks noGrp="1"/>
          </p:cNvSpPr>
          <p:nvPr>
            <p:ph idx="1"/>
          </p:nvPr>
        </p:nvSpPr>
        <p:spPr>
          <a:xfrm>
            <a:off x="1155065" y="2324100"/>
            <a:ext cx="8825865" cy="3695700"/>
          </a:xfrm>
        </p:spPr>
        <p:txBody>
          <a:bodyPr>
            <a:normAutofit fontScale="90000"/>
          </a:bodyPr>
          <a:p>
            <a:r>
              <a:rPr lang="en-US" altLang="en-US"/>
              <a:t>The is not operator is the opposite of the is operator.</a:t>
            </a:r>
            <a:endParaRPr lang="en-US" altLang="en-US"/>
          </a:p>
          <a:p>
            <a:r>
              <a:rPr lang="en-US" altLang="en-US"/>
              <a:t>It returns:</a:t>
            </a:r>
            <a:endParaRPr lang="en-US" altLang="en-US"/>
          </a:p>
          <a:p>
            <a:r>
              <a:rPr lang="en-US" altLang="en-US"/>
              <a:t>• True → if two variables refer to different objects</a:t>
            </a:r>
            <a:endParaRPr lang="en-US" altLang="en-US"/>
          </a:p>
          <a:p>
            <a:r>
              <a:rPr lang="en-US" altLang="en-US"/>
              <a:t>• False → if both variables refer to the same object</a:t>
            </a:r>
            <a:endParaRPr lang="en-US" altLang="en-US"/>
          </a:p>
          <a:p>
            <a:r>
              <a:rPr lang="en-US" altLang="en-US"/>
              <a:t>Example:</a:t>
            </a:r>
            <a:endParaRPr lang="en-US" altLang="en-US"/>
          </a:p>
          <a:p>
            <a:r>
              <a:rPr lang="en-US" altLang="en-US"/>
              <a:t>list1 = [1, 2, 3]</a:t>
            </a:r>
            <a:endParaRPr lang="en-US" altLang="en-US"/>
          </a:p>
          <a:p>
            <a:r>
              <a:rPr lang="en-US" altLang="en-US"/>
              <a:t>list2 = [1, 2, 3]</a:t>
            </a:r>
            <a:endParaRPr lang="en-US" altLang="en-US"/>
          </a:p>
          <a:p>
            <a:r>
              <a:rPr lang="en-US" altLang="en-US"/>
              <a:t>list3 = list1</a:t>
            </a:r>
            <a:endParaRPr lang="en-US" altLang="en-US"/>
          </a:p>
          <a:p>
            <a:r>
              <a:rPr lang="en-US" altLang="en-US"/>
              <a:t>print(list1 is not list2)</a:t>
            </a:r>
            <a:endParaRPr lang="en-US" altLang="en-US"/>
          </a:p>
          <a:p>
            <a:r>
              <a:rPr lang="en-US" altLang="en-US"/>
              <a:t>print(list1 is not list3)</a:t>
            </a:r>
            <a:endParaRPr lang="en-US" altLang="en-US"/>
          </a:p>
          <a:p>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Identity vs. Equality: is vs. ==</a:t>
            </a:r>
            <a:endParaRPr lang="en-US" altLang="en-US"/>
          </a:p>
        </p:txBody>
      </p:sp>
      <p:sp>
        <p:nvSpPr>
          <p:cNvPr id="3" name="Content Placeholder 2"/>
          <p:cNvSpPr>
            <a:spLocks noGrp="1"/>
          </p:cNvSpPr>
          <p:nvPr>
            <p:ph idx="1"/>
          </p:nvPr>
        </p:nvSpPr>
        <p:spPr/>
        <p:txBody>
          <a:bodyPr>
            <a:normAutofit fontScale="90000" lnSpcReduction="20000"/>
          </a:bodyPr>
          <a:p>
            <a:r>
              <a:rPr lang="en-US" altLang="en-US"/>
              <a:t>is (Identity): Checks if two variables point to the same memory location.</a:t>
            </a:r>
            <a:endParaRPr lang="en-US" altLang="en-US"/>
          </a:p>
          <a:p>
            <a:r>
              <a:rPr lang="en-US" altLang="en-US"/>
              <a:t>== (Equality): Checks if the values of the objects are the same.</a:t>
            </a:r>
            <a:endParaRPr lang="en-US" altLang="en-US"/>
          </a:p>
          <a:p>
            <a:r>
              <a:rPr lang="en-US" altLang="en-US"/>
              <a:t>list_a = [1, 2, 3]</a:t>
            </a:r>
            <a:endParaRPr lang="en-US" altLang="en-US"/>
          </a:p>
          <a:p>
            <a:r>
              <a:rPr lang="en-US" altLang="en-US"/>
              <a:t>list_b = [1, 2, 3]</a:t>
            </a:r>
            <a:endParaRPr lang="en-US" altLang="en-US"/>
          </a:p>
          <a:p>
            <a:r>
              <a:rPr lang="en-US" altLang="en-US"/>
              <a:t># Identity check</a:t>
            </a:r>
            <a:endParaRPr lang="en-US" altLang="en-US"/>
          </a:p>
          <a:p>
            <a:r>
              <a:rPr lang="en-US" altLang="en-US"/>
              <a:t>print(f"Identity check (is): {list_a is list_b}")</a:t>
            </a:r>
            <a:endParaRPr lang="en-US" altLang="en-US"/>
          </a:p>
          <a:p>
            <a:r>
              <a:rPr lang="en-US" altLang="en-US"/>
              <a:t># Output: Identity check (is): False</a:t>
            </a:r>
            <a:endParaRPr lang="en-US" altLang="en-US"/>
          </a:p>
          <a:p>
            <a:r>
              <a:rPr lang="en-US" altLang="en-US"/>
              <a:t># Equality check</a:t>
            </a:r>
            <a:endParaRPr lang="en-US" altLang="en-US"/>
          </a:p>
          <a:p>
            <a:r>
              <a:rPr lang="en-US" altLang="en-US"/>
              <a:t>print(f"Equality check (==): {list_a == list_b}")</a:t>
            </a:r>
            <a:endParaRPr lang="en-US" altLang="en-US"/>
          </a:p>
          <a:p>
            <a:r>
              <a:rPr lang="en-US" altLang="en-US"/>
              <a:t># Output: Equality check (==): True</a:t>
            </a:r>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55065" y="973455"/>
            <a:ext cx="8761730" cy="889000"/>
          </a:xfrm>
        </p:spPr>
        <p:txBody>
          <a:bodyPr/>
          <a:p>
            <a:r>
              <a:rPr lang="en-US" altLang="en-US" sz="3200"/>
              <a:t>Find the Result of the Following Bitwise Operations:</a:t>
            </a:r>
            <a:endParaRPr lang="en-US" altLang="en-US" sz="3200"/>
          </a:p>
        </p:txBody>
      </p:sp>
      <p:sp>
        <p:nvSpPr>
          <p:cNvPr id="3" name="Content Placeholder 2"/>
          <p:cNvSpPr>
            <a:spLocks noGrp="1"/>
          </p:cNvSpPr>
          <p:nvPr>
            <p:ph idx="1"/>
          </p:nvPr>
        </p:nvSpPr>
        <p:spPr>
          <a:xfrm>
            <a:off x="1154954" y="2311400"/>
            <a:ext cx="8825659" cy="3416300"/>
          </a:xfrm>
        </p:spPr>
        <p:txBody>
          <a:bodyPr>
            <a:noAutofit/>
          </a:bodyPr>
          <a:p>
            <a:pPr fontAlgn="auto">
              <a:spcBef>
                <a:spcPts val="0"/>
              </a:spcBef>
            </a:pPr>
            <a:r>
              <a:rPr lang="en-US" altLang="en-US" sz="2400" b="1"/>
              <a:t>5 &amp; </a:t>
            </a:r>
            <a:r>
              <a:rPr lang="en-IN" altLang="en-US" sz="2400" b="1"/>
              <a:t>3-----&gt;1</a:t>
            </a:r>
            <a:endParaRPr lang="en-US" altLang="en-US" sz="2400" b="1"/>
          </a:p>
          <a:p>
            <a:pPr fontAlgn="auto">
              <a:spcBef>
                <a:spcPts val="0"/>
              </a:spcBef>
            </a:pPr>
            <a:r>
              <a:rPr lang="en-US" altLang="en-US" sz="2400" b="1"/>
              <a:t>5 | 3</a:t>
            </a:r>
            <a:r>
              <a:rPr lang="en-IN" altLang="en-US" sz="2400" b="1"/>
              <a:t>-----&gt;7</a:t>
            </a:r>
            <a:endParaRPr lang="en-US" altLang="en-US" sz="2400" b="1"/>
          </a:p>
          <a:p>
            <a:pPr fontAlgn="auto">
              <a:spcBef>
                <a:spcPts val="0"/>
              </a:spcBef>
            </a:pPr>
            <a:r>
              <a:rPr lang="en-US" altLang="en-US" sz="2400" b="1"/>
              <a:t>5 ^ 3</a:t>
            </a:r>
            <a:r>
              <a:rPr lang="en-IN" altLang="en-US" sz="2400" b="1"/>
              <a:t>------&gt;6</a:t>
            </a:r>
            <a:endParaRPr lang="en-US" altLang="en-US" sz="2400" b="1"/>
          </a:p>
          <a:p>
            <a:pPr fontAlgn="auto">
              <a:spcBef>
                <a:spcPts val="0"/>
              </a:spcBef>
            </a:pPr>
            <a:r>
              <a:rPr lang="en-US" altLang="en-US" sz="2400" b="1"/>
              <a:t>~</a:t>
            </a:r>
            <a:r>
              <a:rPr lang="en-IN" altLang="en-US" sz="2400" b="1"/>
              <a:t>3  --------&gt;-4</a:t>
            </a:r>
            <a:endParaRPr lang="en-US" altLang="en-US" sz="2400" b="1"/>
          </a:p>
          <a:p>
            <a:pPr fontAlgn="auto">
              <a:spcBef>
                <a:spcPts val="0"/>
              </a:spcBef>
            </a:pPr>
            <a:r>
              <a:rPr lang="en-US" altLang="en-US" sz="2400" b="1"/>
              <a:t>7 &amp; 5</a:t>
            </a:r>
            <a:r>
              <a:rPr lang="en-IN" altLang="en-US" sz="2400" b="1"/>
              <a:t>-------&gt;5</a:t>
            </a:r>
            <a:endParaRPr lang="en-US" altLang="en-US" sz="2400" b="1"/>
          </a:p>
          <a:p>
            <a:pPr fontAlgn="auto">
              <a:spcBef>
                <a:spcPts val="0"/>
              </a:spcBef>
            </a:pPr>
            <a:r>
              <a:rPr lang="en-US" altLang="en-US" sz="2400" b="1"/>
              <a:t>7 | 5</a:t>
            </a:r>
            <a:r>
              <a:rPr lang="en-IN" altLang="en-US" sz="2400" b="1"/>
              <a:t>--------&gt;7</a:t>
            </a:r>
            <a:endParaRPr lang="en-US" altLang="en-US" sz="2400" b="1"/>
          </a:p>
          <a:p>
            <a:pPr fontAlgn="auto">
              <a:spcBef>
                <a:spcPts val="0"/>
              </a:spcBef>
            </a:pPr>
            <a:r>
              <a:rPr lang="en-US" altLang="en-US" sz="2400" b="1">
                <a:sym typeface="+mn-ea"/>
              </a:rPr>
              <a:t>7 ^ 5</a:t>
            </a:r>
            <a:r>
              <a:rPr lang="en-IN" altLang="en-US" sz="2400" b="1">
                <a:sym typeface="+mn-ea"/>
              </a:rPr>
              <a:t>--------&gt;2</a:t>
            </a:r>
            <a:endParaRPr lang="en-IN" altLang="en-US" sz="2400" b="1">
              <a:sym typeface="+mn-ea"/>
            </a:endParaRPr>
          </a:p>
          <a:p>
            <a:pPr fontAlgn="auto">
              <a:spcBef>
                <a:spcPts val="0"/>
              </a:spcBef>
            </a:pPr>
            <a:r>
              <a:rPr lang="en-US" altLang="en-US" sz="2400" b="1">
                <a:sym typeface="+mn-ea"/>
              </a:rPr>
              <a:t>10 | 6</a:t>
            </a:r>
            <a:r>
              <a:rPr lang="en-IN" altLang="en-US" sz="2400" b="1">
                <a:sym typeface="+mn-ea"/>
              </a:rPr>
              <a:t>-------&gt;14</a:t>
            </a:r>
            <a:endParaRPr lang="en-US" altLang="en-US" sz="2400" b="1"/>
          </a:p>
          <a:p>
            <a:pPr fontAlgn="auto">
              <a:spcBef>
                <a:spcPts val="0"/>
              </a:spcBef>
            </a:pPr>
            <a:r>
              <a:rPr lang="en-US" altLang="en-US" sz="2400" b="1">
                <a:sym typeface="+mn-ea"/>
              </a:rPr>
              <a:t>10 ^ 6</a:t>
            </a:r>
            <a:r>
              <a:rPr lang="en-IN" altLang="en-US" sz="2400" b="1">
                <a:sym typeface="+mn-ea"/>
              </a:rPr>
              <a:t>------&gt;12</a:t>
            </a:r>
            <a:endParaRPr lang="en-IN" altLang="en-US" sz="2400" b="1">
              <a:sym typeface="+mn-ea"/>
            </a:endParaRPr>
          </a:p>
          <a:p>
            <a:pPr fontAlgn="auto">
              <a:spcBef>
                <a:spcPts val="0"/>
              </a:spcBef>
            </a:pPr>
            <a:r>
              <a:rPr lang="en-US" altLang="en-US" sz="2400" b="1">
                <a:sym typeface="+mn-ea"/>
              </a:rPr>
              <a:t>15 &amp; 9</a:t>
            </a:r>
            <a:r>
              <a:rPr lang="en-IN" altLang="en-US" sz="2400" b="1">
                <a:sym typeface="+mn-ea"/>
              </a:rPr>
              <a:t>------&gt;9</a:t>
            </a:r>
            <a:endParaRPr lang="en-US" altLang="en-US" sz="2400" b="1">
              <a:sym typeface="+mn-ea"/>
            </a:endParaRPr>
          </a:p>
          <a:p>
            <a:pPr fontAlgn="auto">
              <a:spcBef>
                <a:spcPts val="0"/>
              </a:spcBef>
            </a:pPr>
            <a:r>
              <a:rPr lang="en-US" altLang="en-US" sz="2400" b="1">
                <a:sym typeface="+mn-ea"/>
              </a:rPr>
              <a:t>15 | 9</a:t>
            </a:r>
            <a:r>
              <a:rPr lang="en-IN" altLang="en-US" sz="2400" b="1">
                <a:sym typeface="+mn-ea"/>
              </a:rPr>
              <a:t>-------&gt;15</a:t>
            </a:r>
            <a:endParaRPr lang="en-US" altLang="en-US" sz="2400" b="1">
              <a:sym typeface="+mn-ea"/>
            </a:endParaRPr>
          </a:p>
          <a:p>
            <a:pPr fontAlgn="auto">
              <a:spcBef>
                <a:spcPts val="0"/>
              </a:spcBef>
            </a:pPr>
            <a:r>
              <a:rPr lang="en-US" altLang="en-US" sz="2400" b="1">
                <a:sym typeface="+mn-ea"/>
              </a:rPr>
              <a:t>15 ^ 9</a:t>
            </a:r>
            <a:r>
              <a:rPr lang="en-IN" altLang="en-US" sz="2400" b="1">
                <a:sym typeface="+mn-ea"/>
              </a:rPr>
              <a:t>-------&gt;6</a:t>
            </a:r>
            <a:endParaRPr lang="en-IN" altLang="en-US" sz="2400" b="1">
              <a:sym typeface="+mn-ea"/>
            </a:endParaRPr>
          </a:p>
          <a:p>
            <a:pPr fontAlgn="auto">
              <a:spcBef>
                <a:spcPts val="0"/>
              </a:spcBef>
            </a:pPr>
            <a:endParaRPr lang="en-US" altLang="en-US" sz="2400" b="1"/>
          </a:p>
          <a:p>
            <a:pPr fontAlgn="auto">
              <a:spcBef>
                <a:spcPts val="0"/>
              </a:spcBef>
            </a:pPr>
            <a:endParaRPr lang="en-IN" altLang="en-US" sz="2400" b="1">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noAutofit/>
          </a:bodyPr>
          <a:p>
            <a:pPr fontAlgn="auto">
              <a:spcBef>
                <a:spcPts val="0"/>
              </a:spcBef>
            </a:pPr>
            <a:r>
              <a:rPr lang="en-US" altLang="en-US" sz="2800" b="1">
                <a:sym typeface="+mn-ea"/>
              </a:rPr>
              <a:t>10</a:t>
            </a:r>
            <a:r>
              <a:rPr lang="en-IN" altLang="en-US" sz="2800" b="1">
                <a:sym typeface="+mn-ea"/>
              </a:rPr>
              <a:t>&gt;&gt;3-----&gt;1</a:t>
            </a:r>
            <a:endParaRPr lang="en-US" altLang="en-US" sz="2800" b="1"/>
          </a:p>
          <a:p>
            <a:pPr fontAlgn="auto">
              <a:spcBef>
                <a:spcPts val="0"/>
              </a:spcBef>
            </a:pPr>
            <a:r>
              <a:rPr lang="en-US" altLang="en-US" sz="2800" b="1">
                <a:sym typeface="+mn-ea"/>
              </a:rPr>
              <a:t>8 &lt;&lt; 2</a:t>
            </a:r>
            <a:r>
              <a:rPr lang="en-IN" altLang="en-US" sz="2800" b="1">
                <a:sym typeface="+mn-ea"/>
              </a:rPr>
              <a:t>-------&gt;32</a:t>
            </a:r>
            <a:endParaRPr lang="en-US" altLang="en-US" sz="2800" b="1"/>
          </a:p>
          <a:p>
            <a:pPr fontAlgn="auto">
              <a:spcBef>
                <a:spcPts val="0"/>
              </a:spcBef>
            </a:pPr>
            <a:r>
              <a:rPr lang="en-US" altLang="en-US" sz="2800" b="1">
                <a:sym typeface="+mn-ea"/>
              </a:rPr>
              <a:t>12 &gt;&gt; 2</a:t>
            </a:r>
            <a:r>
              <a:rPr lang="en-IN" altLang="en-US" sz="2800" b="1">
                <a:sym typeface="+mn-ea"/>
              </a:rPr>
              <a:t>------&gt;3</a:t>
            </a:r>
            <a:endParaRPr lang="en-US" altLang="en-US" sz="2800" b="1"/>
          </a:p>
          <a:p>
            <a:pPr fontAlgn="auto">
              <a:spcBef>
                <a:spcPts val="0"/>
              </a:spcBef>
            </a:pPr>
            <a:r>
              <a:rPr lang="en-US" altLang="en-US" sz="2800" b="1">
                <a:sym typeface="+mn-ea"/>
              </a:rPr>
              <a:t>5 &lt;&lt; 1</a:t>
            </a:r>
            <a:r>
              <a:rPr lang="en-IN" altLang="en-US" sz="2800" b="1">
                <a:sym typeface="+mn-ea"/>
              </a:rPr>
              <a:t> --------&gt;10</a:t>
            </a:r>
            <a:endParaRPr lang="en-US" altLang="en-US" sz="2800" b="1"/>
          </a:p>
          <a:p>
            <a:pPr fontAlgn="auto">
              <a:spcBef>
                <a:spcPts val="0"/>
              </a:spcBef>
            </a:pPr>
            <a:r>
              <a:rPr lang="en-US" altLang="en-US" sz="2800" b="1">
                <a:sym typeface="+mn-ea"/>
              </a:rPr>
              <a:t>5 &lt;&lt; 2</a:t>
            </a:r>
            <a:r>
              <a:rPr lang="en-IN" altLang="en-US" sz="2800" b="1">
                <a:sym typeface="+mn-ea"/>
              </a:rPr>
              <a:t>---------&gt;20</a:t>
            </a:r>
            <a:endParaRPr lang="en-US" altLang="en-US" sz="2800" b="1"/>
          </a:p>
          <a:p>
            <a:pPr fontAlgn="auto">
              <a:spcBef>
                <a:spcPts val="0"/>
              </a:spcBef>
            </a:pPr>
            <a:r>
              <a:rPr lang="en-US" altLang="en-US" sz="2800" b="1">
                <a:sym typeface="+mn-ea"/>
              </a:rPr>
              <a:t>5 &gt;&gt; 1</a:t>
            </a:r>
            <a:r>
              <a:rPr lang="en-IN" altLang="en-US" sz="2800" b="1">
                <a:sym typeface="+mn-ea"/>
              </a:rPr>
              <a:t>---------&gt;2</a:t>
            </a:r>
            <a:endParaRPr lang="en-US" altLang="en-US" sz="2800" b="1"/>
          </a:p>
          <a:p>
            <a:pPr fontAlgn="auto">
              <a:spcBef>
                <a:spcPts val="0"/>
              </a:spcBef>
            </a:pPr>
            <a:r>
              <a:rPr lang="en-US" altLang="en-US" sz="2800" b="1">
                <a:sym typeface="+mn-ea"/>
              </a:rPr>
              <a:t>5 &gt;&gt; 2</a:t>
            </a:r>
            <a:r>
              <a:rPr lang="en-IN" altLang="en-US" sz="2800" b="1">
                <a:sym typeface="+mn-ea"/>
              </a:rPr>
              <a:t>---------&gt;1</a:t>
            </a:r>
            <a:endParaRPr lang="en-US" altLang="en-US" sz="2800" b="1"/>
          </a:p>
          <a:p>
            <a:endParaRPr lang="en-US" altLang="en-US" sz="2800" b="1"/>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Input statement :input()</a:t>
            </a:r>
            <a:endParaRPr lang="en-IN" altLang="en-US"/>
          </a:p>
        </p:txBody>
      </p:sp>
      <p:sp>
        <p:nvSpPr>
          <p:cNvPr id="3" name="Content Placeholder 2"/>
          <p:cNvSpPr>
            <a:spLocks noGrp="1"/>
          </p:cNvSpPr>
          <p:nvPr>
            <p:ph idx="1"/>
          </p:nvPr>
        </p:nvSpPr>
        <p:spPr>
          <a:xfrm>
            <a:off x="1154954" y="2609850"/>
            <a:ext cx="8825659" cy="3416300"/>
          </a:xfrm>
        </p:spPr>
        <p:txBody>
          <a:bodyPr>
            <a:normAutofit lnSpcReduction="10000"/>
          </a:bodyPr>
          <a:p>
            <a:r>
              <a:rPr lang="en-US" altLang="en-US"/>
              <a:t>The input() function is used to accept data from the user</a:t>
            </a:r>
            <a:r>
              <a:rPr lang="en-IN" altLang="en-US"/>
              <a:t>.</a:t>
            </a:r>
            <a:endParaRPr lang="en-IN" altLang="en-US"/>
          </a:p>
          <a:p>
            <a:r>
              <a:rPr lang="en-US" altLang="en-US"/>
              <a:t>Syntax</a:t>
            </a:r>
            <a:endParaRPr lang="en-US" altLang="en-US"/>
          </a:p>
          <a:p>
            <a:r>
              <a:rPr lang="en-US" altLang="en-US"/>
              <a:t>variable = input("Enter a value: ")</a:t>
            </a:r>
            <a:endParaRPr lang="en-US" altLang="en-US"/>
          </a:p>
          <a:p>
            <a:r>
              <a:rPr lang="en-US" altLang="en-US"/>
              <a:t>Example</a:t>
            </a:r>
            <a:endParaRPr lang="en-US" altLang="en-US"/>
          </a:p>
          <a:p>
            <a:r>
              <a:rPr lang="en-US" altLang="en-US"/>
              <a:t>name = input("Enter your name: ")</a:t>
            </a:r>
            <a:endParaRPr lang="en-US" altLang="en-US"/>
          </a:p>
          <a:p>
            <a:endParaRPr lang="en-US" altLang="en-US"/>
          </a:p>
          <a:p>
            <a:r>
              <a:rPr lang="en-IN" altLang="en-US"/>
              <a:t>Note:</a:t>
            </a:r>
            <a:endParaRPr lang="en-IN" altLang="en-US"/>
          </a:p>
          <a:p>
            <a:r>
              <a:rPr lang="en-US" altLang="en-US"/>
              <a:t>The message displayed inside input() is called a prompt.</a:t>
            </a:r>
            <a:endParaRPr lang="en-US" altLang="en-US"/>
          </a:p>
          <a:p>
            <a:r>
              <a:rPr lang="en-US" altLang="en-US"/>
              <a:t>The input() function always returns the entered value as a string (str).</a:t>
            </a:r>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normAutofit lnSpcReduction="10000"/>
          </a:bodyPr>
          <a:p>
            <a:r>
              <a:rPr lang="en-US" altLang="en-US"/>
              <a:t>Type conversion means converting a value from one data type to another.</a:t>
            </a:r>
            <a:endParaRPr lang="en-US" altLang="en-US"/>
          </a:p>
          <a:p>
            <a:r>
              <a:rPr lang="en-US" altLang="en-US"/>
              <a:t>Since input() returns data as a string, we often need to convert the input into another data type.</a:t>
            </a:r>
            <a:endParaRPr lang="en-US" altLang="en-US"/>
          </a:p>
          <a:p>
            <a:r>
              <a:rPr lang="en-US" altLang="en-US" b="1"/>
              <a:t>Integer Input</a:t>
            </a:r>
            <a:endParaRPr lang="en-US" altLang="en-US" b="1"/>
          </a:p>
          <a:p>
            <a:r>
              <a:rPr lang="en-US" altLang="en-US"/>
              <a:t>num = int(input("Enter an integer: "))</a:t>
            </a:r>
            <a:endParaRPr lang="en-US" altLang="en-US"/>
          </a:p>
          <a:p>
            <a:r>
              <a:rPr lang="en-US" altLang="en-US" b="1"/>
              <a:t>Float Input</a:t>
            </a:r>
            <a:endParaRPr lang="en-US" altLang="en-US" b="1"/>
          </a:p>
          <a:p>
            <a:r>
              <a:rPr lang="en-US" altLang="en-US"/>
              <a:t>num = float(input("Enter a decimal number: "))</a:t>
            </a:r>
            <a:endParaRPr lang="en-US" altLang="en-US"/>
          </a:p>
          <a:p>
            <a:r>
              <a:rPr lang="en-US" altLang="en-US" b="1"/>
              <a:t>String Input</a:t>
            </a:r>
            <a:endParaRPr lang="en-US" altLang="en-US" b="1"/>
          </a:p>
          <a:p>
            <a:r>
              <a:rPr lang="en-US" altLang="en-US"/>
              <a:t>name = input("Enter your name: ")</a:t>
            </a:r>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2800"/>
              <a:t> ACCEPTING MULTIPLE INPUTS AT A TIME</a:t>
            </a:r>
            <a:endParaRPr lang="en-US" altLang="en-US" sz="2800"/>
          </a:p>
        </p:txBody>
      </p:sp>
      <p:sp>
        <p:nvSpPr>
          <p:cNvPr id="3" name="Content Placeholder 2"/>
          <p:cNvSpPr>
            <a:spLocks noGrp="1"/>
          </p:cNvSpPr>
          <p:nvPr>
            <p:ph idx="1"/>
          </p:nvPr>
        </p:nvSpPr>
        <p:spPr>
          <a:xfrm>
            <a:off x="1154954" y="2616200"/>
            <a:ext cx="8825659" cy="3416300"/>
          </a:xfrm>
        </p:spPr>
        <p:txBody>
          <a:bodyPr/>
          <a:p>
            <a:r>
              <a:rPr lang="en-US" altLang="en-US"/>
              <a:t>We can accept multiple values from the user in a single line.</a:t>
            </a:r>
            <a:endParaRPr lang="en-US" altLang="en-US"/>
          </a:p>
          <a:p>
            <a:r>
              <a:rPr lang="en-US" altLang="en-US"/>
              <a:t>Multiple String Inputs</a:t>
            </a:r>
            <a:endParaRPr lang="en-US" altLang="en-US"/>
          </a:p>
          <a:p>
            <a:r>
              <a:rPr lang="en-US" altLang="en-US"/>
              <a:t>name, city = input("Enter name and city: ").split()</a:t>
            </a:r>
            <a:endParaRPr lang="en-US" altLang="en-US"/>
          </a:p>
          <a:p>
            <a:r>
              <a:rPr lang="en-US" altLang="en-US"/>
              <a:t>a, b = map(int, input("Enter two numbers: ").split())</a:t>
            </a:r>
            <a:endParaRPr lang="en-US" altLang="en-US"/>
          </a:p>
          <a:p>
            <a:r>
              <a:rPr lang="en-IN" altLang="en-US"/>
              <a:t>#</a:t>
            </a:r>
            <a:r>
              <a:rPr lang="en-IN" altLang="en-US" b="1"/>
              <a:t>Note</a:t>
            </a:r>
            <a:r>
              <a:rPr lang="en-IN" altLang="en-US"/>
              <a:t>:</a:t>
            </a:r>
            <a:endParaRPr lang="en-IN" altLang="en-US"/>
          </a:p>
          <a:p>
            <a:r>
              <a:rPr lang="en-US" altLang="en-US"/>
              <a:t>The map() function is used to apply a function to multiple values.</a:t>
            </a:r>
            <a:endParaRPr lang="en-US" altLang="en-US"/>
          </a:p>
          <a:p>
            <a:r>
              <a:rPr lang="en-US" altLang="en-US"/>
              <a:t>Here, map() applies the int() function to every value.</a:t>
            </a:r>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 ACCEPTING INTEGER VALUES</a:t>
            </a:r>
            <a:endParaRPr lang="en-US"/>
          </a:p>
        </p:txBody>
      </p:sp>
      <p:sp>
        <p:nvSpPr>
          <p:cNvPr id="3" name="Content Placeholder 2"/>
          <p:cNvSpPr>
            <a:spLocks noGrp="1"/>
          </p:cNvSpPr>
          <p:nvPr>
            <p:ph idx="1"/>
          </p:nvPr>
        </p:nvSpPr>
        <p:spPr/>
        <p:txBody>
          <a:bodyPr>
            <a:normAutofit fontScale="90000" lnSpcReduction="20000"/>
          </a:bodyPr>
          <a:p>
            <a:r>
              <a:rPr lang="en-US" altLang="en-US" b="1"/>
              <a:t>Single Integer</a:t>
            </a:r>
            <a:endParaRPr lang="en-US" altLang="en-US" b="1"/>
          </a:p>
          <a:p>
            <a:r>
              <a:rPr lang="en-US" altLang="en-US"/>
              <a:t>num = int(input("Enter an integer: "))</a:t>
            </a:r>
            <a:endParaRPr lang="en-US" altLang="en-US"/>
          </a:p>
          <a:p>
            <a:r>
              <a:rPr lang="en-US" altLang="en-US"/>
              <a:t>print(num)</a:t>
            </a:r>
            <a:endParaRPr lang="en-US" altLang="en-US"/>
          </a:p>
          <a:p>
            <a:endParaRPr lang="en-US" altLang="en-US"/>
          </a:p>
          <a:p>
            <a:r>
              <a:rPr lang="en-US" altLang="en-US" b="1"/>
              <a:t>Multiple Integers</a:t>
            </a:r>
            <a:endParaRPr lang="en-US" altLang="en-US" b="1"/>
          </a:p>
          <a:p>
            <a:r>
              <a:rPr lang="en-US" altLang="en-US"/>
              <a:t>a, b, c = map(int, input("Enter three integers: ").split())</a:t>
            </a:r>
            <a:endParaRPr lang="en-US" altLang="en-US"/>
          </a:p>
          <a:p>
            <a:endParaRPr lang="en-US" altLang="en-US"/>
          </a:p>
          <a:p>
            <a:r>
              <a:rPr lang="en-US" altLang="en-US"/>
              <a:t>print(a)</a:t>
            </a:r>
            <a:endParaRPr lang="en-US" altLang="en-US"/>
          </a:p>
          <a:p>
            <a:r>
              <a:rPr lang="en-US" altLang="en-US"/>
              <a:t>print(b)</a:t>
            </a:r>
            <a:endParaRPr lang="en-US" altLang="en-US"/>
          </a:p>
          <a:p>
            <a:r>
              <a:rPr lang="en-US" altLang="en-US"/>
              <a:t>print(c)</a:t>
            </a:r>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 ACCEPTING FLOAT VALUES</a:t>
            </a:r>
            <a:endParaRPr lang="en-US"/>
          </a:p>
        </p:txBody>
      </p:sp>
      <p:sp>
        <p:nvSpPr>
          <p:cNvPr id="3" name="Content Placeholder 2"/>
          <p:cNvSpPr>
            <a:spLocks noGrp="1"/>
          </p:cNvSpPr>
          <p:nvPr>
            <p:ph idx="1"/>
          </p:nvPr>
        </p:nvSpPr>
        <p:spPr/>
        <p:txBody>
          <a:bodyPr>
            <a:normAutofit/>
          </a:bodyPr>
          <a:p>
            <a:r>
              <a:rPr lang="en-US" altLang="en-US" b="1"/>
              <a:t>Single Float</a:t>
            </a:r>
            <a:endParaRPr lang="en-US" altLang="en-US" b="1"/>
          </a:p>
          <a:p>
            <a:r>
              <a:rPr lang="en-US" altLang="en-US"/>
              <a:t>num = float(input("Enter a decimal number: "))</a:t>
            </a:r>
            <a:endParaRPr lang="en-US" altLang="en-US"/>
          </a:p>
          <a:p>
            <a:r>
              <a:rPr lang="en-US" altLang="en-US"/>
              <a:t>print(num)</a:t>
            </a:r>
            <a:endParaRPr lang="en-US" altLang="en-US"/>
          </a:p>
          <a:p>
            <a:r>
              <a:rPr lang="en-US" altLang="en-US" b="1"/>
              <a:t>Multiple Float Values</a:t>
            </a:r>
            <a:endParaRPr lang="en-US" altLang="en-US" b="1"/>
          </a:p>
          <a:p>
            <a:r>
              <a:rPr lang="en-US" altLang="en-US"/>
              <a:t>a, b = map(float, input("Enter two decimal values: ").split())</a:t>
            </a:r>
            <a:endParaRPr lang="en-US" altLang="en-US"/>
          </a:p>
          <a:p>
            <a:r>
              <a:rPr lang="en-US" altLang="en-US"/>
              <a:t>print(a)</a:t>
            </a:r>
            <a:endParaRPr lang="en-US" altLang="en-US"/>
          </a:p>
          <a:p>
            <a:r>
              <a:rPr lang="en-US" altLang="en-US"/>
              <a:t>print(b)</a:t>
            </a:r>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ACCEPTING STRING VALUES</a:t>
            </a:r>
            <a:endParaRPr lang="en-US"/>
          </a:p>
        </p:txBody>
      </p:sp>
      <p:sp>
        <p:nvSpPr>
          <p:cNvPr id="3" name="Content Placeholder 2"/>
          <p:cNvSpPr>
            <a:spLocks noGrp="1"/>
          </p:cNvSpPr>
          <p:nvPr>
            <p:ph idx="1"/>
          </p:nvPr>
        </p:nvSpPr>
        <p:spPr/>
        <p:txBody>
          <a:bodyPr>
            <a:normAutofit lnSpcReduction="10000"/>
          </a:bodyPr>
          <a:p>
            <a:r>
              <a:rPr lang="en-US" altLang="en-US" b="1"/>
              <a:t>Single String</a:t>
            </a:r>
            <a:endParaRPr lang="en-US" altLang="en-US" b="1"/>
          </a:p>
          <a:p>
            <a:r>
              <a:rPr lang="en-US" altLang="en-US"/>
              <a:t>name = input("Enter your name: ")</a:t>
            </a:r>
            <a:endParaRPr lang="en-US" altLang="en-US"/>
          </a:p>
          <a:p>
            <a:r>
              <a:rPr lang="en-US" altLang="en-US"/>
              <a:t>print(name)</a:t>
            </a:r>
            <a:endParaRPr lang="en-US" altLang="en-US"/>
          </a:p>
          <a:p>
            <a:endParaRPr lang="en-US" altLang="en-US"/>
          </a:p>
          <a:p>
            <a:r>
              <a:rPr lang="en-US" altLang="en-US" b="1"/>
              <a:t>Multiple Strings</a:t>
            </a:r>
            <a:endParaRPr lang="en-US" altLang="en-US" b="1"/>
          </a:p>
          <a:p>
            <a:r>
              <a:rPr lang="en-US" altLang="en-US"/>
              <a:t>name, city = input("Enter name and city: ").split()</a:t>
            </a:r>
            <a:endParaRPr lang="en-US" altLang="en-US"/>
          </a:p>
          <a:p>
            <a:r>
              <a:rPr lang="en-US" altLang="en-US"/>
              <a:t>print(name)</a:t>
            </a:r>
            <a:endParaRPr lang="en-US" altLang="en-US"/>
          </a:p>
          <a:p>
            <a:r>
              <a:rPr lang="en-US" altLang="en-US"/>
              <a:t>print(city)</a:t>
            </a:r>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ACCEPTING A LIST</a:t>
            </a:r>
            <a:endParaRPr lang="en-US"/>
          </a:p>
        </p:txBody>
      </p:sp>
      <p:sp>
        <p:nvSpPr>
          <p:cNvPr id="3" name="Content Placeholder 2"/>
          <p:cNvSpPr>
            <a:spLocks noGrp="1"/>
          </p:cNvSpPr>
          <p:nvPr>
            <p:ph idx="1"/>
          </p:nvPr>
        </p:nvSpPr>
        <p:spPr/>
        <p:txBody>
          <a:bodyPr>
            <a:normAutofit lnSpcReduction="10000"/>
          </a:bodyPr>
          <a:p>
            <a:r>
              <a:rPr lang="en-US" altLang="en-US" b="1"/>
              <a:t>List of Integers</a:t>
            </a:r>
            <a:endParaRPr lang="en-US" altLang="en-US" b="1"/>
          </a:p>
          <a:p>
            <a:r>
              <a:rPr lang="en-US" altLang="en-US"/>
              <a:t>numbers = list(map(int, input("Enter numbers: ").split()))</a:t>
            </a:r>
            <a:endParaRPr lang="en-US" altLang="en-US"/>
          </a:p>
          <a:p>
            <a:r>
              <a:rPr lang="en-US" altLang="en-US"/>
              <a:t>print(numbers)</a:t>
            </a:r>
            <a:endParaRPr lang="en-US" altLang="en-US"/>
          </a:p>
          <a:p>
            <a:endParaRPr lang="en-US" altLang="en-US"/>
          </a:p>
          <a:p>
            <a:r>
              <a:rPr lang="en-US" altLang="en-US" b="1"/>
              <a:t>List of Strings</a:t>
            </a:r>
            <a:endParaRPr lang="en-US" altLang="en-US" b="1"/>
          </a:p>
          <a:p>
            <a:r>
              <a:rPr lang="en-US" altLang="en-US"/>
              <a:t>names = input("Enter names: ").split()</a:t>
            </a:r>
            <a:endParaRPr lang="en-US" altLang="en-US"/>
          </a:p>
          <a:p>
            <a:r>
              <a:rPr lang="en-US" altLang="en-US"/>
              <a:t>print(names)</a:t>
            </a:r>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ACCEPTING A TUPLE</a:t>
            </a:r>
            <a:endParaRPr lang="en-US"/>
          </a:p>
        </p:txBody>
      </p:sp>
      <p:sp>
        <p:nvSpPr>
          <p:cNvPr id="3" name="Content Placeholder 2"/>
          <p:cNvSpPr>
            <a:spLocks noGrp="1"/>
          </p:cNvSpPr>
          <p:nvPr>
            <p:ph idx="1"/>
          </p:nvPr>
        </p:nvSpPr>
        <p:spPr/>
        <p:txBody>
          <a:bodyPr>
            <a:normAutofit lnSpcReduction="10000"/>
          </a:bodyPr>
          <a:p>
            <a:r>
              <a:rPr lang="en-US" altLang="en-US" b="1"/>
              <a:t>Tuple of Integers</a:t>
            </a:r>
            <a:endParaRPr lang="en-US" altLang="en-US" b="1"/>
          </a:p>
          <a:p>
            <a:r>
              <a:rPr lang="en-US" altLang="en-US"/>
              <a:t>numbers = tuple(map(int, input("Enter values: ").split()))</a:t>
            </a:r>
            <a:endParaRPr lang="en-US" altLang="en-US"/>
          </a:p>
          <a:p>
            <a:r>
              <a:rPr lang="en-US" altLang="en-US"/>
              <a:t>print(numbers)</a:t>
            </a:r>
            <a:endParaRPr lang="en-US" altLang="en-US"/>
          </a:p>
          <a:p>
            <a:endParaRPr lang="en-US" altLang="en-US"/>
          </a:p>
          <a:p>
            <a:r>
              <a:rPr lang="en-US" altLang="en-US" b="1"/>
              <a:t>Tuple of Strings</a:t>
            </a:r>
            <a:endParaRPr lang="en-US" altLang="en-US" b="1"/>
          </a:p>
          <a:p>
            <a:r>
              <a:rPr lang="en-US" altLang="en-US"/>
              <a:t>names = tuple(input("Enter names: ").split())</a:t>
            </a:r>
            <a:endParaRPr lang="en-US" altLang="en-US"/>
          </a:p>
          <a:p>
            <a:r>
              <a:rPr lang="en-US" altLang="en-US"/>
              <a:t>print(names)</a:t>
            </a:r>
            <a:endParaRPr lang="en-US"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ACCEPTING A DICTIONARY</a:t>
            </a:r>
            <a:endParaRPr lang="en-US"/>
          </a:p>
        </p:txBody>
      </p:sp>
      <p:sp>
        <p:nvSpPr>
          <p:cNvPr id="3" name="Content Placeholder 2"/>
          <p:cNvSpPr>
            <a:spLocks noGrp="1"/>
          </p:cNvSpPr>
          <p:nvPr>
            <p:ph idx="1"/>
          </p:nvPr>
        </p:nvSpPr>
        <p:spPr/>
        <p:txBody>
          <a:bodyPr>
            <a:noAutofit/>
          </a:bodyPr>
          <a:p>
            <a:r>
              <a:rPr lang="en-US" altLang="en-US"/>
              <a:t>A dictionary stores data in the form of key-value pairs.</a:t>
            </a:r>
            <a:endParaRPr lang="en-US" altLang="en-US"/>
          </a:p>
          <a:p>
            <a:pPr marL="914400" lvl="2" indent="0">
              <a:buNone/>
            </a:pPr>
            <a:r>
              <a:rPr lang="en-US" altLang="en-US"/>
              <a:t>name = input("Enter name: ")</a:t>
            </a:r>
            <a:endParaRPr lang="en-US" altLang="en-US"/>
          </a:p>
          <a:p>
            <a:pPr marL="914400" lvl="2" indent="0">
              <a:buNone/>
            </a:pPr>
            <a:r>
              <a:rPr lang="en-US" altLang="en-US"/>
              <a:t>age = int(input("Enter age: "))</a:t>
            </a:r>
            <a:endParaRPr lang="en-US" altLang="en-US"/>
          </a:p>
          <a:p>
            <a:pPr marL="914400" lvl="2" indent="0">
              <a:buNone/>
            </a:pPr>
            <a:r>
              <a:rPr lang="en-US" altLang="en-US"/>
              <a:t>city = input("Enter city: ")</a:t>
            </a:r>
            <a:endParaRPr lang="en-US" altLang="en-US"/>
          </a:p>
          <a:p>
            <a:r>
              <a:rPr lang="en-US" altLang="en-US"/>
              <a:t>student = {</a:t>
            </a:r>
            <a:endParaRPr lang="en-US" altLang="en-US"/>
          </a:p>
          <a:p>
            <a:pPr marL="914400" lvl="2" indent="0">
              <a:buNone/>
            </a:pPr>
            <a:r>
              <a:rPr lang="en-US" altLang="en-US"/>
              <a:t>    "name": name,</a:t>
            </a:r>
            <a:endParaRPr lang="en-US" altLang="en-US"/>
          </a:p>
          <a:p>
            <a:pPr marL="914400" lvl="2" indent="0">
              <a:buNone/>
            </a:pPr>
            <a:r>
              <a:rPr lang="en-US" altLang="en-US"/>
              <a:t>    "age": age,</a:t>
            </a:r>
            <a:endParaRPr lang="en-US" altLang="en-US"/>
          </a:p>
          <a:p>
            <a:pPr marL="914400" lvl="2" indent="0">
              <a:buNone/>
            </a:pPr>
            <a:r>
              <a:rPr lang="en-US" altLang="en-US"/>
              <a:t>    "city": city</a:t>
            </a:r>
            <a:endParaRPr lang="en-US" altLang="en-US"/>
          </a:p>
          <a:p>
            <a:pPr marL="914400" lvl="2" indent="0">
              <a:buNone/>
            </a:pPr>
            <a:r>
              <a:rPr lang="en-US" altLang="en-US"/>
              <a:t>}</a:t>
            </a:r>
            <a:endParaRPr lang="en-US" altLang="en-US"/>
          </a:p>
          <a:p>
            <a:r>
              <a:rPr lang="en-US" altLang="en-US"/>
              <a:t>print(student)</a:t>
            </a:r>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Remember</a:t>
            </a:r>
            <a:endParaRPr lang="en-US"/>
          </a:p>
        </p:txBody>
      </p:sp>
      <p:sp>
        <p:nvSpPr>
          <p:cNvPr id="3" name="Content Placeholder 2"/>
          <p:cNvSpPr>
            <a:spLocks noGrp="1"/>
          </p:cNvSpPr>
          <p:nvPr>
            <p:ph idx="1"/>
          </p:nvPr>
        </p:nvSpPr>
        <p:spPr/>
        <p:txBody>
          <a:bodyPr/>
          <a:p>
            <a:r>
              <a:rPr lang="en-US" altLang="en-US"/>
              <a:t>input() </a:t>
            </a:r>
            <a:r>
              <a:rPr lang="en-IN" altLang="en-US"/>
              <a:t>-</a:t>
            </a:r>
            <a:r>
              <a:rPr lang="en-US" altLang="en-US"/>
              <a:t> accepts input as a string</a:t>
            </a:r>
            <a:endParaRPr lang="en-US" altLang="en-US"/>
          </a:p>
          <a:p>
            <a:r>
              <a:rPr lang="en-US" altLang="en-US"/>
              <a:t>split() </a:t>
            </a:r>
            <a:r>
              <a:rPr lang="en-IN" altLang="en-US"/>
              <a:t>-</a:t>
            </a:r>
            <a:r>
              <a:rPr lang="en-US" altLang="en-US"/>
              <a:t> separates input into multiple values</a:t>
            </a:r>
            <a:endParaRPr lang="en-US" altLang="en-US"/>
          </a:p>
          <a:p>
            <a:r>
              <a:rPr lang="en-US" altLang="en-US"/>
              <a:t>map()</a:t>
            </a:r>
            <a:r>
              <a:rPr lang="en-IN" altLang="en-US"/>
              <a:t>-</a:t>
            </a:r>
            <a:r>
              <a:rPr lang="en-US" altLang="en-US"/>
              <a:t> applies a function such as int or float to multiple values</a:t>
            </a:r>
            <a:endParaRPr lang="en-US" altLang="en-US"/>
          </a:p>
          <a:p>
            <a:r>
              <a:rPr lang="en-US" altLang="en-US"/>
              <a:t>list() </a:t>
            </a:r>
            <a:r>
              <a:rPr lang="en-IN" altLang="en-US"/>
              <a:t>-</a:t>
            </a:r>
            <a:r>
              <a:rPr lang="en-US" altLang="en-US"/>
              <a:t>converts values into a list</a:t>
            </a:r>
            <a:endParaRPr lang="en-US" altLang="en-US"/>
          </a:p>
          <a:p>
            <a:r>
              <a:rPr lang="en-US" altLang="en-US"/>
              <a:t>tuple() </a:t>
            </a:r>
            <a:r>
              <a:rPr lang="en-IN" altLang="en-US"/>
              <a:t>-</a:t>
            </a:r>
            <a:r>
              <a:rPr lang="en-US" altLang="en-US"/>
              <a:t> converts values into a tuple</a:t>
            </a:r>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2"/>
          <p:cNvSpPr>
            <a:spLocks noGrp="1"/>
          </p:cNvSpPr>
          <p:nvPr/>
        </p:nvSpPr>
        <p:spPr>
          <a:xfrm>
            <a:off x="1155065" y="248920"/>
            <a:ext cx="8825865" cy="6430645"/>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a:lstStyle>
          <a:p>
            <a:endParaRPr lang="en-US" altLang="en-US"/>
          </a:p>
          <a:p>
            <a:pPr marL="0" indent="0" algn="ctr">
              <a:buNone/>
            </a:pPr>
            <a:r>
              <a:rPr lang="en-IN" altLang="en-US" sz="3200" b="1"/>
              <a:t>Test-1</a:t>
            </a:r>
            <a:endParaRPr lang="en-US" altLang="en-US" sz="3200" b="1"/>
          </a:p>
          <a:p>
            <a:r>
              <a:rPr lang="en-US" altLang="en-US"/>
              <a:t>Explain the different categories of built-in data types in Python with suitable examples.</a:t>
            </a:r>
            <a:endParaRPr lang="en-US" altLang="en-US"/>
          </a:p>
          <a:p>
            <a:r>
              <a:rPr lang="en-US" altLang="en-US"/>
              <a:t>Explain mutable and immutable data types in Python with suitable examples.</a:t>
            </a:r>
            <a:endParaRPr lang="en-US" altLang="en-US"/>
          </a:p>
          <a:p>
            <a:r>
              <a:rPr lang="en-US" altLang="en-US"/>
              <a:t>What is a string in Python? Explain how to create single-line and multiline strings.</a:t>
            </a:r>
            <a:endParaRPr lang="en-US" altLang="en-US"/>
          </a:p>
          <a:p>
            <a:r>
              <a:rPr lang="en-US" altLang="en-US"/>
              <a:t>Write a program to display the first character, last character, and length of a given string.</a:t>
            </a:r>
            <a:endParaRPr lang="en-US" altLang="en-US"/>
          </a:p>
          <a:p>
            <a:r>
              <a:rPr lang="en-US" altLang="en-US"/>
              <a:t>Write a program to accept two numbers from the user and display their sum. Explain why type conversion is necessary.</a:t>
            </a:r>
            <a:endParaRPr lang="en-US" altLang="en-US"/>
          </a:p>
          <a:p>
            <a:r>
              <a:rPr lang="en-US" altLang="en-US"/>
              <a:t>Explain any three applications of Python.</a:t>
            </a:r>
            <a:endParaRPr lang="en-US" altLang="en-US"/>
          </a:p>
          <a:p>
            <a:r>
              <a:rPr lang="en-US" altLang="en-US"/>
              <a:t>Explain the difference between strip(), and rstrip()</a:t>
            </a:r>
            <a:endParaRPr lang="en-US" altLang="en-US"/>
          </a:p>
          <a:p>
            <a:r>
              <a:rPr lang="en-US" altLang="en-US"/>
              <a:t>Explain any three string methods with suitable examples.</a:t>
            </a:r>
            <a:endParaRPr lang="en-US" altLang="en-US"/>
          </a:p>
          <a:p>
            <a:r>
              <a:rPr lang="en-US" altLang="en-US"/>
              <a:t>What is the input() function? Explain how it is used to accept data from the user.</a:t>
            </a:r>
            <a:endParaRPr lang="en-US" altLang="en-US"/>
          </a:p>
          <a:p>
            <a:r>
              <a:rPr lang="en-US" altLang="en-US"/>
              <a:t>Write a program to accept multiple integer values in a single line and store them in a list.</a:t>
            </a:r>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if-else</a:t>
            </a:r>
            <a:endParaRPr lang="en-IN" altLang="en-US"/>
          </a:p>
        </p:txBody>
      </p:sp>
      <p:sp>
        <p:nvSpPr>
          <p:cNvPr id="3" name="Content Placeholder 2"/>
          <p:cNvSpPr>
            <a:spLocks noGrp="1"/>
          </p:cNvSpPr>
          <p:nvPr>
            <p:ph idx="1"/>
          </p:nvPr>
        </p:nvSpPr>
        <p:spPr/>
        <p:txBody>
          <a:bodyPr>
            <a:normAutofit lnSpcReduction="10000"/>
          </a:bodyPr>
          <a:p>
            <a:r>
              <a:rPr lang="en-US" altLang="en-US"/>
              <a:t>if-else is used when there are two choices. </a:t>
            </a:r>
            <a:endParaRPr lang="en-US" altLang="en-US"/>
          </a:p>
          <a:p>
            <a:pPr marL="0" indent="0">
              <a:buNone/>
            </a:pPr>
            <a:r>
              <a:rPr lang="en-US" altLang="en-US"/>
              <a:t>If the condition is True, the if block executes; </a:t>
            </a:r>
            <a:endParaRPr lang="en-US" altLang="en-US"/>
          </a:p>
          <a:p>
            <a:pPr marL="0" indent="0">
              <a:buNone/>
            </a:pPr>
            <a:r>
              <a:rPr lang="en-US" altLang="en-US"/>
              <a:t>otherwise, the else block executes.</a:t>
            </a:r>
            <a:endParaRPr lang="en-US" altLang="en-US"/>
          </a:p>
          <a:p>
            <a:r>
              <a:rPr lang="en-US" altLang="en-US"/>
              <a:t>Syntax:</a:t>
            </a:r>
            <a:endParaRPr lang="en-US" altLang="en-US"/>
          </a:p>
          <a:p>
            <a:pPr marL="0" indent="0">
              <a:buNone/>
            </a:pPr>
            <a:r>
              <a:rPr lang="en-US" altLang="en-US"/>
              <a:t>if condition:</a:t>
            </a:r>
            <a:endParaRPr lang="en-US" altLang="en-US"/>
          </a:p>
          <a:p>
            <a:pPr marL="0" indent="0">
              <a:buNone/>
            </a:pPr>
            <a:r>
              <a:rPr lang="en-US" altLang="en-US"/>
              <a:t>    statement1</a:t>
            </a:r>
            <a:endParaRPr lang="en-US" altLang="en-US"/>
          </a:p>
          <a:p>
            <a:pPr marL="0" indent="0">
              <a:buNone/>
            </a:pPr>
            <a:r>
              <a:rPr lang="en-US" altLang="en-US"/>
              <a:t>else:</a:t>
            </a:r>
            <a:endParaRPr lang="en-US" altLang="en-US"/>
          </a:p>
          <a:p>
            <a:pPr marL="0" indent="0">
              <a:buNone/>
            </a:pPr>
            <a:r>
              <a:rPr lang="en-US" altLang="en-US"/>
              <a:t>    statement2</a:t>
            </a:r>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i</a:t>
            </a:r>
            <a:r>
              <a:rPr lang="en-US" altLang="en-US">
                <a:sym typeface="+mn-ea"/>
              </a:rPr>
              <a:t>f-elif-else Statement</a:t>
            </a:r>
            <a:endParaRPr lang="en-IN" altLang="en-US"/>
          </a:p>
        </p:txBody>
      </p:sp>
      <p:sp>
        <p:nvSpPr>
          <p:cNvPr id="3" name="Content Placeholder 2"/>
          <p:cNvSpPr>
            <a:spLocks noGrp="1"/>
          </p:cNvSpPr>
          <p:nvPr>
            <p:ph idx="1"/>
          </p:nvPr>
        </p:nvSpPr>
        <p:spPr>
          <a:xfrm>
            <a:off x="1155065" y="2336800"/>
            <a:ext cx="8825865" cy="3936365"/>
          </a:xfrm>
        </p:spPr>
        <p:txBody>
          <a:bodyPr>
            <a:noAutofit/>
          </a:bodyPr>
          <a:p>
            <a:endParaRPr lang="en-US" altLang="en-US" sz="1400"/>
          </a:p>
          <a:p>
            <a:r>
              <a:rPr lang="en-US" altLang="en-US"/>
              <a:t>if-elif-else is used when there are multiple conditions. Python checks the conditions from top to bottom. Once a True condition is found, the remaining conditions are skipped.</a:t>
            </a:r>
            <a:endParaRPr lang="en-US" altLang="en-US"/>
          </a:p>
          <a:p>
            <a:r>
              <a:rPr lang="en-US" altLang="en-US"/>
              <a:t>Syntax:</a:t>
            </a:r>
            <a:endParaRPr lang="en-US" altLang="en-US"/>
          </a:p>
          <a:p>
            <a:pPr marL="0" indent="0">
              <a:buNone/>
            </a:pPr>
            <a:r>
              <a:rPr lang="en-US" altLang="en-US"/>
              <a:t>if condition1:</a:t>
            </a:r>
            <a:endParaRPr lang="en-US" altLang="en-US"/>
          </a:p>
          <a:p>
            <a:pPr marL="0" indent="0">
              <a:buNone/>
            </a:pPr>
            <a:r>
              <a:rPr lang="en-US" altLang="en-US"/>
              <a:t>    statement1</a:t>
            </a:r>
            <a:endParaRPr lang="en-US" altLang="en-US"/>
          </a:p>
          <a:p>
            <a:pPr marL="0" indent="0">
              <a:buNone/>
            </a:pPr>
            <a:r>
              <a:rPr lang="en-US" altLang="en-US"/>
              <a:t>elif condition2:</a:t>
            </a:r>
            <a:endParaRPr lang="en-US" altLang="en-US"/>
          </a:p>
          <a:p>
            <a:pPr marL="0" indent="0">
              <a:buNone/>
            </a:pPr>
            <a:r>
              <a:rPr lang="en-US" altLang="en-US"/>
              <a:t>    statement2</a:t>
            </a:r>
            <a:endParaRPr lang="en-US" altLang="en-US"/>
          </a:p>
          <a:p>
            <a:pPr marL="0" indent="0">
              <a:buNone/>
            </a:pPr>
            <a:r>
              <a:rPr lang="en-US" altLang="en-US"/>
              <a:t>else:</a:t>
            </a:r>
            <a:endParaRPr lang="en-US" altLang="en-US"/>
          </a:p>
          <a:p>
            <a:pPr marL="0" indent="0">
              <a:buNone/>
            </a:pPr>
            <a:r>
              <a:rPr lang="en-US" altLang="en-US"/>
              <a:t>    statement</a:t>
            </a:r>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Programs on if-else</a:t>
            </a:r>
            <a:endParaRPr lang="en-IN" altLang="en-US"/>
          </a:p>
        </p:txBody>
      </p:sp>
      <p:sp>
        <p:nvSpPr>
          <p:cNvPr id="3" name="Content Placeholder 2"/>
          <p:cNvSpPr>
            <a:spLocks noGrp="1"/>
          </p:cNvSpPr>
          <p:nvPr>
            <p:ph idx="1"/>
          </p:nvPr>
        </p:nvSpPr>
        <p:spPr>
          <a:xfrm>
            <a:off x="1090295" y="2222500"/>
            <a:ext cx="8825865" cy="3949700"/>
          </a:xfrm>
        </p:spPr>
        <p:txBody>
          <a:bodyPr>
            <a:normAutofit fontScale="25000"/>
          </a:bodyPr>
          <a:p>
            <a:r>
              <a:rPr lang="en-US" altLang="en-US" sz="4665"/>
              <a:t>Write a Python program to check whether a number is even or odd.</a:t>
            </a:r>
            <a:endParaRPr lang="en-US" altLang="en-US" sz="4665"/>
          </a:p>
          <a:p>
            <a:r>
              <a:rPr lang="en-US" altLang="en-US" sz="4665"/>
              <a:t>Write a Python program to check whether a number is positive or negative.</a:t>
            </a:r>
            <a:endParaRPr lang="en-US" altLang="en-US" sz="4665"/>
          </a:p>
          <a:p>
            <a:r>
              <a:rPr lang="en-US" altLang="en-US" sz="4665"/>
              <a:t>Write a Python program to check whether a person is eligible to vote or not.</a:t>
            </a:r>
            <a:endParaRPr lang="en-US" altLang="en-US" sz="4665"/>
          </a:p>
          <a:p>
            <a:r>
              <a:rPr lang="en-US" altLang="en-US" sz="4665"/>
              <a:t>Write a Python program to check whether a student has passed or failed. Assume passing marks are 40.</a:t>
            </a:r>
            <a:endParaRPr lang="en-US" altLang="en-US" sz="4665"/>
          </a:p>
          <a:p>
            <a:r>
              <a:rPr lang="en-US" altLang="en-US" sz="4665"/>
              <a:t>Write a Python program to find the greater number between two numbers.</a:t>
            </a:r>
            <a:endParaRPr lang="en-US" altLang="en-US" sz="4665"/>
          </a:p>
          <a:p>
            <a:r>
              <a:rPr lang="en-US" altLang="en-US" sz="4665"/>
              <a:t>Write a Python program to check whether a number is divisible by 5 or not.</a:t>
            </a:r>
            <a:endParaRPr lang="en-US" altLang="en-US" sz="4665"/>
          </a:p>
          <a:p>
            <a:r>
              <a:rPr lang="en-US" altLang="en-US" sz="4665">
                <a:sym typeface="+mn-ea"/>
              </a:rPr>
              <a:t>Write a Python program to check whether a number is divisible by 5 </a:t>
            </a:r>
            <a:r>
              <a:rPr lang="en-IN" altLang="en-US" sz="4665">
                <a:sym typeface="+mn-ea"/>
              </a:rPr>
              <a:t>and 7 both</a:t>
            </a:r>
            <a:r>
              <a:rPr lang="en-US" altLang="en-US" sz="4665">
                <a:sym typeface="+mn-ea"/>
              </a:rPr>
              <a:t>.</a:t>
            </a:r>
            <a:endParaRPr lang="en-US" altLang="en-US" sz="4665">
              <a:sym typeface="+mn-ea"/>
            </a:endParaRPr>
          </a:p>
          <a:p>
            <a:r>
              <a:rPr lang="en-IN" altLang="en-US" sz="4665">
                <a:sym typeface="+mn-ea"/>
              </a:rPr>
              <a:t>Write a python program to accept a number and check whether it is positive,negative,or zero</a:t>
            </a:r>
            <a:endParaRPr lang="en-IN" altLang="en-US" sz="4665">
              <a:sym typeface="+mn-ea"/>
            </a:endParaRPr>
          </a:p>
          <a:p>
            <a:r>
              <a:rPr lang="en-IN" altLang="en-US" sz="4665">
                <a:sym typeface="+mn-ea"/>
              </a:rPr>
              <a:t>Write a python program to a</a:t>
            </a:r>
            <a:r>
              <a:rPr lang="en-IN" altLang="en-US" sz="4665">
                <a:sym typeface="+mn-ea"/>
              </a:rPr>
              <a:t>ccept marks and display the grade (90-100)A grade ,(75-89)-B Grade,(60-74) C grade,(40-59) D-grade,  below 40-Fail.</a:t>
            </a:r>
            <a:endParaRPr lang="en-IN" altLang="en-US" sz="4665">
              <a:sym typeface="+mn-ea"/>
            </a:endParaRPr>
          </a:p>
          <a:p>
            <a:r>
              <a:rPr lang="en-IN" altLang="en-US" sz="4665">
                <a:sym typeface="+mn-ea"/>
              </a:rPr>
              <a:t>Write a python program to </a:t>
            </a:r>
            <a:r>
              <a:rPr lang="en-IN" altLang="en-US" sz="4665">
                <a:sym typeface="+mn-ea"/>
              </a:rPr>
              <a:t>accept a person’s age and display Below 18-Not eligible to vote,18-59-eligible ,60 and above-senior citizen and eligible.</a:t>
            </a:r>
            <a:endParaRPr lang="en-IN" altLang="en-US" sz="4665">
              <a:sym typeface="+mn-ea"/>
            </a:endParaRPr>
          </a:p>
          <a:p>
            <a:r>
              <a:rPr lang="en-IN" altLang="en-US" sz="4665">
                <a:sym typeface="+mn-ea"/>
              </a:rPr>
              <a:t>Write a python program to accept two numbers and an operator(+,-,*,/,**).perform the corresponding operation.</a:t>
            </a:r>
            <a:endParaRPr lang="en-IN" altLang="en-US" sz="4665">
              <a:sym typeface="+mn-ea"/>
            </a:endParaRPr>
          </a:p>
          <a:p>
            <a:endParaRPr lang="en-US" altLang="en-US"/>
          </a:p>
          <a:p>
            <a:endParaRPr lang="en-US" altLang="en-US"/>
          </a:p>
          <a:p>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For Loops</a:t>
            </a:r>
            <a:endParaRPr lang="en-US" altLang="en-US"/>
          </a:p>
        </p:txBody>
      </p:sp>
      <p:sp>
        <p:nvSpPr>
          <p:cNvPr id="3" name="Content Placeholder 2"/>
          <p:cNvSpPr>
            <a:spLocks noGrp="1"/>
          </p:cNvSpPr>
          <p:nvPr>
            <p:ph idx="1"/>
          </p:nvPr>
        </p:nvSpPr>
        <p:spPr>
          <a:xfrm>
            <a:off x="1155065" y="2603500"/>
            <a:ext cx="9718675" cy="3416300"/>
          </a:xfrm>
        </p:spPr>
        <p:txBody>
          <a:bodyPr>
            <a:normAutofit/>
          </a:bodyPr>
          <a:p>
            <a:r>
              <a:rPr lang="en-US" altLang="en-US"/>
              <a:t>A for loop is used to repeat a block of code for each item in a sequence.</a:t>
            </a:r>
            <a:endParaRPr lang="en-US" altLang="en-US"/>
          </a:p>
          <a:p>
            <a:r>
              <a:rPr lang="en-US" altLang="en-US"/>
              <a:t>Allows the same operation to be applied to every item in a sequence.</a:t>
            </a:r>
            <a:endParaRPr lang="en-US" altLang="en-US"/>
          </a:p>
          <a:p>
            <a:r>
              <a:rPr lang="en-US" altLang="en-US"/>
              <a:t>Basic Syntax</a:t>
            </a:r>
            <a:endParaRPr lang="en-US" altLang="en-US"/>
          </a:p>
          <a:p>
            <a:pPr marL="1371600" lvl="3" indent="0" fontAlgn="auto">
              <a:spcBef>
                <a:spcPts val="0"/>
              </a:spcBef>
              <a:buNone/>
            </a:pPr>
            <a:r>
              <a:rPr lang="en-US" altLang="en-US" sz="1800" b="1">
                <a:sym typeface="+mn-ea"/>
              </a:rPr>
              <a:t>for variable in sequence:</a:t>
            </a:r>
            <a:endParaRPr lang="en-US" altLang="en-US" sz="1800" b="1"/>
          </a:p>
          <a:p>
            <a:pPr marL="1371600" lvl="3" indent="0" fontAlgn="auto">
              <a:spcBef>
                <a:spcPts val="0"/>
              </a:spcBef>
              <a:buNone/>
            </a:pPr>
            <a:r>
              <a:rPr lang="en-US" altLang="en-US" sz="1800" b="1">
                <a:sym typeface="+mn-ea"/>
              </a:rPr>
              <a:t>    statement</a:t>
            </a:r>
            <a:endParaRPr lang="en-US" altLang="en-US" sz="1800" b="1"/>
          </a:p>
          <a:p>
            <a:r>
              <a:rPr lang="en-US" altLang="en-US"/>
              <a:t>for Loop with a String</a:t>
            </a:r>
            <a:r>
              <a:rPr lang="en-IN" altLang="en-US"/>
              <a:t>:</a:t>
            </a:r>
            <a:endParaRPr lang="en-IN" altLang="en-US"/>
          </a:p>
          <a:p>
            <a:r>
              <a:rPr lang="en-US" altLang="en-US"/>
              <a:t>name = "Python"</a:t>
            </a:r>
            <a:endParaRPr lang="en-US" altLang="en-US"/>
          </a:p>
          <a:p>
            <a:pPr marL="0" indent="457200">
              <a:buNone/>
            </a:pPr>
            <a:r>
              <a:rPr lang="en-US" altLang="en-US"/>
              <a:t>for ch in name:</a:t>
            </a:r>
            <a:endParaRPr lang="en-US" altLang="en-US"/>
          </a:p>
          <a:p>
            <a:pPr marL="0" indent="457200">
              <a:buNone/>
            </a:pPr>
            <a:r>
              <a:rPr lang="en-US" altLang="en-US"/>
              <a:t>    print(ch)</a:t>
            </a:r>
            <a:endParaRPr lang="en-US" altLang="en-US"/>
          </a:p>
          <a:p>
            <a:endParaRPr lang="en-US" altLang="en-US"/>
          </a:p>
          <a:p>
            <a:pPr marL="1371600" lvl="3" indent="0" fontAlgn="auto">
              <a:spcBef>
                <a:spcPts val="0"/>
              </a:spcBef>
              <a:buNone/>
            </a:pPr>
            <a:endParaRPr lang="en-US" altLang="en-US" sz="2400"/>
          </a:p>
          <a:p>
            <a:pPr marL="1371600" lvl="3" indent="0" fontAlgn="auto">
              <a:spcBef>
                <a:spcPts val="0"/>
              </a:spcBef>
              <a:buNone/>
            </a:pPr>
            <a:endParaRPr lang="en-US" altLang="en-US" sz="24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a:t>
            </a:r>
            <a:r>
              <a:rPr lang="en-IN" altLang="en-US"/>
              <a:t>nt..</a:t>
            </a:r>
            <a:endParaRPr lang="en-IN" altLang="en-US"/>
          </a:p>
        </p:txBody>
      </p:sp>
      <p:sp>
        <p:nvSpPr>
          <p:cNvPr id="3" name="Content Placeholder 2"/>
          <p:cNvSpPr>
            <a:spLocks noGrp="1"/>
          </p:cNvSpPr>
          <p:nvPr>
            <p:ph idx="1"/>
          </p:nvPr>
        </p:nvSpPr>
        <p:spPr/>
        <p:txBody>
          <a:bodyPr/>
          <a:p>
            <a:r>
              <a:rPr lang="en-US" altLang="en-US"/>
              <a:t> Iterating Over a List</a:t>
            </a:r>
            <a:r>
              <a:rPr lang="en-IN" altLang="en-US"/>
              <a:t>:</a:t>
            </a:r>
            <a:endParaRPr lang="en-IN" altLang="en-US"/>
          </a:p>
          <a:p>
            <a:pPr marL="457200" lvl="1" indent="0">
              <a:buNone/>
            </a:pPr>
            <a:r>
              <a:rPr lang="en-US" altLang="en-US"/>
              <a:t>You can step through every element in a list sequentially</a:t>
            </a:r>
            <a:r>
              <a:rPr lang="en-IN" altLang="en-US"/>
              <a:t>.</a:t>
            </a:r>
            <a:endParaRPr lang="en-IN" altLang="en-US"/>
          </a:p>
          <a:p>
            <a:pPr marL="457200" lvl="1" indent="0">
              <a:buNone/>
            </a:pPr>
            <a:r>
              <a:rPr lang="en-IN" altLang="en-US"/>
              <a:t>For Example:</a:t>
            </a:r>
            <a:endParaRPr lang="en-IN" altLang="en-US"/>
          </a:p>
          <a:p>
            <a:pPr marL="457200" lvl="1" indent="0">
              <a:buNone/>
            </a:pPr>
            <a:r>
              <a:rPr lang="en-US" altLang="en-US"/>
              <a:t>fruits = ["apple", "banana", "cherry"]</a:t>
            </a:r>
            <a:endParaRPr lang="en-US" altLang="en-US"/>
          </a:p>
          <a:p>
            <a:pPr marL="457200" lvl="1" indent="0">
              <a:buNone/>
            </a:pPr>
            <a:r>
              <a:rPr lang="en-US" altLang="en-US"/>
              <a:t>for fruit in fruits:</a:t>
            </a:r>
            <a:endParaRPr lang="en-US" altLang="en-US"/>
          </a:p>
          <a:p>
            <a:pPr marL="457200" lvl="1" indent="0">
              <a:buNone/>
            </a:pPr>
            <a:r>
              <a:rPr lang="en-US" altLang="en-US"/>
              <a:t>    print(fruit)</a:t>
            </a:r>
            <a:endParaRPr lang="en-US" altLang="en-US"/>
          </a:p>
          <a:p>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r>
              <a:rPr lang="en-US" altLang="en-US" b="1"/>
              <a:t>2. Loop a Specific Number of Times (range())</a:t>
            </a:r>
            <a:endParaRPr lang="en-US" altLang="en-US" b="1"/>
          </a:p>
          <a:p>
            <a:r>
              <a:rPr lang="en-US" altLang="en-US">
                <a:sym typeface="+mn-ea"/>
              </a:rPr>
              <a:t>range() function is used with for loops to generate a sequence of numbers. It can take one, two or three arguments</a:t>
            </a:r>
            <a:endParaRPr lang="en-US" altLang="en-US"/>
          </a:p>
          <a:p>
            <a:r>
              <a:rPr lang="en-US" altLang="en-US">
                <a:sym typeface="+mn-ea"/>
              </a:rPr>
              <a:t>range(stop) generates numbers from 0 to stop-1.</a:t>
            </a:r>
            <a:endParaRPr lang="en-US" altLang="en-US"/>
          </a:p>
          <a:p>
            <a:r>
              <a:rPr lang="en-US" altLang="en-US">
                <a:sym typeface="+mn-ea"/>
              </a:rPr>
              <a:t>range(start, stop) generates numbers from start to stop-1.</a:t>
            </a:r>
            <a:endParaRPr lang="en-US" altLang="en-US"/>
          </a:p>
          <a:p>
            <a:r>
              <a:rPr lang="en-US" altLang="en-US">
                <a:sym typeface="+mn-ea"/>
              </a:rPr>
              <a:t>range(start, stop, step) generates numbers from start to stop-1, incrementing by step</a:t>
            </a:r>
            <a:endParaRPr lang="en-US" altLang="en-US" b="1"/>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r>
              <a:rPr lang="en-US" altLang="en-US"/>
              <a:t># Prints 0, 1, 2, 3, 4</a:t>
            </a:r>
            <a:endParaRPr lang="en-US" altLang="en-US"/>
          </a:p>
          <a:p>
            <a:pPr marL="0" indent="0" fontAlgn="auto">
              <a:spcBef>
                <a:spcPts val="0"/>
              </a:spcBef>
              <a:buNone/>
            </a:pPr>
            <a:r>
              <a:rPr lang="en-US" altLang="en-US"/>
              <a:t>for i in range(5):</a:t>
            </a:r>
            <a:endParaRPr lang="en-US" altLang="en-US"/>
          </a:p>
          <a:p>
            <a:pPr marL="0" indent="0" fontAlgn="auto">
              <a:spcBef>
                <a:spcPts val="0"/>
              </a:spcBef>
              <a:buNone/>
            </a:pPr>
            <a:r>
              <a:rPr lang="en-US" altLang="en-US"/>
              <a:t>    print(i)</a:t>
            </a:r>
            <a:endParaRPr lang="en-US" altLang="en-US"/>
          </a:p>
          <a:p>
            <a:pPr marL="0" indent="0" fontAlgn="auto">
              <a:spcBef>
                <a:spcPts val="0"/>
              </a:spcBef>
              <a:buNone/>
            </a:pPr>
            <a:endParaRPr lang="en-US" altLang="en-US"/>
          </a:p>
          <a:p>
            <a:r>
              <a:rPr lang="en-US" altLang="en-US"/>
              <a:t># Prints 1, 3, 5 (Starts at 1, stops before 7, increments by 2)</a:t>
            </a:r>
            <a:endParaRPr lang="en-US" altLang="en-US"/>
          </a:p>
          <a:p>
            <a:pPr marL="0" indent="0" fontAlgn="auto">
              <a:spcBef>
                <a:spcPts val="0"/>
              </a:spcBef>
              <a:buNone/>
            </a:pPr>
            <a:r>
              <a:rPr lang="en-US" altLang="en-US"/>
              <a:t>for i in range(1, 7, 2):</a:t>
            </a:r>
            <a:endParaRPr lang="en-US" altLang="en-US"/>
          </a:p>
          <a:p>
            <a:pPr marL="0" indent="0" fontAlgn="auto">
              <a:spcBef>
                <a:spcPts val="0"/>
              </a:spcBef>
              <a:buNone/>
            </a:pPr>
            <a:r>
              <a:rPr lang="en-US" altLang="en-US"/>
              <a:t>    print(i)</a:t>
            </a:r>
            <a:endParaRPr lang="en-US" altLang="en-US"/>
          </a:p>
          <a:p>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r>
              <a:rPr lang="en-US" altLang="en-US" b="1"/>
              <a:t>3. Getting Items and Their Indices (enumerate())</a:t>
            </a:r>
            <a:endParaRPr lang="en-US" altLang="en-US" b="1"/>
          </a:p>
          <a:p>
            <a:r>
              <a:rPr lang="en-US" altLang="en-US" b="1"/>
              <a:t>If you need both the index number and the value of an item, wrap your sequence in enumerate()</a:t>
            </a:r>
            <a:endParaRPr lang="en-US" altLang="en-US" b="1"/>
          </a:p>
          <a:p>
            <a:endParaRPr lang="en-US" altLang="en-US" b="1"/>
          </a:p>
          <a:p>
            <a:r>
              <a:rPr lang="en-US" altLang="en-US" b="1"/>
              <a:t>items = ["A", "B", "C"]</a:t>
            </a:r>
            <a:endParaRPr lang="en-US" altLang="en-US" b="1"/>
          </a:p>
          <a:p>
            <a:r>
              <a:rPr lang="en-US" altLang="en-US" b="1"/>
              <a:t>for index, value in enumerate(items):</a:t>
            </a:r>
            <a:endParaRPr lang="en-US" altLang="en-US" b="1"/>
          </a:p>
          <a:p>
            <a:r>
              <a:rPr lang="en-US" altLang="en-US" b="1"/>
              <a:t>    print("Index:", index, "Value:", value)</a:t>
            </a:r>
            <a:endParaRPr lang="en-US" altLang="en-US" b="1"/>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a:t>
            </a:r>
            <a:r>
              <a:rPr lang="en-US" altLang="en-IN"/>
              <a:t>o</a:t>
            </a:r>
            <a:r>
              <a:rPr lang="en-IN" altLang="en-US"/>
              <a:t>nt...</a:t>
            </a:r>
            <a:endParaRPr lang="en-IN" altLang="en-US"/>
          </a:p>
        </p:txBody>
      </p:sp>
      <p:sp>
        <p:nvSpPr>
          <p:cNvPr id="3" name="Content Placeholder 2"/>
          <p:cNvSpPr>
            <a:spLocks noGrp="1"/>
          </p:cNvSpPr>
          <p:nvPr>
            <p:ph idx="1"/>
          </p:nvPr>
        </p:nvSpPr>
        <p:spPr/>
        <p:txBody>
          <a:bodyPr>
            <a:noAutofit/>
          </a:bodyPr>
          <a:p>
            <a:r>
              <a:rPr lang="en-US" altLang="en-US" sz="1400" b="1"/>
              <a:t>4. Iterating Through a Dictionary</a:t>
            </a:r>
            <a:endParaRPr lang="en-US" altLang="en-US" sz="1400" b="1"/>
          </a:p>
          <a:p>
            <a:r>
              <a:rPr lang="en-IN" altLang="en-US" sz="1400">
                <a:sym typeface="+mn-ea"/>
              </a:rPr>
              <a:t>  </a:t>
            </a:r>
            <a:r>
              <a:rPr lang="en-US" altLang="en-US" sz="1400">
                <a:sym typeface="+mn-ea"/>
              </a:rPr>
              <a:t>student = {"name": "Snehal", </a:t>
            </a:r>
            <a:endParaRPr lang="en-US" altLang="en-US" sz="1400">
              <a:sym typeface="+mn-ea"/>
            </a:endParaRPr>
          </a:p>
          <a:p>
            <a:r>
              <a:rPr lang="en-IN" altLang="en-US" sz="1400">
                <a:sym typeface="+mn-ea"/>
              </a:rPr>
              <a:t>                     </a:t>
            </a:r>
            <a:r>
              <a:rPr lang="en-US" altLang="en-US" sz="1400">
                <a:sym typeface="+mn-ea"/>
              </a:rPr>
              <a:t>"age": 25,</a:t>
            </a:r>
            <a:endParaRPr lang="en-US" altLang="en-US" sz="1400">
              <a:sym typeface="+mn-ea"/>
            </a:endParaRPr>
          </a:p>
          <a:p>
            <a:r>
              <a:rPr lang="en-IN" altLang="en-US" sz="1400">
                <a:sym typeface="+mn-ea"/>
              </a:rPr>
              <a:t>                  </a:t>
            </a:r>
            <a:r>
              <a:rPr lang="en-US" altLang="en-US" sz="1400">
                <a:sym typeface="+mn-ea"/>
              </a:rPr>
              <a:t> "course": "MCA"}</a:t>
            </a:r>
            <a:endParaRPr lang="en-US" altLang="en-US" sz="1400"/>
          </a:p>
          <a:p>
            <a:r>
              <a:rPr lang="en-IN" altLang="en-US" sz="1400" b="1"/>
              <a:t>1.</a:t>
            </a:r>
            <a:r>
              <a:rPr lang="en-US" altLang="en-US" sz="1400" b="1"/>
              <a:t>Iterating Through Keys</a:t>
            </a:r>
            <a:endParaRPr lang="en-US" altLang="en-US" sz="1400" b="1"/>
          </a:p>
          <a:p>
            <a:pPr marL="0" indent="0">
              <a:buFont typeface="+mj-lt"/>
              <a:buNone/>
            </a:pPr>
            <a:r>
              <a:rPr lang="en-IN" altLang="en-US" sz="1400"/>
              <a:t>      </a:t>
            </a:r>
            <a:r>
              <a:rPr lang="en-US" altLang="en-US" sz="1400"/>
              <a:t>for key in student:</a:t>
            </a:r>
            <a:endParaRPr lang="en-US" altLang="en-US" sz="1400"/>
          </a:p>
          <a:p>
            <a:pPr marL="0" indent="0">
              <a:buFont typeface="+mj-lt"/>
              <a:buNone/>
            </a:pPr>
            <a:r>
              <a:rPr lang="en-US" altLang="en-US" sz="1400"/>
              <a:t>    </a:t>
            </a:r>
            <a:r>
              <a:rPr lang="en-IN" altLang="en-US" sz="1400"/>
              <a:t>		</a:t>
            </a:r>
            <a:r>
              <a:rPr lang="en-US" altLang="en-US" sz="1400"/>
              <a:t>print(key)</a:t>
            </a:r>
            <a:endParaRPr lang="en-US" altLang="en-US" sz="1400"/>
          </a:p>
          <a:p>
            <a:pPr marL="0" indent="0">
              <a:buFont typeface="+mj-lt"/>
              <a:buNone/>
            </a:pPr>
            <a:r>
              <a:rPr lang="en-US" altLang="en-US" sz="1400" b="1"/>
              <a:t>2. Iterating Through Values</a:t>
            </a:r>
            <a:endParaRPr lang="en-US" altLang="en-US" sz="1400" b="1"/>
          </a:p>
          <a:p>
            <a:pPr marL="0" indent="0">
              <a:buFont typeface="+mj-lt"/>
              <a:buNone/>
            </a:pPr>
            <a:r>
              <a:rPr lang="en-US" altLang="en-US" sz="1400"/>
              <a:t>Use the values() method to access only the values.</a:t>
            </a:r>
            <a:endParaRPr lang="en-US" altLang="en-US" sz="1400"/>
          </a:p>
          <a:p>
            <a:pPr marL="0" indent="0">
              <a:buFont typeface="+mj-lt"/>
              <a:buNone/>
            </a:pPr>
            <a:r>
              <a:rPr lang="en-US" altLang="en-US" sz="1400"/>
              <a:t>for value in student.values():</a:t>
            </a:r>
            <a:endParaRPr lang="en-US" altLang="en-US" sz="1400"/>
          </a:p>
          <a:p>
            <a:pPr marL="0" indent="0">
              <a:buFont typeface="+mj-lt"/>
              <a:buNone/>
            </a:pPr>
            <a:r>
              <a:rPr lang="en-US" altLang="en-US" sz="1400"/>
              <a:t>    print(value)</a:t>
            </a:r>
            <a:endParaRPr lang="en-US" altLang="en-US" sz="14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r>
              <a:rPr lang="en-US" altLang="en-US" b="1"/>
              <a:t>3. Iterating Through Keys and Values</a:t>
            </a:r>
            <a:endParaRPr lang="en-US" altLang="en-US" b="1"/>
          </a:p>
          <a:p>
            <a:r>
              <a:rPr lang="en-US" altLang="en-US"/>
              <a:t>Use the items() method to access both key and value.</a:t>
            </a:r>
            <a:endParaRPr lang="en-US" altLang="en-US"/>
          </a:p>
          <a:p>
            <a:r>
              <a:rPr lang="en-US" altLang="en-US"/>
              <a:t>for key, value in student.items():</a:t>
            </a:r>
            <a:endParaRPr lang="en-US" altLang="en-US"/>
          </a:p>
          <a:p>
            <a:r>
              <a:rPr lang="en-US" altLang="en-US"/>
              <a:t>    print(key, value)</a:t>
            </a:r>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While Loop</a:t>
            </a:r>
            <a:endParaRPr lang="en-IN" altLang="en-US"/>
          </a:p>
        </p:txBody>
      </p:sp>
      <p:sp>
        <p:nvSpPr>
          <p:cNvPr id="3" name="Content Placeholder 2"/>
          <p:cNvSpPr>
            <a:spLocks noGrp="1"/>
          </p:cNvSpPr>
          <p:nvPr>
            <p:ph idx="1"/>
          </p:nvPr>
        </p:nvSpPr>
        <p:spPr/>
        <p:txBody>
          <a:bodyPr>
            <a:normAutofit fontScale="90000" lnSpcReduction="10000"/>
          </a:bodyPr>
          <a:p>
            <a:r>
              <a:rPr lang="en-US" altLang="en-US"/>
              <a:t>In Python, a while loop repeatedly executes a block of code as long as a specified boolean condition remains True.</a:t>
            </a:r>
            <a:endParaRPr lang="en-US" altLang="en-US"/>
          </a:p>
          <a:p>
            <a:r>
              <a:rPr lang="en-US" altLang="en-US"/>
              <a:t> It is primarily used when you do not know in advance how many times the loop needs to run</a:t>
            </a:r>
            <a:r>
              <a:rPr lang="en-IN" altLang="en-US"/>
              <a:t>.</a:t>
            </a:r>
            <a:endParaRPr lang="en-IN" altLang="en-US"/>
          </a:p>
          <a:p>
            <a:r>
              <a:rPr lang="en-IN" altLang="en-US"/>
              <a:t>Syntax:</a:t>
            </a:r>
            <a:endParaRPr lang="en-IN" altLang="en-US"/>
          </a:p>
          <a:p>
            <a:pPr marL="457200" lvl="1" indent="0">
              <a:buNone/>
            </a:pPr>
            <a:r>
              <a:rPr lang="en-US" altLang="en-US" b="1"/>
              <a:t>while condition:</a:t>
            </a:r>
            <a:endParaRPr lang="en-US" altLang="en-US" b="1"/>
          </a:p>
          <a:p>
            <a:pPr marL="457200" lvl="1" indent="0">
              <a:buNone/>
            </a:pPr>
            <a:r>
              <a:rPr lang="en-US" altLang="en-US"/>
              <a:t>    # code block to execute</a:t>
            </a:r>
            <a:endParaRPr lang="en-US" altLang="en-US"/>
          </a:p>
          <a:p>
            <a:endParaRPr lang="en-US" altLang="en-US"/>
          </a:p>
          <a:p>
            <a:r>
              <a:rPr lang="en-US" altLang="en-US"/>
              <a:t>The loop evaluates the condition first. If it is True, the indented code runs. Afterward, Python checks the condition again, repeating this process until the condition evaluates to False</a:t>
            </a:r>
            <a:endParaRPr lang="en-US"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Match-Case Statement</a:t>
            </a:r>
            <a:endParaRPr lang="en-US"/>
          </a:p>
        </p:txBody>
      </p:sp>
      <p:sp>
        <p:nvSpPr>
          <p:cNvPr id="3" name="Content Placeholder 2"/>
          <p:cNvSpPr>
            <a:spLocks noGrp="1"/>
          </p:cNvSpPr>
          <p:nvPr>
            <p:ph idx="1"/>
          </p:nvPr>
        </p:nvSpPr>
        <p:spPr>
          <a:xfrm>
            <a:off x="1155065" y="2603500"/>
            <a:ext cx="8825865" cy="3781425"/>
          </a:xfrm>
        </p:spPr>
        <p:txBody>
          <a:bodyPr>
            <a:normAutofit lnSpcReduction="20000"/>
          </a:bodyPr>
          <a:p>
            <a:r>
              <a:rPr lang="en-US" altLang="en-US" sz="1780"/>
              <a:t>The match-case statement is used when we want to compare one value with multiple possible values.</a:t>
            </a:r>
            <a:endParaRPr lang="en-US" altLang="en-US" sz="1780"/>
          </a:p>
          <a:p>
            <a:r>
              <a:rPr lang="en-US" altLang="en-US" sz="1780"/>
              <a:t> It is similar to the switch-case statement available in other programming languages.</a:t>
            </a:r>
            <a:endParaRPr lang="en-US" altLang="en-US" sz="1780"/>
          </a:p>
          <a:p>
            <a:pPr marL="0" indent="0" fontAlgn="auto">
              <a:spcBef>
                <a:spcPts val="0"/>
              </a:spcBef>
              <a:buNone/>
            </a:pPr>
            <a:r>
              <a:rPr lang="en-IN" altLang="en-US" sz="1780" b="1"/>
              <a:t>Syntax:</a:t>
            </a:r>
            <a:endParaRPr lang="en-IN" altLang="en-US" sz="1780" b="1"/>
          </a:p>
          <a:p>
            <a:pPr marL="0" indent="0" fontAlgn="auto">
              <a:spcBef>
                <a:spcPts val="0"/>
              </a:spcBef>
              <a:buNone/>
            </a:pPr>
            <a:r>
              <a:rPr lang="en-US" altLang="en-US" sz="1780"/>
              <a:t>match variable:</a:t>
            </a:r>
            <a:endParaRPr lang="en-US" altLang="en-US" sz="1780"/>
          </a:p>
          <a:p>
            <a:pPr marL="0" indent="0" fontAlgn="auto">
              <a:spcBef>
                <a:spcPts val="0"/>
              </a:spcBef>
              <a:buNone/>
            </a:pPr>
            <a:r>
              <a:rPr lang="en-US" altLang="en-US" sz="1780"/>
              <a:t>    case value1:</a:t>
            </a:r>
            <a:endParaRPr lang="en-US" altLang="en-US" sz="1780"/>
          </a:p>
          <a:p>
            <a:pPr marL="0" indent="0" fontAlgn="auto">
              <a:spcBef>
                <a:spcPts val="0"/>
              </a:spcBef>
              <a:buNone/>
            </a:pPr>
            <a:r>
              <a:rPr lang="en-US" altLang="en-US" sz="1780"/>
              <a:t>        # code</a:t>
            </a:r>
            <a:endParaRPr lang="en-US" altLang="en-US" sz="1780"/>
          </a:p>
          <a:p>
            <a:pPr marL="0" indent="0" fontAlgn="auto">
              <a:spcBef>
                <a:spcPts val="0"/>
              </a:spcBef>
              <a:buNone/>
            </a:pPr>
            <a:r>
              <a:rPr lang="en-US" altLang="en-US" sz="1780"/>
              <a:t>    case value2:</a:t>
            </a:r>
            <a:endParaRPr lang="en-US" altLang="en-US" sz="1780"/>
          </a:p>
          <a:p>
            <a:pPr marL="0" indent="0" fontAlgn="auto">
              <a:spcBef>
                <a:spcPts val="0"/>
              </a:spcBef>
              <a:buNone/>
            </a:pPr>
            <a:r>
              <a:rPr lang="en-US" altLang="en-US" sz="1780"/>
              <a:t>        # code</a:t>
            </a:r>
            <a:endParaRPr lang="en-US" altLang="en-US" sz="1780"/>
          </a:p>
          <a:p>
            <a:pPr marL="0" indent="0" fontAlgn="auto">
              <a:spcBef>
                <a:spcPts val="0"/>
              </a:spcBef>
              <a:buNone/>
            </a:pPr>
            <a:r>
              <a:rPr lang="en-US" altLang="en-US" sz="1780"/>
              <a:t>    case value3:</a:t>
            </a:r>
            <a:endParaRPr lang="en-US" altLang="en-US" sz="1780"/>
          </a:p>
          <a:p>
            <a:pPr marL="0" indent="0" fontAlgn="auto">
              <a:spcBef>
                <a:spcPts val="0"/>
              </a:spcBef>
              <a:buNone/>
            </a:pPr>
            <a:r>
              <a:rPr lang="en-US" altLang="en-US" sz="1780"/>
              <a:t>        # code</a:t>
            </a:r>
            <a:endParaRPr lang="en-US" altLang="en-US" sz="1780"/>
          </a:p>
          <a:p>
            <a:pPr marL="0" indent="0" fontAlgn="auto">
              <a:spcBef>
                <a:spcPts val="0"/>
              </a:spcBef>
              <a:buNone/>
            </a:pPr>
            <a:r>
              <a:rPr lang="en-US" altLang="en-US" sz="1780"/>
              <a:t>    case _:</a:t>
            </a:r>
            <a:endParaRPr lang="en-US" altLang="en-US" sz="1780"/>
          </a:p>
          <a:p>
            <a:pPr marL="0" indent="0" fontAlgn="auto">
              <a:spcBef>
                <a:spcPts val="0"/>
              </a:spcBef>
              <a:buNone/>
            </a:pPr>
            <a:r>
              <a:rPr lang="en-US" altLang="en-US" sz="1780"/>
              <a:t>        # default code</a:t>
            </a:r>
            <a:endParaRPr lang="en-US" altLang="en-US" sz="178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break continue and pass in python</a:t>
            </a:r>
            <a:endParaRPr lang="en-US" altLang="en-US"/>
          </a:p>
        </p:txBody>
      </p:sp>
      <p:sp>
        <p:nvSpPr>
          <p:cNvPr id="3" name="Content Placeholder 2"/>
          <p:cNvSpPr>
            <a:spLocks noGrp="1"/>
          </p:cNvSpPr>
          <p:nvPr>
            <p:ph idx="1"/>
          </p:nvPr>
        </p:nvSpPr>
        <p:spPr/>
        <p:txBody>
          <a:bodyPr/>
          <a:p>
            <a:pPr marL="0" indent="0">
              <a:buNone/>
            </a:pPr>
            <a:r>
              <a:rPr lang="en-US" altLang="en-US" b="1"/>
              <a:t>The break Statement</a:t>
            </a:r>
            <a:r>
              <a:rPr lang="en-IN" altLang="en-US" b="1"/>
              <a:t>:</a:t>
            </a:r>
            <a:endParaRPr lang="en-IN" altLang="en-US" b="1"/>
          </a:p>
          <a:p>
            <a:pPr marL="0" indent="0">
              <a:buNone/>
            </a:pPr>
            <a:endParaRPr lang="en-IN" altLang="en-US" b="1"/>
          </a:p>
          <a:p>
            <a:pPr marL="0" indent="0">
              <a:buNone/>
            </a:pPr>
            <a:r>
              <a:rPr lang="en-US" altLang="en-US" b="1"/>
              <a:t>The break statement completely stops the loop execution prematurely. It is commonly triggered by an if condition.</a:t>
            </a:r>
            <a:endParaRPr lang="en-US" altLang="en-US" b="1"/>
          </a:p>
          <a:p>
            <a:pPr marL="0" indent="0">
              <a:buNone/>
            </a:pPr>
            <a:r>
              <a:rPr lang="en-US" altLang="en-US" b="1"/>
              <a:t>for num in range(1, 6):</a:t>
            </a:r>
            <a:endParaRPr lang="en-US" altLang="en-US" b="1"/>
          </a:p>
          <a:p>
            <a:pPr marL="0" indent="0">
              <a:buNone/>
            </a:pPr>
            <a:r>
              <a:rPr lang="en-US" altLang="en-US" b="1"/>
              <a:t>    if num == 3:</a:t>
            </a:r>
            <a:endParaRPr lang="en-US" altLang="en-US" b="1"/>
          </a:p>
          <a:p>
            <a:pPr marL="0" indent="0">
              <a:buNone/>
            </a:pPr>
            <a:r>
              <a:rPr lang="en-US" altLang="en-US" b="1"/>
              <a:t>        break</a:t>
            </a:r>
            <a:endParaRPr lang="en-US" altLang="en-US" b="1"/>
          </a:p>
          <a:p>
            <a:pPr marL="0" indent="0">
              <a:buNone/>
            </a:pPr>
            <a:r>
              <a:rPr lang="en-US" altLang="en-US" b="1"/>
              <a:t>    print(num)</a:t>
            </a:r>
            <a:endParaRPr lang="en-US" altLang="en-US" b="1"/>
          </a:p>
          <a:p>
            <a:pPr marL="0" indent="0">
              <a:buNone/>
            </a:pPr>
            <a:endParaRPr lang="en-US" altLang="en-US" b="1"/>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pPr marL="0" indent="0">
              <a:buNone/>
            </a:pPr>
            <a:r>
              <a:rPr lang="en-US" altLang="en-US" b="1"/>
              <a:t>The continue Statement</a:t>
            </a:r>
            <a:endParaRPr lang="en-US" altLang="en-US" b="1"/>
          </a:p>
          <a:p>
            <a:r>
              <a:rPr lang="en-US" altLang="en-US"/>
              <a:t>The continue statement skips only the current iteration. The program ignores any code below continue for that specific turn and jumps straight back to the top for the next cycle.</a:t>
            </a:r>
            <a:endParaRPr lang="en-US" altLang="en-US"/>
          </a:p>
          <a:p>
            <a:r>
              <a:rPr lang="en-US" altLang="en-US"/>
              <a:t>for num in range(1, 6):</a:t>
            </a:r>
            <a:endParaRPr lang="en-US" altLang="en-US"/>
          </a:p>
          <a:p>
            <a:r>
              <a:rPr lang="en-US" altLang="en-US"/>
              <a:t>    if num == 3:</a:t>
            </a:r>
            <a:endParaRPr lang="en-US" altLang="en-US"/>
          </a:p>
          <a:p>
            <a:r>
              <a:rPr lang="en-US" altLang="en-US"/>
              <a:t>        continue</a:t>
            </a:r>
            <a:endParaRPr lang="en-US" altLang="en-US"/>
          </a:p>
          <a:p>
            <a:r>
              <a:rPr lang="en-US" altLang="en-US"/>
              <a:t>    print(num)</a:t>
            </a:r>
            <a:endParaRPr lang="en-US" altLang="en-US"/>
          </a:p>
          <a:p>
            <a:endParaRPr lang="en-US"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cont..</a:t>
            </a:r>
            <a:endParaRPr lang="en-IN" altLang="en-US"/>
          </a:p>
        </p:txBody>
      </p:sp>
      <p:sp>
        <p:nvSpPr>
          <p:cNvPr id="3" name="Content Placeholder 2"/>
          <p:cNvSpPr>
            <a:spLocks noGrp="1"/>
          </p:cNvSpPr>
          <p:nvPr>
            <p:ph idx="1"/>
          </p:nvPr>
        </p:nvSpPr>
        <p:spPr/>
        <p:txBody>
          <a:bodyPr/>
          <a:p>
            <a:r>
              <a:rPr lang="en-US" altLang="en-US" b="1"/>
              <a:t>3. The pass Statement</a:t>
            </a:r>
            <a:endParaRPr lang="en-US" altLang="en-US" b="1"/>
          </a:p>
          <a:p>
            <a:r>
              <a:rPr lang="en-US" altLang="en-US"/>
              <a:t>The pass statement is a null operation. Python requires indented blocks for functions, loops, and classes. </a:t>
            </a:r>
            <a:endParaRPr lang="en-US" altLang="en-US"/>
          </a:p>
          <a:p>
            <a:r>
              <a:rPr lang="en-US" altLang="en-US"/>
              <a:t>If you leave them completely empty, Python throws an IndentationError. Use pass as a placeholder for code you plan to write later</a:t>
            </a:r>
            <a:r>
              <a:rPr lang="en-IN" altLang="en-US"/>
              <a:t>.</a:t>
            </a:r>
            <a:endParaRPr lang="en-IN" altLang="en-US"/>
          </a:p>
          <a:p>
            <a:endParaRPr lang="en-IN" altLang="en-US"/>
          </a:p>
          <a:p>
            <a:r>
              <a:rPr lang="en-US" altLang="en-US"/>
              <a:t>if age &gt;= 18:</a:t>
            </a:r>
            <a:endParaRPr lang="en-US" altLang="en-US"/>
          </a:p>
          <a:p>
            <a:r>
              <a:rPr lang="en-US" altLang="en-US"/>
              <a:t>    pass</a:t>
            </a:r>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Test(solve any 8)</a:t>
            </a:r>
            <a:endParaRPr lang="en-IN" altLang="en-US"/>
          </a:p>
        </p:txBody>
      </p:sp>
      <p:sp>
        <p:nvSpPr>
          <p:cNvPr id="3" name="Content Placeholder 2"/>
          <p:cNvSpPr>
            <a:spLocks noGrp="1"/>
          </p:cNvSpPr>
          <p:nvPr>
            <p:ph idx="1"/>
          </p:nvPr>
        </p:nvSpPr>
        <p:spPr>
          <a:xfrm>
            <a:off x="1155065" y="2279650"/>
            <a:ext cx="10562590" cy="4079240"/>
          </a:xfrm>
        </p:spPr>
        <p:txBody>
          <a:bodyPr>
            <a:noAutofit/>
          </a:bodyPr>
          <a:p>
            <a:r>
              <a:rPr lang="en-US" altLang="en-US" sz="1600"/>
              <a:t>Explain the difference between a list, tuple, set, and dictionary in Python with suitable examples.</a:t>
            </a:r>
            <a:endParaRPr lang="en-US" altLang="en-US" sz="1600"/>
          </a:p>
          <a:p>
            <a:r>
              <a:rPr lang="en-US" altLang="en-US" sz="1600"/>
              <a:t>Write a Python program to accept a string from the user and display the string in uppercase, lowercase, and title case.</a:t>
            </a:r>
            <a:endParaRPr lang="en-US" altLang="en-US" sz="1600"/>
          </a:p>
          <a:p>
            <a:r>
              <a:rPr lang="en-US" altLang="en-US" sz="1600"/>
              <a:t>Explain the difference between find() and index() string methods with suitable examples.</a:t>
            </a:r>
            <a:endParaRPr lang="en-US" altLang="en-US" sz="1600"/>
          </a:p>
          <a:p>
            <a:r>
              <a:rPr lang="en-US" altLang="en-US" sz="1600"/>
              <a:t>Write a Python program to accept three numbers from the user and display the largest number.</a:t>
            </a:r>
            <a:endParaRPr lang="en-US" altLang="en-US" sz="1600"/>
          </a:p>
          <a:p>
            <a:r>
              <a:rPr lang="en-US" altLang="en-US" sz="1600"/>
              <a:t>Explain arithmetic, relational, and logical operators in Python with one suitable example of each.</a:t>
            </a:r>
            <a:endParaRPr lang="en-US" altLang="en-US" sz="1600"/>
          </a:p>
          <a:p>
            <a:r>
              <a:rPr lang="en-US" altLang="en-US" sz="1600"/>
              <a:t>Write a Python program to accept a number from the user and check whether it is even or odd.</a:t>
            </a:r>
            <a:endParaRPr lang="en-US" altLang="en-US" sz="1600"/>
          </a:p>
          <a:p>
            <a:r>
              <a:rPr lang="en-US" altLang="en-US" sz="1600">
                <a:sym typeface="+mn-ea"/>
              </a:rPr>
              <a:t>Explain any three applications of Python.</a:t>
            </a:r>
            <a:endParaRPr lang="en-US" altLang="en-US" sz="1600">
              <a:sym typeface="+mn-ea"/>
            </a:endParaRPr>
          </a:p>
          <a:p>
            <a:r>
              <a:rPr lang="en-US" altLang="en-US" sz="1600"/>
              <a:t>Write a Python program to accept marks of a student and display the grade based on the following criteria: 90–100: A, 75–89: B, 60–74: C, 40–59: D, Below 40: F.</a:t>
            </a:r>
            <a:endParaRPr lang="en-US" altLang="en-US" sz="1600"/>
          </a:p>
          <a:p>
            <a:r>
              <a:rPr lang="en-US" altLang="en-US" sz="1600">
                <a:sym typeface="+mn-ea"/>
              </a:rPr>
              <a:t>Write a Python program to accept a number from the user and check whether it is </a:t>
            </a:r>
            <a:r>
              <a:rPr lang="en-IN" altLang="en-US" sz="1600">
                <a:sym typeface="+mn-ea"/>
              </a:rPr>
              <a:t>positive </a:t>
            </a:r>
            <a:r>
              <a:rPr lang="en-US" altLang="en-US" sz="1600">
                <a:sym typeface="+mn-ea"/>
              </a:rPr>
              <a:t>or </a:t>
            </a:r>
            <a:r>
              <a:rPr lang="en-IN" altLang="en-US" sz="1600">
                <a:sym typeface="+mn-ea"/>
              </a:rPr>
              <a:t>negative</a:t>
            </a:r>
            <a:r>
              <a:rPr lang="en-US" altLang="en-US" sz="1600">
                <a:sym typeface="+mn-ea"/>
              </a:rPr>
              <a:t>.</a:t>
            </a:r>
            <a:endParaRPr lang="en-US" altLang="en-US" sz="1600"/>
          </a:p>
          <a:p>
            <a:endParaRPr lang="en-US" altLang="en-US" sz="1600"/>
          </a:p>
          <a:p>
            <a:endParaRPr lang="en-US" altLang="en-US" sz="16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{40E28DB4-A765-417A-9722-6958E8F503DE}TF229edf6a-8a49-49ee-a0a6-5037052947485fb3ca0c-bc27bf41d645</Template>
  <TotalTime>0</TotalTime>
  <Words>31012</Words>
  <Application>WPS Presentation</Application>
  <PresentationFormat>Widescreen</PresentationFormat>
  <Paragraphs>1475</Paragraphs>
  <Slides>97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97</vt:i4>
      </vt:variant>
    </vt:vector>
  </HeadingPairs>
  <TitlesOfParts>
    <vt:vector size="109" baseType="lpstr">
      <vt:lpstr>Arial</vt:lpstr>
      <vt:lpstr>SimSun</vt:lpstr>
      <vt:lpstr>Wingdings</vt:lpstr>
      <vt:lpstr>Wingdings 3</vt:lpstr>
      <vt:lpstr>Arial</vt:lpstr>
      <vt:lpstr>Century Gothic</vt:lpstr>
      <vt:lpstr>Microsoft YaHei</vt:lpstr>
      <vt:lpstr>Arial Unicode MS</vt:lpstr>
      <vt:lpstr>Calibri</vt:lpstr>
      <vt:lpstr>ＭＳ 明朝</vt:lpstr>
      <vt:lpstr>AMGDT</vt:lpstr>
      <vt:lpstr>Ion Boardroom</vt:lpstr>
      <vt:lpstr>Unit I-Fundamentals of python Programming</vt:lpstr>
      <vt:lpstr>Introduction: What is Python? </vt:lpstr>
      <vt:lpstr>Cont…</vt:lpstr>
      <vt:lpstr>History of Python</vt:lpstr>
      <vt:lpstr>Cont…  Evolution of Python </vt:lpstr>
      <vt:lpstr>Cont…</vt:lpstr>
      <vt:lpstr>Features of Python</vt:lpstr>
      <vt:lpstr>Cont…</vt:lpstr>
      <vt:lpstr>Applications of Python</vt:lpstr>
      <vt:lpstr>Cont...</vt:lpstr>
      <vt:lpstr>Interactive Mode vs Script Mode</vt:lpstr>
      <vt:lpstr>Cont..</vt:lpstr>
      <vt:lpstr>2. Script Mode </vt:lpstr>
      <vt:lpstr>Data types in Python</vt:lpstr>
      <vt:lpstr>Cont..</vt:lpstr>
      <vt:lpstr>Cont..</vt:lpstr>
      <vt:lpstr>Cont…</vt:lpstr>
      <vt:lpstr>Mutable vs Immutable Data Types</vt:lpstr>
      <vt:lpstr>Cont…</vt:lpstr>
      <vt:lpstr>Numbers Datatype</vt:lpstr>
      <vt:lpstr>Cont..</vt:lpstr>
      <vt:lpstr>Data Conversion </vt:lpstr>
      <vt:lpstr>String</vt:lpstr>
      <vt:lpstr>What if you want to write multiline strings? </vt:lpstr>
      <vt:lpstr>Operations on string</vt:lpstr>
      <vt:lpstr>Cont…</vt:lpstr>
      <vt:lpstr>String Methods</vt:lpstr>
      <vt:lpstr>Cont..</vt:lpstr>
      <vt:lpstr>Cont…</vt:lpstr>
      <vt:lpstr>Cont…</vt:lpstr>
      <vt:lpstr>Cont…</vt:lpstr>
      <vt:lpstr>Cont..</vt:lpstr>
      <vt:lpstr>Cont…</vt:lpstr>
      <vt:lpstr>PowerPoint 演示文稿</vt:lpstr>
      <vt:lpstr>Cont…</vt:lpstr>
      <vt:lpstr>Cont.. </vt:lpstr>
      <vt:lpstr>PowerPoint 演示文稿</vt:lpstr>
      <vt:lpstr>Cont…</vt:lpstr>
      <vt:lpstr>Variables,Identifiers, Keywords and Literals</vt:lpstr>
      <vt:lpstr>Cont..</vt:lpstr>
      <vt:lpstr>Operators </vt:lpstr>
      <vt:lpstr>Arithmetic Operators</vt:lpstr>
      <vt:lpstr>Comparison (Relational) Operators</vt:lpstr>
      <vt:lpstr> Logical Operators</vt:lpstr>
      <vt:lpstr>and operator</vt:lpstr>
      <vt:lpstr>OR Operator</vt:lpstr>
      <vt:lpstr>Assignment Operators</vt:lpstr>
      <vt:lpstr>5. Bitwise Operators</vt:lpstr>
      <vt:lpstr>PowerPoint 演示文稿</vt:lpstr>
      <vt:lpstr>Bitwise &amp;(and) Operator</vt:lpstr>
      <vt:lpstr>Bitwise OR Operator</vt:lpstr>
      <vt:lpstr>PowerPoint 演示文稿</vt:lpstr>
      <vt:lpstr>XOR Operator  (^)</vt:lpstr>
      <vt:lpstr>cont..</vt:lpstr>
      <vt:lpstr>Cont...</vt:lpstr>
      <vt:lpstr>Cont...(Bitwise Operator)</vt:lpstr>
      <vt:lpstr>Membership Operator</vt:lpstr>
      <vt:lpstr>The 'in' Operator</vt:lpstr>
      <vt:lpstr>Cont...</vt:lpstr>
      <vt:lpstr>Use in with a Tuple </vt:lpstr>
      <vt:lpstr>2. The 'not in' Operator</vt:lpstr>
      <vt:lpstr>Use not in with a String</vt:lpstr>
      <vt:lpstr>How Membership Operators Work with Dictionaries</vt:lpstr>
      <vt:lpstr>Checking for Values </vt:lpstr>
      <vt:lpstr>Identity Operators</vt:lpstr>
      <vt:lpstr>The is Operator</vt:lpstr>
      <vt:lpstr>The is not Operator</vt:lpstr>
      <vt:lpstr>Identity vs. Equality: is vs. ==</vt:lpstr>
      <vt:lpstr>Find the Result of the Following Bitwise Operations:</vt:lpstr>
      <vt:lpstr>Cont..</vt:lpstr>
      <vt:lpstr>Input statement :input()</vt:lpstr>
      <vt:lpstr>Cont...</vt:lpstr>
      <vt:lpstr> ACCEPTING MULTIPLE INPUTS AT A TIME</vt:lpstr>
      <vt:lpstr> ACCEPTING INTEGER VALUES</vt:lpstr>
      <vt:lpstr> ACCEPTING FLOAT VALUES</vt:lpstr>
      <vt:lpstr>ACCEPTING STRING VALUES</vt:lpstr>
      <vt:lpstr>ACCEPTING A LIST</vt:lpstr>
      <vt:lpstr>ACCEPTING A TUPLE</vt:lpstr>
      <vt:lpstr>ACCEPTING A DICTIONARY</vt:lpstr>
      <vt:lpstr>Remember</vt:lpstr>
      <vt:lpstr>PowerPoint 演示文稿</vt:lpstr>
      <vt:lpstr>if-else</vt:lpstr>
      <vt:lpstr>if-elif-else Statement</vt:lpstr>
      <vt:lpstr>Programs on if-else</vt:lpstr>
      <vt:lpstr>For Loops</vt:lpstr>
      <vt:lpstr>Cont..</vt:lpstr>
      <vt:lpstr>Cont...</vt:lpstr>
      <vt:lpstr>Cont...</vt:lpstr>
      <vt:lpstr>Cont...</vt:lpstr>
      <vt:lpstr>Cont...</vt:lpstr>
      <vt:lpstr>Cont...</vt:lpstr>
      <vt:lpstr>While Loop</vt:lpstr>
      <vt:lpstr>Match-Case Statement</vt:lpstr>
      <vt:lpstr>break continue and pass in python</vt:lpstr>
      <vt:lpstr>Cont....</vt:lpstr>
      <vt:lpstr>cont..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Ameya Kalate</dc:creator>
  <cp:lastModifiedBy>Rushikesh Gote</cp:lastModifiedBy>
  <cp:revision>61</cp:revision>
  <dcterms:created xsi:type="dcterms:W3CDTF">2026-08-03T04:26:00Z</dcterms:created>
  <dcterms:modified xsi:type="dcterms:W3CDTF">2026-09-02T09:40:05Z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69EA3477592541719B688B1A83A5D171_12</vt:lpwstr>
  </property>
  <property fmtid="{D5CDD505-2E9C-101B-9397-08002B2CF9AE}" pid="3" name="KSOProductBuildVer">
    <vt:lpwstr>1033-12.1.0.25242</vt:lpwstr>
  </property>
</Properties>
</file>