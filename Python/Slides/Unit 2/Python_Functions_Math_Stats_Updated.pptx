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6" r:id="rId8"/>
    <p:sldId id="261" r:id="rId9"/>
    <p:sldId id="262" r:id="rId10"/>
    <p:sldId id="273" r:id="rId11"/>
    <p:sldId id="264" r:id="rId12"/>
    <p:sldId id="265" r:id="rId13"/>
    <p:sldId id="266" r:id="rId14"/>
    <p:sldId id="277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4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66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Georgia" panose="02040502050405020303"/>
              </a:defRPr>
            </a:pPr>
            <a:r>
              <a:t>Unit 2</a:t>
            </a:r>
            <a:r>
              <a:rPr lang="en-IN"/>
              <a:t>:Functions &amp; Data Structure</a:t>
            </a:r>
            <a:endParaRPr lang="en-IN"/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Georgia" panose="02040502050405020303"/>
              </a:defRPr>
            </a:pPr>
            <a:r>
              <a:rPr lang="en-IN"/>
              <a:t> Topic:</a:t>
            </a:r>
            <a:r>
              <a:t> Functions in Python</a:t>
            </a:r>
          </a:p>
          <a:p>
            <a:pPr>
              <a:defRPr sz="2000">
                <a:solidFill>
                  <a:srgbClr val="ADB5BD"/>
                </a:solidFill>
                <a:latin typeface="Verdana" panose="020B0604030504040204"/>
              </a:defRPr>
            </a:pPr>
            <a:r>
              <a:t>Functions, Math &amp; Statistics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840480"/>
            <a:ext cx="10362895" cy="2011680"/>
          </a:xfrm>
          <a:prstGeom prst="roundRect">
            <a:avLst/>
          </a:prstGeom>
          <a:solidFill>
            <a:srgbClr val="21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Georgia" panose="02040502050405020303"/>
              </a:defRPr>
            </a:pPr>
            <a:r>
              <a:t>What is a Function?</a:t>
            </a:r>
          </a:p>
          <a:p>
            <a:pPr>
              <a:defRPr sz="1300">
                <a:solidFill>
                  <a:srgbClr val="DCE1E6"/>
                </a:solidFill>
                <a:latin typeface="Verdana" panose="020B0604030504040204"/>
              </a:defRPr>
            </a:pPr>
            <a:r>
              <a:t>• A function is a block of code written to perform a particular task.</a:t>
            </a:r>
            <a:br/>
            <a:r>
              <a:t>• It helps us avoid writing the same code again and again (code reusability).</a:t>
            </a:r>
            <a:br/>
            <a:r>
              <a:t>• We can call a function whenever we need that task.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Introduction to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Why Use Functions?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Avoid repetition of code (Write Once, Use Many times)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Make programs much easier to read, understand, and manage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Reuse code across different programs easily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Divide a large, complex program into smaller, logical parts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Make debugging (finding errors) and modification much easier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9535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Types of Functions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Built-in functions: Already provided by Python out of the box.</a:t>
            </a:r>
          </a:p>
          <a:p>
            <a:pPr>
              <a:spcAft>
                <a:spcPts val="800"/>
              </a:spcAft>
              <a:defRPr sz="1250" i="1">
                <a:solidFill>
                  <a:srgbClr val="008080"/>
                </a:solidFill>
                <a:latin typeface="Verdana" panose="020B0604030504040204"/>
              </a:defRPr>
            </a:pPr>
            <a:r>
              <a:t>   Examples: print(), len(), type(), input(), max(), min(), sum()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User-defined functions: Created by the programmer to meet custom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535" y="3291840"/>
            <a:ext cx="530352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Classroom Examples</a:t>
            </a:r>
          </a:p>
          <a:p>
            <a:pPr>
              <a:defRPr sz="1050">
                <a:solidFill>
                  <a:srgbClr val="FFFFFF"/>
                </a:solidFill>
                <a:latin typeface="Courier New" panose="02070309020205020404"/>
              </a:defRPr>
            </a:pPr>
            <a:r>
              <a:t># 1. Simple Function</a:t>
            </a:r>
            <a:br/>
            <a:r>
              <a:t>def greet():</a:t>
            </a:r>
            <a:br/>
            <a:r>
              <a:t>    print("Hello Students")</a:t>
            </a:r>
            <a:br/>
            <a:br/>
            <a:r>
              <a:t>greet()  # Function Call</a:t>
            </a:r>
            <a:br/>
            <a:br/>
            <a:r>
              <a:t># 2. User-defined Function with Parameters</a:t>
            </a:r>
            <a:br/>
            <a:r>
              <a:t>def add(a, b):</a:t>
            </a:r>
            <a:br/>
            <a:r>
              <a:t>    print(a + b)</a:t>
            </a:r>
            <a:br/>
            <a:br/>
            <a:r>
              <a:t>add(10, 20)  # Outputs: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Understanding Python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22980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What is a Module?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A module is a Python file containing related code such as functions, classes, and variables.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Python provides many ready-made built-in modules.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We must import a module before using its functions.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Format: module_name.function_name()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339535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How Modules Work in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535" y="2011680"/>
            <a:ext cx="5303520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Importing &amp; Using Modules</a:t>
            </a:r>
          </a:p>
          <a:p>
            <a:pPr>
              <a:defRPr sz="115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br/>
            <a:r>
              <a:t># math      --&gt; module</a:t>
            </a:r>
            <a:br/>
            <a:r>
              <a:t># sqrt()    --&gt; function inside math module</a:t>
            </a:r>
            <a:br/>
            <a:r>
              <a:t>result = math.sqrt(25)</a:t>
            </a:r>
            <a:br/>
            <a:r>
              <a:t>print(result)  # Outputs: 5.0</a:t>
            </a:r>
            <a:br/>
            <a:br/>
            <a:r>
              <a:t>import statistics</a:t>
            </a:r>
            <a:br/>
            <a:r>
              <a:t># statistics --&gt; module</a:t>
            </a:r>
            <a:br/>
            <a:r>
              <a:t># mean()     --&gt; function inside statistics module</a:t>
            </a:r>
            <a:br/>
            <a:r>
              <a:t>avg = statistics.mean([10, 20, 30])</a:t>
            </a:r>
            <a:br/>
            <a:r>
              <a:t>print(avg)     # Outputs: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math.sqrt(x)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square root of x.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print(math.sqrt(25))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sqrt() calculates the square root of the number 25. Since square roots of any numbers are represented as fractional parts in math calculations, it returns a floating-point number 5.0.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math.pow(x, y)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x raised to the power 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print(math.pow(2, 3))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pow() raises the first number (base 2) to the power of the second number (exponent 3), which represents 2 * 2 * 2 = 8.0. It always returns a float.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math.factorial(n)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factorial of 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print(math.factorial(5))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557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factorial() finds the factorial of positive integer 5, representing 5 * 4 * 3 * 2 * 1 = 120. It raises a ValueError if n is negative or a float.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/>
              <a:t>-</a:t>
            </a:r>
            <a:r>
              <a:rPr lang="en-US" altLang="en-US"/>
              <a:t>when we want to find the number of possible arrangements of a given number of items.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Example: 3 friends can be arranged in 3! = 3 × 2 × 1 = 6 different ways.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math.fabs(x)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absolute value of x as a float.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print(math.fabs(-7.5))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7.5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07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fabs() returns the absolute (positive) value of -7.5. Absolute value removes any negative sign. Unlike built-in abs(), fabs() always returns a float.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/>
              <a:t>-</a:t>
            </a:r>
            <a:r>
              <a:rPr lang="en-US" altLang="en-US"/>
              <a:t>fabs() gives the positive value of a number, removing its negative sign.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44065" y="20701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5!=5*4*3*2*1</a:t>
            </a:r>
            <a:endParaRPr lang="en-IN" altLang="en-US"/>
          </a:p>
          <a:p>
            <a:r>
              <a:rPr lang="en-IN" altLang="en-US"/>
              <a:t>6!=6*5*4*3*2*1</a:t>
            </a:r>
            <a:endParaRPr lang="en-I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Rounding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math.ceil(x)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round a number upward to the next integer.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print(math.ceil(4.2))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ceil() (ceiling) rounds the decimal number 4.2 upward to the very next nearest integer, which is 5. Even if the decimal is small (e.g., 4.01), it rounds to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math.floor(x)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round a number downward to the previous integer.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print(math.floor(4.8))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floor() rounds the decimal number 4.8 downward to the previous nearest whole integer, which is 4. It discards the decimal fraction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GCD &amp; LCM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math.gcd(a, b)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greatest common divisor.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print(math.gcd(12, 18))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787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gcd() calculates the Greatest Common Divisor of 12 and 18, which is the largest integer that divides both numbers perfectly without leaving a remainder.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/>
              <a:t>-</a:t>
            </a:r>
            <a:r>
              <a:rPr lang="en-US" altLang="en-US"/>
              <a:t>We use gcd() when we want to divide given items into the maximum number of equal groups, with each group having the same number of items.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For example: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12 girls + 8 boys → GCD = 4 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→ 4 equal groups, with 3 girls and 2 boys in each group.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math.lcm(a, b)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least common multiple.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print(math.lcm(12, 18))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787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lcm() calculates the Least Common Multiple of 12 and 18, which is the smallest positive integer divisible by both 12 and 18.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/>
              <a:t>-</a:t>
            </a:r>
            <a:r>
              <a:rPr lang="en-US" altLang="en-US"/>
              <a:t>We use lcm() when two or more activities repeat at different intervals and we want to find when they will happen together again.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/>
              <a:t>for example:</a:t>
            </a:r>
            <a:r>
              <a:rPr lang="en-US" altLang="en-US"/>
              <a:t>One bus comes every 10 minutes and another every 15 minutes → when will they arrive together again?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/>
              <a:t>lcm of 10 and 15 is 30 so,</a:t>
            </a:r>
            <a:r>
              <a:rPr lang="en-US" altLang="en-US"/>
              <a:t>Both buses will arrive together again after 30 minutes.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 Standard Deviation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statistics.stdev(data)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sample standard deviation.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print(statistics.stdev([1, 3, 5]))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stdev() computes sample standard deviation, which is the square root of sample variance. It has the same unit as original data. stdev of [1,3,5] is 2.0.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statistics.pstdev(data)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population standard deviation.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print(statistics.pstdev([1, 5]))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pstdev() computes population standard deviation, which is the square root of population variance. For [1, 5] (variance=4), pstdev is 2.0.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Angle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19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math.radians(x)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convert degrees to radians.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19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33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print(math.radians(180))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3.141592653589793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1915" y="4023360"/>
            <a:ext cx="4937760" cy="107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radians() converts an angle from degrees to radians. Since 180 degrees is equivalent to pi radians, the function returns the value of pi.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We use radians() to convert an angle from degrees to radians when doing calculations with angles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Angle Conversion &amp; Constants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math.degrees(x)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convert radians to degrees.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print(math.degrees(3.141592653589793))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180.0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433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degrees() converts an angle from radians to degrees. Converting the value of pi radians returns 180.0 degrees.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/>
              <a:t>-For Example-</a:t>
            </a:r>
            <a:r>
              <a:rPr lang="en-US" altLang="en-US"/>
              <a:t>A calculator/app gives an angle as 1.57 radians, but you want to understand it in the familiar degree format.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We use degrees() when we have an angle in radians and want to convert it into degrees.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789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br/>
            <a:r>
              <a:t>math.pi &amp; math.e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Mathematical Constants representing π and Euler's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print("pi:", math.pi)</a:t>
            </a:r>
            <a:br/>
            <a:r>
              <a:t>print("e:", math.e)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pi: 3.141592653589793</a:t>
            </a:r>
            <a:br/>
            <a:r>
              <a:t>e: 2.718281828459045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These are constants, not functions. math.pi stores the value of pi, and math.e stores Euler's number, used for direct precision in calculations.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Trigonometric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math.sin(x)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sine of an angle in radians.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301752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print(math.sin(0))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017520" cy="9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sin() returns the trigonometric sine of 0 radians, which is mathematically 0.0.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55448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math.cos(x)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cosine of an angle in radians.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1144" y="2651760"/>
            <a:ext cx="301752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6974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print(math.cos(0))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40233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cos() returns the trigonometric cosine of 0 radians, which is mathematically 1.0.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55448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math.tan(x)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tangent of an angle in radians.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30768" y="2651760"/>
            <a:ext cx="301752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6974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r>
              <a:t>print(math.tan(0))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0233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tan() returns the trigonometric tangent of 0 radians, which is mathematically 0.0.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61865" y="1190625"/>
            <a:ext cx="4155440" cy="416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/>
              <a:t>A person is standing in front of a building. The distance from the person to the top of the building is 20 m, and the angle of elevation is 30</a:t>
            </a:r>
            <a:r>
              <a:rPr lang="en-US" altLang="en-US" sz="1200"/>
              <a:t>°</a:t>
            </a:r>
            <a:r>
              <a:rPr lang="en-US" altLang="en-US" sz="1200"/>
              <a:t>. 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/>
              <a:t>Find: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/>
              <a:t>The height of the building.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/>
              <a:t>The horizontal distance between the person and the building.</a:t>
            </a:r>
            <a:r>
              <a:rPr lang="en-IN" altLang="en-US" sz="1200"/>
              <a:t>   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>
                <a:sym typeface="+mn-ea"/>
              </a:rPr>
              <a:t>       </a:t>
            </a:r>
            <a:r>
              <a:rPr lang="en-IN" altLang="en-US" sz="1200">
                <a:sym typeface="+mn-ea"/>
              </a:rPr>
              <a:t>Top</a:t>
            </a:r>
            <a:r>
              <a:rPr lang="en-US" altLang="en-US" sz="1200">
                <a:sym typeface="+mn-ea"/>
              </a:rPr>
              <a:t>      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>
                <a:sym typeface="+mn-ea"/>
              </a:rPr>
              <a:t>            </a:t>
            </a:r>
            <a:r>
              <a:rPr lang="en-IN" altLang="en-US" sz="1200">
                <a:sym typeface="+mn-ea"/>
              </a:rPr>
              <a:t>  </a:t>
            </a:r>
            <a:r>
              <a:rPr lang="en-US" altLang="en-US" sz="1200">
                <a:sym typeface="+mn-ea"/>
              </a:rPr>
              <a:t>         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>
                <a:sym typeface="+mn-ea"/>
              </a:rPr>
              <a:t> </a:t>
            </a:r>
            <a:r>
              <a:rPr lang="en-IN" altLang="en-US" sz="1200">
                <a:sym typeface="+mn-ea"/>
              </a:rPr>
              <a:t>H</a:t>
            </a:r>
            <a:r>
              <a:rPr lang="en-US" altLang="en-US" sz="1200">
                <a:sym typeface="+mn-ea"/>
              </a:rPr>
              <a:t>   </a:t>
            </a:r>
            <a:r>
              <a:rPr lang="en-IN" altLang="en-US" sz="1200">
                <a:sym typeface="+mn-ea"/>
              </a:rPr>
              <a:t>    20m</a:t>
            </a:r>
            <a:endParaRPr lang="en-IN" altLang="en-US" sz="12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IN" altLang="en-US" sz="12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IN" altLang="en-US" sz="12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1200">
                <a:sym typeface="+mn-ea"/>
              </a:rPr>
              <a:t>                 P</a:t>
            </a:r>
            <a:endParaRPr lang="en-IN" altLang="en-US" sz="1200">
              <a:sym typeface="+mn-ea"/>
            </a:endParaRPr>
          </a:p>
          <a:p>
            <a:pPr indent="457200"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x</a:t>
            </a:r>
            <a:endParaRPr lang="en-IN" altLang="en-US" sz="900">
              <a:sym typeface="+mn-ea"/>
            </a:endParaRPr>
          </a:p>
          <a:p>
            <a:pPr indent="457200"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let x be the distance between person and building</a:t>
            </a:r>
            <a:endParaRPr lang="en-US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900">
                <a:sym typeface="+mn-ea"/>
              </a:rPr>
              <a:t>sin(θ) = Opposite Side / Hypotenuse</a:t>
            </a:r>
            <a:endParaRPr lang="en-US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sin(30)=H/20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0.5=H/20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H=0.5*20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H=10m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so height of building is 10 m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 sz="12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cos</a:t>
            </a:r>
            <a:r>
              <a:rPr lang="en-US" altLang="en-US" sz="900">
                <a:sym typeface="+mn-ea"/>
              </a:rPr>
              <a:t>(θ) = </a:t>
            </a:r>
            <a:r>
              <a:rPr lang="en-IN" altLang="en-US" sz="900">
                <a:sym typeface="+mn-ea"/>
              </a:rPr>
              <a:t>Adjacent</a:t>
            </a:r>
            <a:r>
              <a:rPr lang="en-US" altLang="en-US" sz="900">
                <a:sym typeface="+mn-ea"/>
              </a:rPr>
              <a:t> Side / Hypotenuse</a:t>
            </a:r>
            <a:endParaRPr lang="en-US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cos(30)=x/20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900">
                <a:sym typeface="+mn-ea"/>
              </a:rPr>
              <a:t>√3 / 2</a:t>
            </a:r>
            <a:r>
              <a:rPr lang="en-IN" altLang="en-US" sz="900">
                <a:sym typeface="+mn-ea"/>
              </a:rPr>
              <a:t>=x/20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x=</a:t>
            </a:r>
            <a:r>
              <a:rPr lang="en-US" altLang="en-US" sz="900">
                <a:sym typeface="+mn-ea"/>
              </a:rPr>
              <a:t>0.8660</a:t>
            </a:r>
            <a:r>
              <a:rPr lang="en-IN" altLang="en-US" sz="900">
                <a:sym typeface="+mn-ea"/>
              </a:rPr>
              <a:t>*20</a:t>
            </a:r>
            <a:endParaRPr lang="en-IN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x=</a:t>
            </a:r>
            <a:r>
              <a:rPr lang="en-US" altLang="en-US" sz="900">
                <a:sym typeface="+mn-ea"/>
              </a:rPr>
              <a:t>17.32</a:t>
            </a:r>
            <a:r>
              <a:rPr lang="en-IN" altLang="en-US" sz="900">
                <a:sym typeface="+mn-ea"/>
              </a:rPr>
              <a:t>m</a:t>
            </a:r>
            <a:endParaRPr lang="en-US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 sz="900">
                <a:sym typeface="+mn-ea"/>
              </a:rPr>
              <a:t>so distance between person and building is 17.32m </a:t>
            </a:r>
            <a:endParaRPr lang="en-US" altLang="en-US" sz="900">
              <a:sym typeface="+mn-ea"/>
            </a:endParaRP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 sz="900">
              <a:sym typeface="+mn-ea"/>
            </a:endParaRPr>
          </a:p>
        </p:txBody>
      </p:sp>
      <p:sp>
        <p:nvSpPr>
          <p:cNvPr id="4" name="Right Triangle 3"/>
          <p:cNvSpPr/>
          <p:nvPr/>
        </p:nvSpPr>
        <p:spPr>
          <a:xfrm>
            <a:off x="5132705" y="2428240"/>
            <a:ext cx="571500" cy="1019810"/>
          </a:xfrm>
          <a:prstGeom prst="rt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391785" y="3256915"/>
            <a:ext cx="478155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800">
                <a:sym typeface="+mn-ea"/>
              </a:rPr>
              <a:t>30</a:t>
            </a:r>
            <a:r>
              <a:rPr lang="en-US" altLang="en-US" sz="800">
                <a:sym typeface="+mn-ea"/>
              </a:rPr>
              <a:t>°</a:t>
            </a:r>
            <a:endParaRPr lang="en-US" altLang="en-US" sz="80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Module: Full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Comprehensive Math Demonstration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You can combine multiple mathematical functions inside a single Python script.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Importing math module allows access to constants and operations together.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This script is perfect to copy-paste and test in Python IDLE or VS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39535" y="1371600"/>
            <a:ext cx="5303520" cy="4480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Source PPTX Original Example Code</a:t>
            </a:r>
          </a:p>
          <a:p>
            <a:pPr>
              <a:defRPr sz="12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math</a:t>
            </a:r>
            <a:br/>
            <a:br/>
            <a:r>
              <a:t>number = 25</a:t>
            </a:r>
            <a:br/>
            <a:r>
              <a:t>print("Square root:", math.sqrt(number))</a:t>
            </a:r>
            <a:br/>
            <a:r>
              <a:t>print("Square:", math.pow(number, 2))</a:t>
            </a:r>
            <a:br/>
            <a:r>
              <a:t>print("Factorial:", math.factorial(5))</a:t>
            </a:r>
            <a:br/>
            <a:br/>
            <a:r>
              <a:t># --- Expected Console Output ---</a:t>
            </a:r>
            <a:br/>
            <a:r>
              <a:t># Square root: 5.0</a:t>
            </a:r>
            <a:br/>
            <a:r>
              <a:t># Square: 625.0</a:t>
            </a:r>
            <a:br/>
            <a:r>
              <a:t># Factorial: 120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statistics.mean(data)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arithmetic mean (average).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print(statistics.mean([10, 20, 30, 40]))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07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mean() calculates the mathematical average of a sequence. It adds up all numbers (10+20+30+40 = 100) and divides by the total count (4), giving 25.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/>
              <a:t>-</a:t>
            </a:r>
            <a:r>
              <a:rPr lang="en-US" altLang="en-US"/>
              <a:t>We use mean when we have many values and want one number that gives us an overall idea of the data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statistics.fmean(data)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mean as a float.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print(statistics.fmean([10, 20, 30, 40]))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25.0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fmean() (fast mean) calculates the arithmetic average but converts data to floats first and executes much faster than mean(). It always returns a float.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statistics.median(data)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middle value of ordered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print(statistics.median([10, 20, 30, 40, 50]))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07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median() sorts the data and finds the middle-most element. In this sorted list of 5 elements, the middle number is 30. If N is even, it averages the two middle elements.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Median gives us the middle value of the data after arranging the values in order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statistics.mode(data)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most common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print(statistics.mode([1, 2, 2, 3, 4]))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07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mode() returns the single number that appears most frequently in the dataset. In this dataset, 2 appears twice while others appear once, so it returns 2.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The value that occurs repeatedly or most frequently is called the Mode</a:t>
            </a: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statistics.multimode(data)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all values with the highest frequency.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print(statistics.multimode([1, 1, 2, 2, 3]))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[1,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multimode() returns a list of all modes. If a dataset has multiple numbers with the same highest frequency (here, both 1 and 2 appear twice), it returns all of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1610" y="146304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statistics.geometric_mean(data)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geometric mean.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print(statistics.geometric_mean([2, 8]))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4023360"/>
            <a:ext cx="4937760" cy="145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rPr lang="en-US" altLang="en-US"/>
              <a:t>geometric_mean() finds an average by multiplying the values first and then taking the required root.</a:t>
            </a:r>
            <a:endParaRPr lang="en-US" altLang="en-US"/>
          </a:p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rPr lang="en-US" altLang="en-US"/>
              <a:t>Geometric mean is another type of average where we multiply the values instead of adding them.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geometric_mean() calculates the central tendency using products. For [2, 8], it multiplies them (16) and takes the square root, returning 4.0.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 Other Means &amp; Quantiles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85570"/>
            <a:ext cx="4937760" cy="1456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statistics.harmonic_mean(data)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the harmonic mean.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Harmonic Mean is mainly used when we are working with rates, speeds, ratios, or "per-unit" values.</a:t>
            </a:r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731520" y="2658745"/>
            <a:ext cx="4937760" cy="91059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929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print(statistics.harmonic_mean([2, 3, 6]))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2855"/>
            <a:ext cx="4937760" cy="1787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/>
              <a:t>For example:</a:t>
            </a:r>
            <a:endParaRPr lang="en-IN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A car travels at:60 km/hour</a:t>
            </a:r>
            <a:r>
              <a:rPr lang="en-IN" altLang="en-US"/>
              <a:t> and </a:t>
            </a:r>
            <a:r>
              <a:rPr lang="en-US" altLang="en-US"/>
              <a:t>40 km/hour</a:t>
            </a:r>
            <a:r>
              <a:rPr lang="en-IN" altLang="en-US"/>
              <a:t> for the same distance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These are also per-unit values because they tell us how much distance is covered per 1 hour.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IN" altLang="en-US"/>
              <a:t>-</a:t>
            </a:r>
            <a:r>
              <a:rPr lang="en-US" altLang="en-US"/>
              <a:t>Harmonic Mean gives us a meaningful average when we are combining rates, especially when the same amount of work/distance is involved.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096000" y="1188720"/>
            <a:ext cx="5547360" cy="525970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statistics.quantiles(data)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divide ordered data into intervals.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720" y="2372360"/>
            <a:ext cx="4937760" cy="1056005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4160" y="2425065"/>
            <a:ext cx="4754880" cy="9950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r>
              <a:t>print(statistics.quantiles([1, 2, 3, 4, 5, 6, 7, 8, 9]))</a:t>
            </a:r>
          </a:p>
          <a:p>
            <a:pPr>
              <a:defRPr sz="1100" b="1">
                <a:solidFill>
                  <a:srgbClr val="4FC1FF"/>
                </a:solidFill>
                <a:latin typeface="Courier New" panose="02070309020205020404"/>
              </a:defRPr>
            </a:pPr>
            <a:r>
              <a:t># Output:</a:t>
            </a:r>
            <a:br/>
            <a:r>
              <a:t>[2.5, 5.0, 7.5]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720" y="3491230"/>
            <a:ext cx="4937760" cy="27266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t>quantiles() cuts sorted data into continuous intervals. By default, it splits the list into 4 equal quarters (creating 3 cut points or quartiles: Q1, Q2, Q3).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Quantiles divide your data into equal-sized groups.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Group 1 → 1, 2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Q1 → 2.5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Group 2 → 3, 4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Q2 → 5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Group 3 → 6, 7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Q3 → 7.5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Group 4 → 8, 9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quantiles() gives you the cut-off points that divide your data into 4 parts.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The cut-off point tells you where one group ends and the next group begins.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  Variance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980" y="1033780"/>
            <a:ext cx="5816600" cy="5242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3090" y="1188720"/>
            <a:ext cx="5503545" cy="1753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 fontAlgn="auto">
              <a:spcAft>
                <a:spcPts val="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Function:statistics.variance(data)</a:t>
            </a:r>
          </a:p>
          <a:p>
            <a:pPr indent="0" fontAlgn="auto">
              <a:spcAft>
                <a:spcPts val="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>
                <a:sym typeface="+mn-ea"/>
              </a:rPr>
              <a:t>Variance tells us how far the numbers are from their average (mean).</a:t>
            </a:r>
            <a:endParaRPr lang="en-US" altLang="en-US">
              <a:sym typeface="+mn-ea"/>
            </a:endParaRPr>
          </a:p>
          <a:p>
            <a:pPr indent="0" fontAlgn="auto">
              <a:spcAft>
                <a:spcPts val="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sample variance.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>
                <a:sym typeface="+mn-ea"/>
              </a:rPr>
              <a:t>If most numbers are close to the average, the variance is small.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>
                <a:sym typeface="+mn-ea"/>
              </a:rPr>
              <a:t>If the numbers are far from the average, the variance is large.</a:t>
            </a:r>
            <a:endParaRPr lang="en-US" altLang="en-US" sz="1200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 sz="1200">
                <a:sym typeface="+mn-ea"/>
              </a:rPr>
              <a:t>So, variance helps us understand how much the values differ from their average</a:t>
            </a:r>
            <a:endParaRPr lang="en-US" altLang="en-US" sz="1200">
              <a:sym typeface="+mn-ea"/>
            </a:endParaRPr>
          </a:p>
          <a:p>
            <a:pPr indent="0" fontAlgn="auto">
              <a:spcAft>
                <a:spcPts val="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</a:p>
          <a:p>
            <a:pPr indent="0" fontAlgn="auto">
              <a:spcAft>
                <a:spcPts val="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754880" cy="1128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import statistics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student_A = [48, 49, 50, 51, 52]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student_B = [10, 30, 50, 70, 90]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print(statistics.variance(student_A))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print(statistics.variance(student_B))</a:t>
            </a:r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4937760" cy="21666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Student A: Study app usage = 48, 49, 50, 51, 52 minutes → small variance → consistent study time.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Student B: Study app usage = 10, 30, 50, 70, 90 minutes → large variance → study time changes a lot.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We can use variance to check the consistency of </a:t>
            </a:r>
            <a:r>
              <a:rPr lang="en-IN" altLang="en-US"/>
              <a:t>sample </a:t>
            </a:r>
            <a:r>
              <a:rPr lang="en-US" altLang="en-US"/>
              <a:t>data.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Small variance → data is more consistent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Large variance → data is less consistent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937760" cy="12871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8080"/>
                </a:solidFill>
                <a:latin typeface="Georgia" panose="02040502050405020303"/>
              </a:defRPr>
            </a:pPr>
            <a:r>
              <a:t>Function:</a:t>
            </a:r>
            <a:br/>
            <a:r>
              <a:t>statistics.pvariance(data)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t>Used to find population variance.</a:t>
            </a:r>
          </a:p>
          <a:p>
            <a:pPr>
              <a:spcAft>
                <a:spcPts val="1000"/>
              </a:spcAft>
              <a:defRPr sz="1200" b="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pvariance() is used to measure the consistency of an entire population.”</a:t>
            </a:r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6522415" y="2651760"/>
            <a:ext cx="493776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2697480"/>
            <a:ext cx="4754880" cy="1128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Example Code: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import statistics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division_A = [30, 32, 31, 29, 30]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division_B = [10, 25, 40, 20, 45]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print("Division A:", statistics.pvariance(division_A))</a:t>
            </a:r>
            <a:endParaRPr lang="en-US" altLang="en-US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ourier New" panose="02070309020205020404"/>
              </a:defRPr>
            </a:pPr>
            <a:r>
              <a:rPr lang="en-US" altLang="en-US"/>
              <a:t>print("Division B:", statistics.pvariance(division_B))</a:t>
            </a:r>
            <a:endParaRPr lang="en-US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522720" y="402336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8080"/>
                </a:solidFill>
                <a:latin typeface="Verdana" panose="020B0604030504040204"/>
              </a:defRPr>
            </a:pPr>
            <a:r>
              <a:t>Explanation:</a:t>
            </a:r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Division A: App usage = 30, 32, 31, 29, 30 minutes → small pvariance (1.2) → usage is more consistent.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Division B: App usage = 10, 25, 40, 20, 45 minutes → large pvariance (170) → usage is less consistent.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pvariance() is used when we have data for the entire population and want to check its consistency.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Small pvariance → more consistent data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r>
              <a:rPr lang="en-US" altLang="en-US"/>
              <a:t>Large pvariance → less consistent data</a:t>
            </a:r>
            <a:endParaRPr lang="en-US" altLang="en-US"/>
          </a:p>
          <a:p>
            <a:pPr>
              <a:defRPr sz="1150">
                <a:solidFill>
                  <a:srgbClr val="212529"/>
                </a:solidFill>
                <a:latin typeface="Verdana" panose="020B0604030504040204"/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Statistics Module: Full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Comprehensive Statistics Demo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Analyze student performance datasets using central tendency functions together.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This script processes a list of numeric marks and displays the mean, median, and mode.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Verdana" panose="020B0604030504040204"/>
              </a:defRPr>
            </a:pPr>
            <a:r>
              <a:t>• This helps beginners see how different functions output distinct insights for the same list.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39535" y="1371600"/>
            <a:ext cx="5303520" cy="4480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6E6E6E"/>
                </a:solidFill>
                <a:latin typeface="Courier New" panose="02070309020205020404"/>
              </a:defRPr>
            </a:pPr>
            <a:r>
              <a:t># Source PPTX Original Example Code</a:t>
            </a:r>
          </a:p>
          <a:p>
            <a:pPr>
              <a:defRPr sz="1200">
                <a:solidFill>
                  <a:srgbClr val="FFFFFF"/>
                </a:solidFill>
                <a:latin typeface="Courier New" panose="02070309020205020404"/>
              </a:defRPr>
            </a:pPr>
            <a:r>
              <a:t>import statistics</a:t>
            </a:r>
            <a:br/>
            <a:br/>
            <a:r>
              <a:t>marks = [65, 70, 75, 70, 80]</a:t>
            </a:r>
            <a:br/>
            <a:r>
              <a:t>print("Mean:", statistics.mean(marks))</a:t>
            </a:r>
            <a:br/>
            <a:r>
              <a:t>print("Median:", statistics.median(marks))</a:t>
            </a:r>
            <a:br/>
            <a:r>
              <a:t>print("Mode:", statistics.mode(marks))</a:t>
            </a:r>
            <a:br/>
            <a:br/>
            <a:r>
              <a:t># --- Expected Console Output ---</a:t>
            </a:r>
            <a:br/>
            <a:r>
              <a:t># Mean: 72</a:t>
            </a:r>
            <a:br/>
            <a:r>
              <a:t># Median: 70</a:t>
            </a:r>
            <a:br/>
            <a:r>
              <a:t># Mode: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vs Statistics &amp; 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Math vs Statistics Module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008080"/>
                </a:solidFill>
                <a:latin typeface="Verdana" panose="020B0604030504040204"/>
              </a:defRPr>
            </a:pPr>
            <a:r>
              <a:t>math module:</a:t>
            </a:r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Verdana" panose="020B0604030504040204"/>
              </a:defRPr>
            </a:pPr>
            <a:r>
              <a:t>   • Focuses on single-value mathematical operations.</a:t>
            </a:r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Verdana" panose="020B0604030504040204"/>
              </a:defRPr>
            </a:pPr>
            <a:r>
              <a:t>   • Ideal for algebraic, log, trigonometric calculations.</a:t>
            </a:r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Verdana" panose="020B0604030504040204"/>
              </a:defRPr>
            </a:pPr>
            <a:r>
              <a:t>   • Example: math.sqrt(25)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008080"/>
                </a:solidFill>
                <a:latin typeface="Verdana" panose="020B0604030504040204"/>
              </a:defRPr>
            </a:pPr>
            <a:r>
              <a:t>statistics module:</a:t>
            </a:r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Verdana" panose="020B0604030504040204"/>
              </a:defRPr>
            </a:pPr>
            <a:r>
              <a:t>   • Focuses on statistical operations on collections of data.</a:t>
            </a:r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Verdana" panose="020B0604030504040204"/>
              </a:defRPr>
            </a:pPr>
            <a:r>
              <a:t>   • Ideal for averages, variance, data dispersion analysis.</a:t>
            </a:r>
          </a:p>
          <a:p>
            <a:pPr>
              <a:spcAft>
                <a:spcPts val="400"/>
              </a:spcAft>
              <a:defRPr sz="1250">
                <a:solidFill>
                  <a:srgbClr val="212529"/>
                </a:solidFill>
                <a:latin typeface="Verdana" panose="020B0604030504040204"/>
              </a:defRPr>
            </a:pPr>
            <a:r>
              <a:t>   • Example: statistics.mean([10, 20, 30])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9535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2A4A"/>
                </a:solidFill>
                <a:latin typeface="Georgia" panose="02040502050405020303"/>
              </a:defRPr>
            </a:pPr>
            <a:r>
              <a:t>Quick Recap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Verdana" panose="020B0604030504040204"/>
              </a:defRPr>
            </a:pPr>
            <a:r>
              <a:t>✔ Function: Block of code that performs a specific task.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Verdana" panose="020B0604030504040204"/>
              </a:defRPr>
            </a:pPr>
            <a:r>
              <a:t>✔ Built-in function: Already provided by Python (e.g., sum()).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Verdana" panose="020B0604030504040204"/>
              </a:defRPr>
            </a:pPr>
            <a:r>
              <a:t>✔ User-defined function: Created by programmer using def keyword.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Verdana" panose="020B0604030504040204"/>
              </a:defRPr>
            </a:pPr>
            <a:r>
              <a:t>✔ Module: Python file containing related code.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Verdana" panose="020B0604030504040204"/>
              </a:defRPr>
            </a:pPr>
            <a:r>
              <a:t>✔ import keyword: Makes a module available in your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15288</Words>
  <Application>WPS Presentation</Application>
  <PresentationFormat>On-screen Show (4:3)</PresentationFormat>
  <Paragraphs>457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Arial</vt:lpstr>
      <vt:lpstr>Georgia</vt:lpstr>
      <vt:lpstr>Verdana</vt:lpstr>
      <vt:lpstr>Courier New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Rushikesh Gote</cp:lastModifiedBy>
  <cp:revision>17</cp:revision>
  <dcterms:created xsi:type="dcterms:W3CDTF">2013-01-27T09:14:00Z</dcterms:created>
  <dcterms:modified xsi:type="dcterms:W3CDTF">2026-09-15T11:10:59Z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753AD2F50B574BFA844D90F97DA41903_12</vt:lpwstr>
  </property>
  <property fmtid="{D5CDD505-2E9C-101B-9397-08002B2CF9AE}" pid="3" name="KSOProductBuildVer">
    <vt:lpwstr>1033-12.1.0.25242</vt:lpwstr>
  </property>
</Properties>
</file>