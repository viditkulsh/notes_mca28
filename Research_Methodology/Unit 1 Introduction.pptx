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94A1F-E103-4A5C-A1CD-7380AD65E07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B7582-0C6F-4D1A-A894-DD0CB32F7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20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C0049F-5A05-38B5-E380-799107B1CB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1A8C58-1F21-4BCF-B5FD-B5C5477F123A}" type="slidenum">
              <a:rPr lang="en-US" altLang="en-US"/>
              <a:pPr/>
              <a:t>2</a:t>
            </a:fld>
            <a:endParaRPr lang="en-US" altLang="en-US" dirty="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A1B7B23-6368-B122-684F-89F72F94AC6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97D7AF-CCCD-E748-24D3-0D7E705DFBF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5153392-2FC9-680C-78A0-602034F62B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998C9D-9950-4C58-B7C4-13559B9FB02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4136E1E3-162F-4DFE-D9DB-836F599BD51E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1BB2F2A-9F64-C2E0-93DD-4FD46924A5F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6C7F3EE-5C2E-9D41-B9B9-6D9BC3468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D44D62-0815-4273-AD83-EA284ABD033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6102C083-AA81-E113-3ED3-293A6EF51965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82DEFEF-6E9E-9FD4-3026-D6E2912A8FD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BB9E976-92BC-E4CB-60DE-4934D058E0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BBBFB8-FDE4-45BE-A5A7-663D7656504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B249242B-BA28-5D7F-F880-A8019775AAC1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8025"/>
            <a:ext cx="4654550" cy="3490913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B415781-247C-1578-F81D-2F8A21FFCE9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C188A77-08A0-1983-00C9-A90D168FB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4AC2DC-EBB5-45FC-865D-49F1D0AAE5B7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634D754-05FB-3AF6-8FF3-E58384E8CA03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69EF78A-D003-5C37-F1BC-2A4DC6654BE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AA68FAA-DBB7-A67F-BCC2-BACA48FDBB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13DFE4-1401-4FA3-B32C-2F39372C9358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21A520A-E3D2-B059-9143-2F5E77054611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D83AA04-13F5-1084-177E-8B4D0224D35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B0E4CCA-D416-4873-76DA-0A99A66B7E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66F3B0-0D31-4EA3-80B1-102D897AC5C1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0F2EC2B1-EAEB-FCA7-1FAB-D478BD86B151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995BB38-F529-123B-F934-D17A5DDF84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4862E87-BF8F-37F9-069F-56770F1B9F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89CE1F-D1C7-4C2B-8F0E-014716539EA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69732818-181F-F22B-7CAD-34828E8AB2B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BBC7FC6-6108-7270-48BA-BE5DD84608E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465BCB-6E69-9E0C-D840-7C01D6FC13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08F672-0D9C-4DBC-BFAE-868E21D1D92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D830E722-8CC3-066B-673A-F56CC86B4CCE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440E87E-F1AB-692B-36C8-3F936AB3D9A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AB7E8DE-F683-4A5E-89E0-D77FF7FBE9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286400-12EE-43A4-B016-EF0C2F4F090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91C393EC-D558-3EF8-4288-BBBF1AB3204F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8025"/>
            <a:ext cx="4654550" cy="3490913"/>
          </a:xfrm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C9359D6-C4F3-8248-216E-AEE713B5BF6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A6E9D61-5CD3-57A3-DB0C-0A9F934C69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1A6975-4029-4599-A2A2-06A00176AA8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6EC374AD-1B04-DD2E-3C86-CCF329E74C75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8025"/>
            <a:ext cx="4654550" cy="3490913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4FA7981-FC46-1DAB-504E-A55A1993BFD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AEF97E2-90FA-9967-70CC-7824259B44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99B337-90F4-4288-A289-9C400FA79687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BE6DC2A3-D05A-BE4E-D6D8-B46458D7714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8025"/>
            <a:ext cx="4654550" cy="3490913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3DE0791-02A6-E1CB-134D-D0BA5495EEE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5A761DA-8DE4-99A3-47A6-035B1B8499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553E9A-7A47-42CF-87BE-81DC9EE29901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ED717774-E8B7-203F-47DC-25732D2B00D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708025"/>
            <a:ext cx="4654550" cy="3490913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F776DD0-7945-DD40-918E-7664DD17977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92FC7C4-6B28-C1A1-BB6C-2C46DCE1FE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56A79D-E2E8-4887-BD97-155277C9252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BB375955-68B2-C26D-CEB2-2EBBD13DFC1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FC0CCA9-40ED-647B-1E42-AAA3DB02A90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65B1625-2F67-7B83-3083-DE6A3EADDA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ED0C6C-076F-41B6-986F-989D9AC295D5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9EA0007C-727B-D701-AC18-6FB8D4186D5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100DB9F-53DB-EB9A-AAE2-C043A69E4F2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5A8FF5D-DE06-BFB9-B949-83F83F6476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83002A-B852-4F08-A340-2688CA92897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5C27CEEC-4A7D-7782-9264-0C7307185E45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8025"/>
            <a:ext cx="6203950" cy="3490913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6813309-9972-DAA6-62D4-212BA8C7793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FA44-373D-65CF-ADDB-F8646CD1B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9ADF3-91F2-9F18-4DBD-9159130BF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C0D28-838E-BC73-0D2D-3D7A9473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80C68-AEF7-724F-435B-802B6254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30FB4-4ACB-3808-849F-3C38CFE0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26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0F73-9A02-A1F2-14E7-68FD581F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1A421-5E62-E3FF-E688-19C258837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CB37C-1E1B-355F-03F5-AB1EEFFC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3D5CB-F2CA-6AB0-9376-CB32EF48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AD04A-83E2-1ED8-B3E6-243E9C699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5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978E-6892-FC39-8686-FA29F6DE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952F2-CEEC-DA62-6E24-5D182DA3A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B5976-1583-A783-3FE8-F2C8DBCA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B85BB-A534-3D84-FF17-6A64B2F3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9521F-1334-D231-F4BD-E3E79B38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3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C576-52FB-154C-1012-0BCC0CC1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126B8-85E7-9CCF-513D-BF2C4201E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5AB06-17B3-167B-6A8C-6B2B34F97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31F13-70CC-7BE7-67D0-B7C2EF6B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4E7CB-B467-92B3-1E2D-D66D071A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8E250-5830-54A2-283D-F0509BCC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5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AEAB-F219-A5B0-F542-A211FB73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109B9-2325-76F4-F72D-F71BFE146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8DC56-44A0-027D-DC8A-A15ABD44B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B9B62-9BA8-3BE2-3CDB-5D02E1FCD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EDCEB-2540-E784-687C-4E06611D1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7951D-1CDB-2283-6084-1558C59C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ABF6B-9C4F-A893-AF83-96B5C19D7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178F7-968D-02C1-36C9-6626E2CC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0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4A62-1AAB-4278-3E7E-1D44B04A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1FB8F-60F5-76C3-547B-820271B7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DC675-B9CB-8CBA-28FD-0DB855E4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374BF-168B-20A0-330E-EB8C818D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2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25C5F-113E-9766-F510-5308C47C9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997AD-1D3B-4E25-B28E-8F5A45B3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910A1-DC7F-B025-3E33-A153A04B5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3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F16B-B902-19DD-A1A1-E753D29C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E6B5-F16A-2FB9-9CCF-29E2934D5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C9A27-3C4B-EEE6-E6C0-BBF95377E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47750-B669-88BF-7B81-DB14BA41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72A61-7EC1-B41D-886F-AE8D6299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AB715-F8C8-B80E-5AA6-CDE3ADC3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D697D-FFE1-DEE4-E565-8C077C6DA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C35E3F-1B01-6BEA-78B3-F4D3A957B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59D57-DDD0-9611-65B0-6E10E3C3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7450D-5973-8AB2-8DEC-FAA6DA80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A1817-2C98-9BB2-D93A-0BA29E3A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1DA4C-46A5-B6AD-C165-CBC67B18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5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6B9D-3D7F-2872-7C24-DC9C63F0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7B51B-75AB-F264-7AA6-33947A6D5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F9DA8-3FC4-D792-4D3B-E585511C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9E48-C6CE-BB1D-37F9-0105E2DC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437E0-DE45-C352-F732-3FFC824B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9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5605A-E4FC-67D3-827A-E26F65984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A27D6-1A45-48CC-51EA-911A276A1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20C39-BA7E-0C6D-2400-E31DD23F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6719B-5473-D2E9-DF3E-D856FF9C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AE438-1E81-5935-57F2-EE907386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99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D0DA-B4FD-DEAD-F59A-945C0AA73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DC0FF-873C-D3FD-79F3-8A78731A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E7809-4D55-AC6A-8167-AD03247C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83FCD-07B1-1D3D-B0BD-64A32159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9E391D72-B353-4AC5-A214-5E952E83DB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51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E5D01-8192-B4EB-BEFB-FD484A59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06283-3207-59C1-AE64-4DDCB3411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B1B67-D48F-B8D3-E05F-90FB00FDB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4E70F-1DB8-4DBB-80A4-2D2E4E843628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4270F-739D-CBE8-B793-FBA2D6126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09223-47B7-9D42-8305-5A1EAE8C4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7D58D-63C6-41BA-9DCF-7FB065A1D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4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B636-6718-11E8-96BD-ECFCF83A8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264" y="1666567"/>
            <a:ext cx="9144000" cy="1323923"/>
          </a:xfrm>
        </p:spPr>
        <p:txBody>
          <a:bodyPr/>
          <a:lstStyle/>
          <a:p>
            <a:r>
              <a:rPr lang="en-US" dirty="0"/>
              <a:t>DCA40010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43C3A-1288-6465-8BC7-36DB87370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53072"/>
          </a:xfrm>
        </p:spPr>
        <p:txBody>
          <a:bodyPr>
            <a:normAutofit/>
          </a:bodyPr>
          <a:lstStyle/>
          <a:p>
            <a:r>
              <a:rPr lang="en-US" sz="2800" dirty="0"/>
              <a:t>Research Methodology</a:t>
            </a:r>
          </a:p>
          <a:p>
            <a:r>
              <a:rPr lang="en-US" sz="2800" dirty="0"/>
              <a:t>2024-25</a:t>
            </a:r>
          </a:p>
          <a:p>
            <a:r>
              <a:rPr lang="en-US" sz="2800" dirty="0"/>
              <a:t>By</a:t>
            </a:r>
          </a:p>
          <a:p>
            <a:r>
              <a:rPr lang="en-US" sz="2800" dirty="0"/>
              <a:t>Dr. Anuradha Kanade</a:t>
            </a:r>
          </a:p>
        </p:txBody>
      </p:sp>
    </p:spTree>
    <p:extLst>
      <p:ext uri="{BB962C8B-B14F-4D97-AF65-F5344CB8AC3E}">
        <p14:creationId xmlns:p14="http://schemas.microsoft.com/office/powerpoint/2010/main" val="399538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4A8D2D0-50FE-73AE-A2C5-3B4B2F31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2AA2F-2692-4C1A-AA21-26348DB3A850}" type="slidenum">
              <a:rPr lang="en-US" altLang="en-US"/>
              <a:pPr/>
              <a:t>2</a:t>
            </a:fld>
            <a:endParaRPr lang="en-US" altLang="en-US" dirty="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9D769402-4947-7EC1-5B30-87CE0FA12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480187"/>
            <a:ext cx="8229600" cy="11430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ctr">
            <a:normAutofit/>
          </a:bodyPr>
          <a:lstStyle/>
          <a:p>
            <a:pPr algn="ctr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b="1" dirty="0">
                <a:solidFill>
                  <a:srgbClr val="FE7314"/>
                </a:solidFill>
                <a:latin typeface="Times New Roman" panose="02020603050405020304" pitchFamily="18" charset="0"/>
              </a:rPr>
              <a:t>Unit I: Introduction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FC342708-BE43-09C7-E82D-33103304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E797-4388-460D-B482-E5A629FBD724}" type="slidenum">
              <a:rPr lang="en-US" altLang="en-US"/>
              <a:pPr/>
              <a:t>3</a:t>
            </a:fld>
            <a:endParaRPr lang="en-US" altLang="en-US" dirty="0"/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2AA04FCE-7F34-08B0-5ABF-7E36C5656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270" y="609600"/>
            <a:ext cx="2743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2800" b="1" u="sng" dirty="0">
                <a:solidFill>
                  <a:srgbClr val="FE7314"/>
                </a:solidFill>
                <a:latin typeface="Times New Roman" panose="02020603050405020304" pitchFamily="18" charset="0"/>
              </a:rPr>
              <a:t>Meaning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E0B1529-C28A-93A6-A4E4-442ECC8B0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270" y="1130300"/>
            <a:ext cx="10368117" cy="4542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0" hangingPunct="0">
              <a:buClr>
                <a:srgbClr val="33CCCC"/>
              </a:buClr>
              <a:buSzPct val="100000"/>
            </a:pPr>
            <a:r>
              <a:rPr lang="en-US" altLang="en-US" sz="2400" dirty="0">
                <a:latin typeface="Times New Roman" panose="02020603050405020304" pitchFamily="18" charset="0"/>
              </a:rPr>
              <a:t>Research is an endeavor to discover answers to intellectual and practical problems through the application of scientific method. </a:t>
            </a:r>
          </a:p>
          <a:p>
            <a:pPr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0" hangingPunct="0">
              <a:buClr>
                <a:srgbClr val="FE7314"/>
              </a:buClr>
              <a:buSzPct val="100000"/>
              <a:buFont typeface="Wingdings" panose="05000000000000000000" pitchFamily="2" charset="2"/>
              <a:buChar char=""/>
            </a:pPr>
            <a:r>
              <a:rPr lang="en-US" altLang="en-US" sz="2400" dirty="0">
                <a:latin typeface="Times New Roman" panose="02020603050405020304" pitchFamily="18" charset="0"/>
              </a:rPr>
              <a:t>“Research is a systematized effort to gain new knowledge”.                               					-Redman and Mory.</a:t>
            </a:r>
          </a:p>
          <a:p>
            <a:pPr eaLnBrk="0" hangingPunct="0">
              <a:buClr>
                <a:srgbClr val="FE7314"/>
              </a:buClr>
              <a:buSzPct val="100000"/>
              <a:buFont typeface="Wingdings" panose="05000000000000000000" pitchFamily="2" charset="2"/>
              <a:buChar char=""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0" hangingPunct="0">
              <a:buClr>
                <a:srgbClr val="FE7314"/>
              </a:buClr>
              <a:buSzPct val="100000"/>
              <a:buFont typeface="Wingdings" panose="05000000000000000000" pitchFamily="2" charset="2"/>
              <a:buChar char=""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0" hangingPunct="0">
              <a:buClr>
                <a:srgbClr val="FE7314"/>
              </a:buClr>
              <a:buSzPct val="100000"/>
              <a:buFont typeface="Wingdings" panose="05000000000000000000" pitchFamily="2" charset="2"/>
              <a:buChar char=""/>
            </a:pPr>
            <a:r>
              <a:rPr lang="en-IN" altLang="en-US" sz="2400" dirty="0">
                <a:latin typeface="Times New Roman" panose="02020603050405020304" pitchFamily="18" charset="0"/>
              </a:rPr>
              <a:t>Research is the systematic process of collecting and </a:t>
            </a:r>
            <a:r>
              <a:rPr lang="en-IN" altLang="en-US" sz="2400" dirty="0" err="1">
                <a:latin typeface="Times New Roman" panose="02020603050405020304" pitchFamily="18" charset="0"/>
              </a:rPr>
              <a:t>analyzing</a:t>
            </a:r>
            <a:r>
              <a:rPr lang="en-IN" altLang="en-US" sz="2400" dirty="0">
                <a:latin typeface="Times New Roman" panose="02020603050405020304" pitchFamily="18" charset="0"/>
              </a:rPr>
              <a:t> information (data) in order to increase our understanding of the phenomenon about which we are concerned or interested.</a:t>
            </a:r>
          </a:p>
          <a:p>
            <a:pPr eaLnBrk="0" hangingPunct="0">
              <a:buClr>
                <a:srgbClr val="FE7314"/>
              </a:buClr>
              <a:buSzPct val="100000"/>
              <a:buFont typeface="Wingdings" panose="05000000000000000000" pitchFamily="2" charset="2"/>
              <a:buChar char=""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158818B-9D74-7AD7-43C5-20A0A8FA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3BC3-B1FB-47A0-8100-A0062398046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E289699F-D961-D959-B72E-7B346FC40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09600"/>
            <a:ext cx="4648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2800" b="1" u="sng">
                <a:solidFill>
                  <a:srgbClr val="FE7314"/>
                </a:solidFill>
                <a:latin typeface="Times New Roman" panose="02020603050405020304" pitchFamily="18" charset="0"/>
              </a:rPr>
              <a:t>Objectives of Research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D8E87A4-7089-55B1-7DE6-B83EADDB2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129" y="1342411"/>
            <a:ext cx="10663084" cy="5379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400" dirty="0">
                <a:latin typeface="Times New Roman" panose="02020603050405020304" pitchFamily="18" charset="0"/>
              </a:rPr>
              <a:t>The purpose of research is to discover answers through the application of scientific procedures</a:t>
            </a:r>
            <a:r>
              <a:rPr lang="en-IN" altLang="en-US" sz="2800" dirty="0">
                <a:latin typeface="Times New Roman" panose="02020603050405020304" pitchFamily="18" charset="0"/>
              </a:rPr>
              <a:t>.</a:t>
            </a:r>
          </a:p>
          <a:p>
            <a:pPr algn="just"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None/>
            </a:pPr>
            <a:endParaRPr lang="en-IN" altLang="en-US" sz="2400" dirty="0">
              <a:latin typeface="Times New Roman" panose="02020603050405020304" pitchFamily="18" charset="0"/>
            </a:endParaRPr>
          </a:p>
          <a:p>
            <a:pPr algn="just"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Char char=""/>
            </a:pPr>
            <a:r>
              <a:rPr lang="en-IN" altLang="en-US" sz="2400" dirty="0">
                <a:latin typeface="Times New Roman" panose="02020603050405020304" pitchFamily="18" charset="0"/>
              </a:rPr>
              <a:t>The objectives are:</a:t>
            </a:r>
          </a:p>
          <a:p>
            <a:pPr algn="just"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None/>
            </a:pPr>
            <a:endParaRPr lang="en-IN" altLang="en-US" sz="2400" dirty="0">
              <a:latin typeface="Times New Roman" panose="02020603050405020304" pitchFamily="18" charset="0"/>
            </a:endParaRPr>
          </a:p>
          <a:p>
            <a:pPr algn="just"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Char char=""/>
            </a:pPr>
            <a:r>
              <a:rPr lang="en-IN" altLang="en-US" sz="2400" dirty="0">
                <a:latin typeface="Times New Roman" panose="02020603050405020304" pitchFamily="18" charset="0"/>
              </a:rPr>
              <a:t>To gain familiarity with a phenomenon or to achieve new insights into it – Exploratory or Formulative Research.</a:t>
            </a:r>
          </a:p>
          <a:p>
            <a:pPr algn="just"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Char char=""/>
            </a:pPr>
            <a:r>
              <a:rPr lang="en-IN" altLang="en-US" sz="2400" dirty="0">
                <a:latin typeface="Times New Roman" panose="02020603050405020304" pitchFamily="18" charset="0"/>
              </a:rPr>
              <a:t>To portray accurately the characteristics of a particular individual, situation or a group – Descriptive Research.</a:t>
            </a:r>
          </a:p>
          <a:p>
            <a:pPr algn="just"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Char char=""/>
            </a:pPr>
            <a:r>
              <a:rPr lang="en-IN" altLang="en-US" sz="2400" dirty="0">
                <a:latin typeface="Times New Roman" panose="02020603050405020304" pitchFamily="18" charset="0"/>
              </a:rPr>
              <a:t>To determine the frequency with which something occurs or with which it is associated with something else – Diagnostic Research.</a:t>
            </a:r>
          </a:p>
          <a:p>
            <a:pPr algn="just" eaLnBrk="0" hangingPunct="0">
              <a:buClr>
                <a:srgbClr val="33CCCC"/>
              </a:buClr>
              <a:buSzPct val="100000"/>
              <a:buFont typeface="Wingdings" panose="05000000000000000000" pitchFamily="2" charset="2"/>
              <a:buChar char=""/>
            </a:pPr>
            <a:r>
              <a:rPr lang="en-IN" altLang="en-US" sz="2400" dirty="0">
                <a:latin typeface="Times New Roman" panose="02020603050405020304" pitchFamily="18" charset="0"/>
              </a:rPr>
              <a:t>To test a hypothesis of a causal relationship between variables – Hypothesis-Testing Research.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707B88B-1D86-BF2A-465A-EB49A63C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BD009-175F-4B11-8BBB-D535CFACFEA3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6AFF2E3E-5086-82D1-DAFF-C0C210CF6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57200"/>
            <a:ext cx="4648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2800" b="1" u="sng">
                <a:solidFill>
                  <a:srgbClr val="FE7314"/>
                </a:solidFill>
                <a:latin typeface="Times New Roman" panose="02020603050405020304" pitchFamily="18" charset="0"/>
              </a:rPr>
              <a:t>Characteristics of Research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7B03B97-1E68-69B8-8CB5-4B0D3723B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1174750"/>
            <a:ext cx="8915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is directed towards the solution of a problem.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is based upon observable experience or empirical evidence.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demands accurate observation and description.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involves gathering new data from primary sources or using existing data for a new purpose.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activities are characterized by carefully designed procedures.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requires expertise i.e., skill necessary to carryout investigation, search the related literature and to understand and analyze the data gathered.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is objective and logical – applying every possible test to validate the data collected and conclusions reached.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involves the quest for answers to unsolved problems.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requires courage.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is characterized by patient and unhurried activity.</a:t>
            </a:r>
          </a:p>
          <a:p>
            <a:pPr algn="just" eaLnBrk="0" hangingPunct="0">
              <a:buClr>
                <a:srgbClr val="33CCCC"/>
              </a:buClr>
              <a:buSzPct val="100000"/>
            </a:pPr>
            <a:r>
              <a:rPr lang="en-IN" altLang="en-US" sz="2000">
                <a:latin typeface="Times New Roman" panose="02020603050405020304" pitchFamily="18" charset="0"/>
              </a:rPr>
              <a:t>Research is carefully recorded and reported.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5B0CBB-D1D8-E824-2856-271CD9EF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35472-2124-4401-905E-6B629AD582FF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7442B5EB-4864-3DE4-1943-5D0830D71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229600" cy="9144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ctr" anchorCtr="1">
            <a:normAutofit/>
          </a:bodyPr>
          <a:lstStyle/>
          <a:p>
            <a: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600" b="1" dirty="0">
                <a:latin typeface="Times New Roman" panose="02020603050405020304" pitchFamily="18" charset="0"/>
              </a:rPr>
              <a:t>SCIENTIFIC METHOD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D74555A-5F9E-6699-BFE1-C63BFF491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143000"/>
            <a:ext cx="8763000" cy="54864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>
            <a:normAutofit/>
          </a:bodyPr>
          <a:lstStyle/>
          <a:p>
            <a:pPr marL="404813" indent="-404813" algn="just" defTabSz="449263">
              <a:lnSpc>
                <a:spcPct val="80000"/>
              </a:lnSpc>
              <a:spcBef>
                <a:spcPts val="4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endParaRPr lang="en-US" altLang="en-US" sz="1600" dirty="0">
              <a:latin typeface="Times New Roman" panose="02020603050405020304" pitchFamily="18" charset="0"/>
            </a:endParaRPr>
          </a:p>
          <a:p>
            <a:pPr marL="404813" indent="-404813" algn="just" defTabSz="449263">
              <a:lnSpc>
                <a:spcPct val="80000"/>
              </a:lnSpc>
              <a:spcBef>
                <a:spcPts val="6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r>
              <a:rPr lang="en-US" altLang="en-US" sz="2400" dirty="0">
                <a:latin typeface="Times New Roman" panose="02020603050405020304" pitchFamily="18" charset="0"/>
              </a:rPr>
              <a:t>‘Science’ refers to the body of systematic and </a:t>
            </a:r>
            <a:r>
              <a:rPr lang="en-US" altLang="en-US" sz="2400" dirty="0" err="1">
                <a:latin typeface="Times New Roman" panose="02020603050405020304" pitchFamily="18" charset="0"/>
              </a:rPr>
              <a:t>organised</a:t>
            </a:r>
            <a:r>
              <a:rPr lang="en-US" altLang="en-US" sz="2400" dirty="0">
                <a:latin typeface="Times New Roman" panose="02020603050405020304" pitchFamily="18" charset="0"/>
              </a:rPr>
              <a:t> knowledge which makes use of scientific method to acquire knowledge in a particular field of enquiry.</a:t>
            </a:r>
          </a:p>
          <a:p>
            <a:pPr marL="404813" indent="-404813" algn="just" defTabSz="449263">
              <a:lnSpc>
                <a:spcPct val="80000"/>
              </a:lnSpc>
              <a:spcBef>
                <a:spcPts val="6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marL="404813" indent="-404813" algn="just" defTabSz="449263">
              <a:lnSpc>
                <a:spcPct val="80000"/>
              </a:lnSpc>
              <a:spcBef>
                <a:spcPts val="6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r>
              <a:rPr lang="en-US" altLang="en-US" sz="2400" dirty="0">
                <a:latin typeface="Times New Roman" panose="02020603050405020304" pitchFamily="18" charset="0"/>
              </a:rPr>
              <a:t>Scientific method is the systematic collection of data (facts) and their theoretical treatment through proper observation, experimentation and interpretation.</a:t>
            </a:r>
          </a:p>
          <a:p>
            <a:pPr marL="404813" indent="-404813" algn="just" defTabSz="449263">
              <a:lnSpc>
                <a:spcPct val="80000"/>
              </a:lnSpc>
              <a:spcBef>
                <a:spcPts val="6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marL="404813" indent="-404813" algn="just" defTabSz="449263">
              <a:lnSpc>
                <a:spcPct val="80000"/>
              </a:lnSpc>
              <a:spcBef>
                <a:spcPts val="6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marL="404813" indent="-404813" algn="just" defTabSz="449263">
              <a:lnSpc>
                <a:spcPct val="80000"/>
              </a:lnSpc>
              <a:spcBef>
                <a:spcPts val="6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r>
              <a:rPr lang="en-US" altLang="en-US" sz="2400" dirty="0">
                <a:latin typeface="Times New Roman" panose="02020603050405020304" pitchFamily="18" charset="0"/>
              </a:rPr>
              <a:t>Scientific method attempts to achieve a systematic interrelation of facts by experimentation, observation, and logical arguments from accepted postulates and a combination of these three in varying proportions.</a:t>
            </a:r>
          </a:p>
          <a:p>
            <a:pPr marL="404813" indent="-404813" algn="just" defTabSz="449263">
              <a:lnSpc>
                <a:spcPct val="80000"/>
              </a:lnSpc>
              <a:spcBef>
                <a:spcPts val="600"/>
              </a:spcBef>
              <a:buClr>
                <a:srgbClr val="F1FB33"/>
              </a:buClr>
              <a:buSzPct val="69000"/>
              <a:buFont typeface="Wingdings" panose="05000000000000000000" pitchFamily="2" charset="2"/>
              <a:buChar char=""/>
              <a:tabLst>
                <a:tab pos="974725" algn="l"/>
                <a:tab pos="1889125" algn="l"/>
                <a:tab pos="2803525" algn="l"/>
                <a:tab pos="3717925" algn="l"/>
                <a:tab pos="4632325" algn="l"/>
                <a:tab pos="5546725" algn="l"/>
                <a:tab pos="6461125" algn="l"/>
                <a:tab pos="7375525" algn="l"/>
                <a:tab pos="8289925" algn="l"/>
                <a:tab pos="9204325" algn="l"/>
                <a:tab pos="10118725" algn="l"/>
              </a:tabLst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90150CD-787E-C3A1-7C53-4B3AD24C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F44A9-AF96-484C-8401-3814B81F98FA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355F5D03-3862-38BB-71DE-B39E96A43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52414"/>
            <a:ext cx="8229600" cy="11906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ctr" anchorCtr="1">
            <a:normAutofit/>
          </a:bodyPr>
          <a:lstStyle/>
          <a:p>
            <a:pPr algn="ctr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600" b="1" u="sng" dirty="0">
                <a:latin typeface="Times New Roman" panose="02020603050405020304" pitchFamily="18" charset="0"/>
              </a:rPr>
              <a:t>BASIC POSTULATES</a:t>
            </a:r>
            <a:br>
              <a:rPr lang="en-IN" altLang="en-US" sz="3600" b="1" u="sng" dirty="0">
                <a:latin typeface="Times New Roman" panose="02020603050405020304" pitchFamily="18" charset="0"/>
              </a:rPr>
            </a:br>
            <a:r>
              <a:rPr lang="en-IN" altLang="en-US" sz="3600" b="1" u="sng" dirty="0">
                <a:latin typeface="Times New Roman" panose="02020603050405020304" pitchFamily="18" charset="0"/>
              </a:rPr>
              <a:t>IN SCIENTIFIC METHOD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4D2A9E5-66E2-1DDD-16D8-B0DA43D7E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830388"/>
            <a:ext cx="8231188" cy="4297362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>
            <a:normAutofit/>
          </a:bodyPr>
          <a:lstStyle/>
          <a:p>
            <a:pPr marL="463550" indent="-463550" defTabSz="449263"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1033463" algn="l"/>
                <a:tab pos="1947863" algn="l"/>
                <a:tab pos="2862263" algn="l"/>
                <a:tab pos="3776663" algn="l"/>
                <a:tab pos="4691063" algn="l"/>
                <a:tab pos="5605463" algn="l"/>
                <a:tab pos="6519863" algn="l"/>
                <a:tab pos="7434263" algn="l"/>
                <a:tab pos="8348663" algn="l"/>
                <a:tab pos="9263063" algn="l"/>
                <a:tab pos="10177463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It relies on empirical evidence.</a:t>
            </a:r>
          </a:p>
          <a:p>
            <a:pPr marL="463550" indent="-463550" defTabSz="449263"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1033463" algn="l"/>
                <a:tab pos="1947863" algn="l"/>
                <a:tab pos="2862263" algn="l"/>
                <a:tab pos="3776663" algn="l"/>
                <a:tab pos="4691063" algn="l"/>
                <a:tab pos="5605463" algn="l"/>
                <a:tab pos="6519863" algn="l"/>
                <a:tab pos="7434263" algn="l"/>
                <a:tab pos="8348663" algn="l"/>
                <a:tab pos="9263063" algn="l"/>
                <a:tab pos="10177463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It utilizes relevant concepts.</a:t>
            </a:r>
          </a:p>
          <a:p>
            <a:pPr marL="463550" indent="-463550" defTabSz="449263"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1033463" algn="l"/>
                <a:tab pos="1947863" algn="l"/>
                <a:tab pos="2862263" algn="l"/>
                <a:tab pos="3776663" algn="l"/>
                <a:tab pos="4691063" algn="l"/>
                <a:tab pos="5605463" algn="l"/>
                <a:tab pos="6519863" algn="l"/>
                <a:tab pos="7434263" algn="l"/>
                <a:tab pos="8348663" algn="l"/>
                <a:tab pos="9263063" algn="l"/>
                <a:tab pos="10177463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It is committed to only objective considerations.</a:t>
            </a:r>
          </a:p>
          <a:p>
            <a:pPr marL="463550" indent="-463550" defTabSz="449263"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1033463" algn="l"/>
                <a:tab pos="1947863" algn="l"/>
                <a:tab pos="2862263" algn="l"/>
                <a:tab pos="3776663" algn="l"/>
                <a:tab pos="4691063" algn="l"/>
                <a:tab pos="5605463" algn="l"/>
                <a:tab pos="6519863" algn="l"/>
                <a:tab pos="7434263" algn="l"/>
                <a:tab pos="8348663" algn="l"/>
                <a:tab pos="9263063" algn="l"/>
                <a:tab pos="10177463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It presupposes ethical neutrality.</a:t>
            </a:r>
          </a:p>
          <a:p>
            <a:pPr marL="463550" indent="-463550" defTabSz="449263"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1033463" algn="l"/>
                <a:tab pos="1947863" algn="l"/>
                <a:tab pos="2862263" algn="l"/>
                <a:tab pos="3776663" algn="l"/>
                <a:tab pos="4691063" algn="l"/>
                <a:tab pos="5605463" algn="l"/>
                <a:tab pos="6519863" algn="l"/>
                <a:tab pos="7434263" algn="l"/>
                <a:tab pos="8348663" algn="l"/>
                <a:tab pos="9263063" algn="l"/>
                <a:tab pos="10177463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It results into probabilistic predictions.</a:t>
            </a:r>
          </a:p>
          <a:p>
            <a:pPr marL="463550" indent="-463550" defTabSz="449263"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1033463" algn="l"/>
                <a:tab pos="1947863" algn="l"/>
                <a:tab pos="2862263" algn="l"/>
                <a:tab pos="3776663" algn="l"/>
                <a:tab pos="4691063" algn="l"/>
                <a:tab pos="5605463" algn="l"/>
                <a:tab pos="6519863" algn="l"/>
                <a:tab pos="7434263" algn="l"/>
                <a:tab pos="8348663" algn="l"/>
                <a:tab pos="9263063" algn="l"/>
                <a:tab pos="10177463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The  methodology is made known.</a:t>
            </a:r>
          </a:p>
          <a:p>
            <a:pPr marL="463550" indent="-463550" defTabSz="449263"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1033463" algn="l"/>
                <a:tab pos="1947863" algn="l"/>
                <a:tab pos="2862263" algn="l"/>
                <a:tab pos="3776663" algn="l"/>
                <a:tab pos="4691063" algn="l"/>
                <a:tab pos="5605463" algn="l"/>
                <a:tab pos="6519863" algn="l"/>
                <a:tab pos="7434263" algn="l"/>
                <a:tab pos="8348663" algn="l"/>
                <a:tab pos="9263063" algn="l"/>
                <a:tab pos="10177463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Aims at formulating scientific theories.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77D7A95-4927-649A-963C-8FFA3B06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7F96-850A-43FC-978F-D3A0C6922A2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0BDC3FC-806E-A6CD-5350-6162CCBF5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81200"/>
            <a:ext cx="8305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313" indent="-341313" defTabSz="449263"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Purpose clearly defined.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Research process detailed.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Research design thoroughly planned.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High ethical standards applied.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Limitations frankly revealed.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Adequate analysis for decision maker’s needs.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Findings presented unambiguously.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Conclusions justified.</a:t>
            </a:r>
          </a:p>
          <a:p>
            <a:pPr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"/>
            </a:pPr>
            <a:r>
              <a:rPr lang="en-IN" altLang="en-US" sz="2800" dirty="0">
                <a:latin typeface="Times New Roman" panose="02020603050405020304" pitchFamily="18" charset="0"/>
              </a:rPr>
              <a:t>Researcher’s experience reflected.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7D050A3B-9390-11F4-6A0B-9C0EFCF23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762001"/>
            <a:ext cx="78486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200" b="1" u="sng" dirty="0">
                <a:latin typeface="Times New Roman" panose="02020603050405020304" pitchFamily="18" charset="0"/>
              </a:rPr>
              <a:t>CRITERIA OF A GOOD RESEARCH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7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2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7" dur="500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52" dur="500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4DE8B58-833A-1647-1AE9-0AA178AD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225D-ACA3-4506-B3FD-50A6803B3843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4F63E857-D609-5FCA-0C04-08FCE91C1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323851"/>
            <a:ext cx="7316788" cy="8667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ctr" anchorCtr="1">
            <a:normAutofit/>
          </a:bodyPr>
          <a:lstStyle/>
          <a:p>
            <a:pPr algn="ctr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u="sng" dirty="0">
                <a:latin typeface="Times New Roman" panose="02020603050405020304" pitchFamily="18" charset="0"/>
              </a:rPr>
              <a:t>QUALITIES OF A GOOD RESEARCH</a:t>
            </a:r>
            <a:r>
              <a:rPr lang="en-I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725A710-6D1D-6337-B092-B8F8067C6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31188" cy="45275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>
            <a:normAutofit/>
          </a:bodyPr>
          <a:lstStyle/>
          <a:p>
            <a:pPr marL="341313" indent="-341313" defTabSz="449263">
              <a:buClr>
                <a:srgbClr val="F1FB33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Systematic</a:t>
            </a:r>
          </a:p>
          <a:p>
            <a:pPr marL="341313" indent="-341313" defTabSz="449263">
              <a:buClr>
                <a:srgbClr val="F1FB33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Logical</a:t>
            </a:r>
          </a:p>
          <a:p>
            <a:pPr marL="341313" indent="-341313" defTabSz="449263">
              <a:buClr>
                <a:srgbClr val="F1FB33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Empirical</a:t>
            </a:r>
          </a:p>
          <a:p>
            <a:pPr marL="341313" indent="-341313" defTabSz="449263">
              <a:buClr>
                <a:srgbClr val="F1FB33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Replicable</a:t>
            </a:r>
          </a:p>
          <a:p>
            <a:pPr marL="341313" indent="-341313" defTabSz="449263">
              <a:buClr>
                <a:srgbClr val="F1FB33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Creative</a:t>
            </a:r>
          </a:p>
          <a:p>
            <a:pPr marL="341313" indent="-341313" defTabSz="449263">
              <a:buClr>
                <a:srgbClr val="F1FB33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dirty="0">
                <a:latin typeface="Times New Roman" panose="02020603050405020304" pitchFamily="18" charset="0"/>
              </a:rPr>
              <a:t>Use of multiple methods</a:t>
            </a:r>
          </a:p>
          <a:p>
            <a:pPr marL="341313" indent="-341313" defTabSz="449263">
              <a:buClr>
                <a:srgbClr val="E3E3FF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7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C3B7958-1B99-4A67-309E-AC86738B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C70C0-7AF7-44BC-8E37-0E8EF34F4DA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7939CF2B-F248-0F01-15ED-2FCF3709E3E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2057400" y="1752601"/>
            <a:ext cx="8229600" cy="48355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t">
            <a:normAutofit/>
          </a:bodyPr>
          <a:lstStyle/>
          <a:p>
            <a:pPr marL="341313" indent="-341313" defTabSz="449263">
              <a:spcBef>
                <a:spcPts val="700"/>
              </a:spcBef>
              <a:buClr>
                <a:srgbClr val="E3E3FF"/>
              </a:buClr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altLang="en-US" sz="2800" dirty="0">
              <a:latin typeface="Times New Roman" panose="02020603050405020304" pitchFamily="18" charset="0"/>
            </a:endParaRPr>
          </a:p>
          <a:p>
            <a:pPr marL="341313" indent="-341313" defTabSz="449263">
              <a:spcBef>
                <a:spcPts val="700"/>
              </a:spcBef>
              <a:buClr>
                <a:srgbClr val="F1FB33"/>
              </a:buClr>
              <a:buFont typeface="Times New Roman" panose="02020603050405020304" pitchFamily="18" charset="0"/>
              <a:buChar char="♪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sz="2800" dirty="0">
                <a:latin typeface="Times New Roman" panose="02020603050405020304" pitchFamily="18" charset="0"/>
              </a:rPr>
              <a:t>EXPLORATION</a:t>
            </a:r>
          </a:p>
          <a:p>
            <a:pPr marL="341313" indent="-341313" defTabSz="449263">
              <a:spcBef>
                <a:spcPts val="700"/>
              </a:spcBef>
              <a:buClr>
                <a:srgbClr val="F1FB33"/>
              </a:buClr>
              <a:buFont typeface="Times New Roman" panose="02020603050405020304" pitchFamily="18" charset="0"/>
              <a:buChar char="♪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sz="2800" dirty="0">
                <a:latin typeface="Times New Roman" panose="02020603050405020304" pitchFamily="18" charset="0"/>
              </a:rPr>
              <a:t>DESCRIBE</a:t>
            </a:r>
          </a:p>
          <a:p>
            <a:pPr marL="341313" indent="-341313" defTabSz="449263">
              <a:spcBef>
                <a:spcPts val="700"/>
              </a:spcBef>
              <a:buClr>
                <a:srgbClr val="F1FB33"/>
              </a:buClr>
              <a:buFont typeface="Times New Roman" panose="02020603050405020304" pitchFamily="18" charset="0"/>
              <a:buChar char="♪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sz="2800" dirty="0">
                <a:latin typeface="Times New Roman" panose="02020603050405020304" pitchFamily="18" charset="0"/>
              </a:rPr>
              <a:t>DIAGNOSE</a:t>
            </a:r>
          </a:p>
          <a:p>
            <a:pPr marL="341313" indent="-341313" defTabSz="449263">
              <a:spcBef>
                <a:spcPts val="700"/>
              </a:spcBef>
              <a:buClr>
                <a:srgbClr val="F1FB33"/>
              </a:buClr>
              <a:buFont typeface="Times New Roman" panose="02020603050405020304" pitchFamily="18" charset="0"/>
              <a:buChar char="♪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sz="2800" dirty="0">
                <a:latin typeface="Times New Roman" panose="02020603050405020304" pitchFamily="18" charset="0"/>
              </a:rPr>
              <a:t>HYPOTHESIS</a:t>
            </a:r>
          </a:p>
          <a:p>
            <a:pPr marL="341313" indent="-341313" defTabSz="449263">
              <a:spcBef>
                <a:spcPts val="700"/>
              </a:spcBef>
              <a:buClr>
                <a:srgbClr val="F1FB33"/>
              </a:buClr>
              <a:buFont typeface="Times New Roman" panose="02020603050405020304" pitchFamily="18" charset="0"/>
              <a:buChar char="♪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IN" altLang="en-US" sz="2800" dirty="0">
                <a:latin typeface="Times New Roman" panose="02020603050405020304" pitchFamily="18" charset="0"/>
              </a:rPr>
              <a:t>INDUCTIONS AND DEDUCTIONS</a:t>
            </a:r>
          </a:p>
          <a:p>
            <a:pPr marL="341313" indent="-341313" defTabSz="449263">
              <a:spcBef>
                <a:spcPts val="700"/>
              </a:spcBef>
              <a:buClr>
                <a:srgbClr val="F1FB33"/>
              </a:buClr>
              <a:buFont typeface="Times New Roman" panose="02020603050405020304" pitchFamily="18" charset="0"/>
              <a:buChar char="♪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altLang="en-US" sz="2800" dirty="0"/>
          </a:p>
          <a:p>
            <a:pPr marL="341313" indent="-341313" defTabSz="449263">
              <a:spcBef>
                <a:spcPts val="700"/>
              </a:spcBef>
              <a:buClr>
                <a:srgbClr val="E3E3FF"/>
              </a:buClr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altLang="en-US" sz="2800" dirty="0"/>
          </a:p>
          <a:p>
            <a:pPr marL="341313" indent="-341313" defTabSz="449263">
              <a:spcBef>
                <a:spcPts val="700"/>
              </a:spcBef>
              <a:buClr>
                <a:srgbClr val="E3E3FF"/>
              </a:buClr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IN" altLang="en-US" sz="2800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1514AC1-0B31-9DF0-2AD7-0EC4E227E365}"/>
              </a:ext>
            </a:extLst>
          </p:cNvPr>
          <p:cNvSpPr>
            <a:spLocks noGrp="1" noChangeArrowheads="1"/>
          </p:cNvSpPr>
          <p:nvPr>
            <p:ph type="title" idx="1"/>
          </p:nvPr>
        </p:nvSpPr>
        <p:spPr>
          <a:xfrm>
            <a:off x="1981200" y="274638"/>
            <a:ext cx="8231188" cy="1141412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ctr" anchorCtr="1">
            <a:normAutofit/>
          </a:bodyPr>
          <a:lstStyle/>
          <a:p>
            <a:pPr marL="0" indent="0" algn="ctr" defTabSz="449263">
              <a:spcBef>
                <a:spcPct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b="1" u="sng" dirty="0">
                <a:latin typeface="Times New Roman" panose="02020603050405020304" pitchFamily="18" charset="0"/>
              </a:rPr>
              <a:t>NEED FOR RESEARCH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2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EB22F4A-CC60-204E-DD48-CC04064E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0836-F257-4D96-A3D3-0529CC27B9A7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4B8333E9-26DF-6B4D-EE8B-4702E9E5D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838200"/>
            <a:ext cx="8077200" cy="4403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506413" defTabSz="449263"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738188" algn="l"/>
                <a:tab pos="1652588" algn="l"/>
                <a:tab pos="2566988" algn="l"/>
                <a:tab pos="3481388" algn="l"/>
                <a:tab pos="4395788" algn="l"/>
                <a:tab pos="5310188" algn="l"/>
                <a:tab pos="6224588" algn="l"/>
                <a:tab pos="7138988" algn="l"/>
                <a:tab pos="8053388" algn="l"/>
                <a:tab pos="8967788" algn="l"/>
                <a:tab pos="9882188" algn="l"/>
                <a:tab pos="10796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"/>
            </a:pPr>
            <a:r>
              <a:rPr lang="en-IN" altLang="en-US" sz="2800" dirty="0">
                <a:latin typeface="Times New Roman" panose="02020603050405020304" pitchFamily="18" charset="0"/>
              </a:rPr>
              <a:t>Solves investment problems</a:t>
            </a: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None/>
            </a:pPr>
            <a:endParaRPr lang="en-IN" altLang="en-US" sz="2800" dirty="0">
              <a:latin typeface="Times New Roman" panose="02020603050405020304" pitchFamily="18" charset="0"/>
            </a:endParaRP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"/>
            </a:pPr>
            <a:r>
              <a:rPr lang="en-IN" altLang="en-US" sz="2800" dirty="0">
                <a:latin typeface="Times New Roman" panose="02020603050405020304" pitchFamily="18" charset="0"/>
              </a:rPr>
              <a:t>Solves pricing problems</a:t>
            </a: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None/>
            </a:pPr>
            <a:endParaRPr lang="en-IN" altLang="en-US" sz="2800" dirty="0">
              <a:latin typeface="Times New Roman" panose="02020603050405020304" pitchFamily="18" charset="0"/>
            </a:endParaRP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"/>
            </a:pPr>
            <a:r>
              <a:rPr lang="en-IN" altLang="en-US" sz="2800" dirty="0">
                <a:latin typeface="Times New Roman" panose="02020603050405020304" pitchFamily="18" charset="0"/>
              </a:rPr>
              <a:t>Solves allocation problems</a:t>
            </a: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None/>
            </a:pPr>
            <a:endParaRPr lang="en-IN" altLang="en-US" sz="2800" dirty="0">
              <a:latin typeface="Times New Roman" panose="02020603050405020304" pitchFamily="18" charset="0"/>
            </a:endParaRP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"/>
            </a:pPr>
            <a:r>
              <a:rPr lang="en-IN" altLang="en-US" sz="2800" dirty="0">
                <a:latin typeface="Times New Roman" panose="02020603050405020304" pitchFamily="18" charset="0"/>
              </a:rPr>
              <a:t>Solves decision making issues in HR</a:t>
            </a: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None/>
            </a:pPr>
            <a:endParaRPr lang="en-IN" altLang="en-US" sz="2800" dirty="0">
              <a:latin typeface="Times New Roman" panose="02020603050405020304" pitchFamily="18" charset="0"/>
            </a:endParaRPr>
          </a:p>
          <a:p>
            <a:pPr lvl="1" eaLnBrk="0" hangingPunct="0">
              <a:buClr>
                <a:srgbClr val="F1FB33"/>
              </a:buClr>
              <a:buSzPct val="100000"/>
              <a:buFont typeface="Wingdings" panose="05000000000000000000" pitchFamily="2" charset="2"/>
              <a:buChar char=""/>
            </a:pPr>
            <a:r>
              <a:rPr lang="en-IN" altLang="en-US" sz="2800" dirty="0">
                <a:latin typeface="Times New Roman" panose="02020603050405020304" pitchFamily="18" charset="0"/>
              </a:rPr>
              <a:t>Solves various operational and planning problems of business and industry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0" dur="500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3" dur="500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6" dur="500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9" dur="500"/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C6DA4F9-22C7-251A-AD1D-79D14519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0CCA-A209-4281-9BE9-4F4E01286D8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75030647-D7E0-4882-8405-90198D0F4A7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752600" y="228600"/>
            <a:ext cx="8763000" cy="6400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t">
            <a:normAutofit/>
          </a:bodyPr>
          <a:lstStyle/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FontTx/>
              <a:buChar char="–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endParaRPr lang="en-IN" altLang="en-US" sz="2800" u="sng" dirty="0">
              <a:solidFill>
                <a:schemeClr val="tx1"/>
              </a:solidFill>
            </a:endParaRPr>
          </a:p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Provides the basis for all government policies in our economic system.</a:t>
            </a:r>
          </a:p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Helps social scientists in studying social relationships and in seeking answers to various social problems.</a:t>
            </a:r>
          </a:p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For students, research means a careerism or a way to attain a high position in the social structure.</a:t>
            </a:r>
          </a:p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917575" lvl="1" indent="-455613" algn="l" defTabSz="449263">
              <a:lnSpc>
                <a:spcPct val="90000"/>
              </a:lnSpc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87438" algn="l"/>
                <a:tab pos="2001838" algn="l"/>
                <a:tab pos="2916238" algn="l"/>
                <a:tab pos="3830638" algn="l"/>
                <a:tab pos="4745038" algn="l"/>
                <a:tab pos="5659438" algn="l"/>
                <a:tab pos="6573838" algn="l"/>
                <a:tab pos="7488238" algn="l"/>
                <a:tab pos="8402638" algn="l"/>
                <a:tab pos="9317038" algn="l"/>
                <a:tab pos="10231438" algn="l"/>
              </a:tabLst>
            </a:pP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For professionals in research, it may mean a source of livelihood.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FA7294-EB3F-DD63-4A45-4998AC50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93ACA-B40B-4516-B908-403FDC28015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B7D0ECDD-0C5A-702F-F417-C902D4264EC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81200" y="533400"/>
            <a:ext cx="8229600" cy="60960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t">
            <a:normAutofit/>
          </a:bodyPr>
          <a:lstStyle/>
          <a:p>
            <a:pPr marL="854075" lvl="1" indent="-449263" algn="l" defTabSz="449263">
              <a:spcBef>
                <a:spcPct val="20000"/>
              </a:spcBef>
              <a:buClr>
                <a:srgbClr val="FFFFFF"/>
              </a:buClr>
              <a:buFontTx/>
              <a:buChar char="–"/>
              <a:tabLst>
                <a:tab pos="1023938" algn="l"/>
                <a:tab pos="1938338" algn="l"/>
                <a:tab pos="2852738" algn="l"/>
                <a:tab pos="3767138" algn="l"/>
                <a:tab pos="4681538" algn="l"/>
                <a:tab pos="5595938" algn="l"/>
                <a:tab pos="6510338" algn="l"/>
                <a:tab pos="7424738" algn="l"/>
                <a:tab pos="8339138" algn="l"/>
                <a:tab pos="9253538" algn="l"/>
                <a:tab pos="10167938" algn="l"/>
              </a:tabLst>
            </a:pPr>
            <a:endParaRPr lang="en-IN" altLang="en-US" sz="2800" u="sng" dirty="0">
              <a:solidFill>
                <a:schemeClr val="tx1"/>
              </a:solidFill>
            </a:endParaRP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23938" algn="l"/>
                <a:tab pos="1938338" algn="l"/>
                <a:tab pos="2852738" algn="l"/>
                <a:tab pos="3767138" algn="l"/>
                <a:tab pos="4681538" algn="l"/>
                <a:tab pos="5595938" algn="l"/>
                <a:tab pos="6510338" algn="l"/>
                <a:tab pos="7424738" algn="l"/>
                <a:tab pos="8339138" algn="l"/>
                <a:tab pos="9253538" algn="l"/>
                <a:tab pos="10167938" algn="l"/>
              </a:tabLst>
            </a:pP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For philosophers and thinkers, research means the outlet for new ideas and insights.</a:t>
            </a: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23938" algn="l"/>
                <a:tab pos="1938338" algn="l"/>
                <a:tab pos="2852738" algn="l"/>
                <a:tab pos="3767138" algn="l"/>
                <a:tab pos="4681538" algn="l"/>
                <a:tab pos="5595938" algn="l"/>
                <a:tab pos="6510338" algn="l"/>
                <a:tab pos="7424738" algn="l"/>
                <a:tab pos="8339138" algn="l"/>
                <a:tab pos="9253538" algn="l"/>
                <a:tab pos="10167938" algn="l"/>
              </a:tabLst>
            </a:pPr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23938" algn="l"/>
                <a:tab pos="1938338" algn="l"/>
                <a:tab pos="2852738" algn="l"/>
                <a:tab pos="3767138" algn="l"/>
                <a:tab pos="4681538" algn="l"/>
                <a:tab pos="5595938" algn="l"/>
                <a:tab pos="6510338" algn="l"/>
                <a:tab pos="7424738" algn="l"/>
                <a:tab pos="8339138" algn="l"/>
                <a:tab pos="9253538" algn="l"/>
                <a:tab pos="10167938" algn="l"/>
              </a:tabLst>
            </a:pP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For literary men and women, research means development of new styles and creative work.</a:t>
            </a: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23938" algn="l"/>
                <a:tab pos="1938338" algn="l"/>
                <a:tab pos="2852738" algn="l"/>
                <a:tab pos="3767138" algn="l"/>
                <a:tab pos="4681538" algn="l"/>
                <a:tab pos="5595938" algn="l"/>
                <a:tab pos="6510338" algn="l"/>
                <a:tab pos="7424738" algn="l"/>
                <a:tab pos="8339138" algn="l"/>
                <a:tab pos="9253538" algn="l"/>
                <a:tab pos="10167938" algn="l"/>
              </a:tabLst>
            </a:pPr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"/>
              <a:tabLst>
                <a:tab pos="1023938" algn="l"/>
                <a:tab pos="1938338" algn="l"/>
                <a:tab pos="2852738" algn="l"/>
                <a:tab pos="3767138" algn="l"/>
                <a:tab pos="4681538" algn="l"/>
                <a:tab pos="5595938" algn="l"/>
                <a:tab pos="6510338" algn="l"/>
                <a:tab pos="7424738" algn="l"/>
                <a:tab pos="8339138" algn="l"/>
                <a:tab pos="9253538" algn="l"/>
                <a:tab pos="10167938" algn="l"/>
              </a:tabLst>
            </a:pP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For analysts and intellectuals, research means generalizations of new theories.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1D84FD1-7BDB-CE07-7560-2A0E5747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B0713-7F8F-45A0-8840-2707BEA05C3F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09C30FF8-6FCD-7E36-BC9D-C9189591F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8600"/>
            <a:ext cx="822960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 anchorCtr="1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 u="sng">
                <a:solidFill>
                  <a:srgbClr val="F1FB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PROBLEMS IN RESEARCH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E1A830A-6F9F-29E2-D352-DE7F90394A7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981200" y="1219200"/>
            <a:ext cx="8382000" cy="47244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t">
            <a:normAutofit/>
          </a:bodyPr>
          <a:lstStyle/>
          <a:p>
            <a:pPr marL="608013" indent="-608013" defTabSz="449263">
              <a:spcBef>
                <a:spcPts val="700"/>
              </a:spcBef>
              <a:buClr>
                <a:srgbClr val="E3E3FF"/>
              </a:buClr>
              <a:buFont typeface="Wingdings" panose="05000000000000000000" pitchFamily="2" charset="2"/>
              <a:buChar char="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endParaRPr lang="en-IN" altLang="en-US" sz="2800" b="1" dirty="0">
              <a:latin typeface="Times New Roman" panose="02020603050405020304" pitchFamily="18" charset="0"/>
            </a:endParaRPr>
          </a:p>
          <a:p>
            <a:pPr marL="608013" indent="-608013" defTabSz="449263">
              <a:spcBef>
                <a:spcPts val="700"/>
              </a:spcBef>
              <a:buClr>
                <a:srgbClr val="F1FB33"/>
              </a:buClr>
              <a:buFont typeface="Wingdings" panose="05000000000000000000" pitchFamily="2" charset="2"/>
              <a:buChar char="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IN" altLang="en-US" sz="2800" b="1" dirty="0">
                <a:latin typeface="Times New Roman" panose="02020603050405020304" pitchFamily="18" charset="0"/>
              </a:rPr>
              <a:t>Not similar to science</a:t>
            </a:r>
          </a:p>
          <a:p>
            <a:pPr marL="608013" indent="-608013" defTabSz="449263">
              <a:spcBef>
                <a:spcPts val="700"/>
              </a:spcBef>
              <a:buClr>
                <a:srgbClr val="F1FB33"/>
              </a:buClr>
              <a:buFont typeface="Wingdings" panose="05000000000000000000" pitchFamily="2" charset="2"/>
              <a:buChar char="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IN" altLang="en-US" sz="2800" b="1" dirty="0">
                <a:latin typeface="Times New Roman" panose="02020603050405020304" pitchFamily="18" charset="0"/>
              </a:rPr>
              <a:t>Uncontrollable variables</a:t>
            </a:r>
          </a:p>
          <a:p>
            <a:pPr marL="608013" indent="-608013" defTabSz="449263">
              <a:spcBef>
                <a:spcPts val="700"/>
              </a:spcBef>
              <a:buClr>
                <a:srgbClr val="F1FB33"/>
              </a:buClr>
              <a:buFont typeface="Wingdings" panose="05000000000000000000" pitchFamily="2" charset="2"/>
              <a:buChar char="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IN" altLang="en-US" sz="2800" b="1" dirty="0">
                <a:latin typeface="Times New Roman" panose="02020603050405020304" pitchFamily="18" charset="0"/>
              </a:rPr>
              <a:t>Human tendencies</a:t>
            </a:r>
          </a:p>
          <a:p>
            <a:pPr marL="608013" indent="-608013" defTabSz="449263">
              <a:spcBef>
                <a:spcPts val="700"/>
              </a:spcBef>
              <a:buClr>
                <a:srgbClr val="F1FB33"/>
              </a:buClr>
              <a:buFont typeface="Wingdings" panose="05000000000000000000" pitchFamily="2" charset="2"/>
              <a:buChar char="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IN" altLang="en-US" sz="2800" b="1" dirty="0">
                <a:latin typeface="Times New Roman" panose="02020603050405020304" pitchFamily="18" charset="0"/>
              </a:rPr>
              <a:t>Time and money</a:t>
            </a:r>
          </a:p>
          <a:p>
            <a:pPr marL="608013" indent="-608013" defTabSz="449263">
              <a:spcBef>
                <a:spcPts val="700"/>
              </a:spcBef>
              <a:buClr>
                <a:srgbClr val="F1FB33"/>
              </a:buClr>
              <a:buFont typeface="Wingdings" panose="05000000000000000000" pitchFamily="2" charset="2"/>
              <a:buChar char="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IN" altLang="en-US" sz="2800" b="1" dirty="0">
                <a:latin typeface="Times New Roman" panose="02020603050405020304" pitchFamily="18" charset="0"/>
              </a:rPr>
              <a:t>Lack of computerization</a:t>
            </a:r>
          </a:p>
          <a:p>
            <a:pPr marL="608013" indent="-608013" defTabSz="449263">
              <a:spcBef>
                <a:spcPts val="700"/>
              </a:spcBef>
              <a:buClr>
                <a:srgbClr val="F1FB33"/>
              </a:buClr>
              <a:buFont typeface="Wingdings" panose="05000000000000000000" pitchFamily="2" charset="2"/>
              <a:buChar char=""/>
              <a:tabLst>
                <a:tab pos="1177925" algn="l"/>
                <a:tab pos="2092325" algn="l"/>
                <a:tab pos="3006725" algn="l"/>
                <a:tab pos="3921125" algn="l"/>
                <a:tab pos="4835525" algn="l"/>
                <a:tab pos="5749925" algn="l"/>
                <a:tab pos="6664325" algn="l"/>
                <a:tab pos="7578725" algn="l"/>
                <a:tab pos="8493125" algn="l"/>
                <a:tab pos="9407525" algn="l"/>
                <a:tab pos="10321925" algn="l"/>
              </a:tabLst>
            </a:pPr>
            <a:r>
              <a:rPr lang="en-IN" altLang="en-US" sz="2800" b="1" dirty="0">
                <a:latin typeface="Times New Roman" panose="02020603050405020304" pitchFamily="18" charset="0"/>
              </a:rPr>
              <a:t>Lack of scientific training in the methodology of research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8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8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3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8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DD71979-10BC-00B5-C6B9-220C08E0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E075-6A1F-4223-B4BC-EB0A4C7C3D04}" type="slidenum">
              <a:rPr lang="en-US" altLang="en-US"/>
              <a:pPr/>
              <a:t>15</a:t>
            </a:fld>
            <a:endParaRPr lang="en-US" altLang="en-US" dirty="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30A58005-8713-C641-4E3A-B801789CEAD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1752600" y="457200"/>
            <a:ext cx="8534400" cy="6019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t">
            <a:normAutofit/>
          </a:bodyPr>
          <a:lstStyle/>
          <a:p>
            <a:pPr marL="342900" indent="-342900" defTabSz="449263">
              <a:spcBef>
                <a:spcPts val="700"/>
              </a:spcBef>
              <a:buFontTx/>
              <a:buChar char="•"/>
              <a:tabLst>
                <a:tab pos="855663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IN" altLang="en-US" sz="3200" dirty="0"/>
              <a:t>			</a:t>
            </a:r>
            <a:r>
              <a:rPr lang="en-IN" altLang="en-US" sz="3200" dirty="0">
                <a:latin typeface="Times New Roman" panose="02020603050405020304" pitchFamily="18" charset="0"/>
              </a:rPr>
              <a:t>According to Herbert A Simon, decision-making involves three activities:</a:t>
            </a:r>
          </a:p>
          <a:p>
            <a:pPr marL="342900" indent="-342900" defTabSz="449263">
              <a:spcBef>
                <a:spcPts val="700"/>
              </a:spcBef>
              <a:buFontTx/>
              <a:buChar char="•"/>
              <a:tabLst>
                <a:tab pos="855663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IN" altLang="en-US" sz="3200" dirty="0">
              <a:latin typeface="Times New Roman" panose="02020603050405020304" pitchFamily="18" charset="0"/>
            </a:endParaRP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855663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IN" altLang="en-US" sz="3200" i="1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Intelligence Activity</a:t>
            </a: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- scanning the environment for identifying conditions necessary for the decision.</a:t>
            </a: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855663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855663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IN" altLang="en-US" sz="3200" i="1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Designing Activity</a:t>
            </a: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- identifying, developing and </a:t>
            </a:r>
            <a:r>
              <a:rPr lang="en-IN" altLang="en-US" sz="28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analyzing</a:t>
            </a: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the alternative courses of action.</a:t>
            </a: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855663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I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54075" lvl="1" indent="-449263" algn="l" defTabSz="449263">
              <a:spcBef>
                <a:spcPct val="20000"/>
              </a:spcBef>
              <a:buClr>
                <a:srgbClr val="F1FB33"/>
              </a:buClr>
              <a:buFont typeface="Wingdings" panose="05000000000000000000" pitchFamily="2" charset="2"/>
              <a:buChar char=""/>
              <a:tabLst>
                <a:tab pos="855663" algn="l"/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IN" altLang="en-US" sz="3200" i="1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Choice Activity</a:t>
            </a:r>
            <a:r>
              <a:rPr lang="en-I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 - choosing the best course of action from among the alternatives.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10FF4F5-23FF-899A-01EF-91D9AF48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C52CD-BC8C-4D5E-B2F8-644693C8B5E6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FEB4298-FF05-C88B-A4BA-54A6C9A7C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2400"/>
            <a:ext cx="83820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 anchorCtr="1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2800" b="1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FACTORS THAT AFFECT MANAGERIAL DECISIONS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2554AE6-E699-519E-7A33-B79CDB3B3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828800"/>
            <a:ext cx="82296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54075" indent="-449263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  <a:buFont typeface="Wingdings" panose="05000000000000000000" pitchFamily="2" charset="2"/>
              <a:buChar char=""/>
            </a:pPr>
            <a:r>
              <a:rPr lang="en-IN" altLang="en-US" sz="2400" u="sng" dirty="0">
                <a:latin typeface="Times New Roman" panose="02020603050405020304" pitchFamily="18" charset="0"/>
              </a:rPr>
              <a:t>INTERNAL FACTORS</a:t>
            </a:r>
            <a:r>
              <a:rPr lang="en-IN" altLang="en-US" sz="2400" dirty="0">
                <a:latin typeface="Times New Roman" panose="02020603050405020304" pitchFamily="18" charset="0"/>
              </a:rPr>
              <a:t> – factors present inside an organisation such as resources, technology, trade unions, cash flow, manpower etc.</a:t>
            </a:r>
          </a:p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</a:pPr>
            <a:endParaRPr lang="en-IN" altLang="en-US" sz="2400" dirty="0">
              <a:latin typeface="Times New Roman" panose="02020603050405020304" pitchFamily="18" charset="0"/>
            </a:endParaRPr>
          </a:p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  <a:buFont typeface="Wingdings" panose="05000000000000000000" pitchFamily="2" charset="2"/>
              <a:buChar char=""/>
            </a:pPr>
            <a:r>
              <a:rPr lang="en-IN" altLang="en-US" sz="2400" u="sng" dirty="0">
                <a:latin typeface="Times New Roman" panose="02020603050405020304" pitchFamily="18" charset="0"/>
              </a:rPr>
              <a:t>EXTERNAL FACTORS</a:t>
            </a:r>
            <a:r>
              <a:rPr lang="en-IN" altLang="en-US" sz="2400" dirty="0">
                <a:latin typeface="Times New Roman" panose="02020603050405020304" pitchFamily="18" charset="0"/>
              </a:rPr>
              <a:t> – factors present outside the organisation such as government policies, political factors, socio-economic factors, legal framework, geographic and cultural factors etc.</a:t>
            </a:r>
          </a:p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</a:pPr>
            <a:endParaRPr lang="en-IN" altLang="en-US" sz="2400" dirty="0">
              <a:latin typeface="Times New Roman" panose="02020603050405020304" pitchFamily="18" charset="0"/>
            </a:endParaRPr>
          </a:p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  <a:buFont typeface="Wingdings" panose="05000000000000000000" pitchFamily="2" charset="2"/>
              <a:buChar char=""/>
            </a:pPr>
            <a:r>
              <a:rPr lang="en-IN" altLang="en-US" sz="2400" dirty="0">
                <a:latin typeface="Times New Roman" panose="02020603050405020304" pitchFamily="18" charset="0"/>
              </a:rPr>
              <a:t> </a:t>
            </a:r>
            <a:r>
              <a:rPr lang="en-IN" altLang="en-US" sz="2400" u="sng" dirty="0">
                <a:latin typeface="Times New Roman" panose="02020603050405020304" pitchFamily="18" charset="0"/>
              </a:rPr>
              <a:t>QUANTITATIVE FACTORS</a:t>
            </a:r>
            <a:r>
              <a:rPr lang="en-IN" altLang="en-US" sz="2400" dirty="0">
                <a:latin typeface="Times New Roman" panose="02020603050405020304" pitchFamily="18" charset="0"/>
              </a:rPr>
              <a:t> – factors that can be measured in quantities such as time, resources, cost factors etc.</a:t>
            </a:r>
          </a:p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</a:pPr>
            <a:endParaRPr lang="en-I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9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148CF028-4FFD-AA43-0E6A-B837D876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54C23-3C9D-4EEA-9A48-A4546AC23291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70593582-3B85-342C-DA3B-2E44A2813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14400"/>
            <a:ext cx="8229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54075" indent="-449263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854075" algn="l"/>
                <a:tab pos="1768475" algn="l"/>
                <a:tab pos="2682875" algn="l"/>
                <a:tab pos="3597275" algn="l"/>
                <a:tab pos="4511675" algn="l"/>
                <a:tab pos="5426075" algn="l"/>
                <a:tab pos="6340475" algn="l"/>
                <a:tab pos="7254875" algn="l"/>
                <a:tab pos="8169275" algn="l"/>
                <a:tab pos="9083675" algn="l"/>
                <a:tab pos="9998075" algn="l"/>
                <a:tab pos="1091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  <a:buFont typeface="Wingdings" panose="05000000000000000000" pitchFamily="2" charset="2"/>
              <a:buChar char=""/>
            </a:pPr>
            <a:r>
              <a:rPr lang="en-IN" altLang="en-US" sz="24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QUALITATIVE FACTORS</a:t>
            </a:r>
            <a:r>
              <a:rPr lang="en-I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– factors that cannot be measured in quantities such as organizational cohesiveness, sense of belonging of employees, risk of technological change etc.</a:t>
            </a:r>
          </a:p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</a:pPr>
            <a:endParaRPr lang="en-IN" alt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lvl="1" eaLnBrk="0" hangingPunct="0">
              <a:lnSpc>
                <a:spcPct val="90000"/>
              </a:lnSpc>
              <a:spcBef>
                <a:spcPts val="600"/>
              </a:spcBef>
              <a:buClr>
                <a:srgbClr val="F1FB33"/>
              </a:buClr>
              <a:buSzPct val="100000"/>
              <a:buFont typeface="Wingdings" panose="05000000000000000000" pitchFamily="2" charset="2"/>
              <a:buChar char=""/>
            </a:pPr>
            <a:r>
              <a:rPr lang="en-IN" altLang="en-US" sz="24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UNCERTAINITY FACTORS</a:t>
            </a:r>
            <a:r>
              <a:rPr lang="en-I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– factors which cannot be predicted.</a:t>
            </a:r>
          </a:p>
          <a:p>
            <a:pPr eaLnBrk="0" hangingPunct="0">
              <a:lnSpc>
                <a:spcPct val="90000"/>
              </a:lnSpc>
              <a:spcBef>
                <a:spcPts val="600"/>
              </a:spcBef>
            </a:pPr>
            <a:endParaRPr lang="en-IN" alt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eaLnBrk="0" hangingPunct="0">
              <a:lnSpc>
                <a:spcPct val="90000"/>
              </a:lnSpc>
              <a:spcBef>
                <a:spcPts val="600"/>
              </a:spcBef>
            </a:pPr>
            <a:r>
              <a:rPr lang="en-I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		</a:t>
            </a:r>
          </a:p>
          <a:p>
            <a:pPr eaLnBrk="0" hangingPunct="0">
              <a:lnSpc>
                <a:spcPct val="90000"/>
              </a:lnSpc>
              <a:spcBef>
                <a:spcPts val="600"/>
              </a:spcBef>
            </a:pPr>
            <a:r>
              <a:rPr lang="en-I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			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871</Words>
  <Application>Microsoft Office PowerPoint</Application>
  <PresentationFormat>Widescreen</PresentationFormat>
  <Paragraphs>158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Wingdings</vt:lpstr>
      <vt:lpstr>Office Theme</vt:lpstr>
      <vt:lpstr>DCA40010</vt:lpstr>
      <vt:lpstr>Unit I: Introduction</vt:lpstr>
      <vt:lpstr>PowerPoint Presentation</vt:lpstr>
      <vt:lpstr>PowerPoint Presentation</vt:lpstr>
      <vt:lpstr>PowerPoint Presentation</vt:lpstr>
      <vt:lpstr>SCIENTIFIC METHOD</vt:lpstr>
      <vt:lpstr>BASIC POSTULATES IN SCIENTIFIC METHOD</vt:lpstr>
      <vt:lpstr>PowerPoint Presentation</vt:lpstr>
      <vt:lpstr>QUALITIES OF A GOOD RESEARCH </vt:lpstr>
      <vt:lpstr>NEED FOR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Anuradha Kanade</dc:creator>
  <cp:lastModifiedBy>Anuradha Kanade</cp:lastModifiedBy>
  <cp:revision>7</cp:revision>
  <dcterms:created xsi:type="dcterms:W3CDTF">2024-08-20T08:33:16Z</dcterms:created>
  <dcterms:modified xsi:type="dcterms:W3CDTF">2025-07-23T11:31:10Z</dcterms:modified>
</cp:coreProperties>
</file>