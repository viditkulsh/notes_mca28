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6" r:id="rId2"/>
    <p:sldId id="257" r:id="rId3"/>
    <p:sldId id="293" r:id="rId4"/>
    <p:sldId id="260" r:id="rId5"/>
    <p:sldId id="258" r:id="rId6"/>
    <p:sldId id="294" r:id="rId7"/>
    <p:sldId id="295" r:id="rId8"/>
    <p:sldId id="296" r:id="rId9"/>
    <p:sldId id="297" r:id="rId10"/>
    <p:sldId id="298" r:id="rId11"/>
    <p:sldId id="259" r:id="rId12"/>
    <p:sldId id="261" r:id="rId13"/>
    <p:sldId id="301" r:id="rId14"/>
    <p:sldId id="302"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92" r:id="rId38"/>
    <p:sldId id="284" r:id="rId39"/>
    <p:sldId id="285" r:id="rId40"/>
    <p:sldId id="286" r:id="rId41"/>
    <p:sldId id="287" r:id="rId42"/>
    <p:sldId id="288" r:id="rId43"/>
    <p:sldId id="289" r:id="rId44"/>
    <p:sldId id="290" r:id="rId45"/>
    <p:sldId id="299" r:id="rId46"/>
    <p:sldId id="300"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26" r:id="rId63"/>
    <p:sldId id="318" r:id="rId64"/>
    <p:sldId id="319" r:id="rId65"/>
    <p:sldId id="320" r:id="rId66"/>
    <p:sldId id="321" r:id="rId67"/>
    <p:sldId id="322" r:id="rId68"/>
    <p:sldId id="323" r:id="rId69"/>
    <p:sldId id="324" r:id="rId70"/>
    <p:sldId id="325" r:id="rId71"/>
    <p:sldId id="291"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6674A-2AB7-4C55-8D06-4B6065D3BA13}"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CB9D-2294-4EE8-BEF8-90A7F38ACA41}" type="slidenum">
              <a:rPr lang="en-IN" smtClean="0"/>
              <a:t>‹#›</a:t>
            </a:fld>
            <a:endParaRPr lang="en-IN"/>
          </a:p>
        </p:txBody>
      </p:sp>
    </p:spTree>
    <p:extLst>
      <p:ext uri="{BB962C8B-B14F-4D97-AF65-F5344CB8AC3E}">
        <p14:creationId xmlns:p14="http://schemas.microsoft.com/office/powerpoint/2010/main" val="2148836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4CB9D-2294-4EE8-BEF8-90A7F38ACA41}" type="slidenum">
              <a:rPr lang="en-IN" smtClean="0"/>
              <a:t>14</a:t>
            </a:fld>
            <a:endParaRPr lang="en-IN"/>
          </a:p>
        </p:txBody>
      </p:sp>
    </p:spTree>
    <p:extLst>
      <p:ext uri="{BB962C8B-B14F-4D97-AF65-F5344CB8AC3E}">
        <p14:creationId xmlns:p14="http://schemas.microsoft.com/office/powerpoint/2010/main" val="3432737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B4CB9D-2294-4EE8-BEF8-90A7F38ACA41}" type="slidenum">
              <a:rPr lang="en-IN" smtClean="0"/>
              <a:t>66</a:t>
            </a:fld>
            <a:endParaRPr lang="en-IN"/>
          </a:p>
        </p:txBody>
      </p:sp>
    </p:spTree>
    <p:extLst>
      <p:ext uri="{BB962C8B-B14F-4D97-AF65-F5344CB8AC3E}">
        <p14:creationId xmlns:p14="http://schemas.microsoft.com/office/powerpoint/2010/main" val="501496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3999729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910090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86691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3163625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BD4D87-F55D-4EF7-80AF-6D7C2F34A581}" type="datetimeFigureOut">
              <a:rPr lang="en-IN" smtClean="0"/>
              <a:t>30-09-2026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111490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BD4D87-F55D-4EF7-80AF-6D7C2F34A581}" type="datetimeFigureOut">
              <a:rPr lang="en-IN" smtClean="0"/>
              <a:t>30-09-2026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1959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BD4D87-F55D-4EF7-80AF-6D7C2F34A581}" type="datetimeFigureOut">
              <a:rPr lang="en-IN" smtClean="0"/>
              <a:t>30-09-2026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1109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3969658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867258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302555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0645452-C15F-47E8-A901-21BC9F5C65E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4117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3724729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45452-C15F-47E8-A901-21BC9F5C65E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96749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BD4D87-F55D-4EF7-80AF-6D7C2F34A581}" type="datetimeFigureOut">
              <a:rPr lang="en-IN" smtClean="0"/>
              <a:t>30-09-2026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1956976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1632704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D4D87-F55D-4EF7-80AF-6D7C2F34A581}" type="datetimeFigureOut">
              <a:rPr lang="en-IN" smtClean="0"/>
              <a:t>30-09-2026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0645452-C15F-47E8-A901-21BC9F5C65E3}" type="slidenum">
              <a:rPr lang="en-IN" smtClean="0"/>
              <a:t>‹#›</a:t>
            </a:fld>
            <a:endParaRPr lang="en-IN"/>
          </a:p>
        </p:txBody>
      </p:sp>
    </p:spTree>
    <p:extLst>
      <p:ext uri="{BB962C8B-B14F-4D97-AF65-F5344CB8AC3E}">
        <p14:creationId xmlns:p14="http://schemas.microsoft.com/office/powerpoint/2010/main" val="2361370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3BD4D87-F55D-4EF7-80AF-6D7C2F34A581}" type="datetimeFigureOut">
              <a:rPr lang="en-IN" smtClean="0"/>
              <a:t>30-09-2026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0645452-C15F-47E8-A901-21BC9F5C65E3}" type="slidenum">
              <a:rPr lang="en-IN" smtClean="0"/>
              <a:t>‹#›</a:t>
            </a:fld>
            <a:endParaRPr lang="en-IN"/>
          </a:p>
        </p:txBody>
      </p:sp>
    </p:spTree>
    <p:extLst>
      <p:ext uri="{BB962C8B-B14F-4D97-AF65-F5344CB8AC3E}">
        <p14:creationId xmlns:p14="http://schemas.microsoft.com/office/powerpoint/2010/main" val="27183224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01DB7-D2A4-E6DA-CA95-06FC25F4BC0C}"/>
              </a:ext>
            </a:extLst>
          </p:cNvPr>
          <p:cNvSpPr>
            <a:spLocks noGrp="1"/>
          </p:cNvSpPr>
          <p:nvPr>
            <p:ph type="ctrTitle"/>
          </p:nvPr>
        </p:nvSpPr>
        <p:spPr>
          <a:xfrm>
            <a:off x="2589213" y="985606"/>
            <a:ext cx="8915399" cy="2262781"/>
          </a:xfrm>
        </p:spPr>
        <p:txBody>
          <a:bodyPr>
            <a:normAutofit fontScale="90000"/>
          </a:bodyPr>
          <a:lstStyle/>
          <a:p>
            <a:r>
              <a:rPr lang="en-IN" b="1" dirty="0"/>
              <a:t>Review of Related Literature: Need, Purpose &amp;  Planning</a:t>
            </a:r>
          </a:p>
        </p:txBody>
      </p:sp>
      <p:sp>
        <p:nvSpPr>
          <p:cNvPr id="3" name="Subtitle 2">
            <a:extLst>
              <a:ext uri="{FF2B5EF4-FFF2-40B4-BE49-F238E27FC236}">
                <a16:creationId xmlns:a16="http://schemas.microsoft.com/office/drawing/2014/main" id="{F6785F51-B4D3-B0E5-3416-FC64ED344E88}"/>
              </a:ext>
            </a:extLst>
          </p:cNvPr>
          <p:cNvSpPr>
            <a:spLocks noGrp="1"/>
          </p:cNvSpPr>
          <p:nvPr>
            <p:ph type="subTitle" idx="1"/>
          </p:nvPr>
        </p:nvSpPr>
        <p:spPr>
          <a:xfrm>
            <a:off x="2589213" y="4777379"/>
            <a:ext cx="8915399" cy="1308628"/>
          </a:xfrm>
        </p:spPr>
        <p:txBody>
          <a:bodyPr>
            <a:normAutofit/>
          </a:bodyPr>
          <a:lstStyle/>
          <a:p>
            <a:pPr algn="ctr"/>
            <a:r>
              <a:rPr lang="en-IN" sz="2000" b="1" dirty="0">
                <a:solidFill>
                  <a:schemeClr val="accent1"/>
                </a:solidFill>
              </a:rPr>
              <a:t>Presented By</a:t>
            </a:r>
          </a:p>
          <a:p>
            <a:pPr algn="ctr"/>
            <a:r>
              <a:rPr lang="en-IN" sz="2000" b="1" dirty="0">
                <a:solidFill>
                  <a:schemeClr val="accent1"/>
                </a:solidFill>
              </a:rPr>
              <a:t>Dr. Anuradha Kanade</a:t>
            </a:r>
          </a:p>
          <a:p>
            <a:endParaRPr lang="en-IN" dirty="0"/>
          </a:p>
        </p:txBody>
      </p:sp>
    </p:spTree>
    <p:extLst>
      <p:ext uri="{BB962C8B-B14F-4D97-AF65-F5344CB8AC3E}">
        <p14:creationId xmlns:p14="http://schemas.microsoft.com/office/powerpoint/2010/main" val="4185829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38CF-AB14-3C7E-5E27-AD2FC73AD4BB}"/>
              </a:ext>
            </a:extLst>
          </p:cNvPr>
          <p:cNvSpPr>
            <a:spLocks noGrp="1"/>
          </p:cNvSpPr>
          <p:nvPr>
            <p:ph type="title"/>
          </p:nvPr>
        </p:nvSpPr>
        <p:spPr/>
        <p:txBody>
          <a:bodyPr/>
          <a:lstStyle/>
          <a:p>
            <a:r>
              <a:rPr lang="en-US" altLang="en-US" sz="4400" b="1" dirty="0">
                <a:solidFill>
                  <a:schemeClr val="bg2">
                    <a:lumMod val="25000"/>
                  </a:schemeClr>
                </a:solidFill>
              </a:rPr>
              <a:t>Learning Objectives</a:t>
            </a:r>
            <a:endParaRPr lang="en-IN" dirty="0">
              <a:solidFill>
                <a:schemeClr val="bg2">
                  <a:lumMod val="25000"/>
                </a:schemeClr>
              </a:solidFill>
            </a:endParaRPr>
          </a:p>
        </p:txBody>
      </p:sp>
      <p:sp>
        <p:nvSpPr>
          <p:cNvPr id="3" name="Content Placeholder 2">
            <a:extLst>
              <a:ext uri="{FF2B5EF4-FFF2-40B4-BE49-F238E27FC236}">
                <a16:creationId xmlns:a16="http://schemas.microsoft.com/office/drawing/2014/main" id="{5D2BDBE5-5597-1253-12EE-53C4BC3D4D66}"/>
              </a:ext>
            </a:extLst>
          </p:cNvPr>
          <p:cNvSpPr>
            <a:spLocks noGrp="1"/>
          </p:cNvSpPr>
          <p:nvPr>
            <p:ph idx="1"/>
          </p:nvPr>
        </p:nvSpPr>
        <p:spPr/>
        <p:txBody>
          <a:bodyPr/>
          <a:lstStyle/>
          <a:p>
            <a:pPr marL="533400" indent="-533400" eaLnBrk="1" hangingPunct="1">
              <a:lnSpc>
                <a:spcPct val="80000"/>
              </a:lnSpc>
              <a:buFont typeface="Wingdings" panose="05000000000000000000" pitchFamily="2" charset="2"/>
              <a:buNone/>
            </a:pPr>
            <a:r>
              <a:rPr lang="en-US" altLang="en-US" sz="2000" b="1" dirty="0"/>
              <a:t>After studying this chapter, </a:t>
            </a:r>
            <a:r>
              <a:rPr lang="en-US" altLang="en-US" sz="2400" b="1" dirty="0"/>
              <a:t>you</a:t>
            </a:r>
            <a:r>
              <a:rPr lang="en-US" altLang="en-US" sz="2000" b="1" dirty="0"/>
              <a:t> should be able to understand:</a:t>
            </a:r>
          </a:p>
          <a:p>
            <a:pPr marL="533400" indent="-533400" eaLnBrk="1" hangingPunct="1">
              <a:lnSpc>
                <a:spcPct val="80000"/>
              </a:lnSpc>
              <a:buFont typeface="Wingdings" panose="05000000000000000000" pitchFamily="2" charset="2"/>
              <a:buNone/>
            </a:pPr>
            <a:endParaRPr lang="en-GB" altLang="en-US" sz="2000" b="1" dirty="0"/>
          </a:p>
          <a:p>
            <a:pPr marL="533400" indent="-533400" eaLnBrk="1" hangingPunct="1">
              <a:lnSpc>
                <a:spcPct val="80000"/>
              </a:lnSpc>
              <a:buFont typeface="Wingdings" panose="05000000000000000000" pitchFamily="2" charset="2"/>
              <a:buChar char="§"/>
            </a:pPr>
            <a:r>
              <a:rPr lang="en-GB" altLang="en-US" sz="2800" dirty="0"/>
              <a:t>What is meant by literature review?</a:t>
            </a:r>
          </a:p>
          <a:p>
            <a:pPr marL="533400" indent="-533400" eaLnBrk="1" hangingPunct="1">
              <a:lnSpc>
                <a:spcPct val="80000"/>
              </a:lnSpc>
              <a:buFont typeface="Wingdings" panose="05000000000000000000" pitchFamily="2" charset="2"/>
              <a:buChar char="§"/>
            </a:pPr>
            <a:endParaRPr lang="en-GB" altLang="en-US" sz="2800" dirty="0"/>
          </a:p>
          <a:p>
            <a:pPr marL="533400" indent="-533400" eaLnBrk="1" hangingPunct="1">
              <a:lnSpc>
                <a:spcPct val="80000"/>
              </a:lnSpc>
              <a:buFont typeface="Wingdings" panose="05000000000000000000" pitchFamily="2" charset="2"/>
              <a:buChar char="§"/>
            </a:pPr>
            <a:r>
              <a:rPr lang="en-GB" altLang="en-US" sz="2800" dirty="0"/>
              <a:t>Functions of literature review</a:t>
            </a:r>
          </a:p>
          <a:p>
            <a:pPr marL="533400" indent="-533400" eaLnBrk="1" hangingPunct="1">
              <a:lnSpc>
                <a:spcPct val="80000"/>
              </a:lnSpc>
              <a:buFont typeface="Wingdings" panose="05000000000000000000" pitchFamily="2" charset="2"/>
              <a:buChar char="§"/>
            </a:pPr>
            <a:endParaRPr lang="en-GB" altLang="en-US" sz="2800" dirty="0"/>
          </a:p>
          <a:p>
            <a:pPr marL="533400" indent="-533400" eaLnBrk="1" hangingPunct="1">
              <a:lnSpc>
                <a:spcPct val="80000"/>
              </a:lnSpc>
              <a:buFont typeface="Wingdings" panose="05000000000000000000" pitchFamily="2" charset="2"/>
              <a:buChar char="§"/>
            </a:pPr>
            <a:r>
              <a:rPr lang="en-GB" altLang="en-US" sz="2800" dirty="0"/>
              <a:t>Steps of literature review</a:t>
            </a:r>
            <a:endParaRPr lang="en-US" altLang="en-US" sz="2800" dirty="0"/>
          </a:p>
          <a:p>
            <a:pPr marL="0" indent="0">
              <a:buNone/>
            </a:pPr>
            <a:endParaRPr lang="en-IN" dirty="0"/>
          </a:p>
        </p:txBody>
      </p:sp>
    </p:spTree>
    <p:extLst>
      <p:ext uri="{BB962C8B-B14F-4D97-AF65-F5344CB8AC3E}">
        <p14:creationId xmlns:p14="http://schemas.microsoft.com/office/powerpoint/2010/main" val="218928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A92C-B491-B0A3-8B68-22C2C5525891}"/>
              </a:ext>
            </a:extLst>
          </p:cNvPr>
          <p:cNvSpPr>
            <a:spLocks noGrp="1"/>
          </p:cNvSpPr>
          <p:nvPr>
            <p:ph type="title"/>
          </p:nvPr>
        </p:nvSpPr>
        <p:spPr/>
        <p:txBody>
          <a:bodyPr>
            <a:normAutofit/>
          </a:bodyPr>
          <a:lstStyle/>
          <a:p>
            <a:r>
              <a:rPr lang="en-IN" sz="4400" b="1" dirty="0"/>
              <a:t>Meaning (Re + View)</a:t>
            </a:r>
          </a:p>
        </p:txBody>
      </p:sp>
      <p:sp>
        <p:nvSpPr>
          <p:cNvPr id="3" name="Content Placeholder 2">
            <a:extLst>
              <a:ext uri="{FF2B5EF4-FFF2-40B4-BE49-F238E27FC236}">
                <a16:creationId xmlns:a16="http://schemas.microsoft.com/office/drawing/2014/main" id="{BD1F15D2-0345-B0E0-9DCD-079E8ECC3BD7}"/>
              </a:ext>
            </a:extLst>
          </p:cNvPr>
          <p:cNvSpPr>
            <a:spLocks noGrp="1"/>
          </p:cNvSpPr>
          <p:nvPr>
            <p:ph idx="1"/>
          </p:nvPr>
        </p:nvSpPr>
        <p:spPr/>
        <p:txBody>
          <a:bodyPr>
            <a:normAutofit/>
          </a:bodyPr>
          <a:lstStyle/>
          <a:p>
            <a:r>
              <a:rPr lang="en-US" sz="2400" b="0" i="0" dirty="0">
                <a:solidFill>
                  <a:srgbClr val="202124"/>
                </a:solidFill>
                <a:effectLst/>
                <a:latin typeface="arial" panose="020B0604020202020204" pitchFamily="34" charset="0"/>
              </a:rPr>
              <a:t> </a:t>
            </a:r>
            <a:r>
              <a:rPr lang="en-US" sz="2400" b="1" i="0" dirty="0">
                <a:solidFill>
                  <a:srgbClr val="202124"/>
                </a:solidFill>
                <a:effectLst/>
                <a:latin typeface="arial" panose="020B0604020202020204" pitchFamily="34" charset="0"/>
              </a:rPr>
              <a:t>to view or see again</a:t>
            </a:r>
            <a:r>
              <a:rPr lang="en-US" sz="2400" b="0" i="0" dirty="0">
                <a:solidFill>
                  <a:srgbClr val="202124"/>
                </a:solidFill>
                <a:effectLst/>
                <a:latin typeface="arial" panose="020B0604020202020204" pitchFamily="34" charset="0"/>
              </a:rPr>
              <a:t>. </a:t>
            </a:r>
            <a:endParaRPr lang="en-US" sz="2400" dirty="0">
              <a:solidFill>
                <a:srgbClr val="202124"/>
              </a:solidFill>
              <a:latin typeface="arial" panose="020B0604020202020204" pitchFamily="34" charset="0"/>
            </a:endParaRPr>
          </a:p>
          <a:p>
            <a:r>
              <a:rPr lang="en-US" sz="2400" b="0" i="0" dirty="0">
                <a:solidFill>
                  <a:srgbClr val="202124"/>
                </a:solidFill>
                <a:effectLst/>
                <a:latin typeface="arial" panose="020B0604020202020204" pitchFamily="34" charset="0"/>
              </a:rPr>
              <a:t>to examine or study again especially </a:t>
            </a:r>
          </a:p>
          <a:p>
            <a:r>
              <a:rPr lang="en-US" sz="2400" b="0" i="0" dirty="0">
                <a:solidFill>
                  <a:srgbClr val="202124"/>
                </a:solidFill>
                <a:effectLst/>
                <a:latin typeface="arial" panose="020B0604020202020204" pitchFamily="34" charset="0"/>
              </a:rPr>
              <a:t>to reexamine judicially. </a:t>
            </a:r>
            <a:endParaRPr lang="en-US" sz="2400" dirty="0">
              <a:solidFill>
                <a:srgbClr val="202124"/>
              </a:solidFill>
              <a:latin typeface="arial" panose="020B0604020202020204" pitchFamily="34" charset="0"/>
            </a:endParaRPr>
          </a:p>
          <a:p>
            <a:r>
              <a:rPr lang="en-US" sz="2400" b="0" i="0" dirty="0">
                <a:solidFill>
                  <a:srgbClr val="202124"/>
                </a:solidFill>
                <a:effectLst/>
                <a:latin typeface="arial" panose="020B0604020202020204" pitchFamily="34" charset="0"/>
              </a:rPr>
              <a:t>to look back on : take a retrospective view of review the past. </a:t>
            </a:r>
            <a:endParaRPr lang="en-US" sz="2400" dirty="0">
              <a:solidFill>
                <a:srgbClr val="202124"/>
              </a:solidFill>
              <a:latin typeface="arial" panose="020B0604020202020204" pitchFamily="34" charset="0"/>
            </a:endParaRPr>
          </a:p>
          <a:p>
            <a:r>
              <a:rPr lang="en-US" sz="2400" b="0" i="0" dirty="0">
                <a:solidFill>
                  <a:srgbClr val="202124"/>
                </a:solidFill>
                <a:effectLst/>
                <a:latin typeface="arial" panose="020B0604020202020204" pitchFamily="34" charset="0"/>
              </a:rPr>
              <a:t>to go over or examine critically or deliberately reviewed the results of the study. </a:t>
            </a:r>
          </a:p>
          <a:p>
            <a:r>
              <a:rPr lang="en-US" sz="2400" b="0" i="0" dirty="0">
                <a:solidFill>
                  <a:srgbClr val="202124"/>
                </a:solidFill>
                <a:effectLst/>
                <a:latin typeface="arial" panose="020B0604020202020204" pitchFamily="34" charset="0"/>
              </a:rPr>
              <a:t>to give a critical evaluation</a:t>
            </a:r>
            <a:endParaRPr lang="en-IN" sz="2400" dirty="0"/>
          </a:p>
        </p:txBody>
      </p:sp>
    </p:spTree>
    <p:extLst>
      <p:ext uri="{BB962C8B-B14F-4D97-AF65-F5344CB8AC3E}">
        <p14:creationId xmlns:p14="http://schemas.microsoft.com/office/powerpoint/2010/main" val="391068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24CC-938D-3E6D-B3B7-F27D3E61F1C7}"/>
              </a:ext>
            </a:extLst>
          </p:cNvPr>
          <p:cNvSpPr>
            <a:spLocks noGrp="1"/>
          </p:cNvSpPr>
          <p:nvPr>
            <p:ph type="title"/>
          </p:nvPr>
        </p:nvSpPr>
        <p:spPr/>
        <p:txBody>
          <a:bodyPr>
            <a:normAutofit/>
          </a:bodyPr>
          <a:lstStyle/>
          <a:p>
            <a:r>
              <a:rPr lang="en-IN" sz="4400" b="1" dirty="0"/>
              <a:t>What is Literature review</a:t>
            </a:r>
          </a:p>
        </p:txBody>
      </p:sp>
      <p:sp>
        <p:nvSpPr>
          <p:cNvPr id="3" name="Content Placeholder 2">
            <a:extLst>
              <a:ext uri="{FF2B5EF4-FFF2-40B4-BE49-F238E27FC236}">
                <a16:creationId xmlns:a16="http://schemas.microsoft.com/office/drawing/2014/main" id="{37671607-0898-810F-B1BF-1992AA67D8AF}"/>
              </a:ext>
            </a:extLst>
          </p:cNvPr>
          <p:cNvSpPr>
            <a:spLocks noGrp="1"/>
          </p:cNvSpPr>
          <p:nvPr>
            <p:ph idx="1"/>
          </p:nvPr>
        </p:nvSpPr>
        <p:spPr>
          <a:xfrm>
            <a:off x="2589212" y="2133600"/>
            <a:ext cx="8915400" cy="4100290"/>
          </a:xfrm>
        </p:spPr>
        <p:txBody>
          <a:bodyPr>
            <a:noAutofit/>
          </a:bodyPr>
          <a:lstStyle/>
          <a:p>
            <a:pPr eaLnBrk="1" hangingPunct="1">
              <a:lnSpc>
                <a:spcPct val="90000"/>
              </a:lnSpc>
              <a:buFont typeface="Wingdings" panose="05000000000000000000" pitchFamily="2" charset="2"/>
              <a:buChar char="§"/>
            </a:pPr>
            <a:r>
              <a:rPr lang="en-US" altLang="en-US" sz="2400" dirty="0"/>
              <a:t>A literature review discusses published information in a particular subject area, and sometimes information in a particular subject area within a certain time period. </a:t>
            </a:r>
          </a:p>
          <a:p>
            <a:pPr eaLnBrk="1" hangingPunct="1">
              <a:lnSpc>
                <a:spcPct val="90000"/>
              </a:lnSpc>
              <a:buFont typeface="Wingdings" panose="05000000000000000000" pitchFamily="2" charset="2"/>
              <a:buChar char="§"/>
            </a:pPr>
            <a:r>
              <a:rPr lang="en-US" altLang="en-US" sz="2400" dirty="0"/>
              <a:t>A literature review can be just a simple summary of the sources, but it usually has an organizational pattern and combines both summary and synthesis. </a:t>
            </a:r>
          </a:p>
          <a:p>
            <a:pPr eaLnBrk="1" hangingPunct="1">
              <a:lnSpc>
                <a:spcPct val="80000"/>
              </a:lnSpc>
              <a:buFont typeface="Wingdings" panose="05000000000000000000" pitchFamily="2" charset="2"/>
              <a:buChar char="§"/>
            </a:pPr>
            <a:r>
              <a:rPr lang="en-US" altLang="en-US" sz="2400" dirty="0"/>
              <a:t>The format of a review of literature may vary from discipline to discipline and from assignment to assignment.</a:t>
            </a:r>
          </a:p>
          <a:p>
            <a:pPr eaLnBrk="1" hangingPunct="1">
              <a:lnSpc>
                <a:spcPct val="80000"/>
              </a:lnSpc>
              <a:buFont typeface="Wingdings" panose="05000000000000000000" pitchFamily="2" charset="2"/>
              <a:buChar char="§"/>
            </a:pPr>
            <a:r>
              <a:rPr lang="en-US" altLang="en-US" sz="2400" dirty="0"/>
              <a:t>A review may be a self-contained unit.</a:t>
            </a:r>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1688838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3BD2-8F71-3613-C596-2D086F77144F}"/>
              </a:ext>
            </a:extLst>
          </p:cNvPr>
          <p:cNvSpPr>
            <a:spLocks noGrp="1"/>
          </p:cNvSpPr>
          <p:nvPr>
            <p:ph type="title"/>
          </p:nvPr>
        </p:nvSpPr>
        <p:spPr/>
        <p:txBody>
          <a:bodyPr>
            <a:normAutofit/>
          </a:bodyPr>
          <a:lstStyle/>
          <a:p>
            <a:r>
              <a:rPr lang="en-US" altLang="en-US" sz="4400" b="1" dirty="0"/>
              <a:t>Literature Review : </a:t>
            </a:r>
            <a:r>
              <a:rPr lang="en-US" altLang="en-US" sz="4400" b="1" i="1" dirty="0"/>
              <a:t>A Process</a:t>
            </a:r>
            <a:endParaRPr lang="en-IN" sz="4400" b="1" dirty="0"/>
          </a:p>
        </p:txBody>
      </p:sp>
      <p:sp>
        <p:nvSpPr>
          <p:cNvPr id="3" name="Content Placeholder 2">
            <a:extLst>
              <a:ext uri="{FF2B5EF4-FFF2-40B4-BE49-F238E27FC236}">
                <a16:creationId xmlns:a16="http://schemas.microsoft.com/office/drawing/2014/main" id="{9F703D15-B2D2-8753-C5C3-E0E6FD1F8DF8}"/>
              </a:ext>
            </a:extLst>
          </p:cNvPr>
          <p:cNvSpPr>
            <a:spLocks noGrp="1"/>
          </p:cNvSpPr>
          <p:nvPr>
            <p:ph idx="1"/>
          </p:nvPr>
        </p:nvSpPr>
        <p:spPr>
          <a:xfrm>
            <a:off x="2589212" y="1905000"/>
            <a:ext cx="8915400" cy="4495800"/>
          </a:xfrm>
        </p:spPr>
        <p:txBody>
          <a:bodyPr>
            <a:normAutofit fontScale="85000" lnSpcReduction="10000"/>
          </a:bodyPr>
          <a:lstStyle/>
          <a:p>
            <a:pPr eaLnBrk="1" hangingPunct="1">
              <a:buFont typeface="Wingdings" panose="05000000000000000000" pitchFamily="2" charset="2"/>
              <a:buChar char="Ø"/>
            </a:pPr>
            <a:r>
              <a:rPr lang="en-US" altLang="en-US" sz="2500" dirty="0"/>
              <a:t>The literature review: A </a:t>
            </a:r>
            <a:r>
              <a:rPr lang="en-US" altLang="en-US" sz="2500" b="1" dirty="0"/>
              <a:t>synthesis</a:t>
            </a:r>
            <a:r>
              <a:rPr lang="en-US" altLang="en-US" sz="2500" dirty="0"/>
              <a:t> of studies on any given topic.</a:t>
            </a:r>
          </a:p>
          <a:p>
            <a:pPr eaLnBrk="1" hangingPunct="1">
              <a:spcBef>
                <a:spcPts val="2263"/>
              </a:spcBef>
              <a:buFont typeface="Wingdings" panose="05000000000000000000" pitchFamily="2" charset="2"/>
              <a:buChar char="Ø"/>
            </a:pPr>
            <a:r>
              <a:rPr lang="en-US" altLang="en-US" sz="2500" dirty="0"/>
              <a:t>Usually </a:t>
            </a:r>
            <a:r>
              <a:rPr lang="en-US" altLang="en-US" sz="2500" b="1" dirty="0"/>
              <a:t>precedes a full-length original study </a:t>
            </a:r>
            <a:r>
              <a:rPr lang="en-US" altLang="en-US" sz="2500" dirty="0"/>
              <a:t>as a way of introducing the general topic. </a:t>
            </a:r>
          </a:p>
          <a:p>
            <a:pPr eaLnBrk="1" hangingPunct="1">
              <a:spcBef>
                <a:spcPts val="2263"/>
              </a:spcBef>
              <a:buFont typeface="Wingdings" panose="05000000000000000000" pitchFamily="2" charset="2"/>
              <a:buChar char="Ø"/>
            </a:pPr>
            <a:r>
              <a:rPr lang="en-US" altLang="en-US" sz="2500" b="1" dirty="0"/>
              <a:t>Its purpose: </a:t>
            </a:r>
            <a:r>
              <a:rPr lang="en-US" altLang="en-US" sz="2500" dirty="0"/>
              <a:t>To help the reader understand the background to your study and see how it’s the next logical study to be conducted in this domain.</a:t>
            </a:r>
          </a:p>
          <a:p>
            <a:pPr eaLnBrk="1" hangingPunct="1">
              <a:spcBef>
                <a:spcPts val="2263"/>
              </a:spcBef>
              <a:buFont typeface="Wingdings" panose="05000000000000000000" pitchFamily="2" charset="2"/>
              <a:buChar char="Ø"/>
            </a:pPr>
            <a:r>
              <a:rPr lang="en-US" altLang="en-US" sz="2500" dirty="0"/>
              <a:t>Necessarily, a good literature review requires a </a:t>
            </a:r>
            <a:r>
              <a:rPr lang="en-US" altLang="en-US" sz="2500" b="1" dirty="0"/>
              <a:t>thoroughly</a:t>
            </a:r>
            <a:r>
              <a:rPr lang="en-US" altLang="en-US" sz="2500" dirty="0"/>
              <a:t> researched topic.</a:t>
            </a:r>
          </a:p>
          <a:p>
            <a:pPr eaLnBrk="1" hangingPunct="1">
              <a:spcBef>
                <a:spcPts val="2263"/>
              </a:spcBef>
              <a:buFont typeface="Wingdings" panose="05000000000000000000" pitchFamily="2" charset="2"/>
              <a:buChar char="Ø"/>
            </a:pPr>
            <a:r>
              <a:rPr lang="en-US" altLang="en-US" sz="2500" dirty="0"/>
              <a:t>Be prepared for a writing </a:t>
            </a:r>
            <a:r>
              <a:rPr lang="en-US" altLang="en-US" sz="2500" b="1" i="1" u="sng" dirty="0"/>
              <a:t>process</a:t>
            </a:r>
            <a:r>
              <a:rPr lang="en-US" altLang="en-US" sz="2500" b="1" i="1" dirty="0"/>
              <a:t>. </a:t>
            </a:r>
            <a:r>
              <a:rPr lang="en-US" altLang="en-US" sz="2500" i="1" dirty="0"/>
              <a:t>Do </a:t>
            </a:r>
            <a:r>
              <a:rPr lang="en-US" altLang="en-US" sz="2500" i="1" u="sng" dirty="0"/>
              <a:t>not</a:t>
            </a:r>
            <a:r>
              <a:rPr lang="en-US" altLang="en-US" sz="2500" i="1" dirty="0"/>
              <a:t> attempt to write a literature review over night. </a:t>
            </a:r>
            <a:r>
              <a:rPr lang="en-US" altLang="en-US" sz="2500" dirty="0"/>
              <a:t>This process takes weeks and months. </a:t>
            </a:r>
            <a:r>
              <a:rPr lang="en-US" altLang="en-US" sz="2500" b="1" dirty="0"/>
              <a:t>Yes, months.</a:t>
            </a:r>
          </a:p>
          <a:p>
            <a:endParaRPr lang="en-IN" dirty="0"/>
          </a:p>
        </p:txBody>
      </p:sp>
    </p:spTree>
    <p:extLst>
      <p:ext uri="{BB962C8B-B14F-4D97-AF65-F5344CB8AC3E}">
        <p14:creationId xmlns:p14="http://schemas.microsoft.com/office/powerpoint/2010/main" val="769256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217F2-D4BF-4296-F60B-72E2415CA433}"/>
              </a:ext>
            </a:extLst>
          </p:cNvPr>
          <p:cNvSpPr>
            <a:spLocks noGrp="1"/>
          </p:cNvSpPr>
          <p:nvPr>
            <p:ph type="title"/>
          </p:nvPr>
        </p:nvSpPr>
        <p:spPr/>
        <p:txBody>
          <a:bodyPr>
            <a:normAutofit/>
          </a:bodyPr>
          <a:lstStyle/>
          <a:p>
            <a:r>
              <a:rPr lang="en-IN" sz="4400" b="1" dirty="0"/>
              <a:t>TYPES OF REVIEW </a:t>
            </a:r>
          </a:p>
        </p:txBody>
      </p:sp>
      <p:sp>
        <p:nvSpPr>
          <p:cNvPr id="3" name="Content Placeholder 2">
            <a:extLst>
              <a:ext uri="{FF2B5EF4-FFF2-40B4-BE49-F238E27FC236}">
                <a16:creationId xmlns:a16="http://schemas.microsoft.com/office/drawing/2014/main" id="{279AD5BD-5FB8-C7AA-E692-3B4432097355}"/>
              </a:ext>
            </a:extLst>
          </p:cNvPr>
          <p:cNvSpPr>
            <a:spLocks noGrp="1"/>
          </p:cNvSpPr>
          <p:nvPr>
            <p:ph idx="1"/>
          </p:nvPr>
        </p:nvSpPr>
        <p:spPr/>
        <p:txBody>
          <a:bodyPr>
            <a:normAutofit/>
          </a:bodyPr>
          <a:lstStyle/>
          <a:p>
            <a:pPr marL="0" indent="0">
              <a:buNone/>
            </a:pPr>
            <a:r>
              <a:rPr lang="en-US" sz="2400" dirty="0"/>
              <a:t>The literature review can be classified and studies can be placed under following types: </a:t>
            </a:r>
          </a:p>
          <a:p>
            <a:r>
              <a:rPr lang="en-IN" sz="2400" dirty="0"/>
              <a:t>Evaluative Review</a:t>
            </a:r>
          </a:p>
          <a:p>
            <a:r>
              <a:rPr lang="en-IN" sz="2400" dirty="0"/>
              <a:t>Exploratory Review </a:t>
            </a:r>
          </a:p>
          <a:p>
            <a:r>
              <a:rPr lang="en-IN" sz="2400" dirty="0"/>
              <a:t>Instrumental Review</a:t>
            </a:r>
          </a:p>
          <a:p>
            <a:r>
              <a:rPr lang="en-IN" sz="2400" dirty="0"/>
              <a:t>Systematic Review </a:t>
            </a:r>
          </a:p>
        </p:txBody>
      </p:sp>
    </p:spTree>
    <p:extLst>
      <p:ext uri="{BB962C8B-B14F-4D97-AF65-F5344CB8AC3E}">
        <p14:creationId xmlns:p14="http://schemas.microsoft.com/office/powerpoint/2010/main" val="2420231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366C2-8AC5-A20B-EFE8-F39702B4051E}"/>
              </a:ext>
            </a:extLst>
          </p:cNvPr>
          <p:cNvSpPr>
            <a:spLocks noGrp="1"/>
          </p:cNvSpPr>
          <p:nvPr>
            <p:ph idx="1"/>
          </p:nvPr>
        </p:nvSpPr>
        <p:spPr/>
        <p:txBody>
          <a:bodyPr>
            <a:normAutofit/>
          </a:bodyPr>
          <a:lstStyle/>
          <a:p>
            <a:r>
              <a:rPr lang="en-US" sz="2400" b="1" dirty="0"/>
              <a:t>Evaluative Review </a:t>
            </a:r>
          </a:p>
          <a:p>
            <a:pPr marL="0" indent="0">
              <a:buNone/>
            </a:pPr>
            <a:r>
              <a:rPr lang="en-US" sz="2400" dirty="0"/>
              <a:t>Evaluative review focuses on the findings of the researches. The evaluative review is already reviewed and evaluated by experts. This type of review provides idea about the worth of the researchers study as it has been compared by the researchers. </a:t>
            </a:r>
            <a:endParaRPr lang="en-IN" sz="2400" dirty="0"/>
          </a:p>
        </p:txBody>
      </p:sp>
    </p:spTree>
    <p:extLst>
      <p:ext uri="{BB962C8B-B14F-4D97-AF65-F5344CB8AC3E}">
        <p14:creationId xmlns:p14="http://schemas.microsoft.com/office/powerpoint/2010/main" val="95824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1BE5B-0AAF-29AC-F969-7AE125C17744}"/>
              </a:ext>
            </a:extLst>
          </p:cNvPr>
          <p:cNvSpPr>
            <a:spLocks noGrp="1"/>
          </p:cNvSpPr>
          <p:nvPr>
            <p:ph idx="1"/>
          </p:nvPr>
        </p:nvSpPr>
        <p:spPr/>
        <p:txBody>
          <a:bodyPr>
            <a:normAutofit/>
          </a:bodyPr>
          <a:lstStyle/>
          <a:p>
            <a:r>
              <a:rPr lang="en-US" sz="2400" b="1" dirty="0"/>
              <a:t>Exploratory Review </a:t>
            </a:r>
          </a:p>
          <a:p>
            <a:pPr marL="0" indent="0">
              <a:buNone/>
            </a:pPr>
            <a:r>
              <a:rPr lang="en-US" sz="2400" dirty="0"/>
              <a:t>Exploratory review tells what are the best explored researches its outcomes and the areas still to be explored. This review provides direction to the researcher to choose the best way to study and gives idea about areas that are to be considered for the study</a:t>
            </a:r>
            <a:endParaRPr lang="en-IN" sz="2400" dirty="0"/>
          </a:p>
        </p:txBody>
      </p:sp>
    </p:spTree>
    <p:extLst>
      <p:ext uri="{BB962C8B-B14F-4D97-AF65-F5344CB8AC3E}">
        <p14:creationId xmlns:p14="http://schemas.microsoft.com/office/powerpoint/2010/main" val="2487058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C3BD38-33EF-1978-BC9F-FDD9C1C587F4}"/>
              </a:ext>
            </a:extLst>
          </p:cNvPr>
          <p:cNvSpPr>
            <a:spLocks noGrp="1"/>
          </p:cNvSpPr>
          <p:nvPr>
            <p:ph idx="1"/>
          </p:nvPr>
        </p:nvSpPr>
        <p:spPr/>
        <p:txBody>
          <a:bodyPr>
            <a:normAutofit/>
          </a:bodyPr>
          <a:lstStyle/>
          <a:p>
            <a:r>
              <a:rPr lang="en-US" sz="2400" b="1" dirty="0"/>
              <a:t>Instrumental Review </a:t>
            </a:r>
          </a:p>
          <a:p>
            <a:pPr marL="0" indent="0">
              <a:buNone/>
            </a:pPr>
            <a:r>
              <a:rPr lang="en-US" sz="2400" dirty="0"/>
              <a:t>Instrumental review does not tell about the research but tells how to conduct and proceed with the research. This research provides researcher the best way to conduct the research. </a:t>
            </a:r>
            <a:endParaRPr lang="en-IN" sz="2400" dirty="0"/>
          </a:p>
        </p:txBody>
      </p:sp>
    </p:spTree>
    <p:extLst>
      <p:ext uri="{BB962C8B-B14F-4D97-AF65-F5344CB8AC3E}">
        <p14:creationId xmlns:p14="http://schemas.microsoft.com/office/powerpoint/2010/main" val="2607385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083175-E0DB-862B-2975-96922B6EADD9}"/>
              </a:ext>
            </a:extLst>
          </p:cNvPr>
          <p:cNvSpPr>
            <a:spLocks noGrp="1"/>
          </p:cNvSpPr>
          <p:nvPr>
            <p:ph idx="1"/>
          </p:nvPr>
        </p:nvSpPr>
        <p:spPr/>
        <p:txBody>
          <a:bodyPr>
            <a:normAutofit/>
          </a:bodyPr>
          <a:lstStyle/>
          <a:p>
            <a:r>
              <a:rPr lang="en-US" sz="2400" b="1" dirty="0"/>
              <a:t>Systematic Review </a:t>
            </a:r>
          </a:p>
          <a:p>
            <a:pPr marL="0" indent="0">
              <a:buNone/>
            </a:pPr>
            <a:r>
              <a:rPr lang="en-US" sz="2400" dirty="0"/>
              <a:t>Systematic review critically analyses the researches, its procedures, methodology, analysis and the result. This type of review helps the researcher to sort the researches needed for the current study. </a:t>
            </a:r>
            <a:endParaRPr lang="en-IN" sz="2400" dirty="0"/>
          </a:p>
        </p:txBody>
      </p:sp>
    </p:spTree>
    <p:extLst>
      <p:ext uri="{BB962C8B-B14F-4D97-AF65-F5344CB8AC3E}">
        <p14:creationId xmlns:p14="http://schemas.microsoft.com/office/powerpoint/2010/main" val="2216359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8D6D70-4827-6242-0B8D-F1EADCCD1177}"/>
              </a:ext>
            </a:extLst>
          </p:cNvPr>
          <p:cNvSpPr>
            <a:spLocks noGrp="1"/>
          </p:cNvSpPr>
          <p:nvPr>
            <p:ph idx="1"/>
          </p:nvPr>
        </p:nvSpPr>
        <p:spPr>
          <a:xfrm>
            <a:off x="2589212" y="1444054"/>
            <a:ext cx="8915400" cy="3777622"/>
          </a:xfrm>
        </p:spPr>
        <p:txBody>
          <a:bodyPr>
            <a:noAutofit/>
          </a:bodyPr>
          <a:lstStyle/>
          <a:p>
            <a:pPr algn="just"/>
            <a:r>
              <a:rPr lang="en-US" altLang="en-US" sz="2400" dirty="0"/>
              <a:t>The purpose of a literature review is for you to take a critical look at the literature (facts and views) that already exists in the area you are researching. </a:t>
            </a:r>
          </a:p>
          <a:p>
            <a:pPr algn="just"/>
            <a:r>
              <a:rPr lang="en-US" altLang="en-US" sz="2400" dirty="0"/>
              <a:t>Literature can include books, journal articles, internet (electronic journals), newspapers, magazines, theses and dissertations, conference proceedings, reports, and documentaries.</a:t>
            </a:r>
          </a:p>
          <a:p>
            <a:pPr algn="just"/>
            <a:r>
              <a:rPr lang="en-US" altLang="en-US" sz="2400" dirty="0"/>
              <a:t>Literature reviews are written occasionally in the humanities, but mostly in the sciences and social sciences; in experiment and lab reports, they constitute a section of the paper. </a:t>
            </a:r>
          </a:p>
          <a:p>
            <a:pPr algn="just"/>
            <a:r>
              <a:rPr lang="en-US" altLang="en-US" sz="2400" dirty="0"/>
              <a:t>Sometimes a literature review is written as a paper in itself. </a:t>
            </a:r>
          </a:p>
          <a:p>
            <a:pPr algn="just"/>
            <a:endParaRPr lang="en-IN" sz="2400" dirty="0"/>
          </a:p>
        </p:txBody>
      </p:sp>
      <p:sp>
        <p:nvSpPr>
          <p:cNvPr id="4" name="Rectangle 2">
            <a:extLst>
              <a:ext uri="{FF2B5EF4-FFF2-40B4-BE49-F238E27FC236}">
                <a16:creationId xmlns:a16="http://schemas.microsoft.com/office/drawing/2014/main" id="{61F8C2F1-EAF6-437F-A14F-D807DEC803F1}"/>
              </a:ext>
            </a:extLst>
          </p:cNvPr>
          <p:cNvSpPr>
            <a:spLocks noGrp="1" noChangeArrowheads="1"/>
          </p:cNvSpPr>
          <p:nvPr>
            <p:ph type="title"/>
          </p:nvPr>
        </p:nvSpPr>
        <p:spPr>
          <a:xfrm>
            <a:off x="2592388" y="623888"/>
            <a:ext cx="8912225" cy="1281112"/>
          </a:xfrm>
        </p:spPr>
        <p:txBody>
          <a:bodyPr>
            <a:normAutofit/>
          </a:bodyPr>
          <a:lstStyle/>
          <a:p>
            <a:pPr algn="ctr" eaLnBrk="1" hangingPunct="1"/>
            <a:r>
              <a:rPr lang="en-US" altLang="en-US" sz="4400" b="1" dirty="0"/>
              <a:t>Why write Literature Review?</a:t>
            </a:r>
          </a:p>
        </p:txBody>
      </p:sp>
    </p:spTree>
    <p:extLst>
      <p:ext uri="{BB962C8B-B14F-4D97-AF65-F5344CB8AC3E}">
        <p14:creationId xmlns:p14="http://schemas.microsoft.com/office/powerpoint/2010/main" val="364930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0120D-406B-6D3D-F885-D64C7787C5E9}"/>
              </a:ext>
            </a:extLst>
          </p:cNvPr>
          <p:cNvSpPr>
            <a:spLocks noGrp="1"/>
          </p:cNvSpPr>
          <p:nvPr>
            <p:ph idx="1"/>
          </p:nvPr>
        </p:nvSpPr>
        <p:spPr>
          <a:xfrm>
            <a:off x="2589212" y="1279163"/>
            <a:ext cx="8915400" cy="3777622"/>
          </a:xfrm>
        </p:spPr>
        <p:txBody>
          <a:bodyPr>
            <a:noAutofit/>
          </a:bodyPr>
          <a:lstStyle/>
          <a:p>
            <a:pPr algn="just"/>
            <a:r>
              <a:rPr lang="en-US" altLang="en-US" sz="2400" dirty="0"/>
              <a:t>In the context of a research paper on a thesis, the literature review provides a background to the study being proposed. </a:t>
            </a:r>
          </a:p>
          <a:p>
            <a:pPr algn="just"/>
            <a:r>
              <a:rPr lang="en-US" altLang="en-US" sz="2400" dirty="0"/>
              <a:t>The background may consider one or more of the following aspects depending on the research question being posed: </a:t>
            </a:r>
          </a:p>
          <a:p>
            <a:pPr lvl="1" algn="just" eaLnBrk="1" hangingPunct="1">
              <a:lnSpc>
                <a:spcPct val="90000"/>
              </a:lnSpc>
              <a:buFont typeface="Arial" panose="020B0604020202020204" pitchFamily="34" charset="0"/>
              <a:buChar char="•"/>
            </a:pPr>
            <a:r>
              <a:rPr lang="en-US" altLang="en-US" sz="2400" dirty="0"/>
              <a:t>Theoretical background – past, present or future </a:t>
            </a:r>
          </a:p>
          <a:p>
            <a:pPr lvl="1" algn="just" eaLnBrk="1" hangingPunct="1">
              <a:lnSpc>
                <a:spcPct val="90000"/>
              </a:lnSpc>
              <a:buFont typeface="Arial" panose="020B0604020202020204" pitchFamily="34" charset="0"/>
              <a:buChar char="•"/>
            </a:pPr>
            <a:r>
              <a:rPr lang="en-US" altLang="en-US" sz="2400" dirty="0"/>
              <a:t>Clinical practice – previous or contemporary </a:t>
            </a:r>
          </a:p>
          <a:p>
            <a:pPr lvl="1" algn="just" eaLnBrk="1" hangingPunct="1">
              <a:lnSpc>
                <a:spcPct val="90000"/>
              </a:lnSpc>
              <a:buFont typeface="Arial" panose="020B0604020202020204" pitchFamily="34" charset="0"/>
              <a:buChar char="•"/>
            </a:pPr>
            <a:r>
              <a:rPr lang="en-US" altLang="en-US" sz="2400" dirty="0"/>
              <a:t>Methodology and/or research methods </a:t>
            </a:r>
          </a:p>
          <a:p>
            <a:pPr lvl="1" algn="just" eaLnBrk="1" hangingPunct="1">
              <a:lnSpc>
                <a:spcPct val="90000"/>
              </a:lnSpc>
              <a:buFont typeface="Arial" panose="020B0604020202020204" pitchFamily="34" charset="0"/>
              <a:buChar char="•"/>
            </a:pPr>
            <a:r>
              <a:rPr lang="en-US" altLang="en-US" sz="2400" dirty="0"/>
              <a:t>Previous findings </a:t>
            </a:r>
          </a:p>
          <a:p>
            <a:pPr lvl="1" algn="just" eaLnBrk="1" hangingPunct="1">
              <a:lnSpc>
                <a:spcPct val="90000"/>
              </a:lnSpc>
              <a:buFont typeface="Arial" panose="020B0604020202020204" pitchFamily="34" charset="0"/>
              <a:buChar char="•"/>
            </a:pPr>
            <a:r>
              <a:rPr lang="en-US" altLang="en-US" sz="2400" dirty="0"/>
              <a:t>Rationale and/or relevance of the current study </a:t>
            </a:r>
          </a:p>
          <a:p>
            <a:pPr algn="just"/>
            <a:endParaRPr lang="en-IN" sz="2400" dirty="0"/>
          </a:p>
        </p:txBody>
      </p:sp>
    </p:spTree>
    <p:extLst>
      <p:ext uri="{BB962C8B-B14F-4D97-AF65-F5344CB8AC3E}">
        <p14:creationId xmlns:p14="http://schemas.microsoft.com/office/powerpoint/2010/main" val="262119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42A62B-A7FA-451E-642C-DF70CC6B3DC0}"/>
              </a:ext>
            </a:extLst>
          </p:cNvPr>
          <p:cNvSpPr>
            <a:spLocks noGrp="1"/>
          </p:cNvSpPr>
          <p:nvPr>
            <p:ph idx="1"/>
          </p:nvPr>
        </p:nvSpPr>
        <p:spPr>
          <a:xfrm>
            <a:off x="2589212" y="881576"/>
            <a:ext cx="8915400" cy="4984652"/>
          </a:xfrm>
        </p:spPr>
        <p:txBody>
          <a:bodyPr>
            <a:noAutofit/>
          </a:bodyPr>
          <a:lstStyle/>
          <a:p>
            <a:r>
              <a:rPr lang="en-US" sz="2400" dirty="0"/>
              <a:t>Bring clarity and focus to your research problem </a:t>
            </a:r>
          </a:p>
          <a:p>
            <a:r>
              <a:rPr lang="en-US" sz="2400" dirty="0"/>
              <a:t>Improves methodology </a:t>
            </a:r>
          </a:p>
          <a:p>
            <a:r>
              <a:rPr lang="en-US" sz="2400" dirty="0"/>
              <a:t>Broaden your knowledge base in your research area </a:t>
            </a:r>
          </a:p>
          <a:p>
            <a:r>
              <a:rPr lang="en-US" sz="2400" dirty="0"/>
              <a:t>Contextualize your findings </a:t>
            </a:r>
          </a:p>
          <a:p>
            <a:r>
              <a:rPr lang="en-US" sz="2400" dirty="0"/>
              <a:t>The problem identified by you has already been researched. </a:t>
            </a:r>
          </a:p>
          <a:p>
            <a:r>
              <a:rPr lang="en-US" sz="2400" dirty="0"/>
              <a:t>Will help in forming research questions. </a:t>
            </a:r>
          </a:p>
          <a:p>
            <a:r>
              <a:rPr lang="en-US" sz="2400" dirty="0"/>
              <a:t>Will get an idea of how to proceed with design of the study. </a:t>
            </a:r>
          </a:p>
          <a:p>
            <a:r>
              <a:rPr lang="en-US" sz="2400" dirty="0"/>
              <a:t>Can identify appropriate data collection instruments. </a:t>
            </a:r>
            <a:endParaRPr lang="en-IN" sz="2400" dirty="0"/>
          </a:p>
        </p:txBody>
      </p:sp>
    </p:spTree>
    <p:extLst>
      <p:ext uri="{BB962C8B-B14F-4D97-AF65-F5344CB8AC3E}">
        <p14:creationId xmlns:p14="http://schemas.microsoft.com/office/powerpoint/2010/main" val="152617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272DFB-6D1C-61B0-212F-03D98D7C9D68}"/>
              </a:ext>
            </a:extLst>
          </p:cNvPr>
          <p:cNvSpPr>
            <a:spLocks noGrp="1"/>
          </p:cNvSpPr>
          <p:nvPr>
            <p:ph idx="1"/>
          </p:nvPr>
        </p:nvSpPr>
        <p:spPr/>
        <p:txBody>
          <a:bodyPr>
            <a:normAutofit/>
          </a:bodyPr>
          <a:lstStyle/>
          <a:p>
            <a:r>
              <a:rPr lang="en-US" sz="2400" dirty="0"/>
              <a:t>shows changes in a particular field over time, from early research to the most recent developments </a:t>
            </a:r>
          </a:p>
          <a:p>
            <a:r>
              <a:rPr lang="en-US" sz="2400" dirty="0"/>
              <a:t>clarifies areas of controversy and consensus among scholars, as well as dominant views within the field </a:t>
            </a:r>
          </a:p>
          <a:p>
            <a:r>
              <a:rPr lang="en-US" sz="2400" dirty="0"/>
              <a:t>identifies research gaps and justifies your research by indicating the contribution it will make to the field </a:t>
            </a:r>
            <a:endParaRPr lang="en-IN" sz="2400" dirty="0"/>
          </a:p>
        </p:txBody>
      </p:sp>
    </p:spTree>
    <p:extLst>
      <p:ext uri="{BB962C8B-B14F-4D97-AF65-F5344CB8AC3E}">
        <p14:creationId xmlns:p14="http://schemas.microsoft.com/office/powerpoint/2010/main" val="2079606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89C1E-B523-8CB7-8AE8-CD2F8FC9CBD4}"/>
              </a:ext>
            </a:extLst>
          </p:cNvPr>
          <p:cNvSpPr>
            <a:spLocks noGrp="1"/>
          </p:cNvSpPr>
          <p:nvPr>
            <p:ph type="title"/>
          </p:nvPr>
        </p:nvSpPr>
        <p:spPr>
          <a:xfrm>
            <a:off x="2592925" y="474210"/>
            <a:ext cx="8911687" cy="1280890"/>
          </a:xfrm>
        </p:spPr>
        <p:txBody>
          <a:bodyPr>
            <a:noAutofit/>
          </a:bodyPr>
          <a:lstStyle/>
          <a:p>
            <a:r>
              <a:rPr lang="en-US" altLang="en-US" sz="4400" b="1" dirty="0"/>
              <a:t>What should I do before </a:t>
            </a:r>
            <a:br>
              <a:rPr lang="en-US" altLang="en-US" sz="4400" b="1" dirty="0"/>
            </a:br>
            <a:r>
              <a:rPr lang="en-US" altLang="en-US" sz="4400" b="1" dirty="0"/>
              <a:t>writing the literature review? </a:t>
            </a:r>
            <a:endParaRPr lang="en-IN" sz="4400" b="1" dirty="0"/>
          </a:p>
        </p:txBody>
      </p:sp>
      <p:sp>
        <p:nvSpPr>
          <p:cNvPr id="3" name="Content Placeholder 2">
            <a:extLst>
              <a:ext uri="{FF2B5EF4-FFF2-40B4-BE49-F238E27FC236}">
                <a16:creationId xmlns:a16="http://schemas.microsoft.com/office/drawing/2014/main" id="{C3F92853-361A-92CE-A382-873F4E2361C3}"/>
              </a:ext>
            </a:extLst>
          </p:cNvPr>
          <p:cNvSpPr>
            <a:spLocks noGrp="1"/>
          </p:cNvSpPr>
          <p:nvPr>
            <p:ph idx="1"/>
          </p:nvPr>
        </p:nvSpPr>
        <p:spPr/>
        <p:txBody>
          <a:bodyPr>
            <a:noAutofit/>
          </a:bodyPr>
          <a:lstStyle/>
          <a:p>
            <a:r>
              <a:rPr lang="en-US" altLang="en-US" sz="2400" b="1" dirty="0"/>
              <a:t>Clarify</a:t>
            </a:r>
          </a:p>
          <a:p>
            <a:pPr lvl="1" eaLnBrk="1" hangingPunct="1">
              <a:lnSpc>
                <a:spcPct val="80000"/>
              </a:lnSpc>
              <a:buFont typeface="Wingdings" panose="05000000000000000000" pitchFamily="2" charset="2"/>
              <a:buChar char="§"/>
            </a:pPr>
            <a:r>
              <a:rPr lang="en-US" altLang="en-US" sz="2400" dirty="0"/>
              <a:t>If your assignment is not very specific, seek clarification from your supervisor/lecturer:</a:t>
            </a:r>
          </a:p>
          <a:p>
            <a:pPr lvl="1" eaLnBrk="1" hangingPunct="1">
              <a:lnSpc>
                <a:spcPct val="80000"/>
              </a:lnSpc>
              <a:buFont typeface="Wingdings" panose="05000000000000000000" pitchFamily="2" charset="2"/>
              <a:buChar char="§"/>
            </a:pPr>
            <a:r>
              <a:rPr lang="en-US" altLang="en-US" sz="2400" dirty="0"/>
              <a:t>Roughly how many sources should you include? </a:t>
            </a:r>
          </a:p>
          <a:p>
            <a:pPr lvl="1" eaLnBrk="1" hangingPunct="1">
              <a:lnSpc>
                <a:spcPct val="80000"/>
              </a:lnSpc>
              <a:buFont typeface="Wingdings" panose="05000000000000000000" pitchFamily="2" charset="2"/>
              <a:buChar char="§"/>
            </a:pPr>
            <a:r>
              <a:rPr lang="en-US" altLang="en-US" sz="2400" dirty="0"/>
              <a:t>What types of sources (books, journal articles, websites)? </a:t>
            </a:r>
          </a:p>
          <a:p>
            <a:pPr lvl="1" eaLnBrk="1" hangingPunct="1">
              <a:lnSpc>
                <a:spcPct val="80000"/>
              </a:lnSpc>
              <a:buFont typeface="Wingdings" panose="05000000000000000000" pitchFamily="2" charset="2"/>
              <a:buChar char="§"/>
            </a:pPr>
            <a:r>
              <a:rPr lang="en-US" altLang="en-US" sz="2400" dirty="0"/>
              <a:t>Should you summarize, synthesize, or critique your sources by discussing a common theme or issue? </a:t>
            </a:r>
          </a:p>
          <a:p>
            <a:pPr lvl="1" eaLnBrk="1" hangingPunct="1">
              <a:lnSpc>
                <a:spcPct val="80000"/>
              </a:lnSpc>
              <a:buFont typeface="Wingdings" panose="05000000000000000000" pitchFamily="2" charset="2"/>
              <a:buChar char="§"/>
            </a:pPr>
            <a:r>
              <a:rPr lang="en-US" altLang="en-US" sz="2400" dirty="0"/>
              <a:t>Should you evaluate your sources? </a:t>
            </a:r>
          </a:p>
          <a:p>
            <a:pPr lvl="1" eaLnBrk="1" hangingPunct="1">
              <a:lnSpc>
                <a:spcPct val="80000"/>
              </a:lnSpc>
              <a:buFont typeface="Wingdings" panose="05000000000000000000" pitchFamily="2" charset="2"/>
              <a:buChar char="§"/>
            </a:pPr>
            <a:r>
              <a:rPr lang="en-US" altLang="en-US" sz="2400" dirty="0"/>
              <a:t>Should you provide subheadings and other background information, such as definitions and/or a history? </a:t>
            </a:r>
          </a:p>
          <a:p>
            <a:endParaRPr lang="en-IN" sz="2400" dirty="0"/>
          </a:p>
        </p:txBody>
      </p:sp>
    </p:spTree>
    <p:extLst>
      <p:ext uri="{BB962C8B-B14F-4D97-AF65-F5344CB8AC3E}">
        <p14:creationId xmlns:p14="http://schemas.microsoft.com/office/powerpoint/2010/main" val="2018690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67F5E-556B-22C3-CB59-2C5CF143B66C}"/>
              </a:ext>
            </a:extLst>
          </p:cNvPr>
          <p:cNvSpPr>
            <a:spLocks noGrp="1"/>
          </p:cNvSpPr>
          <p:nvPr>
            <p:ph idx="1"/>
          </p:nvPr>
        </p:nvSpPr>
        <p:spPr>
          <a:xfrm>
            <a:off x="2589212" y="859436"/>
            <a:ext cx="8915400" cy="3777622"/>
          </a:xfrm>
        </p:spPr>
        <p:txBody>
          <a:bodyPr>
            <a:noAutofit/>
          </a:bodyPr>
          <a:lstStyle/>
          <a:p>
            <a:pPr algn="just"/>
            <a:r>
              <a:rPr lang="en-US" altLang="en-US" sz="2400" b="1" dirty="0"/>
              <a:t>Find models</a:t>
            </a:r>
          </a:p>
          <a:p>
            <a:pPr lvl="1" algn="just">
              <a:buFont typeface="Wingdings" panose="05000000000000000000" pitchFamily="2" charset="2"/>
              <a:buChar char="§"/>
            </a:pPr>
            <a:r>
              <a:rPr lang="en-US" altLang="en-US" sz="2400" dirty="0"/>
              <a:t>Look for other literature reviews in your area of interest or in the discipline and read them to get a sense of the types of themes you might want to look for in your own research or ways to organize your final review. You can simply put the word "review" in your search engine along with your other topic terms to find articles of this type on the Internet or in an electronic database. The bibliography or reference section of sources you've already read are also excellent entry points into your own research.</a:t>
            </a:r>
          </a:p>
          <a:p>
            <a:pPr algn="just"/>
            <a:endParaRPr lang="en-IN" sz="2400" dirty="0"/>
          </a:p>
        </p:txBody>
      </p:sp>
    </p:spTree>
    <p:extLst>
      <p:ext uri="{BB962C8B-B14F-4D97-AF65-F5344CB8AC3E}">
        <p14:creationId xmlns:p14="http://schemas.microsoft.com/office/powerpoint/2010/main" val="547960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6F162F-C27E-AB59-382A-63CC252F4EFC}"/>
              </a:ext>
            </a:extLst>
          </p:cNvPr>
          <p:cNvSpPr>
            <a:spLocks noGrp="1"/>
          </p:cNvSpPr>
          <p:nvPr>
            <p:ph idx="1"/>
          </p:nvPr>
        </p:nvSpPr>
        <p:spPr/>
        <p:txBody>
          <a:bodyPr>
            <a:normAutofit/>
          </a:bodyPr>
          <a:lstStyle/>
          <a:p>
            <a:r>
              <a:rPr lang="en-US" altLang="en-US" sz="2400" b="1" dirty="0"/>
              <a:t>Narrow your topic</a:t>
            </a:r>
          </a:p>
          <a:p>
            <a:pPr lvl="1" eaLnBrk="1" hangingPunct="1">
              <a:lnSpc>
                <a:spcPct val="90000"/>
              </a:lnSpc>
              <a:buFont typeface="Wingdings" panose="05000000000000000000" pitchFamily="2" charset="2"/>
              <a:buChar char="§"/>
            </a:pPr>
            <a:r>
              <a:rPr lang="en-US" altLang="en-US" sz="2400" dirty="0"/>
              <a:t>There are hundreds or even thousands of articles and books on most areas of study. The narrower your topic, the easier it will be to limit the number of sources you need to read in order to get a good survey of the material. Your instructor will probably not expect you to read everything that's out there on the topic, but you'll make your job easier if you first limit your scope. </a:t>
            </a:r>
          </a:p>
          <a:p>
            <a:endParaRPr lang="en-IN" sz="2400" dirty="0"/>
          </a:p>
        </p:txBody>
      </p:sp>
    </p:spTree>
    <p:extLst>
      <p:ext uri="{BB962C8B-B14F-4D97-AF65-F5344CB8AC3E}">
        <p14:creationId xmlns:p14="http://schemas.microsoft.com/office/powerpoint/2010/main" val="706182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F14C92-45AA-BC03-9D08-460290688AA7}"/>
              </a:ext>
            </a:extLst>
          </p:cNvPr>
          <p:cNvSpPr>
            <a:spLocks noGrp="1"/>
          </p:cNvSpPr>
          <p:nvPr>
            <p:ph idx="1"/>
          </p:nvPr>
        </p:nvSpPr>
        <p:spPr/>
        <p:txBody>
          <a:bodyPr>
            <a:normAutofit/>
          </a:bodyPr>
          <a:lstStyle/>
          <a:p>
            <a:r>
              <a:rPr lang="en-US" altLang="en-US" sz="2400" b="1" dirty="0"/>
              <a:t>Consider whether your sources are current</a:t>
            </a:r>
          </a:p>
          <a:p>
            <a:pPr lvl="1" eaLnBrk="1" hangingPunct="1">
              <a:buFont typeface="Wingdings" panose="05000000000000000000" pitchFamily="2" charset="2"/>
              <a:buChar char="§"/>
            </a:pPr>
            <a:r>
              <a:rPr lang="en-US" altLang="en-US" sz="2400" dirty="0"/>
              <a:t>Some disciplines require that you use information that is as current as possible. In the sciences, for instance, treatments for medical problems are constantly changing according to the latest studies. Information even two years old could be obsolete. </a:t>
            </a:r>
          </a:p>
          <a:p>
            <a:endParaRPr lang="en-IN" sz="2400" dirty="0"/>
          </a:p>
        </p:txBody>
      </p:sp>
    </p:spTree>
    <p:extLst>
      <p:ext uri="{BB962C8B-B14F-4D97-AF65-F5344CB8AC3E}">
        <p14:creationId xmlns:p14="http://schemas.microsoft.com/office/powerpoint/2010/main" val="1347564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2A7980-8059-7532-D37C-5F6F94362144}"/>
              </a:ext>
            </a:extLst>
          </p:cNvPr>
          <p:cNvSpPr>
            <a:spLocks noGrp="1"/>
          </p:cNvSpPr>
          <p:nvPr>
            <p:ph idx="1"/>
          </p:nvPr>
        </p:nvSpPr>
        <p:spPr>
          <a:xfrm>
            <a:off x="2589212" y="859438"/>
            <a:ext cx="8915400" cy="3777622"/>
          </a:xfrm>
        </p:spPr>
        <p:txBody>
          <a:bodyPr>
            <a:noAutofit/>
          </a:bodyPr>
          <a:lstStyle/>
          <a:p>
            <a:pPr marL="0" indent="0">
              <a:buNone/>
            </a:pPr>
            <a:endParaRPr lang="en-IN" sz="2400" dirty="0"/>
          </a:p>
          <a:p>
            <a:pPr lvl="1" eaLnBrk="1" hangingPunct="1">
              <a:buFont typeface="Wingdings" panose="05000000000000000000" pitchFamily="2" charset="2"/>
              <a:buChar char="§"/>
            </a:pPr>
            <a:r>
              <a:rPr lang="en-US" altLang="en-US" sz="2400" dirty="0"/>
              <a:t>However, if you are writing a review in the humanities, history, or social sciences, a survey of the history of the literature may be what is needed, because what is important is how perspectives have changed through the years or within a certain time period. </a:t>
            </a:r>
          </a:p>
          <a:p>
            <a:pPr lvl="1" eaLnBrk="1" hangingPunct="1">
              <a:buFont typeface="Wingdings" panose="05000000000000000000" pitchFamily="2" charset="2"/>
              <a:buChar char="§"/>
            </a:pPr>
            <a:r>
              <a:rPr lang="en-US" altLang="en-US" sz="2400" dirty="0"/>
              <a:t>Try sorting through some other current bibliographies or literature reviews in the field to get a sense of what your discipline expects. </a:t>
            </a:r>
          </a:p>
          <a:p>
            <a:pPr lvl="1" eaLnBrk="1" hangingPunct="1">
              <a:buFont typeface="Wingdings" panose="05000000000000000000" pitchFamily="2" charset="2"/>
              <a:buChar char="§"/>
            </a:pPr>
            <a:r>
              <a:rPr lang="en-US" altLang="en-US" sz="2400" dirty="0"/>
              <a:t>You can also use this method to consider what is "hot" and what is not. </a:t>
            </a:r>
          </a:p>
          <a:p>
            <a:endParaRPr lang="en-IN" sz="2400" dirty="0"/>
          </a:p>
        </p:txBody>
      </p:sp>
    </p:spTree>
    <p:extLst>
      <p:ext uri="{BB962C8B-B14F-4D97-AF65-F5344CB8AC3E}">
        <p14:creationId xmlns:p14="http://schemas.microsoft.com/office/powerpoint/2010/main" val="709563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4FC57-A6FE-4C40-189A-9513BAC01989}"/>
              </a:ext>
            </a:extLst>
          </p:cNvPr>
          <p:cNvSpPr>
            <a:spLocks noGrp="1"/>
          </p:cNvSpPr>
          <p:nvPr>
            <p:ph idx="1"/>
          </p:nvPr>
        </p:nvSpPr>
        <p:spPr/>
        <p:txBody>
          <a:bodyPr>
            <a:normAutofit/>
          </a:bodyPr>
          <a:lstStyle/>
          <a:p>
            <a:pPr algn="just"/>
            <a:r>
              <a:rPr lang="en-US" altLang="en-US" sz="2400" b="1" dirty="0"/>
              <a:t>Find a focus</a:t>
            </a:r>
          </a:p>
          <a:p>
            <a:pPr lvl="1" algn="just" eaLnBrk="1" hangingPunct="1">
              <a:buFont typeface="Wingdings" panose="05000000000000000000" pitchFamily="2" charset="2"/>
              <a:buChar char="§"/>
            </a:pPr>
            <a:r>
              <a:rPr lang="en-US" altLang="en-US" sz="2400" dirty="0"/>
              <a:t>A literature review, like a term paper, is usually organized around ideas, not the sources themselves as an annotated bibliography would be organized. This means that you will not just simply list your sources and go into detail about each one of them, one at a time. </a:t>
            </a:r>
          </a:p>
          <a:p>
            <a:pPr marL="457200" lvl="1" indent="0" algn="just" eaLnBrk="1" hangingPunct="1">
              <a:buNone/>
            </a:pPr>
            <a:endParaRPr lang="en-US" altLang="en-US" sz="2400" dirty="0"/>
          </a:p>
          <a:p>
            <a:pPr algn="just"/>
            <a:endParaRPr lang="en-IN" sz="2400" dirty="0"/>
          </a:p>
        </p:txBody>
      </p:sp>
    </p:spTree>
    <p:extLst>
      <p:ext uri="{BB962C8B-B14F-4D97-AF65-F5344CB8AC3E}">
        <p14:creationId xmlns:p14="http://schemas.microsoft.com/office/powerpoint/2010/main" val="3051607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F5D06-748D-A1E7-AD2F-DE8CDC5D3D1E}"/>
              </a:ext>
            </a:extLst>
          </p:cNvPr>
          <p:cNvSpPr>
            <a:spLocks noGrp="1"/>
          </p:cNvSpPr>
          <p:nvPr>
            <p:ph idx="1"/>
          </p:nvPr>
        </p:nvSpPr>
        <p:spPr>
          <a:xfrm>
            <a:off x="2589212" y="919399"/>
            <a:ext cx="8915400" cy="3777622"/>
          </a:xfrm>
        </p:spPr>
        <p:txBody>
          <a:bodyPr>
            <a:noAutofit/>
          </a:bodyPr>
          <a:lstStyle/>
          <a:p>
            <a:pPr>
              <a:buFont typeface="Wingdings" panose="05000000000000000000" pitchFamily="2" charset="2"/>
              <a:buChar char="§"/>
            </a:pPr>
            <a:endParaRPr lang="en-IN" sz="2400" dirty="0"/>
          </a:p>
          <a:p>
            <a:pPr lvl="1" eaLnBrk="1" hangingPunct="1">
              <a:lnSpc>
                <a:spcPct val="90000"/>
              </a:lnSpc>
              <a:buFont typeface="Wingdings" panose="05000000000000000000" pitchFamily="2" charset="2"/>
              <a:buChar char="§"/>
            </a:pPr>
            <a:r>
              <a:rPr lang="en-US" altLang="en-US" sz="2400" dirty="0"/>
              <a:t>As you read widely but selectively in your topic area, consider instead what themes or issues connect your sources together. </a:t>
            </a:r>
          </a:p>
          <a:p>
            <a:pPr lvl="1" eaLnBrk="1" hangingPunct="1">
              <a:lnSpc>
                <a:spcPct val="90000"/>
              </a:lnSpc>
              <a:buFont typeface="Wingdings" panose="05000000000000000000" pitchFamily="2" charset="2"/>
              <a:buChar char="§"/>
            </a:pPr>
            <a:r>
              <a:rPr lang="en-US" altLang="en-US" sz="2400" dirty="0"/>
              <a:t>Do they present one or different solutions? </a:t>
            </a:r>
          </a:p>
          <a:p>
            <a:pPr lvl="1" eaLnBrk="1" hangingPunct="1">
              <a:lnSpc>
                <a:spcPct val="90000"/>
              </a:lnSpc>
              <a:buFont typeface="Wingdings" panose="05000000000000000000" pitchFamily="2" charset="2"/>
              <a:buChar char="§"/>
            </a:pPr>
            <a:r>
              <a:rPr lang="en-US" altLang="en-US" sz="2400" dirty="0"/>
              <a:t>Is there an aspect of the field that is missing? </a:t>
            </a:r>
          </a:p>
          <a:p>
            <a:pPr lvl="1" eaLnBrk="1" hangingPunct="1">
              <a:lnSpc>
                <a:spcPct val="90000"/>
              </a:lnSpc>
              <a:buFont typeface="Wingdings" panose="05000000000000000000" pitchFamily="2" charset="2"/>
              <a:buChar char="§"/>
            </a:pPr>
            <a:r>
              <a:rPr lang="en-US" altLang="en-US" sz="2400" dirty="0"/>
              <a:t>How well do they present the material and do they portray it according to an appropriate theory? </a:t>
            </a:r>
          </a:p>
          <a:p>
            <a:pPr lvl="1" eaLnBrk="1" hangingPunct="1">
              <a:lnSpc>
                <a:spcPct val="90000"/>
              </a:lnSpc>
              <a:buFont typeface="Wingdings" panose="05000000000000000000" pitchFamily="2" charset="2"/>
              <a:buChar char="§"/>
            </a:pPr>
            <a:r>
              <a:rPr lang="en-US" altLang="en-US" sz="2400" dirty="0"/>
              <a:t>Do they reveal a trend in the field? </a:t>
            </a:r>
          </a:p>
          <a:p>
            <a:pPr lvl="1" eaLnBrk="1" hangingPunct="1">
              <a:lnSpc>
                <a:spcPct val="90000"/>
              </a:lnSpc>
              <a:buFont typeface="Wingdings" panose="05000000000000000000" pitchFamily="2" charset="2"/>
              <a:buChar char="§"/>
            </a:pPr>
            <a:r>
              <a:rPr lang="en-US" altLang="en-US" sz="2400" dirty="0"/>
              <a:t>A raging debate? </a:t>
            </a:r>
          </a:p>
          <a:p>
            <a:pPr lvl="1" eaLnBrk="1" hangingPunct="1">
              <a:lnSpc>
                <a:spcPct val="90000"/>
              </a:lnSpc>
              <a:buFont typeface="Wingdings" panose="05000000000000000000" pitchFamily="2" charset="2"/>
              <a:buChar char="§"/>
            </a:pPr>
            <a:r>
              <a:rPr lang="en-US" altLang="en-US" sz="2400" dirty="0"/>
              <a:t>Pick one of these themes to focus the organization of your review. </a:t>
            </a:r>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2925478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0D5451-1B1C-AB82-9FED-ECD2C930C44B}"/>
              </a:ext>
            </a:extLst>
          </p:cNvPr>
          <p:cNvSpPr>
            <a:spLocks noGrp="1"/>
          </p:cNvSpPr>
          <p:nvPr>
            <p:ph idx="1"/>
          </p:nvPr>
        </p:nvSpPr>
        <p:spPr/>
        <p:txBody>
          <a:bodyPr>
            <a:normAutofit/>
          </a:bodyPr>
          <a:lstStyle/>
          <a:p>
            <a:pPr algn="just"/>
            <a:r>
              <a:rPr lang="en-US" altLang="en-US" sz="2400" b="1" dirty="0"/>
              <a:t>Construct a working thesis statement</a:t>
            </a:r>
          </a:p>
          <a:p>
            <a:pPr lvl="1" algn="just" eaLnBrk="1" hangingPunct="1">
              <a:buFont typeface="Wingdings" panose="05000000000000000000" pitchFamily="2" charset="2"/>
              <a:buChar char="§"/>
            </a:pPr>
            <a:r>
              <a:rPr lang="en-US" altLang="en-US" sz="2400" dirty="0"/>
              <a:t>Then use the focus you've found to construct a thesis statement. Yes! Literature reviews have thesis statements as well! However, your thesis statement will not necessarily argue for a position or an opinion; rather it will argue for a particular perspective on the material. </a:t>
            </a:r>
          </a:p>
          <a:p>
            <a:pPr algn="just"/>
            <a:endParaRPr lang="en-IN" sz="2400" dirty="0"/>
          </a:p>
        </p:txBody>
      </p:sp>
    </p:spTree>
    <p:extLst>
      <p:ext uri="{BB962C8B-B14F-4D97-AF65-F5344CB8AC3E}">
        <p14:creationId xmlns:p14="http://schemas.microsoft.com/office/powerpoint/2010/main" val="847653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3C69B-61BB-4B89-422D-C7E1B86CACF8}"/>
              </a:ext>
            </a:extLst>
          </p:cNvPr>
          <p:cNvSpPr>
            <a:spLocks noGrp="1"/>
          </p:cNvSpPr>
          <p:nvPr>
            <p:ph idx="1"/>
          </p:nvPr>
        </p:nvSpPr>
        <p:spPr/>
        <p:txBody>
          <a:bodyPr>
            <a:normAutofit/>
          </a:bodyPr>
          <a:lstStyle/>
          <a:p>
            <a:r>
              <a:rPr lang="en-US" altLang="en-US" sz="2400" dirty="0"/>
              <a:t>Some sample thesis statements for literature reviews are as follows: </a:t>
            </a:r>
            <a:endParaRPr lang="en-US" altLang="en-US" sz="2400" i="1" dirty="0"/>
          </a:p>
          <a:p>
            <a:pPr lvl="1" eaLnBrk="1" hangingPunct="1">
              <a:buFont typeface="Wingdings" panose="05000000000000000000" pitchFamily="2" charset="2"/>
              <a:buChar char="§"/>
            </a:pPr>
            <a:r>
              <a:rPr lang="en-US" altLang="en-US" sz="2400" i="1" dirty="0"/>
              <a:t>The current trend in treatment for congestive heart failure combines surgery and medicine.</a:t>
            </a:r>
          </a:p>
          <a:p>
            <a:pPr lvl="1" eaLnBrk="1" hangingPunct="1">
              <a:buFont typeface="Wingdings" panose="05000000000000000000" pitchFamily="2" charset="2"/>
              <a:buChar char="§"/>
            </a:pPr>
            <a:r>
              <a:rPr lang="en-US" altLang="en-US" sz="2400" i="1" dirty="0"/>
              <a:t>More and more cultural studies scholars are accepting popular media as a subject worthy of academic consideration.</a:t>
            </a:r>
          </a:p>
          <a:p>
            <a:endParaRPr lang="en-IN" sz="2400" dirty="0"/>
          </a:p>
        </p:txBody>
      </p:sp>
    </p:spTree>
    <p:extLst>
      <p:ext uri="{BB962C8B-B14F-4D97-AF65-F5344CB8AC3E}">
        <p14:creationId xmlns:p14="http://schemas.microsoft.com/office/powerpoint/2010/main" val="319852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7393D4-3F14-D726-1E99-41914C9FE0F7}"/>
              </a:ext>
            </a:extLst>
          </p:cNvPr>
          <p:cNvSpPr>
            <a:spLocks noGrp="1"/>
          </p:cNvSpPr>
          <p:nvPr>
            <p:ph idx="1"/>
          </p:nvPr>
        </p:nvSpPr>
        <p:spPr/>
        <p:txBody>
          <a:bodyPr>
            <a:normAutofit/>
          </a:bodyPr>
          <a:lstStyle/>
          <a:p>
            <a:r>
              <a:rPr lang="en-US" altLang="en-US" sz="2400" b="1" dirty="0"/>
              <a:t>Consider organization</a:t>
            </a:r>
          </a:p>
          <a:p>
            <a:pPr lvl="1" eaLnBrk="1" hangingPunct="1">
              <a:lnSpc>
                <a:spcPct val="90000"/>
              </a:lnSpc>
              <a:buFont typeface="Wingdings" panose="05000000000000000000" pitchFamily="2" charset="2"/>
              <a:buChar char="§"/>
            </a:pPr>
            <a:r>
              <a:rPr lang="en-US" altLang="en-US" sz="2400" dirty="0"/>
              <a:t>You've got a focus, and you've narrowed it down to a thesis statement. </a:t>
            </a:r>
          </a:p>
          <a:p>
            <a:pPr lvl="1" eaLnBrk="1" hangingPunct="1">
              <a:lnSpc>
                <a:spcPct val="90000"/>
              </a:lnSpc>
              <a:buFont typeface="Wingdings" panose="05000000000000000000" pitchFamily="2" charset="2"/>
              <a:buChar char="§"/>
            </a:pPr>
            <a:r>
              <a:rPr lang="en-US" altLang="en-US" sz="2400" dirty="0"/>
              <a:t>Now what is the most effective way of presenting the information? </a:t>
            </a:r>
          </a:p>
          <a:p>
            <a:pPr lvl="1" eaLnBrk="1" hangingPunct="1">
              <a:lnSpc>
                <a:spcPct val="90000"/>
              </a:lnSpc>
              <a:buFont typeface="Wingdings" panose="05000000000000000000" pitchFamily="2" charset="2"/>
              <a:buChar char="§"/>
            </a:pPr>
            <a:r>
              <a:rPr lang="en-US" altLang="en-US" sz="2400" dirty="0"/>
              <a:t>What are the most important topics, subtopics, etc., that your review needs to include? </a:t>
            </a:r>
          </a:p>
          <a:p>
            <a:pPr lvl="1" eaLnBrk="1" hangingPunct="1">
              <a:lnSpc>
                <a:spcPct val="90000"/>
              </a:lnSpc>
              <a:buFont typeface="Wingdings" panose="05000000000000000000" pitchFamily="2" charset="2"/>
              <a:buChar char="§"/>
            </a:pPr>
            <a:r>
              <a:rPr lang="en-US" altLang="en-US" sz="2400" dirty="0"/>
              <a:t>And in what order should you present them? </a:t>
            </a:r>
          </a:p>
          <a:p>
            <a:endParaRPr lang="en-IN" sz="2400" dirty="0"/>
          </a:p>
        </p:txBody>
      </p:sp>
    </p:spTree>
    <p:extLst>
      <p:ext uri="{BB962C8B-B14F-4D97-AF65-F5344CB8AC3E}">
        <p14:creationId xmlns:p14="http://schemas.microsoft.com/office/powerpoint/2010/main" val="3937374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18C8E-F4D6-A57A-DF8F-B061DD4C5349}"/>
              </a:ext>
            </a:extLst>
          </p:cNvPr>
          <p:cNvSpPr>
            <a:spLocks noGrp="1"/>
          </p:cNvSpPr>
          <p:nvPr>
            <p:ph idx="1"/>
          </p:nvPr>
        </p:nvSpPr>
        <p:spPr/>
        <p:txBody>
          <a:bodyPr>
            <a:normAutofit/>
          </a:bodyPr>
          <a:lstStyle/>
          <a:p>
            <a:r>
              <a:rPr lang="en-US" altLang="en-US" sz="2400" dirty="0"/>
              <a:t>Develop an organization for your review at both a global and local level:</a:t>
            </a:r>
            <a:endParaRPr lang="en-US" altLang="en-US" sz="2400" b="1" dirty="0"/>
          </a:p>
          <a:p>
            <a:pPr marL="0" indent="0" eaLnBrk="1" hangingPunct="1">
              <a:buNone/>
            </a:pPr>
            <a:r>
              <a:rPr lang="en-US" altLang="en-US" sz="2400" b="1" dirty="0"/>
              <a:t>     First, cover the basic categories</a:t>
            </a:r>
            <a:endParaRPr lang="en-US" altLang="en-US" sz="2400" dirty="0"/>
          </a:p>
          <a:p>
            <a:pPr lvl="1" eaLnBrk="1" hangingPunct="1">
              <a:buFont typeface="Wingdings" panose="05000000000000000000" pitchFamily="2" charset="2"/>
              <a:buChar char="§"/>
            </a:pPr>
            <a:r>
              <a:rPr lang="en-US" altLang="en-US" sz="2400" dirty="0"/>
              <a:t>Just like most academic papers, literature reviews also must contain at least three basic elements: an introduction or background information section; the body of the review containing the discussion of sources; and, finally, a conclusion and/or recommendations section to end the paper. </a:t>
            </a:r>
          </a:p>
          <a:p>
            <a:endParaRPr lang="en-IN" sz="2400" dirty="0"/>
          </a:p>
        </p:txBody>
      </p:sp>
    </p:spTree>
    <p:extLst>
      <p:ext uri="{BB962C8B-B14F-4D97-AF65-F5344CB8AC3E}">
        <p14:creationId xmlns:p14="http://schemas.microsoft.com/office/powerpoint/2010/main" val="3210565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E95013-C305-9D1E-490E-23BEBCCDEBB1}"/>
              </a:ext>
            </a:extLst>
          </p:cNvPr>
          <p:cNvSpPr>
            <a:spLocks noGrp="1"/>
          </p:cNvSpPr>
          <p:nvPr>
            <p:ph idx="1"/>
          </p:nvPr>
        </p:nvSpPr>
        <p:spPr/>
        <p:txBody>
          <a:bodyPr>
            <a:normAutofit/>
          </a:bodyPr>
          <a:lstStyle/>
          <a:p>
            <a:pPr>
              <a:buFont typeface="Wingdings" panose="05000000000000000000" pitchFamily="2" charset="2"/>
              <a:buChar char="§"/>
            </a:pPr>
            <a:r>
              <a:rPr lang="en-US" altLang="en-US" sz="2400" b="1" i="1" dirty="0"/>
              <a:t>Introduction:</a:t>
            </a:r>
            <a:r>
              <a:rPr lang="en-US" altLang="en-US" sz="2400" b="1" dirty="0"/>
              <a:t> </a:t>
            </a:r>
            <a:r>
              <a:rPr lang="en-US" altLang="en-US" sz="2400" dirty="0"/>
              <a:t>Gives a quick idea of the topic of the literature review, such as the central theme or organizational pattern. </a:t>
            </a:r>
            <a:endParaRPr lang="en-US" altLang="en-US" sz="2400" i="1" dirty="0"/>
          </a:p>
          <a:p>
            <a:pPr eaLnBrk="1" hangingPunct="1">
              <a:lnSpc>
                <a:spcPct val="90000"/>
              </a:lnSpc>
              <a:buFont typeface="Wingdings" panose="05000000000000000000" pitchFamily="2" charset="2"/>
              <a:buChar char="§"/>
            </a:pPr>
            <a:r>
              <a:rPr lang="en-US" altLang="en-US" sz="2400" b="1" i="1" dirty="0"/>
              <a:t>Body:</a:t>
            </a:r>
            <a:r>
              <a:rPr lang="en-US" altLang="en-US" sz="2400" b="1" dirty="0"/>
              <a:t> </a:t>
            </a:r>
            <a:r>
              <a:rPr lang="en-US" altLang="en-US" sz="2400" dirty="0"/>
              <a:t>Contains your discussion of sources and is organized either chronologically, thematically, or methodologically (see below for more information on each).</a:t>
            </a:r>
            <a:endParaRPr lang="en-US" altLang="en-US" sz="2400" i="1" dirty="0"/>
          </a:p>
          <a:p>
            <a:pPr eaLnBrk="1" hangingPunct="1">
              <a:lnSpc>
                <a:spcPct val="90000"/>
              </a:lnSpc>
              <a:buFont typeface="Wingdings" panose="05000000000000000000" pitchFamily="2" charset="2"/>
              <a:buChar char="§"/>
            </a:pPr>
            <a:r>
              <a:rPr lang="en-US" altLang="en-US" sz="2400" b="1" i="1" dirty="0"/>
              <a:t>Conclusions/Recommendations:</a:t>
            </a:r>
            <a:r>
              <a:rPr lang="en-US" altLang="en-US" sz="2400" b="1" dirty="0"/>
              <a:t> </a:t>
            </a:r>
            <a:r>
              <a:rPr lang="en-US" altLang="en-US" sz="2400" dirty="0"/>
              <a:t>Discuss what you have drawn from reviewing literature so far. Where might the discussion proceed?</a:t>
            </a:r>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5052280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5C9808-0EB3-F642-AC8E-409D5ED98E1C}"/>
              </a:ext>
            </a:extLst>
          </p:cNvPr>
          <p:cNvSpPr>
            <a:spLocks noGrp="1"/>
          </p:cNvSpPr>
          <p:nvPr>
            <p:ph idx="1"/>
          </p:nvPr>
        </p:nvSpPr>
        <p:spPr>
          <a:xfrm>
            <a:off x="2589212" y="829458"/>
            <a:ext cx="8915400" cy="3777622"/>
          </a:xfrm>
        </p:spPr>
        <p:txBody>
          <a:bodyPr>
            <a:noAutofit/>
          </a:bodyPr>
          <a:lstStyle/>
          <a:p>
            <a:pPr algn="just">
              <a:buFont typeface="Wingdings" panose="05000000000000000000" pitchFamily="2" charset="2"/>
              <a:buChar char="§"/>
            </a:pPr>
            <a:endParaRPr lang="en-IN" sz="2400" dirty="0"/>
          </a:p>
          <a:p>
            <a:pPr algn="just" eaLnBrk="1" hangingPunct="1">
              <a:lnSpc>
                <a:spcPct val="90000"/>
              </a:lnSpc>
              <a:buFont typeface="Wingdings" panose="05000000000000000000" pitchFamily="2" charset="2"/>
              <a:buChar char="§"/>
            </a:pPr>
            <a:r>
              <a:rPr lang="en-US" altLang="en-US" sz="2400" b="1" dirty="0"/>
              <a:t>The introduction</a:t>
            </a:r>
            <a:r>
              <a:rPr lang="en-US" altLang="en-US" sz="2400" dirty="0"/>
              <a:t> should provide the reader with the scale and structure of your review. It serves as a kind of map.</a:t>
            </a:r>
          </a:p>
          <a:p>
            <a:pPr algn="just" eaLnBrk="1" hangingPunct="1">
              <a:lnSpc>
                <a:spcPct val="90000"/>
              </a:lnSpc>
              <a:buFont typeface="Wingdings" panose="05000000000000000000" pitchFamily="2" charset="2"/>
              <a:buChar char="§"/>
            </a:pPr>
            <a:r>
              <a:rPr lang="en-US" altLang="en-US" sz="2400" b="1" dirty="0"/>
              <a:t>The body</a:t>
            </a:r>
            <a:r>
              <a:rPr lang="en-US" altLang="en-US" sz="2400" dirty="0"/>
              <a:t> of the review depends on how you have organized your key points. Literature reviews at postgraduate level should be evaluative and not merely descriptive. For example possible reasons for similarities or differences between studies are considered rather than a mere identification of them.</a:t>
            </a:r>
          </a:p>
          <a:p>
            <a:pPr algn="just" eaLnBrk="1" hangingPunct="1">
              <a:lnSpc>
                <a:spcPct val="90000"/>
              </a:lnSpc>
              <a:buFont typeface="Wingdings" panose="05000000000000000000" pitchFamily="2" charset="2"/>
              <a:buChar char="§"/>
            </a:pPr>
            <a:r>
              <a:rPr lang="en-US" altLang="en-US" sz="2400" b="1" dirty="0"/>
              <a:t>The conclusion</a:t>
            </a:r>
            <a:r>
              <a:rPr lang="en-US" altLang="en-US" sz="2400" dirty="0"/>
              <a:t> of the review needs to sum up the main findings of your research into the literature. The findings can be related to the aims of the study you are proposing to do. The reader is thus provided with a coherent background to the current study.</a:t>
            </a:r>
          </a:p>
          <a:p>
            <a:pPr algn="just">
              <a:buFont typeface="Wingdings" panose="05000000000000000000" pitchFamily="2" charset="2"/>
              <a:buChar char="§"/>
            </a:pPr>
            <a:endParaRPr lang="en-IN" sz="2400" dirty="0"/>
          </a:p>
        </p:txBody>
      </p:sp>
    </p:spTree>
    <p:extLst>
      <p:ext uri="{BB962C8B-B14F-4D97-AF65-F5344CB8AC3E}">
        <p14:creationId xmlns:p14="http://schemas.microsoft.com/office/powerpoint/2010/main" val="1115834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E32CA-9B4C-7288-0913-02EEEC5B971A}"/>
              </a:ext>
            </a:extLst>
          </p:cNvPr>
          <p:cNvSpPr>
            <a:spLocks noGrp="1"/>
          </p:cNvSpPr>
          <p:nvPr>
            <p:ph idx="1"/>
          </p:nvPr>
        </p:nvSpPr>
        <p:spPr>
          <a:xfrm>
            <a:off x="2589212" y="739517"/>
            <a:ext cx="8915400" cy="3777622"/>
          </a:xfrm>
        </p:spPr>
        <p:txBody>
          <a:bodyPr>
            <a:noAutofit/>
          </a:bodyPr>
          <a:lstStyle/>
          <a:p>
            <a:r>
              <a:rPr lang="en-US" altLang="en-US" sz="2400" b="1" dirty="0"/>
              <a:t>Organizing the body</a:t>
            </a:r>
            <a:endParaRPr lang="en-US" altLang="en-US" sz="2400" dirty="0"/>
          </a:p>
          <a:p>
            <a:pPr lvl="1" eaLnBrk="1" hangingPunct="1">
              <a:lnSpc>
                <a:spcPct val="80000"/>
              </a:lnSpc>
              <a:buFont typeface="Wingdings" panose="05000000000000000000" pitchFamily="2" charset="2"/>
              <a:buChar char="§"/>
            </a:pPr>
            <a:r>
              <a:rPr lang="en-US" altLang="en-US" sz="2400" dirty="0"/>
              <a:t>Once you have the basic categories in place, then you must consider how you will present the sources themselves within the body of your paper. Create an organizational method to focus this section even further.</a:t>
            </a:r>
          </a:p>
          <a:p>
            <a:pPr lvl="1" eaLnBrk="1" hangingPunct="1">
              <a:lnSpc>
                <a:spcPct val="80000"/>
              </a:lnSpc>
              <a:buFont typeface="Wingdings" panose="05000000000000000000" pitchFamily="2" charset="2"/>
              <a:buChar char="§"/>
            </a:pPr>
            <a:r>
              <a:rPr lang="en-US" altLang="en-US" sz="2400" dirty="0"/>
              <a:t>To help you come up with an overall organizational framework for your review, consider the six typical ways of organizing the sources into a review:</a:t>
            </a:r>
          </a:p>
          <a:p>
            <a:pPr lvl="2" eaLnBrk="1" hangingPunct="1">
              <a:lnSpc>
                <a:spcPct val="80000"/>
              </a:lnSpc>
              <a:buFont typeface="Courier New" panose="02070309020205020404" pitchFamily="49" charset="0"/>
              <a:buChar char="o"/>
            </a:pPr>
            <a:r>
              <a:rPr lang="en-US" altLang="en-US" sz="2400" i="1" dirty="0"/>
              <a:t>Chronological</a:t>
            </a:r>
            <a:r>
              <a:rPr lang="en-US" altLang="en-US" sz="2400" dirty="0"/>
              <a:t> </a:t>
            </a:r>
          </a:p>
          <a:p>
            <a:pPr lvl="2" eaLnBrk="1" hangingPunct="1">
              <a:lnSpc>
                <a:spcPct val="80000"/>
              </a:lnSpc>
              <a:buFont typeface="Courier New" panose="02070309020205020404" pitchFamily="49" charset="0"/>
              <a:buChar char="o"/>
            </a:pPr>
            <a:r>
              <a:rPr lang="en-US" altLang="en-US" sz="2400" i="1" dirty="0"/>
              <a:t>By publication</a:t>
            </a:r>
          </a:p>
          <a:p>
            <a:pPr lvl="2" eaLnBrk="1" hangingPunct="1">
              <a:lnSpc>
                <a:spcPct val="80000"/>
              </a:lnSpc>
              <a:buFont typeface="Courier New" panose="02070309020205020404" pitchFamily="49" charset="0"/>
              <a:buChar char="o"/>
            </a:pPr>
            <a:r>
              <a:rPr lang="en-US" altLang="en-US" sz="2400" i="1" dirty="0"/>
              <a:t>By trend</a:t>
            </a:r>
          </a:p>
          <a:p>
            <a:pPr lvl="2" eaLnBrk="1" hangingPunct="1">
              <a:lnSpc>
                <a:spcPct val="80000"/>
              </a:lnSpc>
              <a:buFont typeface="Courier New" panose="02070309020205020404" pitchFamily="49" charset="0"/>
              <a:buChar char="o"/>
            </a:pPr>
            <a:r>
              <a:rPr lang="en-US" altLang="en-US" sz="2400" i="1" dirty="0"/>
              <a:t>Thematic</a:t>
            </a:r>
          </a:p>
          <a:p>
            <a:pPr lvl="2" eaLnBrk="1" hangingPunct="1">
              <a:lnSpc>
                <a:spcPct val="80000"/>
              </a:lnSpc>
              <a:buFont typeface="Courier New" panose="02070309020205020404" pitchFamily="49" charset="0"/>
              <a:buChar char="o"/>
            </a:pPr>
            <a:r>
              <a:rPr lang="en-US" altLang="en-US" sz="2400" i="1" dirty="0"/>
              <a:t>Methodological</a:t>
            </a:r>
          </a:p>
          <a:p>
            <a:pPr lvl="2" eaLnBrk="1" hangingPunct="1">
              <a:lnSpc>
                <a:spcPct val="80000"/>
              </a:lnSpc>
              <a:buFont typeface="Courier New" panose="02070309020205020404" pitchFamily="49" charset="0"/>
              <a:buChar char="o"/>
            </a:pPr>
            <a:r>
              <a:rPr lang="en-US" altLang="en-US" sz="2400" i="1" dirty="0">
                <a:solidFill>
                  <a:srgbClr val="000000"/>
                </a:solidFill>
                <a:cs typeface="Times New Roman" panose="02020603050405020304" pitchFamily="18" charset="0"/>
              </a:rPr>
              <a:t>Questions for Further Research</a:t>
            </a:r>
            <a:endParaRPr lang="en-US" altLang="en-US" sz="2400" i="1" dirty="0"/>
          </a:p>
          <a:p>
            <a:endParaRPr lang="en-IN" sz="2400" dirty="0"/>
          </a:p>
        </p:txBody>
      </p:sp>
    </p:spTree>
    <p:extLst>
      <p:ext uri="{BB962C8B-B14F-4D97-AF65-F5344CB8AC3E}">
        <p14:creationId xmlns:p14="http://schemas.microsoft.com/office/powerpoint/2010/main" val="1839046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75CAA9-5197-572D-47A5-2C18619C0DA8}"/>
              </a:ext>
            </a:extLst>
          </p:cNvPr>
          <p:cNvSpPr>
            <a:spLocks noGrp="1"/>
          </p:cNvSpPr>
          <p:nvPr>
            <p:ph idx="1"/>
          </p:nvPr>
        </p:nvSpPr>
        <p:spPr>
          <a:xfrm>
            <a:off x="2589212" y="1294153"/>
            <a:ext cx="8915400" cy="4297178"/>
          </a:xfrm>
        </p:spPr>
        <p:txBody>
          <a:bodyPr>
            <a:noAutofit/>
          </a:bodyPr>
          <a:lstStyle/>
          <a:p>
            <a:r>
              <a:rPr lang="en-US" altLang="en-US" sz="2400" dirty="0"/>
              <a:t>Similar to primary research, development of the literature review requires four stages:</a:t>
            </a:r>
          </a:p>
          <a:p>
            <a:pPr lvl="1" eaLnBrk="1" hangingPunct="1">
              <a:lnSpc>
                <a:spcPct val="90000"/>
              </a:lnSpc>
              <a:buFont typeface="Wingdings" panose="05000000000000000000" pitchFamily="2" charset="2"/>
              <a:buChar char="§"/>
            </a:pPr>
            <a:r>
              <a:rPr lang="en-US" altLang="en-US" sz="2400" b="1" dirty="0"/>
              <a:t>Problem formulation—</a:t>
            </a:r>
            <a:r>
              <a:rPr lang="en-US" altLang="en-US" sz="2400" dirty="0"/>
              <a:t>which topic or field is being examined and what are its component issues? </a:t>
            </a:r>
          </a:p>
          <a:p>
            <a:pPr lvl="1" eaLnBrk="1" hangingPunct="1">
              <a:lnSpc>
                <a:spcPct val="90000"/>
              </a:lnSpc>
              <a:buFont typeface="Wingdings" panose="05000000000000000000" pitchFamily="2" charset="2"/>
              <a:buChar char="§"/>
            </a:pPr>
            <a:r>
              <a:rPr lang="en-US" altLang="en-US" sz="2400" b="1" dirty="0"/>
              <a:t>Literature search—</a:t>
            </a:r>
            <a:r>
              <a:rPr lang="en-US" altLang="en-US" sz="2400" dirty="0"/>
              <a:t>finding materials relevant to the subject being explored </a:t>
            </a:r>
          </a:p>
          <a:p>
            <a:pPr lvl="1" eaLnBrk="1" hangingPunct="1">
              <a:lnSpc>
                <a:spcPct val="90000"/>
              </a:lnSpc>
              <a:buFont typeface="Wingdings" panose="05000000000000000000" pitchFamily="2" charset="2"/>
              <a:buChar char="§"/>
            </a:pPr>
            <a:r>
              <a:rPr lang="en-US" altLang="en-US" sz="2400" b="1" dirty="0"/>
              <a:t>Data evaluation—</a:t>
            </a:r>
            <a:r>
              <a:rPr lang="en-US" altLang="en-US" sz="2400" dirty="0"/>
              <a:t>determining which literature makes a significant contribution to the understanding of the topic </a:t>
            </a:r>
          </a:p>
          <a:p>
            <a:pPr lvl="1" eaLnBrk="1" hangingPunct="1">
              <a:lnSpc>
                <a:spcPct val="90000"/>
              </a:lnSpc>
              <a:buFont typeface="Wingdings" panose="05000000000000000000" pitchFamily="2" charset="2"/>
              <a:buChar char="§"/>
            </a:pPr>
            <a:r>
              <a:rPr lang="en-US" altLang="en-US" sz="2400" b="1" dirty="0"/>
              <a:t>Analysis and interpretation—</a:t>
            </a:r>
            <a:r>
              <a:rPr lang="en-US" altLang="en-US" sz="2400" dirty="0"/>
              <a:t>discussing the findings and conclusions of pertinent literature</a:t>
            </a:r>
          </a:p>
          <a:p>
            <a:endParaRPr lang="en-IN" sz="2400" dirty="0"/>
          </a:p>
        </p:txBody>
      </p:sp>
    </p:spTree>
    <p:extLst>
      <p:ext uri="{BB962C8B-B14F-4D97-AF65-F5344CB8AC3E}">
        <p14:creationId xmlns:p14="http://schemas.microsoft.com/office/powerpoint/2010/main" val="2161148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C92A-BABD-F5B0-B4C3-B55BBE10FAD2}"/>
              </a:ext>
            </a:extLst>
          </p:cNvPr>
          <p:cNvSpPr>
            <a:spLocks noGrp="1"/>
          </p:cNvSpPr>
          <p:nvPr>
            <p:ph type="title"/>
          </p:nvPr>
        </p:nvSpPr>
        <p:spPr/>
        <p:txBody>
          <a:bodyPr>
            <a:normAutofit/>
          </a:bodyPr>
          <a:lstStyle/>
          <a:p>
            <a:r>
              <a:rPr lang="en-US" altLang="en-US" sz="4400" b="1" dirty="0"/>
              <a:t>What should you write?</a:t>
            </a:r>
            <a:endParaRPr lang="en-IN" sz="4400" b="1" dirty="0"/>
          </a:p>
        </p:txBody>
      </p:sp>
      <p:sp>
        <p:nvSpPr>
          <p:cNvPr id="3" name="Content Placeholder 2">
            <a:extLst>
              <a:ext uri="{FF2B5EF4-FFF2-40B4-BE49-F238E27FC236}">
                <a16:creationId xmlns:a16="http://schemas.microsoft.com/office/drawing/2014/main" id="{4921F3EC-F66F-A2CB-F306-02230A6CA71A}"/>
              </a:ext>
            </a:extLst>
          </p:cNvPr>
          <p:cNvSpPr>
            <a:spLocks noGrp="1"/>
          </p:cNvSpPr>
          <p:nvPr>
            <p:ph idx="1"/>
          </p:nvPr>
        </p:nvSpPr>
        <p:spPr/>
        <p:txBody>
          <a:bodyPr>
            <a:noAutofit/>
          </a:bodyPr>
          <a:lstStyle/>
          <a:p>
            <a:pPr>
              <a:buFont typeface="Wingdings" panose="05000000000000000000" pitchFamily="2" charset="2"/>
              <a:buChar char="§"/>
            </a:pPr>
            <a:endParaRPr lang="en-IN" sz="2400" dirty="0"/>
          </a:p>
          <a:p>
            <a:pPr eaLnBrk="1" hangingPunct="1">
              <a:lnSpc>
                <a:spcPct val="80000"/>
              </a:lnSpc>
              <a:buFont typeface="Wingdings" panose="05000000000000000000" pitchFamily="2" charset="2"/>
              <a:buChar char="§"/>
            </a:pPr>
            <a:r>
              <a:rPr lang="en-US" altLang="en-US" sz="2400" dirty="0"/>
              <a:t>the accepted facts in the area </a:t>
            </a:r>
          </a:p>
          <a:p>
            <a:pPr eaLnBrk="1" hangingPunct="1">
              <a:lnSpc>
                <a:spcPct val="80000"/>
              </a:lnSpc>
              <a:buFont typeface="Wingdings" panose="05000000000000000000" pitchFamily="2" charset="2"/>
              <a:buChar char="§"/>
            </a:pPr>
            <a:r>
              <a:rPr lang="en-US" altLang="en-US" sz="2400" dirty="0"/>
              <a:t>the popular opinion </a:t>
            </a:r>
          </a:p>
          <a:p>
            <a:pPr eaLnBrk="1" hangingPunct="1">
              <a:lnSpc>
                <a:spcPct val="80000"/>
              </a:lnSpc>
              <a:buFont typeface="Wingdings" panose="05000000000000000000" pitchFamily="2" charset="2"/>
              <a:buChar char="§"/>
            </a:pPr>
            <a:r>
              <a:rPr lang="en-US" altLang="en-US" sz="2400" dirty="0"/>
              <a:t>the main variables </a:t>
            </a:r>
          </a:p>
          <a:p>
            <a:pPr eaLnBrk="1" hangingPunct="1">
              <a:lnSpc>
                <a:spcPct val="80000"/>
              </a:lnSpc>
              <a:buFont typeface="Wingdings" panose="05000000000000000000" pitchFamily="2" charset="2"/>
              <a:buChar char="§"/>
            </a:pPr>
            <a:r>
              <a:rPr lang="en-US" altLang="en-US" sz="2400" dirty="0"/>
              <a:t>the relationship between concepts and variables </a:t>
            </a:r>
          </a:p>
          <a:p>
            <a:pPr eaLnBrk="1" hangingPunct="1">
              <a:lnSpc>
                <a:spcPct val="80000"/>
              </a:lnSpc>
              <a:buFont typeface="Wingdings" panose="05000000000000000000" pitchFamily="2" charset="2"/>
              <a:buChar char="§"/>
            </a:pPr>
            <a:r>
              <a:rPr lang="en-US" altLang="en-US" sz="2400" dirty="0"/>
              <a:t>shortcomings in the existing findings </a:t>
            </a:r>
          </a:p>
          <a:p>
            <a:pPr eaLnBrk="1" hangingPunct="1">
              <a:lnSpc>
                <a:spcPct val="80000"/>
              </a:lnSpc>
              <a:buFont typeface="Wingdings" panose="05000000000000000000" pitchFamily="2" charset="2"/>
              <a:buChar char="§"/>
            </a:pPr>
            <a:r>
              <a:rPr lang="en-US" altLang="en-US" sz="2400" dirty="0"/>
              <a:t>limitations in the methods used in the existing findings </a:t>
            </a:r>
          </a:p>
          <a:p>
            <a:pPr eaLnBrk="1" hangingPunct="1">
              <a:lnSpc>
                <a:spcPct val="80000"/>
              </a:lnSpc>
              <a:buFont typeface="Wingdings" panose="05000000000000000000" pitchFamily="2" charset="2"/>
              <a:buChar char="§"/>
            </a:pPr>
            <a:r>
              <a:rPr lang="en-US" altLang="en-US" sz="2400" dirty="0"/>
              <a:t>the relevance of your research </a:t>
            </a:r>
          </a:p>
          <a:p>
            <a:pPr eaLnBrk="1" hangingPunct="1">
              <a:lnSpc>
                <a:spcPct val="80000"/>
              </a:lnSpc>
              <a:buFont typeface="Wingdings" panose="05000000000000000000" pitchFamily="2" charset="2"/>
              <a:buChar char="§"/>
            </a:pPr>
            <a:r>
              <a:rPr lang="en-US" altLang="en-US" sz="2400" dirty="0"/>
              <a:t>suggestions for further research in the area. </a:t>
            </a:r>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994184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F98C71-34D8-E150-B062-2D51E77107EE}"/>
              </a:ext>
            </a:extLst>
          </p:cNvPr>
          <p:cNvSpPr>
            <a:spLocks noGrp="1"/>
          </p:cNvSpPr>
          <p:nvPr>
            <p:ph idx="1"/>
          </p:nvPr>
        </p:nvSpPr>
        <p:spPr>
          <a:xfrm>
            <a:off x="2589212" y="1024330"/>
            <a:ext cx="8915400" cy="3777622"/>
          </a:xfrm>
        </p:spPr>
        <p:txBody>
          <a:bodyPr>
            <a:noAutofit/>
          </a:bodyPr>
          <a:lstStyle/>
          <a:p>
            <a:r>
              <a:rPr lang="en-US" altLang="en-US" sz="2400" dirty="0"/>
              <a:t>Literature reviews should comprise the following elements:</a:t>
            </a:r>
          </a:p>
          <a:p>
            <a:pPr lvl="1" eaLnBrk="1" hangingPunct="1">
              <a:lnSpc>
                <a:spcPct val="80000"/>
              </a:lnSpc>
              <a:buFont typeface="Wingdings" panose="05000000000000000000" pitchFamily="2" charset="2"/>
              <a:buChar char="§"/>
            </a:pPr>
            <a:r>
              <a:rPr lang="en-US" altLang="en-US" sz="2400" dirty="0"/>
              <a:t>An overview of the subject, issue or theory under consideration, along with the objectives of the literature review </a:t>
            </a:r>
          </a:p>
          <a:p>
            <a:pPr lvl="1" eaLnBrk="1" hangingPunct="1">
              <a:lnSpc>
                <a:spcPct val="80000"/>
              </a:lnSpc>
              <a:buFont typeface="Wingdings" panose="05000000000000000000" pitchFamily="2" charset="2"/>
              <a:buChar char="§"/>
            </a:pPr>
            <a:r>
              <a:rPr lang="en-US" altLang="en-US" sz="2400" dirty="0"/>
              <a:t>Division of works under review into categories (e.g. those in support of a particular position, those against, and those offering alternative theses entirely) </a:t>
            </a:r>
          </a:p>
          <a:p>
            <a:pPr lvl="1" eaLnBrk="1" hangingPunct="1">
              <a:lnSpc>
                <a:spcPct val="80000"/>
              </a:lnSpc>
              <a:buFont typeface="Wingdings" panose="05000000000000000000" pitchFamily="2" charset="2"/>
              <a:buChar char="§"/>
            </a:pPr>
            <a:r>
              <a:rPr lang="en-US" altLang="en-US" sz="2400" dirty="0"/>
              <a:t>Explanation of how each work is similar to and how it varies from the others </a:t>
            </a:r>
          </a:p>
          <a:p>
            <a:pPr lvl="1" eaLnBrk="1" hangingPunct="1">
              <a:lnSpc>
                <a:spcPct val="80000"/>
              </a:lnSpc>
              <a:buFont typeface="Wingdings" panose="05000000000000000000" pitchFamily="2" charset="2"/>
              <a:buChar char="§"/>
            </a:pPr>
            <a:r>
              <a:rPr lang="en-US" altLang="en-US" sz="2400" dirty="0"/>
              <a:t>Conclusions as to which pieces are best considered in their argument, are most convincing of their opinions, and make the greatest contribution to the understanding and development of their area of research </a:t>
            </a:r>
          </a:p>
          <a:p>
            <a:pPr eaLnBrk="1" hangingPunct="1">
              <a:lnSpc>
                <a:spcPct val="80000"/>
              </a:lnSpc>
              <a:buFont typeface="Wingdings 2" panose="05020102010507070707" pitchFamily="18" charset="2"/>
              <a:buChar char="N"/>
            </a:pPr>
            <a:endParaRPr lang="en-US" altLang="en-US" sz="2400" dirty="0"/>
          </a:p>
          <a:p>
            <a:endParaRPr lang="en-IN" sz="2400" dirty="0"/>
          </a:p>
        </p:txBody>
      </p:sp>
    </p:spTree>
    <p:extLst>
      <p:ext uri="{BB962C8B-B14F-4D97-AF65-F5344CB8AC3E}">
        <p14:creationId xmlns:p14="http://schemas.microsoft.com/office/powerpoint/2010/main" val="2177716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FCCC1-8819-5493-277F-AB26D32F15FA}"/>
              </a:ext>
            </a:extLst>
          </p:cNvPr>
          <p:cNvSpPr>
            <a:spLocks noGrp="1"/>
          </p:cNvSpPr>
          <p:nvPr>
            <p:ph idx="1"/>
          </p:nvPr>
        </p:nvSpPr>
        <p:spPr>
          <a:xfrm>
            <a:off x="2589212" y="1394085"/>
            <a:ext cx="8915400" cy="4517137"/>
          </a:xfrm>
        </p:spPr>
        <p:txBody>
          <a:bodyPr>
            <a:normAutofit fontScale="92500"/>
          </a:bodyPr>
          <a:lstStyle/>
          <a:p>
            <a:r>
              <a:rPr lang="en-US" altLang="en-US" sz="2400" dirty="0"/>
              <a:t>In assessing each piece, consideration should be given to:</a:t>
            </a:r>
          </a:p>
          <a:p>
            <a:pPr lvl="1" eaLnBrk="1" hangingPunct="1">
              <a:lnSpc>
                <a:spcPct val="80000"/>
              </a:lnSpc>
              <a:buFont typeface="Wingdings" panose="05000000000000000000" pitchFamily="2" charset="2"/>
              <a:buChar char="§"/>
            </a:pPr>
            <a:r>
              <a:rPr lang="en-US" altLang="en-US" sz="2400" b="1" dirty="0"/>
              <a:t>Provenance—</a:t>
            </a:r>
            <a:r>
              <a:rPr lang="en-US" altLang="en-US" sz="2400" dirty="0"/>
              <a:t>What are the author's credentials? Are the author's arguments supported by evidence (e.g. primary historical material, case studies, narratives, statistics, recent scientific findings)? </a:t>
            </a:r>
          </a:p>
          <a:p>
            <a:pPr lvl="1" eaLnBrk="1" hangingPunct="1">
              <a:lnSpc>
                <a:spcPct val="80000"/>
              </a:lnSpc>
              <a:buFont typeface="Wingdings" panose="05000000000000000000" pitchFamily="2" charset="2"/>
              <a:buChar char="§"/>
            </a:pPr>
            <a:r>
              <a:rPr lang="en-US" altLang="en-US" sz="2400" b="1" dirty="0"/>
              <a:t>Objectivity—</a:t>
            </a:r>
            <a:r>
              <a:rPr lang="en-US" altLang="en-US" sz="2400" dirty="0"/>
              <a:t>Is the author's perspective even-handed or prejudicial? Is contrary data considered or is certain pertinent information ignored to prove the author's point? </a:t>
            </a:r>
          </a:p>
          <a:p>
            <a:pPr lvl="1" eaLnBrk="1" hangingPunct="1">
              <a:lnSpc>
                <a:spcPct val="80000"/>
              </a:lnSpc>
              <a:buFont typeface="Wingdings" panose="05000000000000000000" pitchFamily="2" charset="2"/>
              <a:buChar char="§"/>
            </a:pPr>
            <a:r>
              <a:rPr lang="en-US" altLang="en-US" sz="2400" b="1" dirty="0"/>
              <a:t>Persuasiveness—</a:t>
            </a:r>
            <a:r>
              <a:rPr lang="en-US" altLang="en-US" sz="2400" dirty="0"/>
              <a:t>Which of the author's theses are most/least convincing? </a:t>
            </a:r>
          </a:p>
          <a:p>
            <a:pPr lvl="1" eaLnBrk="1" hangingPunct="1">
              <a:lnSpc>
                <a:spcPct val="80000"/>
              </a:lnSpc>
              <a:buFont typeface="Wingdings" panose="05000000000000000000" pitchFamily="2" charset="2"/>
              <a:buChar char="§"/>
            </a:pPr>
            <a:r>
              <a:rPr lang="en-US" altLang="en-US" sz="2400" b="1" dirty="0"/>
              <a:t>Value—</a:t>
            </a:r>
            <a:r>
              <a:rPr lang="en-US" altLang="en-US" sz="2400" dirty="0"/>
              <a:t>Are the author's arguments and conclusions convincing? Does the work ultimately contribute in any significant way to an understanding of the subject? </a:t>
            </a:r>
          </a:p>
          <a:p>
            <a:pPr eaLnBrk="1" hangingPunct="1">
              <a:lnSpc>
                <a:spcPct val="80000"/>
              </a:lnSpc>
              <a:buFont typeface="Wingdings" panose="05000000000000000000" pitchFamily="2" charset="2"/>
              <a:buChar char="§"/>
            </a:pPr>
            <a:endParaRPr lang="en-US" altLang="en-US" sz="2400" dirty="0"/>
          </a:p>
          <a:p>
            <a:endParaRPr lang="en-IN" dirty="0"/>
          </a:p>
        </p:txBody>
      </p:sp>
    </p:spTree>
    <p:extLst>
      <p:ext uri="{BB962C8B-B14F-4D97-AF65-F5344CB8AC3E}">
        <p14:creationId xmlns:p14="http://schemas.microsoft.com/office/powerpoint/2010/main" val="3540847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800710-AB27-F336-F8AC-1D4A7CB4C5B8}"/>
              </a:ext>
            </a:extLst>
          </p:cNvPr>
          <p:cNvSpPr>
            <a:spLocks noGrp="1"/>
          </p:cNvSpPr>
          <p:nvPr>
            <p:ph idx="1"/>
          </p:nvPr>
        </p:nvSpPr>
        <p:spPr>
          <a:xfrm>
            <a:off x="2589212" y="1334125"/>
            <a:ext cx="8915400" cy="4577097"/>
          </a:xfrm>
        </p:spPr>
        <p:txBody>
          <a:bodyPr>
            <a:noAutofit/>
          </a:bodyPr>
          <a:lstStyle/>
          <a:p>
            <a:pPr marL="0" indent="0">
              <a:buNone/>
            </a:pPr>
            <a:endParaRPr lang="en-IN" sz="2400" dirty="0"/>
          </a:p>
          <a:p>
            <a:pPr eaLnBrk="1" hangingPunct="1">
              <a:lnSpc>
                <a:spcPct val="90000"/>
              </a:lnSpc>
              <a:buFont typeface="Wingdings" panose="05000000000000000000" pitchFamily="2" charset="2"/>
              <a:buChar char="§"/>
            </a:pPr>
            <a:r>
              <a:rPr lang="en-US" altLang="en-US" sz="2400" b="1" dirty="0"/>
              <a:t>Layout : </a:t>
            </a:r>
            <a:r>
              <a:rPr lang="en-US" altLang="en-US" sz="2400" dirty="0"/>
              <a:t>Make your literature review have an academic and professional appearance. Here are some points to make the look of your report appealing to the reader</a:t>
            </a:r>
          </a:p>
          <a:p>
            <a:pPr eaLnBrk="1" hangingPunct="1">
              <a:lnSpc>
                <a:spcPct val="90000"/>
              </a:lnSpc>
              <a:buFont typeface="Wingdings" panose="05000000000000000000" pitchFamily="2" charset="2"/>
              <a:buChar char="§"/>
            </a:pPr>
            <a:r>
              <a:rPr lang="en-US" altLang="en-US" sz="2400" b="1" dirty="0"/>
              <a:t>White space</a:t>
            </a:r>
            <a:r>
              <a:rPr lang="en-US" altLang="en-US" sz="2400" dirty="0"/>
              <a:t>: leave space between sections, especially from the abstract. This gives an uncluttered effect. </a:t>
            </a:r>
          </a:p>
          <a:p>
            <a:pPr eaLnBrk="1" hangingPunct="1">
              <a:lnSpc>
                <a:spcPct val="90000"/>
              </a:lnSpc>
              <a:buFont typeface="Wingdings" panose="05000000000000000000" pitchFamily="2" charset="2"/>
              <a:buChar char="§"/>
            </a:pPr>
            <a:r>
              <a:rPr lang="en-US" altLang="en-US" sz="2400" b="1" dirty="0"/>
              <a:t>Headings/sub-headings</a:t>
            </a:r>
            <a:r>
              <a:rPr lang="en-US" altLang="en-US" sz="2400" dirty="0"/>
              <a:t>: these help to separate ideas. </a:t>
            </a:r>
          </a:p>
          <a:p>
            <a:pPr eaLnBrk="1" hangingPunct="1">
              <a:lnSpc>
                <a:spcPct val="90000"/>
              </a:lnSpc>
              <a:buFont typeface="Wingdings" panose="05000000000000000000" pitchFamily="2" charset="2"/>
              <a:buChar char="§"/>
            </a:pPr>
            <a:r>
              <a:rPr lang="en-US" altLang="en-US" sz="2400" b="1" dirty="0"/>
              <a:t>Text boxes</a:t>
            </a:r>
            <a:r>
              <a:rPr lang="en-US" altLang="en-US" sz="2400" dirty="0"/>
              <a:t>: you can use these for quotations or paraphrasing to separate them from the rest of your text. It is also pleasing to the eye. </a:t>
            </a:r>
          </a:p>
          <a:p>
            <a:pPr eaLnBrk="1" hangingPunct="1">
              <a:lnSpc>
                <a:spcPct val="90000"/>
              </a:lnSpc>
              <a:buFont typeface="Wingdings 2" panose="05020102010507070707" pitchFamily="18" charset="2"/>
              <a:buChar char="N"/>
            </a:pPr>
            <a:endParaRPr lang="en-US" altLang="en-US" sz="2400" dirty="0"/>
          </a:p>
          <a:p>
            <a:endParaRPr lang="en-IN" sz="2400" dirty="0"/>
          </a:p>
        </p:txBody>
      </p:sp>
    </p:spTree>
    <p:extLst>
      <p:ext uri="{BB962C8B-B14F-4D97-AF65-F5344CB8AC3E}">
        <p14:creationId xmlns:p14="http://schemas.microsoft.com/office/powerpoint/2010/main" val="2142023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4FD43-0DA9-00B1-99E0-6058A38D4F94}"/>
              </a:ext>
            </a:extLst>
          </p:cNvPr>
          <p:cNvSpPr>
            <a:spLocks noGrp="1"/>
          </p:cNvSpPr>
          <p:nvPr>
            <p:ph idx="1"/>
          </p:nvPr>
        </p:nvSpPr>
        <p:spPr/>
        <p:txBody>
          <a:bodyPr/>
          <a:lstStyle/>
          <a:p>
            <a:pPr marL="0" indent="0">
              <a:buNone/>
            </a:pPr>
            <a:endParaRPr lang="en-IN" dirty="0"/>
          </a:p>
          <a:p>
            <a:pPr eaLnBrk="1" hangingPunct="1">
              <a:buFont typeface="Wingdings" panose="05000000000000000000" pitchFamily="2" charset="2"/>
              <a:buChar char="§"/>
            </a:pPr>
            <a:r>
              <a:rPr lang="en-US" altLang="en-US" sz="2400" b="1" dirty="0"/>
              <a:t>Graphics</a:t>
            </a:r>
            <a:r>
              <a:rPr lang="en-US" altLang="en-US" sz="2400" dirty="0"/>
              <a:t>: </a:t>
            </a:r>
            <a:r>
              <a:rPr lang="en-US" altLang="en-US" sz="2400" dirty="0" err="1"/>
              <a:t>centre</a:t>
            </a:r>
            <a:r>
              <a:rPr lang="en-US" altLang="en-US" sz="2400" dirty="0"/>
              <a:t> your graphics, such as diagrams or tables, to have space around them. Try not to bury graphics in your text. </a:t>
            </a:r>
          </a:p>
          <a:p>
            <a:pPr eaLnBrk="1" hangingPunct="1">
              <a:buFont typeface="Wingdings" panose="05000000000000000000" pitchFamily="2" charset="2"/>
              <a:buChar char="§"/>
            </a:pPr>
            <a:r>
              <a:rPr lang="en-US" altLang="en-US" sz="2400" b="1" dirty="0"/>
              <a:t>Pagination</a:t>
            </a:r>
            <a:r>
              <a:rPr lang="en-US" altLang="en-US" sz="2400" dirty="0"/>
              <a:t>: you can number pages or sections or both, but the important thing to do is to be consistent. The cover page normally is not numbered. The content page and abstract page usually have a separate numbering system to the body of your literature review. </a:t>
            </a:r>
          </a:p>
          <a:p>
            <a:pPr eaLnBrk="1" hangingPunct="1">
              <a:buFont typeface="Wingdings" panose="05000000000000000000" pitchFamily="2" charset="2"/>
              <a:buChar char="§"/>
            </a:pPr>
            <a:endParaRPr lang="en-US" altLang="en-US" sz="2400" dirty="0"/>
          </a:p>
          <a:p>
            <a:endParaRPr lang="en-IN" dirty="0"/>
          </a:p>
        </p:txBody>
      </p:sp>
    </p:spTree>
    <p:extLst>
      <p:ext uri="{BB962C8B-B14F-4D97-AF65-F5344CB8AC3E}">
        <p14:creationId xmlns:p14="http://schemas.microsoft.com/office/powerpoint/2010/main" val="2320920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C71D71-D8B6-985D-835F-027F211E0726}"/>
              </a:ext>
            </a:extLst>
          </p:cNvPr>
          <p:cNvSpPr>
            <a:spLocks noGrp="1"/>
          </p:cNvSpPr>
          <p:nvPr>
            <p:ph idx="1"/>
          </p:nvPr>
        </p:nvSpPr>
        <p:spPr>
          <a:xfrm>
            <a:off x="2589212" y="1084290"/>
            <a:ext cx="8915400" cy="4611971"/>
          </a:xfrm>
        </p:spPr>
        <p:txBody>
          <a:bodyPr>
            <a:noAutofit/>
          </a:bodyPr>
          <a:lstStyle/>
          <a:p>
            <a:r>
              <a:rPr lang="en-US" altLang="en-US" sz="2400" b="1" dirty="0"/>
              <a:t>Language focus</a:t>
            </a:r>
          </a:p>
          <a:p>
            <a:pPr lvl="1" eaLnBrk="1" hangingPunct="1">
              <a:lnSpc>
                <a:spcPct val="80000"/>
              </a:lnSpc>
              <a:buFont typeface="Wingdings" panose="05000000000000000000" pitchFamily="2" charset="2"/>
              <a:buChar char="§"/>
            </a:pPr>
            <a:r>
              <a:rPr lang="en-US" altLang="en-US" sz="2400" dirty="0"/>
              <a:t>Create a balance between direct quotation (citation) and paraphrasing. Avoid too much direct quoting. The verb tense chosen depends on your emphasis:</a:t>
            </a:r>
          </a:p>
          <a:p>
            <a:pPr lvl="1" eaLnBrk="1" hangingPunct="1">
              <a:lnSpc>
                <a:spcPct val="80000"/>
              </a:lnSpc>
              <a:buFont typeface="Wingdings" panose="05000000000000000000" pitchFamily="2" charset="2"/>
              <a:buChar char="§"/>
            </a:pPr>
            <a:r>
              <a:rPr lang="en-US" altLang="en-US" sz="2400" dirty="0"/>
              <a:t>When you are citing a specific author's findings, use the past tense: (found, demonstrated); </a:t>
            </a:r>
          </a:p>
          <a:p>
            <a:pPr lvl="1" eaLnBrk="1" hangingPunct="1">
              <a:lnSpc>
                <a:spcPct val="80000"/>
              </a:lnSpc>
              <a:buFont typeface="Wingdings" panose="05000000000000000000" pitchFamily="2" charset="2"/>
              <a:buChar char="§"/>
            </a:pPr>
            <a:r>
              <a:rPr lang="en-US" altLang="en-US" sz="2400" dirty="0"/>
              <a:t>When you are writing about an accepted fact, use the present tense: (demonstrates, finds); and </a:t>
            </a:r>
          </a:p>
          <a:p>
            <a:pPr lvl="1" eaLnBrk="1" hangingPunct="1">
              <a:lnSpc>
                <a:spcPct val="80000"/>
              </a:lnSpc>
              <a:buFont typeface="Wingdings" panose="05000000000000000000" pitchFamily="2" charset="2"/>
              <a:buChar char="§"/>
            </a:pPr>
            <a:r>
              <a:rPr lang="en-US" altLang="en-US" sz="2400" dirty="0"/>
              <a:t>When you are citing several authors or making a general statement, use the present perfect tense: (have shown, have found, little research has been done). </a:t>
            </a:r>
          </a:p>
          <a:p>
            <a:pPr eaLnBrk="1" hangingPunct="1">
              <a:lnSpc>
                <a:spcPct val="80000"/>
              </a:lnSpc>
            </a:pPr>
            <a:endParaRPr lang="en-US" altLang="en-US" sz="2400" dirty="0"/>
          </a:p>
          <a:p>
            <a:endParaRPr lang="en-IN" sz="2400" dirty="0"/>
          </a:p>
        </p:txBody>
      </p:sp>
    </p:spTree>
    <p:extLst>
      <p:ext uri="{BB962C8B-B14F-4D97-AF65-F5344CB8AC3E}">
        <p14:creationId xmlns:p14="http://schemas.microsoft.com/office/powerpoint/2010/main" val="1022403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C52FDE-EB55-B8CC-881E-86789F39EA1F}"/>
              </a:ext>
            </a:extLst>
          </p:cNvPr>
          <p:cNvSpPr>
            <a:spLocks noGrp="1"/>
          </p:cNvSpPr>
          <p:nvPr>
            <p:ph idx="1"/>
          </p:nvPr>
        </p:nvSpPr>
        <p:spPr>
          <a:xfrm>
            <a:off x="2589212" y="1204214"/>
            <a:ext cx="8915400" cy="3777622"/>
          </a:xfrm>
        </p:spPr>
        <p:txBody>
          <a:bodyPr>
            <a:noAutofit/>
          </a:bodyPr>
          <a:lstStyle/>
          <a:p>
            <a:r>
              <a:rPr lang="en-US" altLang="en-US" sz="2400" b="1" dirty="0"/>
              <a:t>Final checklist</a:t>
            </a:r>
          </a:p>
          <a:p>
            <a:pPr lvl="1" eaLnBrk="1" hangingPunct="1">
              <a:lnSpc>
                <a:spcPct val="80000"/>
              </a:lnSpc>
              <a:buFont typeface="Wingdings" panose="05000000000000000000" pitchFamily="2" charset="2"/>
              <a:buChar char="§"/>
            </a:pPr>
            <a:r>
              <a:rPr lang="en-US" altLang="en-US" sz="2400" dirty="0"/>
              <a:t>Have I fulfilled the purpose of the literature review? </a:t>
            </a:r>
          </a:p>
          <a:p>
            <a:pPr lvl="1" eaLnBrk="1" hangingPunct="1">
              <a:lnSpc>
                <a:spcPct val="80000"/>
              </a:lnSpc>
              <a:buFont typeface="Wingdings" panose="05000000000000000000" pitchFamily="2" charset="2"/>
              <a:buChar char="§"/>
            </a:pPr>
            <a:r>
              <a:rPr lang="en-US" altLang="en-US" sz="2400" dirty="0"/>
              <a:t>Is it written at a level appropriate to its audience? </a:t>
            </a:r>
          </a:p>
          <a:p>
            <a:pPr lvl="1" eaLnBrk="1" hangingPunct="1">
              <a:lnSpc>
                <a:spcPct val="80000"/>
              </a:lnSpc>
              <a:buFont typeface="Wingdings" panose="05000000000000000000" pitchFamily="2" charset="2"/>
              <a:buChar char="§"/>
            </a:pPr>
            <a:r>
              <a:rPr lang="en-US" altLang="en-US" sz="2400" dirty="0"/>
              <a:t>Are its facts correct? </a:t>
            </a:r>
          </a:p>
          <a:p>
            <a:pPr lvl="1" eaLnBrk="1" hangingPunct="1">
              <a:lnSpc>
                <a:spcPct val="80000"/>
              </a:lnSpc>
              <a:buFont typeface="Wingdings" panose="05000000000000000000" pitchFamily="2" charset="2"/>
              <a:buChar char="§"/>
            </a:pPr>
            <a:r>
              <a:rPr lang="en-US" altLang="en-US" sz="2400" dirty="0"/>
              <a:t>Is all the information included relevant? </a:t>
            </a:r>
          </a:p>
          <a:p>
            <a:pPr lvl="1" eaLnBrk="1" hangingPunct="1">
              <a:lnSpc>
                <a:spcPct val="80000"/>
              </a:lnSpc>
              <a:buFont typeface="Wingdings" panose="05000000000000000000" pitchFamily="2" charset="2"/>
              <a:buChar char="§"/>
            </a:pPr>
            <a:r>
              <a:rPr lang="en-US" altLang="en-US" sz="2400" dirty="0"/>
              <a:t>Are the layout and presentation easy on the eye? </a:t>
            </a:r>
          </a:p>
          <a:p>
            <a:pPr lvl="1" eaLnBrk="1" hangingPunct="1">
              <a:lnSpc>
                <a:spcPct val="80000"/>
              </a:lnSpc>
              <a:buFont typeface="Wingdings" panose="05000000000000000000" pitchFamily="2" charset="2"/>
              <a:buChar char="§"/>
            </a:pPr>
            <a:r>
              <a:rPr lang="en-US" altLang="en-US" sz="2400" dirty="0"/>
              <a:t>Is the language clear, concise and academic? </a:t>
            </a:r>
          </a:p>
          <a:p>
            <a:pPr lvl="1" eaLnBrk="1" hangingPunct="1">
              <a:lnSpc>
                <a:spcPct val="80000"/>
              </a:lnSpc>
              <a:buFont typeface="Wingdings" panose="05000000000000000000" pitchFamily="2" charset="2"/>
              <a:buChar char="§"/>
            </a:pPr>
            <a:r>
              <a:rPr lang="en-US" altLang="en-US" sz="2400" dirty="0"/>
              <a:t>Does the abstract </a:t>
            </a:r>
            <a:r>
              <a:rPr lang="en-US" altLang="en-US" sz="2400" dirty="0" err="1"/>
              <a:t>summarise</a:t>
            </a:r>
            <a:r>
              <a:rPr lang="en-US" altLang="en-US" sz="2400" dirty="0"/>
              <a:t> the entire review? </a:t>
            </a:r>
          </a:p>
          <a:p>
            <a:pPr lvl="1" eaLnBrk="1" hangingPunct="1">
              <a:lnSpc>
                <a:spcPct val="80000"/>
              </a:lnSpc>
              <a:buFont typeface="Wingdings" panose="05000000000000000000" pitchFamily="2" charset="2"/>
              <a:buChar char="§"/>
            </a:pPr>
            <a:r>
              <a:rPr lang="en-US" altLang="en-US" sz="2400" dirty="0"/>
              <a:t>Does the introduction adequately introduce the topic? </a:t>
            </a:r>
          </a:p>
          <a:p>
            <a:endParaRPr lang="en-IN" sz="2400" dirty="0"/>
          </a:p>
        </p:txBody>
      </p:sp>
    </p:spTree>
    <p:extLst>
      <p:ext uri="{BB962C8B-B14F-4D97-AF65-F5344CB8AC3E}">
        <p14:creationId xmlns:p14="http://schemas.microsoft.com/office/powerpoint/2010/main" val="2876397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73FFB4-88E4-D93B-A8DB-B1D19B9B8E72}"/>
              </a:ext>
            </a:extLst>
          </p:cNvPr>
          <p:cNvSpPr>
            <a:spLocks noGrp="1"/>
          </p:cNvSpPr>
          <p:nvPr>
            <p:ph idx="1"/>
          </p:nvPr>
        </p:nvSpPr>
        <p:spPr/>
        <p:txBody>
          <a:bodyPr>
            <a:normAutofit/>
          </a:bodyPr>
          <a:lstStyle/>
          <a:p>
            <a:pPr lvl="1" eaLnBrk="1" hangingPunct="1">
              <a:lnSpc>
                <a:spcPct val="80000"/>
              </a:lnSpc>
              <a:buFont typeface="Wingdings" panose="05000000000000000000" pitchFamily="2" charset="2"/>
              <a:buChar char="§"/>
            </a:pPr>
            <a:r>
              <a:rPr lang="en-US" altLang="en-US" sz="2400" dirty="0"/>
              <a:t>Is the body </a:t>
            </a:r>
            <a:r>
              <a:rPr lang="en-US" altLang="en-US" sz="2400" dirty="0" err="1"/>
              <a:t>organised</a:t>
            </a:r>
            <a:r>
              <a:rPr lang="en-US" altLang="en-US" sz="2400" dirty="0"/>
              <a:t> logically? </a:t>
            </a:r>
          </a:p>
          <a:p>
            <a:pPr lvl="1" eaLnBrk="1" hangingPunct="1">
              <a:lnSpc>
                <a:spcPct val="80000"/>
              </a:lnSpc>
              <a:buFont typeface="Wingdings" panose="05000000000000000000" pitchFamily="2" charset="2"/>
              <a:buChar char="§"/>
            </a:pPr>
            <a:r>
              <a:rPr lang="en-US" altLang="en-US" sz="2400" dirty="0"/>
              <a:t>Does the conclusion interpret, </a:t>
            </a:r>
            <a:r>
              <a:rPr lang="en-US" altLang="en-US" sz="2400" dirty="0" err="1"/>
              <a:t>analyse</a:t>
            </a:r>
            <a:r>
              <a:rPr lang="en-US" altLang="en-US" sz="2400" dirty="0"/>
              <a:t> and evaluate? </a:t>
            </a:r>
          </a:p>
          <a:p>
            <a:pPr lvl="1" eaLnBrk="1" hangingPunct="1">
              <a:lnSpc>
                <a:spcPct val="80000"/>
              </a:lnSpc>
              <a:buFont typeface="Wingdings" panose="05000000000000000000" pitchFamily="2" charset="2"/>
              <a:buChar char="§"/>
            </a:pPr>
            <a:r>
              <a:rPr lang="en-US" altLang="en-US" sz="2400" dirty="0"/>
              <a:t>Are the recommendations reasonable? </a:t>
            </a:r>
          </a:p>
          <a:p>
            <a:pPr lvl="1" eaLnBrk="1" hangingPunct="1">
              <a:lnSpc>
                <a:spcPct val="80000"/>
              </a:lnSpc>
              <a:buFont typeface="Wingdings" panose="05000000000000000000" pitchFamily="2" charset="2"/>
              <a:buChar char="§"/>
            </a:pPr>
            <a:r>
              <a:rPr lang="en-US" altLang="en-US" sz="2400" dirty="0"/>
              <a:t>Does the table of contents correspond with the actual contents? Are page numbers correct? </a:t>
            </a:r>
          </a:p>
          <a:p>
            <a:pPr lvl="1" eaLnBrk="1" hangingPunct="1">
              <a:lnSpc>
                <a:spcPct val="80000"/>
              </a:lnSpc>
              <a:buFont typeface="Wingdings" panose="05000000000000000000" pitchFamily="2" charset="2"/>
              <a:buChar char="§"/>
            </a:pPr>
            <a:r>
              <a:rPr lang="en-US" altLang="en-US" sz="2400" dirty="0"/>
              <a:t>Have I acknowledged all sources of information through correct referencing? </a:t>
            </a:r>
          </a:p>
          <a:p>
            <a:pPr lvl="1" eaLnBrk="1" hangingPunct="1">
              <a:lnSpc>
                <a:spcPct val="80000"/>
              </a:lnSpc>
              <a:buFont typeface="Wingdings" panose="05000000000000000000" pitchFamily="2" charset="2"/>
              <a:buChar char="§"/>
            </a:pPr>
            <a:r>
              <a:rPr lang="en-US" altLang="en-US" sz="2400" dirty="0"/>
              <a:t>Have I checked spelling, grammar and punctuation? </a:t>
            </a:r>
          </a:p>
          <a:p>
            <a:pPr lvl="1" eaLnBrk="1" hangingPunct="1">
              <a:lnSpc>
                <a:spcPct val="80000"/>
              </a:lnSpc>
              <a:buFont typeface="Wingdings" panose="05000000000000000000" pitchFamily="2" charset="2"/>
              <a:buChar char="§"/>
            </a:pPr>
            <a:r>
              <a:rPr lang="en-US" altLang="en-US" sz="2400" dirty="0"/>
              <a:t>Have I carefully proof-read the final draft?</a:t>
            </a:r>
          </a:p>
          <a:p>
            <a:pPr lvl="1" eaLnBrk="1" hangingPunct="1">
              <a:lnSpc>
                <a:spcPct val="80000"/>
              </a:lnSpc>
              <a:buFont typeface="Wingdings" panose="05000000000000000000" pitchFamily="2" charset="2"/>
              <a:buChar char="§"/>
            </a:pPr>
            <a:endParaRPr lang="en-US" altLang="en-US" sz="2400" dirty="0"/>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1135115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4A2EC-4793-CF76-F12A-49D4CD5447C7}"/>
              </a:ext>
            </a:extLst>
          </p:cNvPr>
          <p:cNvSpPr>
            <a:spLocks noGrp="1"/>
          </p:cNvSpPr>
          <p:nvPr>
            <p:ph type="title"/>
          </p:nvPr>
        </p:nvSpPr>
        <p:spPr/>
        <p:txBody>
          <a:bodyPr>
            <a:normAutofit/>
          </a:bodyPr>
          <a:lstStyle/>
          <a:p>
            <a:r>
              <a:rPr lang="en-US" altLang="en-US" sz="4400" b="1" dirty="0"/>
              <a:t>How to review?</a:t>
            </a:r>
            <a:endParaRPr lang="en-IN" sz="4400" b="1" dirty="0"/>
          </a:p>
        </p:txBody>
      </p:sp>
      <p:sp>
        <p:nvSpPr>
          <p:cNvPr id="3" name="Content Placeholder 2">
            <a:extLst>
              <a:ext uri="{FF2B5EF4-FFF2-40B4-BE49-F238E27FC236}">
                <a16:creationId xmlns:a16="http://schemas.microsoft.com/office/drawing/2014/main" id="{410E8ED2-3A0D-DA50-5DF7-34DB32EA6112}"/>
              </a:ext>
            </a:extLst>
          </p:cNvPr>
          <p:cNvSpPr>
            <a:spLocks noGrp="1"/>
          </p:cNvSpPr>
          <p:nvPr>
            <p:ph idx="1"/>
          </p:nvPr>
        </p:nvSpPr>
        <p:spPr/>
        <p:txBody>
          <a:bodyPr>
            <a:normAutofit/>
          </a:bodyPr>
          <a:lstStyle/>
          <a:p>
            <a:r>
              <a:rPr lang="en-US" altLang="en-US" sz="2400" dirty="0"/>
              <a:t>The whole process of reviewing includes:</a:t>
            </a:r>
          </a:p>
          <a:p>
            <a:pPr lvl="1" eaLnBrk="1" hangingPunct="1">
              <a:buFont typeface="Wingdings" panose="05000000000000000000" pitchFamily="2" charset="2"/>
              <a:buNone/>
            </a:pPr>
            <a:r>
              <a:rPr lang="en-US" altLang="en-US" sz="2400" dirty="0"/>
              <a:t>	a. Searching for literature</a:t>
            </a:r>
            <a:br>
              <a:rPr lang="en-US" altLang="en-US" sz="2400" dirty="0"/>
            </a:br>
            <a:r>
              <a:rPr lang="en-US" altLang="en-US" sz="2400" dirty="0"/>
              <a:t>b. Sorting and prioritizing the retrieved literature</a:t>
            </a:r>
            <a:br>
              <a:rPr lang="en-US" altLang="en-US" sz="2400" dirty="0"/>
            </a:br>
            <a:r>
              <a:rPr lang="en-US" altLang="en-US" sz="2400" dirty="0"/>
              <a:t>c. Analytical reading of papers</a:t>
            </a:r>
            <a:br>
              <a:rPr lang="en-US" altLang="en-US" sz="2400" dirty="0"/>
            </a:br>
            <a:r>
              <a:rPr lang="en-US" altLang="en-US" sz="2400" dirty="0"/>
              <a:t>d. Evaluative reading of papers</a:t>
            </a:r>
            <a:br>
              <a:rPr lang="en-US" altLang="en-US" sz="2400" dirty="0"/>
            </a:br>
            <a:r>
              <a:rPr lang="en-US" altLang="en-US" sz="2400" dirty="0"/>
              <a:t>e. Comparison across studies</a:t>
            </a:r>
            <a:br>
              <a:rPr lang="en-US" altLang="en-US" sz="2400" dirty="0"/>
            </a:br>
            <a:r>
              <a:rPr lang="en-US" altLang="en-US" sz="2400" dirty="0"/>
              <a:t>f.  Organizing the content</a:t>
            </a:r>
            <a:br>
              <a:rPr lang="en-US" altLang="en-US" sz="2400" dirty="0"/>
            </a:br>
            <a:r>
              <a:rPr lang="en-US" altLang="en-US" sz="2400" dirty="0"/>
              <a:t>g. Writing the review</a:t>
            </a:r>
          </a:p>
          <a:p>
            <a:endParaRPr lang="en-IN" sz="2400" dirty="0"/>
          </a:p>
        </p:txBody>
      </p:sp>
    </p:spTree>
    <p:extLst>
      <p:ext uri="{BB962C8B-B14F-4D97-AF65-F5344CB8AC3E}">
        <p14:creationId xmlns:p14="http://schemas.microsoft.com/office/powerpoint/2010/main" val="32096946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92906-9B3E-EADD-45AE-D89D99377041}"/>
              </a:ext>
            </a:extLst>
          </p:cNvPr>
          <p:cNvSpPr>
            <a:spLocks noGrp="1"/>
          </p:cNvSpPr>
          <p:nvPr>
            <p:ph idx="1"/>
          </p:nvPr>
        </p:nvSpPr>
        <p:spPr>
          <a:xfrm>
            <a:off x="2589212" y="899410"/>
            <a:ext cx="8915400" cy="5011812"/>
          </a:xfrm>
        </p:spPr>
        <p:txBody>
          <a:bodyPr>
            <a:normAutofit/>
          </a:bodyPr>
          <a:lstStyle/>
          <a:p>
            <a:r>
              <a:rPr lang="en-US" altLang="en-US" sz="2600" b="1" dirty="0"/>
              <a:t>Comparison across studies</a:t>
            </a:r>
            <a:endParaRPr lang="en-US" altLang="en-US" sz="2600" dirty="0"/>
          </a:p>
          <a:p>
            <a:pPr lvl="1" eaLnBrk="1" hangingPunct="1">
              <a:lnSpc>
                <a:spcPct val="80000"/>
              </a:lnSpc>
              <a:buFont typeface="Wingdings" panose="05000000000000000000" pitchFamily="2" charset="2"/>
              <a:buChar char="§"/>
            </a:pPr>
            <a:r>
              <a:rPr lang="en-US" altLang="en-US" sz="2400" dirty="0"/>
              <a:t>The aim is to extract key points by comparing and contrasting ACROSS studies, instead of reading one paper after another.</a:t>
            </a:r>
          </a:p>
          <a:p>
            <a:pPr lvl="1" eaLnBrk="1" hangingPunct="1">
              <a:lnSpc>
                <a:spcPct val="80000"/>
              </a:lnSpc>
              <a:buFont typeface="Wingdings" panose="05000000000000000000" pitchFamily="2" charset="2"/>
              <a:buChar char="§"/>
            </a:pPr>
            <a:r>
              <a:rPr lang="en-US" altLang="en-US" sz="2400" dirty="0"/>
              <a:t>Key points for a review may concern areas of similarities and/or differences in:</a:t>
            </a:r>
          </a:p>
          <a:p>
            <a:pPr lvl="1" eaLnBrk="1" hangingPunct="1">
              <a:lnSpc>
                <a:spcPct val="80000"/>
              </a:lnSpc>
              <a:buFont typeface="Wingdings" panose="05000000000000000000" pitchFamily="2" charset="2"/>
              <a:buChar char="§"/>
            </a:pPr>
            <a:r>
              <a:rPr lang="en-US" altLang="en-US" sz="2400" dirty="0"/>
              <a:t>Research aim(s) or hypotheses </a:t>
            </a:r>
          </a:p>
          <a:p>
            <a:pPr lvl="1" eaLnBrk="1" hangingPunct="1">
              <a:lnSpc>
                <a:spcPct val="80000"/>
              </a:lnSpc>
              <a:buFont typeface="Wingdings" panose="05000000000000000000" pitchFamily="2" charset="2"/>
              <a:buChar char="§"/>
            </a:pPr>
            <a:r>
              <a:rPr lang="en-US" altLang="en-US" sz="2400" dirty="0"/>
              <a:t>Research design and sampling </a:t>
            </a:r>
          </a:p>
          <a:p>
            <a:pPr lvl="1" eaLnBrk="1" hangingPunct="1">
              <a:lnSpc>
                <a:spcPct val="80000"/>
              </a:lnSpc>
              <a:buFont typeface="Wingdings" panose="05000000000000000000" pitchFamily="2" charset="2"/>
              <a:buChar char="§"/>
            </a:pPr>
            <a:r>
              <a:rPr lang="en-US" altLang="en-US" sz="2400" dirty="0"/>
              <a:t>Instruments and procedures used </a:t>
            </a:r>
          </a:p>
          <a:p>
            <a:pPr lvl="1" eaLnBrk="1" hangingPunct="1">
              <a:lnSpc>
                <a:spcPct val="80000"/>
              </a:lnSpc>
              <a:buFont typeface="Wingdings" panose="05000000000000000000" pitchFamily="2" charset="2"/>
              <a:buChar char="§"/>
            </a:pPr>
            <a:r>
              <a:rPr lang="en-US" altLang="en-US" sz="2400" dirty="0"/>
              <a:t>How data were </a:t>
            </a:r>
            <a:r>
              <a:rPr lang="en-US" altLang="en-US" sz="2400" dirty="0" err="1"/>
              <a:t>analysed</a:t>
            </a:r>
            <a:r>
              <a:rPr lang="en-US" altLang="en-US" sz="2400" dirty="0"/>
              <a:t> </a:t>
            </a:r>
          </a:p>
          <a:p>
            <a:pPr lvl="1" eaLnBrk="1" hangingPunct="1">
              <a:lnSpc>
                <a:spcPct val="80000"/>
              </a:lnSpc>
              <a:buFont typeface="Wingdings" panose="05000000000000000000" pitchFamily="2" charset="2"/>
              <a:buChar char="§"/>
            </a:pPr>
            <a:r>
              <a:rPr lang="en-US" altLang="en-US" sz="2400" dirty="0"/>
              <a:t>Results or findings </a:t>
            </a:r>
          </a:p>
          <a:p>
            <a:pPr lvl="1" eaLnBrk="1" hangingPunct="1">
              <a:lnSpc>
                <a:spcPct val="80000"/>
              </a:lnSpc>
              <a:buFont typeface="Wingdings" panose="05000000000000000000" pitchFamily="2" charset="2"/>
              <a:buChar char="§"/>
            </a:pPr>
            <a:r>
              <a:rPr lang="en-US" altLang="en-US" sz="2400" dirty="0"/>
              <a:t>Interpretations </a:t>
            </a:r>
          </a:p>
          <a:p>
            <a:pPr eaLnBrk="1" hangingPunct="1">
              <a:lnSpc>
                <a:spcPct val="80000"/>
              </a:lnSpc>
              <a:buFont typeface="Wingdings" panose="05000000000000000000" pitchFamily="2" charset="2"/>
              <a:buChar char="§"/>
            </a:pPr>
            <a:endParaRPr lang="en-US" altLang="en-US" sz="2600" dirty="0"/>
          </a:p>
          <a:p>
            <a:endParaRPr lang="en-IN" dirty="0"/>
          </a:p>
        </p:txBody>
      </p:sp>
    </p:spTree>
    <p:extLst>
      <p:ext uri="{BB962C8B-B14F-4D97-AF65-F5344CB8AC3E}">
        <p14:creationId xmlns:p14="http://schemas.microsoft.com/office/powerpoint/2010/main" val="2807643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BFEA9F-8355-A242-2879-00ED166EDA80}"/>
              </a:ext>
            </a:extLst>
          </p:cNvPr>
          <p:cNvSpPr>
            <a:spLocks noGrp="1"/>
          </p:cNvSpPr>
          <p:nvPr>
            <p:ph idx="1"/>
          </p:nvPr>
        </p:nvSpPr>
        <p:spPr>
          <a:xfrm>
            <a:off x="2589212" y="1543987"/>
            <a:ext cx="8915400" cy="4367235"/>
          </a:xfrm>
        </p:spPr>
        <p:txBody>
          <a:bodyPr>
            <a:noAutofit/>
          </a:bodyPr>
          <a:lstStyle/>
          <a:p>
            <a:r>
              <a:rPr lang="en-US" altLang="en-US" sz="2400" dirty="0"/>
              <a:t>Find similarities and differences between studies at </a:t>
            </a:r>
            <a:r>
              <a:rPr lang="en-US" altLang="en-US" sz="2400" b="1" dirty="0"/>
              <a:t>different levels</a:t>
            </a:r>
            <a:r>
              <a:rPr lang="en-US" altLang="en-US" sz="2400" dirty="0"/>
              <a:t>, e.g.:</a:t>
            </a:r>
          </a:p>
          <a:p>
            <a:pPr eaLnBrk="1" hangingPunct="1">
              <a:buFont typeface="Wingdings" panose="05000000000000000000" pitchFamily="2" charset="2"/>
              <a:buNone/>
            </a:pPr>
            <a:r>
              <a:rPr lang="en-US" altLang="en-US" sz="2400" dirty="0"/>
              <a:t>	- philosophy</a:t>
            </a:r>
            <a:br>
              <a:rPr lang="en-US" altLang="en-US" sz="2400" dirty="0"/>
            </a:br>
            <a:r>
              <a:rPr lang="en-US" altLang="en-US" sz="2400" dirty="0"/>
              <a:t>- epistemology</a:t>
            </a:r>
            <a:br>
              <a:rPr lang="en-US" altLang="en-US" sz="2400" dirty="0"/>
            </a:br>
            <a:r>
              <a:rPr lang="en-US" altLang="en-US" sz="2400" dirty="0"/>
              <a:t>- morality</a:t>
            </a:r>
            <a:br>
              <a:rPr lang="en-US" altLang="en-US" sz="2400" dirty="0"/>
            </a:br>
            <a:r>
              <a:rPr lang="en-US" altLang="en-US" sz="2400" dirty="0"/>
              <a:t>- methodology</a:t>
            </a:r>
            <a:br>
              <a:rPr lang="en-US" altLang="en-US" sz="2400" dirty="0"/>
            </a:br>
            <a:r>
              <a:rPr lang="en-US" altLang="en-US" sz="2400" dirty="0"/>
              <a:t>- methods</a:t>
            </a:r>
            <a:br>
              <a:rPr lang="en-US" altLang="en-US" sz="2400" dirty="0"/>
            </a:br>
            <a:r>
              <a:rPr lang="en-US" altLang="en-US" sz="2400" dirty="0"/>
              <a:t>- types of data</a:t>
            </a:r>
            <a:br>
              <a:rPr lang="en-US" altLang="en-US" sz="2400" dirty="0"/>
            </a:br>
            <a:r>
              <a:rPr lang="en-US" altLang="en-US" sz="2400" dirty="0"/>
              <a:t>- data analysis</a:t>
            </a:r>
            <a:br>
              <a:rPr lang="en-US" altLang="en-US" sz="2400" dirty="0"/>
            </a:br>
            <a:r>
              <a:rPr lang="en-US" altLang="en-US" sz="2400" dirty="0"/>
              <a:t>- interpretation</a:t>
            </a:r>
          </a:p>
          <a:p>
            <a:endParaRPr lang="en-IN" sz="2400" dirty="0"/>
          </a:p>
        </p:txBody>
      </p:sp>
    </p:spTree>
    <p:extLst>
      <p:ext uri="{BB962C8B-B14F-4D97-AF65-F5344CB8AC3E}">
        <p14:creationId xmlns:p14="http://schemas.microsoft.com/office/powerpoint/2010/main" val="32399719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EED155-7D45-36F4-21D7-9E96ADA3440C}"/>
              </a:ext>
            </a:extLst>
          </p:cNvPr>
          <p:cNvSpPr>
            <a:spLocks noGrp="1"/>
          </p:cNvSpPr>
          <p:nvPr>
            <p:ph idx="1"/>
          </p:nvPr>
        </p:nvSpPr>
        <p:spPr>
          <a:xfrm>
            <a:off x="2589212" y="779489"/>
            <a:ext cx="8915400" cy="5131733"/>
          </a:xfrm>
        </p:spPr>
        <p:txBody>
          <a:bodyPr/>
          <a:lstStyle/>
          <a:p>
            <a:r>
              <a:rPr lang="en-US" sz="2400" dirty="0"/>
              <a:t>Set out your thinking on paper through </a:t>
            </a:r>
            <a:r>
              <a:rPr lang="en-US" sz="2400" b="1" dirty="0"/>
              <a:t>maps</a:t>
            </a:r>
            <a:r>
              <a:rPr lang="en-US" sz="2400" dirty="0"/>
              <a:t> and </a:t>
            </a:r>
            <a:r>
              <a:rPr lang="en-US" sz="2400" b="1" dirty="0"/>
              <a:t>trees</a:t>
            </a:r>
            <a:r>
              <a:rPr lang="en-US" sz="2400" dirty="0"/>
              <a:t>.</a:t>
            </a:r>
          </a:p>
          <a:p>
            <a:pPr marL="274320" indent="-274320" eaLnBrk="1" fontAlgn="auto" hangingPunct="1">
              <a:spcAft>
                <a:spcPts val="0"/>
              </a:spcAft>
              <a:buClr>
                <a:schemeClr val="accent3"/>
              </a:buClr>
              <a:buFont typeface="Wingdings 2"/>
              <a:buChar char=""/>
              <a:defRPr/>
            </a:pPr>
            <a:endParaRPr lang="en-US" sz="1800" dirty="0"/>
          </a:p>
          <a:p>
            <a:endParaRPr lang="en-IN" dirty="0"/>
          </a:p>
        </p:txBody>
      </p:sp>
      <p:graphicFrame>
        <p:nvGraphicFramePr>
          <p:cNvPr id="4" name="Object 5">
            <a:extLst>
              <a:ext uri="{FF2B5EF4-FFF2-40B4-BE49-F238E27FC236}">
                <a16:creationId xmlns:a16="http://schemas.microsoft.com/office/drawing/2014/main" id="{482317EF-E65D-54AE-D331-A1801D99AFA9}"/>
              </a:ext>
            </a:extLst>
          </p:cNvPr>
          <p:cNvGraphicFramePr>
            <a:graphicFrameLocks noChangeAspect="1"/>
          </p:cNvGraphicFramePr>
          <p:nvPr>
            <p:extLst>
              <p:ext uri="{D42A27DB-BD31-4B8C-83A1-F6EECF244321}">
                <p14:modId xmlns:p14="http://schemas.microsoft.com/office/powerpoint/2010/main" val="2543809714"/>
              </p:ext>
            </p:extLst>
          </p:nvPr>
        </p:nvGraphicFramePr>
        <p:xfrm>
          <a:off x="2654106" y="2055497"/>
          <a:ext cx="9053211" cy="4589142"/>
        </p:xfrm>
        <a:graphic>
          <a:graphicData uri="http://schemas.openxmlformats.org/presentationml/2006/ole">
            <mc:AlternateContent xmlns:mc="http://schemas.openxmlformats.org/markup-compatibility/2006">
              <mc:Choice xmlns:v="urn:schemas-microsoft-com:vml" Requires="v">
                <p:oleObj name="Document" r:id="rId2" imgW="5592361" imgH="1561892" progId="Word.Document.8">
                  <p:embed/>
                </p:oleObj>
              </mc:Choice>
              <mc:Fallback>
                <p:oleObj name="Document" r:id="rId2" imgW="5592361" imgH="1561892" progId="Word.Document.8">
                  <p:embed/>
                  <p:pic>
                    <p:nvPicPr>
                      <p:cNvPr id="2050" name="Object 5">
                        <a:extLst>
                          <a:ext uri="{FF2B5EF4-FFF2-40B4-BE49-F238E27FC236}">
                            <a16:creationId xmlns:a16="http://schemas.microsoft.com/office/drawing/2014/main" id="{69D01F09-7404-D77F-213C-52A1F3416A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106" y="2055497"/>
                        <a:ext cx="9053211" cy="458914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41670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9BB2E9-7EBD-464A-E9DE-C9B087185D3F}"/>
              </a:ext>
            </a:extLst>
          </p:cNvPr>
          <p:cNvSpPr>
            <a:spLocks noGrp="1"/>
          </p:cNvSpPr>
          <p:nvPr>
            <p:ph idx="1"/>
          </p:nvPr>
        </p:nvSpPr>
        <p:spPr>
          <a:xfrm>
            <a:off x="2589212" y="809469"/>
            <a:ext cx="8915400" cy="5101753"/>
          </a:xfrm>
        </p:spPr>
        <p:txBody>
          <a:bodyPr/>
          <a:lstStyle/>
          <a:p>
            <a:r>
              <a:rPr lang="en-US" altLang="en-US" sz="2400" dirty="0"/>
              <a:t>Tips on writing</a:t>
            </a:r>
          </a:p>
          <a:p>
            <a:pPr marL="0" indent="0">
              <a:buNone/>
            </a:pPr>
            <a:endParaRPr lang="en-IN" dirty="0"/>
          </a:p>
        </p:txBody>
      </p:sp>
      <p:graphicFrame>
        <p:nvGraphicFramePr>
          <p:cNvPr id="5" name="Object 4">
            <a:extLst>
              <a:ext uri="{FF2B5EF4-FFF2-40B4-BE49-F238E27FC236}">
                <a16:creationId xmlns:a16="http://schemas.microsoft.com/office/drawing/2014/main" id="{04720A1C-2693-EFF7-7F64-6E5B43E9348B}"/>
              </a:ext>
            </a:extLst>
          </p:cNvPr>
          <p:cNvGraphicFramePr>
            <a:graphicFrameLocks noChangeAspect="1"/>
          </p:cNvGraphicFramePr>
          <p:nvPr>
            <p:extLst>
              <p:ext uri="{D42A27DB-BD31-4B8C-83A1-F6EECF244321}">
                <p14:modId xmlns:p14="http://schemas.microsoft.com/office/powerpoint/2010/main" val="434214597"/>
              </p:ext>
            </p:extLst>
          </p:nvPr>
        </p:nvGraphicFramePr>
        <p:xfrm>
          <a:off x="3061845" y="1708879"/>
          <a:ext cx="8225748" cy="4851357"/>
        </p:xfrm>
        <a:graphic>
          <a:graphicData uri="http://schemas.openxmlformats.org/presentationml/2006/ole">
            <mc:AlternateContent xmlns:mc="http://schemas.openxmlformats.org/markup-compatibility/2006">
              <mc:Choice xmlns:v="urn:schemas-microsoft-com:vml" Requires="v">
                <p:oleObj name="Document" r:id="rId2" imgW="5592361" imgH="2875121" progId="Word.Document.8">
                  <p:embed/>
                </p:oleObj>
              </mc:Choice>
              <mc:Fallback>
                <p:oleObj name="Document" r:id="rId2" imgW="5592361" imgH="2875121" progId="Word.Document.8">
                  <p:embed/>
                  <p:pic>
                    <p:nvPicPr>
                      <p:cNvPr id="3074" name="Object 4">
                        <a:extLst>
                          <a:ext uri="{FF2B5EF4-FFF2-40B4-BE49-F238E27FC236}">
                            <a16:creationId xmlns:a16="http://schemas.microsoft.com/office/drawing/2014/main" id="{0F63F487-729A-7967-4B5A-A05985BF2E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1845" y="1708879"/>
                        <a:ext cx="8225748" cy="485135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012194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F859A9-6AE1-FBB2-F2ED-2B4D07950F02}"/>
              </a:ext>
            </a:extLst>
          </p:cNvPr>
          <p:cNvSpPr>
            <a:spLocks noGrp="1"/>
          </p:cNvSpPr>
          <p:nvPr>
            <p:ph idx="1"/>
          </p:nvPr>
        </p:nvSpPr>
        <p:spPr/>
        <p:txBody>
          <a:bodyPr>
            <a:normAutofit/>
          </a:bodyPr>
          <a:lstStyle/>
          <a:p>
            <a:r>
              <a:rPr lang="en-US" altLang="en-US" sz="2400" b="1" dirty="0"/>
              <a:t>Pitfalls </a:t>
            </a:r>
          </a:p>
          <a:p>
            <a:pPr lvl="1" eaLnBrk="1" hangingPunct="1">
              <a:buFont typeface="Wingdings" panose="05000000000000000000" pitchFamily="2" charset="2"/>
              <a:buNone/>
            </a:pPr>
            <a:r>
              <a:rPr lang="en-US" altLang="en-US" sz="2400" b="1" dirty="0"/>
              <a:t>	- </a:t>
            </a:r>
            <a:r>
              <a:rPr lang="en-US" altLang="en-US" sz="2400" dirty="0"/>
              <a:t>Vagueness due to too much or  </a:t>
            </a:r>
          </a:p>
          <a:p>
            <a:pPr lvl="1" eaLnBrk="1" hangingPunct="1">
              <a:buFont typeface="Wingdings" panose="05000000000000000000" pitchFamily="2" charset="2"/>
              <a:buNone/>
            </a:pPr>
            <a:r>
              <a:rPr lang="en-US" altLang="en-US" sz="2400" dirty="0"/>
              <a:t>        inappropriate </a:t>
            </a:r>
            <a:r>
              <a:rPr lang="en-US" altLang="en-US" sz="2400" dirty="0" err="1"/>
              <a:t>generalisations</a:t>
            </a:r>
            <a:br>
              <a:rPr lang="en-US" altLang="en-US" sz="2400" dirty="0"/>
            </a:br>
            <a:r>
              <a:rPr lang="en-US" altLang="en-US" sz="2400" dirty="0"/>
              <a:t>- Limited range</a:t>
            </a:r>
            <a:br>
              <a:rPr lang="en-US" altLang="en-US" sz="2400" dirty="0"/>
            </a:br>
            <a:r>
              <a:rPr lang="en-US" altLang="en-US" sz="2400" dirty="0"/>
              <a:t>- Insufficient information</a:t>
            </a:r>
            <a:br>
              <a:rPr lang="en-US" altLang="en-US" sz="2400" dirty="0"/>
            </a:br>
            <a:r>
              <a:rPr lang="en-US" altLang="en-US" sz="2400" dirty="0"/>
              <a:t>- Irrelevant material</a:t>
            </a:r>
            <a:br>
              <a:rPr lang="en-US" altLang="en-US" sz="2400" dirty="0"/>
            </a:br>
            <a:r>
              <a:rPr lang="en-US" altLang="en-US" sz="2400" dirty="0"/>
              <a:t>- Omission of contrasting view</a:t>
            </a:r>
            <a:br>
              <a:rPr lang="en-US" altLang="en-US" sz="2400" dirty="0"/>
            </a:br>
            <a:r>
              <a:rPr lang="en-US" altLang="en-US" sz="2400" dirty="0"/>
              <a:t>- Omission of recent work</a:t>
            </a:r>
          </a:p>
          <a:p>
            <a:endParaRPr lang="en-IN" sz="2400" dirty="0"/>
          </a:p>
        </p:txBody>
      </p:sp>
    </p:spTree>
    <p:extLst>
      <p:ext uri="{BB962C8B-B14F-4D97-AF65-F5344CB8AC3E}">
        <p14:creationId xmlns:p14="http://schemas.microsoft.com/office/powerpoint/2010/main" val="19332259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D3362B-25F7-7A8C-5F79-7125B464EE54}"/>
              </a:ext>
            </a:extLst>
          </p:cNvPr>
          <p:cNvSpPr>
            <a:spLocks noGrp="1"/>
          </p:cNvSpPr>
          <p:nvPr>
            <p:ph idx="1"/>
          </p:nvPr>
        </p:nvSpPr>
        <p:spPr>
          <a:xfrm>
            <a:off x="2589212" y="709537"/>
            <a:ext cx="8915400" cy="3777622"/>
          </a:xfrm>
        </p:spPr>
        <p:txBody>
          <a:bodyPr>
            <a:noAutofit/>
          </a:bodyPr>
          <a:lstStyle/>
          <a:p>
            <a:r>
              <a:rPr lang="en-US" altLang="en-US" sz="2400" dirty="0"/>
              <a:t>Early works have addressed some of the problems and issues discussed in video retrieval.</a:t>
            </a:r>
          </a:p>
          <a:p>
            <a:pPr eaLnBrk="1" hangingPunct="1">
              <a:lnSpc>
                <a:spcPct val="80000"/>
              </a:lnSpc>
              <a:buFont typeface="Wingdings" panose="05000000000000000000" pitchFamily="2" charset="2"/>
              <a:buNone/>
            </a:pPr>
            <a:r>
              <a:rPr lang="en-US" altLang="en-US" sz="2400" dirty="0"/>
              <a:t> Researchers have developed ideas and tools for supporting video editing, for example in [8]. They have defined a seamless video editing in the gradient domain. </a:t>
            </a:r>
          </a:p>
          <a:p>
            <a:pPr eaLnBrk="1" hangingPunct="1">
              <a:lnSpc>
                <a:spcPct val="80000"/>
              </a:lnSpc>
              <a:buFont typeface="Wingdings" panose="05000000000000000000" pitchFamily="2" charset="2"/>
              <a:buNone/>
            </a:pPr>
            <a:r>
              <a:rPr lang="en-US" altLang="en-US" sz="2400" dirty="0"/>
              <a:t>The </a:t>
            </a:r>
            <a:r>
              <a:rPr lang="en-US" altLang="en-US" sz="2400" dirty="0" err="1"/>
              <a:t>spatio</a:t>
            </a:r>
            <a:r>
              <a:rPr lang="en-US" altLang="en-US" sz="2400" dirty="0"/>
              <a:t>-temporal gradient fields of target videos are modified or mixed to generate a new gradient field, which is usually not integrate able. </a:t>
            </a:r>
          </a:p>
          <a:p>
            <a:pPr eaLnBrk="1" hangingPunct="1">
              <a:lnSpc>
                <a:spcPct val="80000"/>
              </a:lnSpc>
              <a:buFont typeface="Wingdings" panose="05000000000000000000" pitchFamily="2" charset="2"/>
              <a:buNone/>
            </a:pPr>
            <a:r>
              <a:rPr lang="en-US" altLang="en-US" sz="2400" dirty="0"/>
              <a:t>They have also described how semantic information about video can be structured and used for content-based access. From a general video archive point of view, the problem with this tool is the lack of support for managing video document structures.</a:t>
            </a:r>
          </a:p>
          <a:p>
            <a:pPr eaLnBrk="1" hangingPunct="1">
              <a:lnSpc>
                <a:spcPct val="80000"/>
              </a:lnSpc>
              <a:buFont typeface="Wingdings" panose="05000000000000000000" pitchFamily="2" charset="2"/>
              <a:buNone/>
            </a:pPr>
            <a:r>
              <a:rPr lang="en-US" altLang="en-US" sz="2400" dirty="0"/>
              <a:t> A digital video archive serving different categories of users should offer a more structured way of describing video contents </a:t>
            </a:r>
          </a:p>
          <a:p>
            <a:endParaRPr lang="en-IN" sz="2400" dirty="0"/>
          </a:p>
        </p:txBody>
      </p:sp>
    </p:spTree>
    <p:extLst>
      <p:ext uri="{BB962C8B-B14F-4D97-AF65-F5344CB8AC3E}">
        <p14:creationId xmlns:p14="http://schemas.microsoft.com/office/powerpoint/2010/main" val="1480419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3ECDF-29FB-4733-88CB-E8877B7164F3}"/>
              </a:ext>
            </a:extLst>
          </p:cNvPr>
          <p:cNvSpPr>
            <a:spLocks noGrp="1"/>
          </p:cNvSpPr>
          <p:nvPr>
            <p:ph idx="1"/>
          </p:nvPr>
        </p:nvSpPr>
        <p:spPr>
          <a:xfrm>
            <a:off x="2589212" y="389744"/>
            <a:ext cx="8915400" cy="6355830"/>
          </a:xfrm>
        </p:spPr>
        <p:txBody>
          <a:bodyPr>
            <a:noAutofit/>
          </a:bodyPr>
          <a:lstStyle/>
          <a:p>
            <a:pPr algn="just"/>
            <a:r>
              <a:rPr lang="en-US" b="1" dirty="0"/>
              <a:t>Srivastava, S. (2014). </a:t>
            </a:r>
            <a:r>
              <a:rPr lang="en-US" dirty="0"/>
              <a:t>Studies science achievement as predictor of scientific attitude. The researcher describes how science achievement predicts scientific attitude of secondary school students. For this study, researcher collected a sample of 480 IX standard students which includes 240 girls and 240 boys through multistage random sampling. The scientific attitude questionnaire by K S Mishra was adopted by researcher for studying scientific attitude of secondary students. Science achievement test was developed by investigator to measure science achievement of secondary school students. The analysis was done by using t-test and product moment correlation as a statistical tool. The findings states that girls shows more ability to apply knowledge in science than the boys of secondary class but both the gender does not differ in knowledge and comprehension in science from one another. It indicates that female students with high achievement in science are more likely to have high level of scientific attitude in intent as well as action while achievement in science do not influence scientific attitude in intent as well as action among male students. Findings indicate that male students with more ability to comprehend in science are not likely to have better scientific attitude in their action. Perhaps male students perceive more stress in their environment and it might negatively affect the development of scientific attitude in action. So, science educators should provide more personal autonomy to male students and increase their motivation for learning science.</a:t>
            </a:r>
            <a:endParaRPr lang="en-IN" dirty="0"/>
          </a:p>
        </p:txBody>
      </p:sp>
    </p:spTree>
    <p:extLst>
      <p:ext uri="{BB962C8B-B14F-4D97-AF65-F5344CB8AC3E}">
        <p14:creationId xmlns:p14="http://schemas.microsoft.com/office/powerpoint/2010/main" val="30430592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2315C-CF5F-6291-2072-F7944144FE9B}"/>
              </a:ext>
            </a:extLst>
          </p:cNvPr>
          <p:cNvSpPr>
            <a:spLocks noGrp="1"/>
          </p:cNvSpPr>
          <p:nvPr>
            <p:ph type="title"/>
          </p:nvPr>
        </p:nvSpPr>
        <p:spPr/>
        <p:txBody>
          <a:bodyPr>
            <a:normAutofit/>
          </a:bodyPr>
          <a:lstStyle/>
          <a:p>
            <a:r>
              <a:rPr lang="en-IN" sz="4400" b="1" dirty="0"/>
              <a:t>SCOPE OF REVIEW</a:t>
            </a:r>
          </a:p>
        </p:txBody>
      </p:sp>
      <p:sp>
        <p:nvSpPr>
          <p:cNvPr id="3" name="Content Placeholder 2">
            <a:extLst>
              <a:ext uri="{FF2B5EF4-FFF2-40B4-BE49-F238E27FC236}">
                <a16:creationId xmlns:a16="http://schemas.microsoft.com/office/drawing/2014/main" id="{C19FCEE2-62B9-1BB7-481A-7B06E775D7A7}"/>
              </a:ext>
            </a:extLst>
          </p:cNvPr>
          <p:cNvSpPr>
            <a:spLocks noGrp="1"/>
          </p:cNvSpPr>
          <p:nvPr>
            <p:ph idx="1"/>
          </p:nvPr>
        </p:nvSpPr>
        <p:spPr/>
        <p:txBody>
          <a:bodyPr>
            <a:normAutofit/>
          </a:bodyPr>
          <a:lstStyle/>
          <a:p>
            <a:r>
              <a:rPr lang="en-US" sz="2400" dirty="0"/>
              <a:t>How many studies do you need to look at? </a:t>
            </a:r>
          </a:p>
          <a:p>
            <a:r>
              <a:rPr lang="en-US" sz="2400" dirty="0"/>
              <a:t>How comprehensive should it be? </a:t>
            </a:r>
          </a:p>
          <a:p>
            <a:r>
              <a:rPr lang="en-US" sz="2400" dirty="0"/>
              <a:t>How many years should it cover? </a:t>
            </a:r>
            <a:endParaRPr lang="en-IN" sz="2400" dirty="0"/>
          </a:p>
        </p:txBody>
      </p:sp>
    </p:spTree>
    <p:extLst>
      <p:ext uri="{BB962C8B-B14F-4D97-AF65-F5344CB8AC3E}">
        <p14:creationId xmlns:p14="http://schemas.microsoft.com/office/powerpoint/2010/main" val="2187673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0BFA6-5F01-9290-6F60-EC04E5A41744}"/>
              </a:ext>
            </a:extLst>
          </p:cNvPr>
          <p:cNvSpPr>
            <a:spLocks noGrp="1"/>
          </p:cNvSpPr>
          <p:nvPr>
            <p:ph type="title"/>
          </p:nvPr>
        </p:nvSpPr>
        <p:spPr/>
        <p:txBody>
          <a:bodyPr>
            <a:normAutofit/>
          </a:bodyPr>
          <a:lstStyle/>
          <a:p>
            <a:r>
              <a:rPr lang="en-IN" sz="4400" b="1" dirty="0"/>
              <a:t>TYPES OF SOURCES</a:t>
            </a:r>
          </a:p>
        </p:txBody>
      </p:sp>
      <p:sp>
        <p:nvSpPr>
          <p:cNvPr id="3" name="Content Placeholder 2">
            <a:extLst>
              <a:ext uri="{FF2B5EF4-FFF2-40B4-BE49-F238E27FC236}">
                <a16:creationId xmlns:a16="http://schemas.microsoft.com/office/drawing/2014/main" id="{515B809F-5770-EF97-6EAE-701792EF0693}"/>
              </a:ext>
            </a:extLst>
          </p:cNvPr>
          <p:cNvSpPr>
            <a:spLocks noGrp="1"/>
          </p:cNvSpPr>
          <p:nvPr>
            <p:ph idx="1"/>
          </p:nvPr>
        </p:nvSpPr>
        <p:spPr/>
        <p:txBody>
          <a:bodyPr>
            <a:normAutofit/>
          </a:bodyPr>
          <a:lstStyle/>
          <a:p>
            <a:r>
              <a:rPr lang="en-IN" sz="2400" dirty="0"/>
              <a:t>Primary Sources</a:t>
            </a:r>
          </a:p>
          <a:p>
            <a:r>
              <a:rPr lang="en-IN" sz="2400" dirty="0"/>
              <a:t>Secondary Sources</a:t>
            </a:r>
          </a:p>
        </p:txBody>
      </p:sp>
    </p:spTree>
    <p:extLst>
      <p:ext uri="{BB962C8B-B14F-4D97-AF65-F5344CB8AC3E}">
        <p14:creationId xmlns:p14="http://schemas.microsoft.com/office/powerpoint/2010/main" val="454916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9DF5-41A8-DC39-224A-C3E24864E5C9}"/>
              </a:ext>
            </a:extLst>
          </p:cNvPr>
          <p:cNvSpPr>
            <a:spLocks noGrp="1"/>
          </p:cNvSpPr>
          <p:nvPr>
            <p:ph type="title"/>
          </p:nvPr>
        </p:nvSpPr>
        <p:spPr/>
        <p:txBody>
          <a:bodyPr>
            <a:normAutofit/>
          </a:bodyPr>
          <a:lstStyle/>
          <a:p>
            <a:r>
              <a:rPr lang="en-IN" sz="4400" b="1" dirty="0"/>
              <a:t>PRIMARY SOURCES</a:t>
            </a:r>
          </a:p>
        </p:txBody>
      </p:sp>
      <p:sp>
        <p:nvSpPr>
          <p:cNvPr id="3" name="Content Placeholder 2">
            <a:extLst>
              <a:ext uri="{FF2B5EF4-FFF2-40B4-BE49-F238E27FC236}">
                <a16:creationId xmlns:a16="http://schemas.microsoft.com/office/drawing/2014/main" id="{860AD7A1-C116-4388-095B-8B0935EEAB83}"/>
              </a:ext>
            </a:extLst>
          </p:cNvPr>
          <p:cNvSpPr>
            <a:spLocks noGrp="1"/>
          </p:cNvSpPr>
          <p:nvPr>
            <p:ph idx="1"/>
          </p:nvPr>
        </p:nvSpPr>
        <p:spPr>
          <a:xfrm>
            <a:off x="2589212" y="2133600"/>
            <a:ext cx="8915400" cy="4100290"/>
          </a:xfrm>
        </p:spPr>
        <p:txBody>
          <a:bodyPr>
            <a:normAutofit/>
          </a:bodyPr>
          <a:lstStyle/>
          <a:p>
            <a:pPr algn="just"/>
            <a:r>
              <a:rPr lang="en-US" sz="2400" dirty="0"/>
              <a:t>Primary sources were either created during the time period being studied or were created at a later date by a participant in the events being studied, such as, a childhood memoir. </a:t>
            </a:r>
          </a:p>
          <a:p>
            <a:pPr algn="just"/>
            <a:r>
              <a:rPr lang="en-US" sz="2400" dirty="0"/>
              <a:t>They are original documents (i.e., they are not about another document or account) and reflect the individual viewpoint of a participant or observer. </a:t>
            </a:r>
          </a:p>
          <a:p>
            <a:pPr algn="just"/>
            <a:r>
              <a:rPr lang="en-US" sz="2400" dirty="0"/>
              <a:t>Primary sources represent direct, uninterpreted records of the subject of your research study. </a:t>
            </a:r>
            <a:endParaRPr lang="en-IN" sz="2400" dirty="0"/>
          </a:p>
        </p:txBody>
      </p:sp>
    </p:spTree>
    <p:extLst>
      <p:ext uri="{BB962C8B-B14F-4D97-AF65-F5344CB8AC3E}">
        <p14:creationId xmlns:p14="http://schemas.microsoft.com/office/powerpoint/2010/main" val="13213317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BF0A5-1307-816E-83F4-AD341AC35616}"/>
              </a:ext>
            </a:extLst>
          </p:cNvPr>
          <p:cNvSpPr>
            <a:spLocks noGrp="1"/>
          </p:cNvSpPr>
          <p:nvPr>
            <p:ph type="title"/>
          </p:nvPr>
        </p:nvSpPr>
        <p:spPr>
          <a:xfrm>
            <a:off x="2592925" y="624110"/>
            <a:ext cx="8911687" cy="1654856"/>
          </a:xfrm>
        </p:spPr>
        <p:txBody>
          <a:bodyPr>
            <a:noAutofit/>
          </a:bodyPr>
          <a:lstStyle/>
          <a:p>
            <a:r>
              <a:rPr lang="en-US" b="1" dirty="0"/>
              <a:t>EXAMPLES OF PRIMARY DOCUMENTS YOU COULD REVIEW AS PART OF YOUR OVERALL STUDY INCLUDE</a:t>
            </a:r>
            <a:endParaRPr lang="en-IN" b="1" dirty="0"/>
          </a:p>
        </p:txBody>
      </p:sp>
      <p:sp>
        <p:nvSpPr>
          <p:cNvPr id="3" name="Content Placeholder 2">
            <a:extLst>
              <a:ext uri="{FF2B5EF4-FFF2-40B4-BE49-F238E27FC236}">
                <a16:creationId xmlns:a16="http://schemas.microsoft.com/office/drawing/2014/main" id="{532F1785-CDC7-DCDA-0D83-F05F571B7619}"/>
              </a:ext>
            </a:extLst>
          </p:cNvPr>
          <p:cNvSpPr>
            <a:spLocks noGrp="1"/>
          </p:cNvSpPr>
          <p:nvPr>
            <p:ph idx="1"/>
          </p:nvPr>
        </p:nvSpPr>
        <p:spPr>
          <a:xfrm>
            <a:off x="2589212" y="2386824"/>
            <a:ext cx="8915400" cy="4365668"/>
          </a:xfrm>
        </p:spPr>
        <p:txBody>
          <a:bodyPr>
            <a:normAutofit/>
          </a:bodyPr>
          <a:lstStyle/>
          <a:p>
            <a:r>
              <a:rPr lang="en-US" sz="2400" dirty="0"/>
              <a:t>Artifacts (e.g. furniture or clothing, all from the time under study); </a:t>
            </a:r>
          </a:p>
          <a:p>
            <a:r>
              <a:rPr lang="en-US" sz="2400" dirty="0"/>
              <a:t>Audio recordings (e.g. radio programs) </a:t>
            </a:r>
          </a:p>
          <a:p>
            <a:r>
              <a:rPr lang="en-US" sz="2400" dirty="0"/>
              <a:t>Diaries; * Internet communications on email, </a:t>
            </a:r>
          </a:p>
          <a:p>
            <a:r>
              <a:rPr lang="en-US" sz="2400" dirty="0"/>
              <a:t>Interviews (e.g., oral histories, telephone, e-mail); </a:t>
            </a:r>
          </a:p>
          <a:p>
            <a:r>
              <a:rPr lang="en-US" sz="2400" dirty="0"/>
              <a:t>Letters; * Newspaper articles written at the time; </a:t>
            </a:r>
          </a:p>
          <a:p>
            <a:r>
              <a:rPr lang="en-US" sz="2400" dirty="0"/>
              <a:t>Original Documents (i.e. birth certificate, will, marriage license, trial transcript); </a:t>
            </a:r>
          </a:p>
          <a:p>
            <a:r>
              <a:rPr lang="en-US" sz="2400" dirty="0"/>
              <a:t>Patents; </a:t>
            </a:r>
            <a:endParaRPr lang="en-IN" sz="2400" dirty="0"/>
          </a:p>
        </p:txBody>
      </p:sp>
    </p:spTree>
    <p:extLst>
      <p:ext uri="{BB962C8B-B14F-4D97-AF65-F5344CB8AC3E}">
        <p14:creationId xmlns:p14="http://schemas.microsoft.com/office/powerpoint/2010/main" val="41893491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418D0-2941-B83A-631C-C7D5C30055B0}"/>
              </a:ext>
            </a:extLst>
          </p:cNvPr>
          <p:cNvSpPr>
            <a:spLocks noGrp="1"/>
          </p:cNvSpPr>
          <p:nvPr>
            <p:ph idx="1"/>
          </p:nvPr>
        </p:nvSpPr>
        <p:spPr>
          <a:xfrm>
            <a:off x="2589212" y="379827"/>
            <a:ext cx="8915400" cy="6175717"/>
          </a:xfrm>
        </p:spPr>
        <p:txBody>
          <a:bodyPr>
            <a:normAutofit/>
          </a:bodyPr>
          <a:lstStyle/>
          <a:p>
            <a:r>
              <a:rPr lang="en-US" sz="2400" dirty="0"/>
              <a:t>Photographs </a:t>
            </a:r>
          </a:p>
          <a:p>
            <a:r>
              <a:rPr lang="en-US" sz="2400" dirty="0"/>
              <a:t>Proceedings of Meetings, conferences and symposia; </a:t>
            </a:r>
          </a:p>
          <a:p>
            <a:r>
              <a:rPr lang="en-US" sz="2400" dirty="0"/>
              <a:t>Records of organizations, government agencies (e.g. annual report, treaty, constitution, government document); Speeches; </a:t>
            </a:r>
          </a:p>
          <a:p>
            <a:r>
              <a:rPr lang="en-US" sz="2400" dirty="0"/>
              <a:t>Survey Research (e.g., market surveys, public opinion polls); </a:t>
            </a:r>
          </a:p>
          <a:p>
            <a:r>
              <a:rPr lang="en-US" sz="2400" dirty="0"/>
              <a:t>Transcripts of radio and television programs </a:t>
            </a:r>
          </a:p>
          <a:p>
            <a:r>
              <a:rPr lang="en-US" sz="2400" dirty="0"/>
              <a:t>Video recordings; </a:t>
            </a:r>
          </a:p>
          <a:p>
            <a:r>
              <a:rPr lang="en-US" sz="2400" dirty="0"/>
              <a:t>Works of art, architecture, literature, and music (e.g., paintings, sculptures, musical scores, buildings, novels, poems)</a:t>
            </a:r>
            <a:endParaRPr lang="en-IN" sz="2400" dirty="0"/>
          </a:p>
        </p:txBody>
      </p:sp>
    </p:spTree>
    <p:extLst>
      <p:ext uri="{BB962C8B-B14F-4D97-AF65-F5344CB8AC3E}">
        <p14:creationId xmlns:p14="http://schemas.microsoft.com/office/powerpoint/2010/main" val="1343539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4352E-9325-7839-91B0-CB6DF6397189}"/>
              </a:ext>
            </a:extLst>
          </p:cNvPr>
          <p:cNvSpPr>
            <a:spLocks noGrp="1"/>
          </p:cNvSpPr>
          <p:nvPr>
            <p:ph type="title"/>
          </p:nvPr>
        </p:nvSpPr>
        <p:spPr/>
        <p:txBody>
          <a:bodyPr>
            <a:normAutofit/>
          </a:bodyPr>
          <a:lstStyle/>
          <a:p>
            <a:r>
              <a:rPr lang="en-IN" sz="4400" b="1" dirty="0"/>
              <a:t>SECONDARY SOURCES</a:t>
            </a:r>
          </a:p>
        </p:txBody>
      </p:sp>
      <p:sp>
        <p:nvSpPr>
          <p:cNvPr id="3" name="Content Placeholder 2">
            <a:extLst>
              <a:ext uri="{FF2B5EF4-FFF2-40B4-BE49-F238E27FC236}">
                <a16:creationId xmlns:a16="http://schemas.microsoft.com/office/drawing/2014/main" id="{FF958F38-40BF-41CB-5306-D74B91A7DD3B}"/>
              </a:ext>
            </a:extLst>
          </p:cNvPr>
          <p:cNvSpPr>
            <a:spLocks noGrp="1"/>
          </p:cNvSpPr>
          <p:nvPr>
            <p:ph idx="1"/>
          </p:nvPr>
        </p:nvSpPr>
        <p:spPr>
          <a:xfrm>
            <a:off x="2589212" y="2133600"/>
            <a:ext cx="8915400" cy="4100290"/>
          </a:xfrm>
        </p:spPr>
        <p:txBody>
          <a:bodyPr>
            <a:normAutofit/>
          </a:bodyPr>
          <a:lstStyle/>
          <a:p>
            <a:r>
              <a:rPr lang="en-US" sz="2400" dirty="0"/>
              <a:t>They are interpretations and evaluations of primary sources. </a:t>
            </a:r>
          </a:p>
          <a:p>
            <a:r>
              <a:rPr lang="en-US" sz="2400" dirty="0"/>
              <a:t>Secondary sources are not evidence, but rather, commentary on and discussion of evidence. </a:t>
            </a:r>
          </a:p>
          <a:p>
            <a:r>
              <a:rPr lang="en-US" sz="2400" dirty="0"/>
              <a:t>They represent various opinions, interpretations, and arguments about the research problem you are investigating--opinions, interpretations, and arguments with which you may either agree or disagree with as part of your own analysis of the literature</a:t>
            </a:r>
            <a:endParaRPr lang="en-IN" sz="2400" dirty="0"/>
          </a:p>
        </p:txBody>
      </p:sp>
    </p:spTree>
    <p:extLst>
      <p:ext uri="{BB962C8B-B14F-4D97-AF65-F5344CB8AC3E}">
        <p14:creationId xmlns:p14="http://schemas.microsoft.com/office/powerpoint/2010/main" val="33280510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FC0FF-A483-1016-AB40-F819B96191E4}"/>
              </a:ext>
            </a:extLst>
          </p:cNvPr>
          <p:cNvSpPr>
            <a:spLocks noGrp="1"/>
          </p:cNvSpPr>
          <p:nvPr>
            <p:ph type="title"/>
          </p:nvPr>
        </p:nvSpPr>
        <p:spPr>
          <a:xfrm>
            <a:off x="2592925" y="337625"/>
            <a:ext cx="8911687" cy="1885069"/>
          </a:xfrm>
        </p:spPr>
        <p:txBody>
          <a:bodyPr>
            <a:noAutofit/>
          </a:bodyPr>
          <a:lstStyle/>
          <a:p>
            <a:r>
              <a:rPr lang="en-US" b="1" dirty="0"/>
              <a:t>EXAMPLES OF SECONDARY SOURCES YOU COULD REVIEW AS PART OF YOUR OVERALL STUDY INCLUDE</a:t>
            </a:r>
            <a:endParaRPr lang="en-IN" b="1" dirty="0"/>
          </a:p>
        </p:txBody>
      </p:sp>
      <p:sp>
        <p:nvSpPr>
          <p:cNvPr id="3" name="Content Placeholder 2">
            <a:extLst>
              <a:ext uri="{FF2B5EF4-FFF2-40B4-BE49-F238E27FC236}">
                <a16:creationId xmlns:a16="http://schemas.microsoft.com/office/drawing/2014/main" id="{A6B0374B-3E70-1D73-7904-E22ED43C2117}"/>
              </a:ext>
            </a:extLst>
          </p:cNvPr>
          <p:cNvSpPr>
            <a:spLocks noGrp="1"/>
          </p:cNvSpPr>
          <p:nvPr>
            <p:ph idx="1"/>
          </p:nvPr>
        </p:nvSpPr>
        <p:spPr>
          <a:xfrm>
            <a:off x="2589212" y="2189866"/>
            <a:ext cx="8915400" cy="4478219"/>
          </a:xfrm>
        </p:spPr>
        <p:txBody>
          <a:bodyPr>
            <a:noAutofit/>
          </a:bodyPr>
          <a:lstStyle/>
          <a:p>
            <a:r>
              <a:rPr lang="en-IN" sz="2400" dirty="0"/>
              <a:t>Bibliographies </a:t>
            </a:r>
          </a:p>
          <a:p>
            <a:r>
              <a:rPr lang="en-IN" sz="2400" dirty="0"/>
              <a:t>Books, other than fiction and autobiography; </a:t>
            </a:r>
          </a:p>
          <a:p>
            <a:r>
              <a:rPr lang="en-IN" sz="2400" dirty="0"/>
              <a:t>Commentaries, criticisms; </a:t>
            </a:r>
          </a:p>
          <a:p>
            <a:r>
              <a:rPr lang="en-IN" sz="2400" dirty="0"/>
              <a:t>Dictionaries, Encyclopaedias </a:t>
            </a:r>
          </a:p>
          <a:p>
            <a:r>
              <a:rPr lang="en-IN" sz="2400" dirty="0"/>
              <a:t>Histories; </a:t>
            </a:r>
          </a:p>
          <a:p>
            <a:r>
              <a:rPr lang="en-IN" sz="2400" dirty="0"/>
              <a:t>Journal articles </a:t>
            </a:r>
          </a:p>
          <a:p>
            <a:r>
              <a:rPr lang="en-IN" sz="2400" dirty="0"/>
              <a:t>Magazine and newspaper articles </a:t>
            </a:r>
          </a:p>
          <a:p>
            <a:r>
              <a:rPr lang="en-IN" sz="2400" dirty="0"/>
              <a:t>Textbooks </a:t>
            </a:r>
          </a:p>
          <a:p>
            <a:r>
              <a:rPr lang="en-IN" sz="2400" dirty="0"/>
              <a:t>Web site</a:t>
            </a:r>
          </a:p>
        </p:txBody>
      </p:sp>
    </p:spTree>
    <p:extLst>
      <p:ext uri="{BB962C8B-B14F-4D97-AF65-F5344CB8AC3E}">
        <p14:creationId xmlns:p14="http://schemas.microsoft.com/office/powerpoint/2010/main" val="1133322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34BE7-C03A-ABF7-4740-E88669B85305}"/>
              </a:ext>
            </a:extLst>
          </p:cNvPr>
          <p:cNvSpPr>
            <a:spLocks noGrp="1"/>
          </p:cNvSpPr>
          <p:nvPr>
            <p:ph type="title"/>
          </p:nvPr>
        </p:nvSpPr>
        <p:spPr>
          <a:xfrm>
            <a:off x="2592925" y="407963"/>
            <a:ext cx="8911687" cy="1497037"/>
          </a:xfrm>
        </p:spPr>
        <p:txBody>
          <a:bodyPr>
            <a:noAutofit/>
          </a:bodyPr>
          <a:lstStyle/>
          <a:p>
            <a:r>
              <a:rPr lang="en-US" sz="4400" b="1" dirty="0"/>
              <a:t>WHERE TO SEARCH FOR EXISTING LITERATURE?</a:t>
            </a:r>
            <a:endParaRPr lang="en-IN" sz="4400" b="1" dirty="0"/>
          </a:p>
        </p:txBody>
      </p:sp>
      <p:sp>
        <p:nvSpPr>
          <p:cNvPr id="3" name="Content Placeholder 2">
            <a:extLst>
              <a:ext uri="{FF2B5EF4-FFF2-40B4-BE49-F238E27FC236}">
                <a16:creationId xmlns:a16="http://schemas.microsoft.com/office/drawing/2014/main" id="{0B2BD7B0-D7E1-E504-118A-AD6BA7350BCA}"/>
              </a:ext>
            </a:extLst>
          </p:cNvPr>
          <p:cNvSpPr>
            <a:spLocks noGrp="1"/>
          </p:cNvSpPr>
          <p:nvPr>
            <p:ph idx="1"/>
          </p:nvPr>
        </p:nvSpPr>
        <p:spPr>
          <a:xfrm>
            <a:off x="2589212" y="1866310"/>
            <a:ext cx="8915400" cy="4316437"/>
          </a:xfrm>
        </p:spPr>
        <p:txBody>
          <a:bodyPr>
            <a:noAutofit/>
          </a:bodyPr>
          <a:lstStyle/>
          <a:p>
            <a:pPr>
              <a:buFont typeface="Wingdings" panose="05000000000000000000" pitchFamily="2" charset="2"/>
              <a:buChar char="q"/>
            </a:pPr>
            <a:r>
              <a:rPr lang="en-IN" sz="2400" dirty="0"/>
              <a:t>Books </a:t>
            </a:r>
          </a:p>
          <a:p>
            <a:pPr>
              <a:buFont typeface="Wingdings" panose="05000000000000000000" pitchFamily="2" charset="2"/>
              <a:buChar char="q"/>
            </a:pPr>
            <a:r>
              <a:rPr lang="en-IN" sz="2400" dirty="0"/>
              <a:t>Journals </a:t>
            </a:r>
          </a:p>
          <a:p>
            <a:pPr>
              <a:buFont typeface="Wingdings" panose="05000000000000000000" pitchFamily="2" charset="2"/>
              <a:buChar char="q"/>
            </a:pPr>
            <a:r>
              <a:rPr lang="en-IN" sz="2400" dirty="0"/>
              <a:t>Computer Database </a:t>
            </a:r>
          </a:p>
          <a:p>
            <a:pPr marL="0" indent="0">
              <a:buNone/>
            </a:pPr>
            <a:r>
              <a:rPr lang="en-IN" sz="2400" dirty="0"/>
              <a:t>      – ERIC </a:t>
            </a:r>
          </a:p>
          <a:p>
            <a:pPr marL="0" indent="0">
              <a:buNone/>
            </a:pPr>
            <a:r>
              <a:rPr lang="en-IN" sz="2400" dirty="0"/>
              <a:t>      – PsycINFO </a:t>
            </a:r>
          </a:p>
          <a:p>
            <a:pPr marL="0" indent="0">
              <a:buNone/>
            </a:pPr>
            <a:r>
              <a:rPr lang="en-IN" sz="2400" dirty="0"/>
              <a:t>      – </a:t>
            </a:r>
            <a:r>
              <a:rPr lang="en-IN" sz="2400" dirty="0" err="1"/>
              <a:t>SocINDEX</a:t>
            </a:r>
            <a:r>
              <a:rPr lang="en-IN" sz="2400" dirty="0"/>
              <a:t> </a:t>
            </a:r>
          </a:p>
          <a:p>
            <a:pPr marL="0" indent="0">
              <a:buNone/>
            </a:pPr>
            <a:r>
              <a:rPr lang="en-IN" sz="2400" dirty="0"/>
              <a:t>      – UMI Dissertation </a:t>
            </a:r>
          </a:p>
          <a:p>
            <a:pPr>
              <a:buFont typeface="Wingdings" panose="05000000000000000000" pitchFamily="2" charset="2"/>
              <a:buChar char="q"/>
            </a:pPr>
            <a:r>
              <a:rPr lang="en-IN" sz="2400" dirty="0"/>
              <a:t>Google Scholar </a:t>
            </a:r>
          </a:p>
          <a:p>
            <a:pPr>
              <a:buFont typeface="Wingdings" panose="05000000000000000000" pitchFamily="2" charset="2"/>
              <a:buChar char="q"/>
            </a:pPr>
            <a:r>
              <a:rPr lang="en-IN" sz="2400" dirty="0"/>
              <a:t>JSTOR </a:t>
            </a:r>
          </a:p>
        </p:txBody>
      </p:sp>
    </p:spTree>
    <p:extLst>
      <p:ext uri="{BB962C8B-B14F-4D97-AF65-F5344CB8AC3E}">
        <p14:creationId xmlns:p14="http://schemas.microsoft.com/office/powerpoint/2010/main" val="17816204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4A5B1-0459-69AB-6753-2CD8EEF1C981}"/>
              </a:ext>
            </a:extLst>
          </p:cNvPr>
          <p:cNvSpPr>
            <a:spLocks noGrp="1"/>
          </p:cNvSpPr>
          <p:nvPr>
            <p:ph idx="1"/>
          </p:nvPr>
        </p:nvSpPr>
        <p:spPr>
          <a:xfrm>
            <a:off x="2589212" y="797169"/>
            <a:ext cx="8915400" cy="4998720"/>
          </a:xfrm>
        </p:spPr>
        <p:txBody>
          <a:bodyPr>
            <a:noAutofit/>
          </a:bodyPr>
          <a:lstStyle/>
          <a:p>
            <a:r>
              <a:rPr lang="en-IN" sz="2400" dirty="0"/>
              <a:t>EBSCO</a:t>
            </a:r>
          </a:p>
          <a:p>
            <a:r>
              <a:rPr lang="en-US" sz="2400" dirty="0"/>
              <a:t>Magazine and newspapers </a:t>
            </a:r>
          </a:p>
          <a:p>
            <a:r>
              <a:rPr lang="en-US" sz="2400" dirty="0"/>
              <a:t>Conference proceedings and papers </a:t>
            </a:r>
          </a:p>
          <a:p>
            <a:r>
              <a:rPr lang="en-US" sz="2400" dirty="0"/>
              <a:t>Monographs </a:t>
            </a:r>
          </a:p>
          <a:p>
            <a:r>
              <a:rPr lang="en-US" sz="2400" dirty="0"/>
              <a:t>Dissertations </a:t>
            </a:r>
          </a:p>
          <a:p>
            <a:r>
              <a:rPr lang="en-US" sz="2400" dirty="0"/>
              <a:t>Doctoral theses </a:t>
            </a:r>
          </a:p>
          <a:p>
            <a:r>
              <a:rPr lang="en-US" sz="2400" dirty="0"/>
              <a:t>Personal communication: interviews, presentations, lectures </a:t>
            </a:r>
          </a:p>
          <a:p>
            <a:r>
              <a:rPr lang="en-US" sz="2400" dirty="0"/>
              <a:t>Government reports and reports from other organizations </a:t>
            </a:r>
            <a:endParaRPr lang="en-IN" sz="2400" dirty="0"/>
          </a:p>
        </p:txBody>
      </p:sp>
    </p:spTree>
    <p:extLst>
      <p:ext uri="{BB962C8B-B14F-4D97-AF65-F5344CB8AC3E}">
        <p14:creationId xmlns:p14="http://schemas.microsoft.com/office/powerpoint/2010/main" val="14226858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6A1B-F802-A849-3F46-9D21D2555608}"/>
              </a:ext>
            </a:extLst>
          </p:cNvPr>
          <p:cNvSpPr>
            <a:spLocks noGrp="1"/>
          </p:cNvSpPr>
          <p:nvPr>
            <p:ph type="title"/>
          </p:nvPr>
        </p:nvSpPr>
        <p:spPr/>
        <p:txBody>
          <a:bodyPr/>
          <a:lstStyle/>
          <a:p>
            <a:r>
              <a:rPr lang="en-IN" b="1" dirty="0"/>
              <a:t>ABSTRACTS</a:t>
            </a:r>
          </a:p>
        </p:txBody>
      </p:sp>
      <p:sp>
        <p:nvSpPr>
          <p:cNvPr id="3" name="Content Placeholder 2">
            <a:extLst>
              <a:ext uri="{FF2B5EF4-FFF2-40B4-BE49-F238E27FC236}">
                <a16:creationId xmlns:a16="http://schemas.microsoft.com/office/drawing/2014/main" id="{76E27DD6-5677-7E81-B97F-5DE5B3D1DD83}"/>
              </a:ext>
            </a:extLst>
          </p:cNvPr>
          <p:cNvSpPr>
            <a:spLocks noGrp="1"/>
          </p:cNvSpPr>
          <p:nvPr>
            <p:ph idx="1"/>
          </p:nvPr>
        </p:nvSpPr>
        <p:spPr>
          <a:xfrm>
            <a:off x="2589212" y="2133600"/>
            <a:ext cx="8915400" cy="4548554"/>
          </a:xfrm>
        </p:spPr>
        <p:txBody>
          <a:bodyPr>
            <a:normAutofit/>
          </a:bodyPr>
          <a:lstStyle/>
          <a:p>
            <a:pPr algn="just"/>
            <a:r>
              <a:rPr lang="en-US" sz="2000" dirty="0"/>
              <a:t>capsule reports or summaries </a:t>
            </a:r>
          </a:p>
          <a:p>
            <a:pPr marL="0" indent="0" algn="just">
              <a:buNone/>
            </a:pPr>
            <a:r>
              <a:rPr lang="en-US" sz="2000" dirty="0"/>
              <a:t>ERIC- the Educational resources information </a:t>
            </a:r>
            <a:r>
              <a:rPr lang="en-US" sz="2000" dirty="0" err="1"/>
              <a:t>centre</a:t>
            </a:r>
            <a:r>
              <a:rPr lang="en-US" sz="2000" dirty="0"/>
              <a:t>: repository of documents on education. National decentralized information </a:t>
            </a:r>
            <a:r>
              <a:rPr lang="en-US" sz="2000" dirty="0" err="1"/>
              <a:t>centres</a:t>
            </a:r>
            <a:r>
              <a:rPr lang="en-US" sz="2000" dirty="0"/>
              <a:t> of USA </a:t>
            </a:r>
          </a:p>
          <a:p>
            <a:pPr marL="0" indent="0" algn="just">
              <a:buNone/>
            </a:pPr>
            <a:r>
              <a:rPr lang="en-US" sz="2000" dirty="0"/>
              <a:t>It contains lists of titles, abstracts, research reviews, bibliography etc. It covers career education, counselling and personal services, early childhood education, education management, education of gifted children etc. </a:t>
            </a:r>
          </a:p>
          <a:p>
            <a:pPr marL="0" indent="0" algn="just">
              <a:buNone/>
            </a:pPr>
            <a:r>
              <a:rPr lang="en-US" sz="2000" dirty="0"/>
              <a:t>Psychological abstracts information services (</a:t>
            </a:r>
            <a:r>
              <a:rPr lang="en-US" sz="2000" dirty="0" err="1"/>
              <a:t>PsycINF</a:t>
            </a:r>
            <a:r>
              <a:rPr lang="en-US" sz="2000" dirty="0"/>
              <a:t>) Psychological abstracts : (1927) approx. 900 journals, technical reports, monographs and other scientific documents. Areas covered are general Psychology, Psychometrics, Experimental Psychology etc. </a:t>
            </a:r>
            <a:endParaRPr lang="en-IN" sz="2000" dirty="0"/>
          </a:p>
        </p:txBody>
      </p:sp>
    </p:spTree>
    <p:extLst>
      <p:ext uri="{BB962C8B-B14F-4D97-AF65-F5344CB8AC3E}">
        <p14:creationId xmlns:p14="http://schemas.microsoft.com/office/powerpoint/2010/main" val="3313723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FEE79C-9E1C-A8A6-94DD-EFAF4515FD2F}"/>
              </a:ext>
            </a:extLst>
          </p:cNvPr>
          <p:cNvSpPr>
            <a:spLocks noGrp="1"/>
          </p:cNvSpPr>
          <p:nvPr>
            <p:ph idx="1"/>
          </p:nvPr>
        </p:nvSpPr>
        <p:spPr/>
        <p:txBody>
          <a:bodyPr>
            <a:normAutofit/>
          </a:bodyPr>
          <a:lstStyle/>
          <a:p>
            <a:pPr algn="just"/>
            <a:r>
              <a:rPr lang="en-US" sz="2000" dirty="0"/>
              <a:t>Sociological abstracts: American sociological association: It includes social psychology, group interaction, culture and social structure, social change and economic development, social control, policy planning, studies on violence etc. </a:t>
            </a:r>
          </a:p>
          <a:p>
            <a:pPr algn="just"/>
            <a:r>
              <a:rPr lang="en-US" sz="2000" dirty="0"/>
              <a:t>Dissertation abstracts international : A major research source in </a:t>
            </a:r>
            <a:r>
              <a:rPr lang="en-US" sz="2000" dirty="0" err="1"/>
              <a:t>behavioural</a:t>
            </a:r>
            <a:r>
              <a:rPr lang="en-US" sz="2000" dirty="0"/>
              <a:t> sciences </a:t>
            </a:r>
          </a:p>
          <a:p>
            <a:pPr algn="just"/>
            <a:r>
              <a:rPr lang="en-US" sz="2000" dirty="0"/>
              <a:t>Indian Education abstracts NCERT: </a:t>
            </a:r>
          </a:p>
          <a:p>
            <a:pPr algn="just"/>
            <a:r>
              <a:rPr lang="en-US" sz="2000" dirty="0"/>
              <a:t>A survey of Research in Education: Prof. MS Buch, MS University Baroda </a:t>
            </a:r>
            <a:endParaRPr lang="en-IN" sz="2000" dirty="0"/>
          </a:p>
        </p:txBody>
      </p:sp>
    </p:spTree>
    <p:extLst>
      <p:ext uri="{BB962C8B-B14F-4D97-AF65-F5344CB8AC3E}">
        <p14:creationId xmlns:p14="http://schemas.microsoft.com/office/powerpoint/2010/main" val="2897166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16C7-A2B7-C669-604A-615D6DC04381}"/>
              </a:ext>
            </a:extLst>
          </p:cNvPr>
          <p:cNvSpPr>
            <a:spLocks noGrp="1"/>
          </p:cNvSpPr>
          <p:nvPr>
            <p:ph type="title"/>
          </p:nvPr>
        </p:nvSpPr>
        <p:spPr/>
        <p:txBody>
          <a:bodyPr/>
          <a:lstStyle/>
          <a:p>
            <a:r>
              <a:rPr lang="en-IN" b="1" dirty="0"/>
              <a:t>INDEXES</a:t>
            </a:r>
          </a:p>
        </p:txBody>
      </p:sp>
      <p:sp>
        <p:nvSpPr>
          <p:cNvPr id="3" name="Content Placeholder 2">
            <a:extLst>
              <a:ext uri="{FF2B5EF4-FFF2-40B4-BE49-F238E27FC236}">
                <a16:creationId xmlns:a16="http://schemas.microsoft.com/office/drawing/2014/main" id="{3FD92F88-44A0-DF1D-5F6F-169806C4C514}"/>
              </a:ext>
            </a:extLst>
          </p:cNvPr>
          <p:cNvSpPr>
            <a:spLocks noGrp="1"/>
          </p:cNvSpPr>
          <p:nvPr>
            <p:ph idx="1"/>
          </p:nvPr>
        </p:nvSpPr>
        <p:spPr>
          <a:xfrm>
            <a:off x="2589212" y="1758462"/>
            <a:ext cx="8915400" cy="4475428"/>
          </a:xfrm>
        </p:spPr>
        <p:txBody>
          <a:bodyPr>
            <a:noAutofit/>
          </a:bodyPr>
          <a:lstStyle/>
          <a:p>
            <a:r>
              <a:rPr lang="en-US" sz="2000" dirty="0"/>
              <a:t>It lists titles categorized according to headings or description but does not provide abstracts or any other description of the documents. </a:t>
            </a:r>
          </a:p>
          <a:p>
            <a:r>
              <a:rPr lang="en-US" sz="2000" dirty="0"/>
              <a:t>American doctoral dissertation: list of all doctoral dissertation accepted by American and Canadian universities </a:t>
            </a:r>
          </a:p>
          <a:p>
            <a:r>
              <a:rPr lang="en-US" sz="2000" dirty="0"/>
              <a:t>Education Index </a:t>
            </a:r>
          </a:p>
          <a:p>
            <a:r>
              <a:rPr lang="en-US" sz="2000" dirty="0"/>
              <a:t>Current index to journals in education </a:t>
            </a:r>
          </a:p>
          <a:p>
            <a:r>
              <a:rPr lang="en-US" sz="2000" dirty="0"/>
              <a:t>British Education Index </a:t>
            </a:r>
          </a:p>
          <a:p>
            <a:r>
              <a:rPr lang="en-US" sz="2000" dirty="0"/>
              <a:t>Humanities Index </a:t>
            </a:r>
          </a:p>
          <a:p>
            <a:r>
              <a:rPr lang="en-US" sz="2000" dirty="0"/>
              <a:t>Social Science Index: Anthropology, arts studies, economics, geography, law, political sciences, public administration </a:t>
            </a:r>
            <a:endParaRPr lang="en-IN" sz="2000" dirty="0"/>
          </a:p>
        </p:txBody>
      </p:sp>
    </p:spTree>
    <p:extLst>
      <p:ext uri="{BB962C8B-B14F-4D97-AF65-F5344CB8AC3E}">
        <p14:creationId xmlns:p14="http://schemas.microsoft.com/office/powerpoint/2010/main" val="9461438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15B83-3C9C-A876-D6B0-8A526444CADC}"/>
              </a:ext>
            </a:extLst>
          </p:cNvPr>
          <p:cNvSpPr>
            <a:spLocks noGrp="1"/>
          </p:cNvSpPr>
          <p:nvPr>
            <p:ph type="title"/>
          </p:nvPr>
        </p:nvSpPr>
        <p:spPr/>
        <p:txBody>
          <a:bodyPr/>
          <a:lstStyle/>
          <a:p>
            <a:r>
              <a:rPr lang="en-IN" b="1" dirty="0"/>
              <a:t>ENCYCLOPEDIAS</a:t>
            </a:r>
          </a:p>
        </p:txBody>
      </p:sp>
      <p:sp>
        <p:nvSpPr>
          <p:cNvPr id="3" name="Content Placeholder 2">
            <a:extLst>
              <a:ext uri="{FF2B5EF4-FFF2-40B4-BE49-F238E27FC236}">
                <a16:creationId xmlns:a16="http://schemas.microsoft.com/office/drawing/2014/main" id="{D929BC63-8FAF-4695-0F5D-9DF545952656}"/>
              </a:ext>
            </a:extLst>
          </p:cNvPr>
          <p:cNvSpPr>
            <a:spLocks noGrp="1"/>
          </p:cNvSpPr>
          <p:nvPr>
            <p:ph idx="1"/>
          </p:nvPr>
        </p:nvSpPr>
        <p:spPr>
          <a:xfrm>
            <a:off x="2589212" y="2133600"/>
            <a:ext cx="8915400" cy="4100290"/>
          </a:xfrm>
        </p:spPr>
        <p:txBody>
          <a:bodyPr>
            <a:normAutofit/>
          </a:bodyPr>
          <a:lstStyle/>
          <a:p>
            <a:r>
              <a:rPr lang="en-US" sz="2000" dirty="0"/>
              <a:t>Huge storehouse of information containing articles written by specialists in their respective fields. </a:t>
            </a:r>
          </a:p>
          <a:p>
            <a:r>
              <a:rPr lang="en-US" sz="2000" dirty="0" err="1"/>
              <a:t>Encyclopaedia</a:t>
            </a:r>
            <a:r>
              <a:rPr lang="en-US" sz="2000" dirty="0"/>
              <a:t> of Education </a:t>
            </a:r>
          </a:p>
          <a:p>
            <a:r>
              <a:rPr lang="en-US" sz="2000" dirty="0" err="1"/>
              <a:t>Encyclopaedia</a:t>
            </a:r>
            <a:r>
              <a:rPr lang="en-US" sz="2000" dirty="0"/>
              <a:t> of Educational Evaluation </a:t>
            </a:r>
          </a:p>
          <a:p>
            <a:r>
              <a:rPr lang="en-US" sz="2000" dirty="0" err="1"/>
              <a:t>Encyclopaedia</a:t>
            </a:r>
            <a:r>
              <a:rPr lang="en-US" sz="2000" dirty="0"/>
              <a:t> Educational Research </a:t>
            </a:r>
          </a:p>
          <a:p>
            <a:r>
              <a:rPr lang="en-US" sz="2000" dirty="0" err="1"/>
              <a:t>Encyclopaedia</a:t>
            </a:r>
            <a:r>
              <a:rPr lang="en-US" sz="2000" dirty="0"/>
              <a:t> of Modern Education </a:t>
            </a:r>
          </a:p>
          <a:p>
            <a:r>
              <a:rPr lang="en-US" sz="2000" dirty="0"/>
              <a:t>The International </a:t>
            </a:r>
            <a:r>
              <a:rPr lang="en-US" sz="2000" dirty="0" err="1"/>
              <a:t>Encyclopaedia</a:t>
            </a:r>
            <a:r>
              <a:rPr lang="en-US" sz="2000" dirty="0"/>
              <a:t> Of the social Sciences </a:t>
            </a:r>
          </a:p>
          <a:p>
            <a:r>
              <a:rPr lang="en-US" sz="2000" dirty="0" err="1"/>
              <a:t>Encyclopaedia</a:t>
            </a:r>
            <a:r>
              <a:rPr lang="en-US" sz="2000" dirty="0"/>
              <a:t> of Children and guidance </a:t>
            </a:r>
          </a:p>
          <a:p>
            <a:r>
              <a:rPr lang="en-US" sz="2000" dirty="0" err="1"/>
              <a:t>Encyclopaedia</a:t>
            </a:r>
            <a:r>
              <a:rPr lang="en-US" sz="2000" dirty="0"/>
              <a:t> of Philosophy </a:t>
            </a:r>
            <a:endParaRPr lang="en-IN" sz="2000" dirty="0"/>
          </a:p>
        </p:txBody>
      </p:sp>
    </p:spTree>
    <p:extLst>
      <p:ext uri="{BB962C8B-B14F-4D97-AF65-F5344CB8AC3E}">
        <p14:creationId xmlns:p14="http://schemas.microsoft.com/office/powerpoint/2010/main" val="40618065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7515-C836-896A-93E0-47CC269E42CB}"/>
              </a:ext>
            </a:extLst>
          </p:cNvPr>
          <p:cNvSpPr>
            <a:spLocks noGrp="1"/>
          </p:cNvSpPr>
          <p:nvPr>
            <p:ph type="title"/>
          </p:nvPr>
        </p:nvSpPr>
        <p:spPr/>
        <p:txBody>
          <a:bodyPr/>
          <a:lstStyle/>
          <a:p>
            <a:r>
              <a:rPr lang="en-IN" b="1" dirty="0"/>
              <a:t>HAND BOOKS/YEAR BOOKS</a:t>
            </a:r>
          </a:p>
        </p:txBody>
      </p:sp>
      <p:sp>
        <p:nvSpPr>
          <p:cNvPr id="3" name="Content Placeholder 2">
            <a:extLst>
              <a:ext uri="{FF2B5EF4-FFF2-40B4-BE49-F238E27FC236}">
                <a16:creationId xmlns:a16="http://schemas.microsoft.com/office/drawing/2014/main" id="{54704111-A29E-DE24-B4F5-BB1D94E4B7E1}"/>
              </a:ext>
            </a:extLst>
          </p:cNvPr>
          <p:cNvSpPr>
            <a:spLocks noGrp="1"/>
          </p:cNvSpPr>
          <p:nvPr>
            <p:ph idx="1"/>
          </p:nvPr>
        </p:nvSpPr>
        <p:spPr/>
        <p:txBody>
          <a:bodyPr>
            <a:normAutofit/>
          </a:bodyPr>
          <a:lstStyle/>
          <a:p>
            <a:r>
              <a:rPr lang="en-US" sz="2000" dirty="0"/>
              <a:t>Reference Books or other collection of instructions that are intended to provide ready reference. </a:t>
            </a:r>
          </a:p>
          <a:p>
            <a:r>
              <a:rPr lang="en-US" sz="2000" dirty="0"/>
              <a:t>Handbook of Academic Evaluation </a:t>
            </a:r>
          </a:p>
          <a:p>
            <a:r>
              <a:rPr lang="en-US" sz="2000" dirty="0"/>
              <a:t>Handbook Research on Teaching </a:t>
            </a:r>
          </a:p>
          <a:p>
            <a:r>
              <a:rPr lang="en-US" sz="2000" dirty="0"/>
              <a:t>Handbook of Formative and summative Evaluation of student Learning </a:t>
            </a:r>
          </a:p>
          <a:p>
            <a:pPr marL="0" indent="0">
              <a:buNone/>
            </a:pPr>
            <a:r>
              <a:rPr lang="en-US" sz="2000" dirty="0"/>
              <a:t>Records, highlights the events and achievements of the past year of a particular organization, nation or universe. Mental Measurement Yearbook Education Yearbook </a:t>
            </a:r>
            <a:endParaRPr lang="en-IN" sz="2000" dirty="0"/>
          </a:p>
        </p:txBody>
      </p:sp>
    </p:spTree>
    <p:extLst>
      <p:ext uri="{BB962C8B-B14F-4D97-AF65-F5344CB8AC3E}">
        <p14:creationId xmlns:p14="http://schemas.microsoft.com/office/powerpoint/2010/main" val="2959713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35E3-F075-748B-AA70-1639C4FBB646}"/>
              </a:ext>
            </a:extLst>
          </p:cNvPr>
          <p:cNvSpPr>
            <a:spLocks noGrp="1"/>
          </p:cNvSpPr>
          <p:nvPr>
            <p:ph type="title"/>
          </p:nvPr>
        </p:nvSpPr>
        <p:spPr/>
        <p:txBody>
          <a:bodyPr/>
          <a:lstStyle/>
          <a:p>
            <a:r>
              <a:rPr lang="en-US" b="1" dirty="0"/>
              <a:t>PROCESS OF CONDUCTING LITERATURE REVIEW</a:t>
            </a:r>
            <a:endParaRPr lang="en-IN" b="1" dirty="0"/>
          </a:p>
        </p:txBody>
      </p:sp>
      <p:pic>
        <p:nvPicPr>
          <p:cNvPr id="5" name="Content Placeholder 4">
            <a:extLst>
              <a:ext uri="{FF2B5EF4-FFF2-40B4-BE49-F238E27FC236}">
                <a16:creationId xmlns:a16="http://schemas.microsoft.com/office/drawing/2014/main" id="{26A6DE77-2627-155F-B145-7EDB063DD2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9706" y="2250832"/>
            <a:ext cx="8911687" cy="3348110"/>
          </a:xfrm>
        </p:spPr>
      </p:pic>
    </p:spTree>
    <p:extLst>
      <p:ext uri="{BB962C8B-B14F-4D97-AF65-F5344CB8AC3E}">
        <p14:creationId xmlns:p14="http://schemas.microsoft.com/office/powerpoint/2010/main" val="38618309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08DC-A1BA-0145-9E7E-5E95797664E1}"/>
              </a:ext>
            </a:extLst>
          </p:cNvPr>
          <p:cNvSpPr>
            <a:spLocks noGrp="1"/>
          </p:cNvSpPr>
          <p:nvPr>
            <p:ph type="title"/>
          </p:nvPr>
        </p:nvSpPr>
        <p:spPr/>
        <p:txBody>
          <a:bodyPr/>
          <a:lstStyle/>
          <a:p>
            <a:r>
              <a:rPr lang="en-IN" b="1" dirty="0"/>
              <a:t>MANAGING SOURCES</a:t>
            </a:r>
          </a:p>
        </p:txBody>
      </p:sp>
      <p:sp>
        <p:nvSpPr>
          <p:cNvPr id="3" name="Content Placeholder 2">
            <a:extLst>
              <a:ext uri="{FF2B5EF4-FFF2-40B4-BE49-F238E27FC236}">
                <a16:creationId xmlns:a16="http://schemas.microsoft.com/office/drawing/2014/main" id="{41F29FE3-635E-504C-F32A-32DAB08B6545}"/>
              </a:ext>
            </a:extLst>
          </p:cNvPr>
          <p:cNvSpPr>
            <a:spLocks noGrp="1"/>
          </p:cNvSpPr>
          <p:nvPr>
            <p:ph idx="1"/>
          </p:nvPr>
        </p:nvSpPr>
        <p:spPr/>
        <p:txBody>
          <a:bodyPr>
            <a:normAutofit/>
          </a:bodyPr>
          <a:lstStyle/>
          <a:p>
            <a:r>
              <a:rPr lang="en-US" sz="2000" dirty="0"/>
              <a:t>Literature review matrix is a table in which you can represent the views, ideas, or data according to thematic categories </a:t>
            </a:r>
          </a:p>
          <a:p>
            <a:pPr marL="0" indent="0">
              <a:buNone/>
            </a:pPr>
            <a:endParaRPr lang="en-IN" sz="2000" dirty="0"/>
          </a:p>
        </p:txBody>
      </p:sp>
      <p:pic>
        <p:nvPicPr>
          <p:cNvPr id="5" name="Picture 4">
            <a:extLst>
              <a:ext uri="{FF2B5EF4-FFF2-40B4-BE49-F238E27FC236}">
                <a16:creationId xmlns:a16="http://schemas.microsoft.com/office/drawing/2014/main" id="{71BE8C45-9460-DD96-55F0-469CF25E6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891" y="2967586"/>
            <a:ext cx="10774279" cy="3266304"/>
          </a:xfrm>
          <a:prstGeom prst="rect">
            <a:avLst/>
          </a:prstGeom>
        </p:spPr>
      </p:pic>
    </p:spTree>
    <p:extLst>
      <p:ext uri="{BB962C8B-B14F-4D97-AF65-F5344CB8AC3E}">
        <p14:creationId xmlns:p14="http://schemas.microsoft.com/office/powerpoint/2010/main" val="36171534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813FA-CE49-06B3-2EAE-B9666E96E614}"/>
              </a:ext>
            </a:extLst>
          </p:cNvPr>
          <p:cNvSpPr>
            <a:spLocks noGrp="1"/>
          </p:cNvSpPr>
          <p:nvPr>
            <p:ph type="title"/>
          </p:nvPr>
        </p:nvSpPr>
        <p:spPr/>
        <p:txBody>
          <a:bodyPr/>
          <a:lstStyle/>
          <a:p>
            <a:r>
              <a:rPr lang="en-US" dirty="0"/>
              <a:t>Example: Literature Review Gap Matrix Table</a:t>
            </a:r>
          </a:p>
        </p:txBody>
      </p:sp>
      <p:graphicFrame>
        <p:nvGraphicFramePr>
          <p:cNvPr id="8" name="Table 7">
            <a:extLst>
              <a:ext uri="{FF2B5EF4-FFF2-40B4-BE49-F238E27FC236}">
                <a16:creationId xmlns:a16="http://schemas.microsoft.com/office/drawing/2014/main" id="{AD31AC56-1801-7399-2F59-34C91FA1127E}"/>
              </a:ext>
            </a:extLst>
          </p:cNvPr>
          <p:cNvGraphicFramePr>
            <a:graphicFrameLocks noGrp="1"/>
          </p:cNvGraphicFramePr>
          <p:nvPr>
            <p:extLst>
              <p:ext uri="{D42A27DB-BD31-4B8C-83A1-F6EECF244321}">
                <p14:modId xmlns:p14="http://schemas.microsoft.com/office/powerpoint/2010/main" val="2396019324"/>
              </p:ext>
            </p:extLst>
          </p:nvPr>
        </p:nvGraphicFramePr>
        <p:xfrm>
          <a:off x="2275367" y="1808199"/>
          <a:ext cx="9516140" cy="4689909"/>
        </p:xfrm>
        <a:graphic>
          <a:graphicData uri="http://schemas.openxmlformats.org/drawingml/2006/table">
            <a:tbl>
              <a:tblPr>
                <a:tableStyleId>{5C22544A-7EE6-4342-B048-85BDC9FD1C3A}</a:tableStyleId>
              </a:tblPr>
              <a:tblGrid>
                <a:gridCol w="1111374">
                  <a:extLst>
                    <a:ext uri="{9D8B030D-6E8A-4147-A177-3AD203B41FA5}">
                      <a16:colId xmlns:a16="http://schemas.microsoft.com/office/drawing/2014/main" val="2670234299"/>
                    </a:ext>
                  </a:extLst>
                </a:gridCol>
                <a:gridCol w="1111374">
                  <a:extLst>
                    <a:ext uri="{9D8B030D-6E8A-4147-A177-3AD203B41FA5}">
                      <a16:colId xmlns:a16="http://schemas.microsoft.com/office/drawing/2014/main" val="177804887"/>
                    </a:ext>
                  </a:extLst>
                </a:gridCol>
                <a:gridCol w="1111374">
                  <a:extLst>
                    <a:ext uri="{9D8B030D-6E8A-4147-A177-3AD203B41FA5}">
                      <a16:colId xmlns:a16="http://schemas.microsoft.com/office/drawing/2014/main" val="1058708221"/>
                    </a:ext>
                  </a:extLst>
                </a:gridCol>
                <a:gridCol w="1111374">
                  <a:extLst>
                    <a:ext uri="{9D8B030D-6E8A-4147-A177-3AD203B41FA5}">
                      <a16:colId xmlns:a16="http://schemas.microsoft.com/office/drawing/2014/main" val="3042720020"/>
                    </a:ext>
                  </a:extLst>
                </a:gridCol>
                <a:gridCol w="1111374">
                  <a:extLst>
                    <a:ext uri="{9D8B030D-6E8A-4147-A177-3AD203B41FA5}">
                      <a16:colId xmlns:a16="http://schemas.microsoft.com/office/drawing/2014/main" val="1497265475"/>
                    </a:ext>
                  </a:extLst>
                </a:gridCol>
                <a:gridCol w="3959270">
                  <a:extLst>
                    <a:ext uri="{9D8B030D-6E8A-4147-A177-3AD203B41FA5}">
                      <a16:colId xmlns:a16="http://schemas.microsoft.com/office/drawing/2014/main" val="1272135104"/>
                    </a:ext>
                  </a:extLst>
                </a:gridCol>
              </a:tblGrid>
              <a:tr h="770367">
                <a:tc>
                  <a:txBody>
                    <a:bodyPr/>
                    <a:lstStyle/>
                    <a:p>
                      <a:pPr algn="ctr" fontAlgn="ctr">
                        <a:buNone/>
                      </a:pPr>
                      <a:r>
                        <a:rPr lang="en-US" sz="1600" u="none" strike="noStrike">
                          <a:effectLst/>
                        </a:rPr>
                        <a:t>Author &amp; Year</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ctr" fontAlgn="ctr">
                        <a:buNone/>
                      </a:pPr>
                      <a:r>
                        <a:rPr lang="en-US" sz="1600" u="none" strike="noStrike" dirty="0">
                          <a:effectLst/>
                        </a:rPr>
                        <a:t>Topic / Focus</a:t>
                      </a:r>
                      <a:endParaRPr lang="en-US" sz="1600" b="1" i="0" u="none" strike="noStrike" dirty="0">
                        <a:solidFill>
                          <a:srgbClr val="000000"/>
                        </a:solidFill>
                        <a:effectLst/>
                        <a:latin typeface="Times New Roman" panose="02020603050405020304" pitchFamily="18" charset="0"/>
                      </a:endParaRPr>
                    </a:p>
                  </a:txBody>
                  <a:tcPr marL="6034" marR="6034" marT="6034" marB="0" anchor="ctr"/>
                </a:tc>
                <a:tc>
                  <a:txBody>
                    <a:bodyPr/>
                    <a:lstStyle/>
                    <a:p>
                      <a:pPr algn="ctr" fontAlgn="ctr">
                        <a:buNone/>
                      </a:pPr>
                      <a:r>
                        <a:rPr lang="en-US" sz="1600" u="none" strike="noStrike">
                          <a:effectLst/>
                        </a:rPr>
                        <a:t>Methodology</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ctr" fontAlgn="ctr">
                        <a:buNone/>
                      </a:pPr>
                      <a:r>
                        <a:rPr lang="en-US" sz="1600" u="none" strike="noStrike">
                          <a:effectLst/>
                        </a:rPr>
                        <a:t>Key Findings</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ctr" fontAlgn="ctr">
                        <a:buNone/>
                      </a:pPr>
                      <a:r>
                        <a:rPr lang="en-US" sz="1600" u="none" strike="noStrike">
                          <a:effectLst/>
                        </a:rPr>
                        <a:t>Limitation / Boundary</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ctr" fontAlgn="ctr">
                        <a:buNone/>
                      </a:pPr>
                      <a:r>
                        <a:rPr lang="en-US" sz="1600" u="none" strike="noStrike">
                          <a:effectLst/>
                        </a:rPr>
                        <a:t>Identified Research Gap</a:t>
                      </a:r>
                      <a:endParaRPr lang="en-US" sz="1600" b="1" i="0" u="none" strike="noStrike">
                        <a:solidFill>
                          <a:srgbClr val="000000"/>
                        </a:solidFill>
                        <a:effectLst/>
                        <a:latin typeface="Times New Roman" panose="02020603050405020304" pitchFamily="18" charset="0"/>
                      </a:endParaRPr>
                    </a:p>
                  </a:txBody>
                  <a:tcPr marL="6034" marR="6034" marT="6034" marB="0" anchor="ctr"/>
                </a:tc>
                <a:extLst>
                  <a:ext uri="{0D108BD9-81ED-4DB2-BD59-A6C34878D82A}">
                    <a16:rowId xmlns:a16="http://schemas.microsoft.com/office/drawing/2014/main" val="3675154583"/>
                  </a:ext>
                </a:extLst>
              </a:tr>
              <a:tr h="1348142">
                <a:tc>
                  <a:txBody>
                    <a:bodyPr/>
                    <a:lstStyle/>
                    <a:p>
                      <a:pPr algn="l" fontAlgn="ctr">
                        <a:buNone/>
                      </a:pPr>
                      <a:r>
                        <a:rPr lang="en-US" sz="1600" u="none" strike="noStrike">
                          <a:effectLst/>
                        </a:rPr>
                        <a:t>Smith &amp; Lee (2022)</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Remote work productivity</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Quantitative (Survey, n=250)</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Found a 15% increase in short-term task efficiency.</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Limited to the tech sector in North America.</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Contextual &amp; Population Gap: Lacks data on traditional manufacturing sectors or developing economies.</a:t>
                      </a:r>
                      <a:endParaRPr lang="en-US" sz="1600" b="1" i="0" u="none" strike="noStrike">
                        <a:solidFill>
                          <a:srgbClr val="000000"/>
                        </a:solidFill>
                        <a:effectLst/>
                        <a:latin typeface="Times New Roman" panose="02020603050405020304" pitchFamily="18" charset="0"/>
                      </a:endParaRPr>
                    </a:p>
                  </a:txBody>
                  <a:tcPr marL="6034" marR="6034" marT="6034" marB="0" anchor="ctr"/>
                </a:tc>
                <a:extLst>
                  <a:ext uri="{0D108BD9-81ED-4DB2-BD59-A6C34878D82A}">
                    <a16:rowId xmlns:a16="http://schemas.microsoft.com/office/drawing/2014/main" val="2005192813"/>
                  </a:ext>
                </a:extLst>
              </a:tr>
              <a:tr h="1222849">
                <a:tc>
                  <a:txBody>
                    <a:bodyPr/>
                    <a:lstStyle/>
                    <a:p>
                      <a:pPr algn="l" fontAlgn="ctr">
                        <a:buNone/>
                      </a:pPr>
                      <a:r>
                        <a:rPr lang="en-US" sz="1600" u="none" strike="noStrike">
                          <a:effectLst/>
                        </a:rPr>
                        <a:t>Patel et al. (2023)</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Employee burnout in hybrid models</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Mixed methods (Interviews &amp; metrics)</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Burnout rises after 6 months of split schedules.</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Small qualitative sample size (n=30).</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Empirical &amp; Methodological Gap: Lacks large-scale longitudinal tracking of stress biomarkers.</a:t>
                      </a:r>
                      <a:endParaRPr lang="en-US" sz="1600" b="1" i="0" u="none" strike="noStrike">
                        <a:solidFill>
                          <a:srgbClr val="000000"/>
                        </a:solidFill>
                        <a:effectLst/>
                        <a:latin typeface="Times New Roman" panose="02020603050405020304" pitchFamily="18" charset="0"/>
                      </a:endParaRPr>
                    </a:p>
                  </a:txBody>
                  <a:tcPr marL="6034" marR="6034" marT="6034" marB="0" anchor="ctr"/>
                </a:tc>
                <a:extLst>
                  <a:ext uri="{0D108BD9-81ED-4DB2-BD59-A6C34878D82A}">
                    <a16:rowId xmlns:a16="http://schemas.microsoft.com/office/drawing/2014/main" val="411539049"/>
                  </a:ext>
                </a:extLst>
              </a:tr>
              <a:tr h="1155550">
                <a:tc>
                  <a:txBody>
                    <a:bodyPr/>
                    <a:lstStyle/>
                    <a:p>
                      <a:pPr algn="l" fontAlgn="ctr">
                        <a:buNone/>
                      </a:pPr>
                      <a:r>
                        <a:rPr lang="en-US" sz="1600" u="none" strike="noStrike">
                          <a:effectLst/>
                        </a:rPr>
                        <a:t>Garcia (2024)</a:t>
                      </a:r>
                      <a:endParaRPr lang="en-US" sz="1600" b="1"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Leadership styles in virtual teams</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Qualitative (Case study)</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Transformational leadership mitigates isolation.</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a:effectLst/>
                        </a:rPr>
                        <a:t>Focused strictly on startup environments.</a:t>
                      </a:r>
                      <a:endParaRPr lang="en-US" sz="1600" b="0" i="0" u="none" strike="noStrike">
                        <a:solidFill>
                          <a:srgbClr val="000000"/>
                        </a:solidFill>
                        <a:effectLst/>
                        <a:latin typeface="Times New Roman" panose="02020603050405020304" pitchFamily="18" charset="0"/>
                      </a:endParaRPr>
                    </a:p>
                  </a:txBody>
                  <a:tcPr marL="6034" marR="6034" marT="6034" marB="0" anchor="ctr"/>
                </a:tc>
                <a:tc>
                  <a:txBody>
                    <a:bodyPr/>
                    <a:lstStyle/>
                    <a:p>
                      <a:pPr algn="l" fontAlgn="ctr">
                        <a:buNone/>
                      </a:pPr>
                      <a:r>
                        <a:rPr lang="en-US" sz="1600" u="none" strike="noStrike" dirty="0">
                          <a:effectLst/>
                        </a:rPr>
                        <a:t>Theoretical Gap: Existing leadership frameworks fail to explain remote accountability dynamics.</a:t>
                      </a:r>
                      <a:endParaRPr lang="en-US" sz="1600" b="1" i="0" u="none" strike="noStrike" dirty="0">
                        <a:solidFill>
                          <a:srgbClr val="000000"/>
                        </a:solidFill>
                        <a:effectLst/>
                        <a:latin typeface="Times New Roman" panose="02020603050405020304" pitchFamily="18" charset="0"/>
                      </a:endParaRPr>
                    </a:p>
                  </a:txBody>
                  <a:tcPr marL="6034" marR="6034" marT="6034" marB="0" anchor="ctr"/>
                </a:tc>
                <a:extLst>
                  <a:ext uri="{0D108BD9-81ED-4DB2-BD59-A6C34878D82A}">
                    <a16:rowId xmlns:a16="http://schemas.microsoft.com/office/drawing/2014/main" val="4027124511"/>
                  </a:ext>
                </a:extLst>
              </a:tr>
            </a:tbl>
          </a:graphicData>
        </a:graphic>
      </p:graphicFrame>
    </p:spTree>
    <p:extLst>
      <p:ext uri="{BB962C8B-B14F-4D97-AF65-F5344CB8AC3E}">
        <p14:creationId xmlns:p14="http://schemas.microsoft.com/office/powerpoint/2010/main" val="915979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A176E-B639-F6D1-6589-1703292301B1}"/>
              </a:ext>
            </a:extLst>
          </p:cNvPr>
          <p:cNvSpPr>
            <a:spLocks noGrp="1"/>
          </p:cNvSpPr>
          <p:nvPr>
            <p:ph type="title"/>
          </p:nvPr>
        </p:nvSpPr>
        <p:spPr/>
        <p:txBody>
          <a:bodyPr/>
          <a:lstStyle/>
          <a:p>
            <a:r>
              <a:rPr lang="en-IN" b="1" dirty="0"/>
              <a:t>QUALITY OF INTERNET RESOURCES</a:t>
            </a:r>
          </a:p>
        </p:txBody>
      </p:sp>
      <p:sp>
        <p:nvSpPr>
          <p:cNvPr id="3" name="Content Placeholder 2">
            <a:extLst>
              <a:ext uri="{FF2B5EF4-FFF2-40B4-BE49-F238E27FC236}">
                <a16:creationId xmlns:a16="http://schemas.microsoft.com/office/drawing/2014/main" id="{3AC99421-42F4-EB8C-5839-28806169B617}"/>
              </a:ext>
            </a:extLst>
          </p:cNvPr>
          <p:cNvSpPr>
            <a:spLocks noGrp="1"/>
          </p:cNvSpPr>
          <p:nvPr>
            <p:ph idx="1"/>
          </p:nvPr>
        </p:nvSpPr>
        <p:spPr>
          <a:xfrm>
            <a:off x="2589212" y="1491177"/>
            <a:ext cx="8915400" cy="3713869"/>
          </a:xfrm>
        </p:spPr>
        <p:txBody>
          <a:bodyPr>
            <a:noAutofit/>
          </a:bodyPr>
          <a:lstStyle/>
          <a:p>
            <a:r>
              <a:rPr lang="en-US" sz="2000" b="1" dirty="0"/>
              <a:t>Authority</a:t>
            </a:r>
          </a:p>
          <a:p>
            <a:pPr marL="0" indent="0">
              <a:buNone/>
            </a:pPr>
            <a:r>
              <a:rPr lang="en-US" sz="2000" dirty="0"/>
              <a:t>       – Webpage lists the author and his/her credentials </a:t>
            </a:r>
          </a:p>
          <a:p>
            <a:pPr marL="0" indent="0">
              <a:buNone/>
            </a:pPr>
            <a:r>
              <a:rPr lang="en-US" sz="2000" dirty="0"/>
              <a:t>       – author, credentials address, domain name </a:t>
            </a:r>
          </a:p>
          <a:p>
            <a:pPr marL="0" indent="0">
              <a:buNone/>
            </a:pPr>
            <a:r>
              <a:rPr lang="en-US" sz="2000" dirty="0"/>
              <a:t>       – .</a:t>
            </a:r>
            <a:r>
              <a:rPr lang="en-US" sz="2000" dirty="0" err="1"/>
              <a:t>edu</a:t>
            </a:r>
            <a:r>
              <a:rPr lang="en-US" sz="2000" dirty="0"/>
              <a:t>,.org or gov. </a:t>
            </a:r>
          </a:p>
          <a:p>
            <a:r>
              <a:rPr lang="en-US" sz="2000" b="1" dirty="0"/>
              <a:t>Accuracy </a:t>
            </a:r>
          </a:p>
          <a:p>
            <a:pPr marL="0" indent="0">
              <a:buNone/>
            </a:pPr>
            <a:r>
              <a:rPr lang="en-US" sz="2000" dirty="0"/>
              <a:t>       – Who wrote the webpage </a:t>
            </a:r>
          </a:p>
          <a:p>
            <a:pPr marL="0" indent="0">
              <a:buNone/>
            </a:pPr>
            <a:r>
              <a:rPr lang="en-US" sz="2000" dirty="0"/>
              <a:t>       – Acknowledgement of the limitations </a:t>
            </a:r>
          </a:p>
        </p:txBody>
      </p:sp>
    </p:spTree>
    <p:extLst>
      <p:ext uri="{BB962C8B-B14F-4D97-AF65-F5344CB8AC3E}">
        <p14:creationId xmlns:p14="http://schemas.microsoft.com/office/powerpoint/2010/main" val="8917227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908184-CEF8-BCC3-05A3-E74B3791F7E9}"/>
              </a:ext>
            </a:extLst>
          </p:cNvPr>
          <p:cNvSpPr>
            <a:spLocks noGrp="1"/>
          </p:cNvSpPr>
          <p:nvPr>
            <p:ph idx="1"/>
          </p:nvPr>
        </p:nvSpPr>
        <p:spPr>
          <a:xfrm>
            <a:off x="2420395" y="717452"/>
            <a:ext cx="9424597" cy="5528602"/>
          </a:xfrm>
        </p:spPr>
        <p:txBody>
          <a:bodyPr>
            <a:normAutofit/>
          </a:bodyPr>
          <a:lstStyle/>
          <a:p>
            <a:r>
              <a:rPr lang="en-US" sz="2000" b="1" dirty="0"/>
              <a:t>Objectivity</a:t>
            </a:r>
            <a:r>
              <a:rPr lang="en-US" sz="2000" dirty="0"/>
              <a:t> </a:t>
            </a:r>
          </a:p>
          <a:p>
            <a:pPr marL="0" indent="0">
              <a:buNone/>
            </a:pPr>
            <a:r>
              <a:rPr lang="en-US" sz="2000" dirty="0"/>
              <a:t>     – Little or no advertising </a:t>
            </a:r>
          </a:p>
          <a:p>
            <a:pPr marL="0" indent="0">
              <a:buNone/>
            </a:pPr>
            <a:r>
              <a:rPr lang="en-US" sz="2000" dirty="0"/>
              <a:t>     – Factual information is traceable </a:t>
            </a:r>
          </a:p>
          <a:p>
            <a:pPr marL="0" indent="0">
              <a:buNone/>
            </a:pPr>
            <a:r>
              <a:rPr lang="en-US" sz="2000" dirty="0"/>
              <a:t>     – Do the author’s express their own opinion, any biasness </a:t>
            </a:r>
          </a:p>
          <a:p>
            <a:r>
              <a:rPr lang="en-US" sz="2000" b="1" dirty="0"/>
              <a:t>Currency </a:t>
            </a:r>
          </a:p>
          <a:p>
            <a:pPr marL="0" indent="0" algn="just">
              <a:buNone/>
            </a:pPr>
            <a:r>
              <a:rPr lang="en-US" sz="2000" dirty="0"/>
              <a:t>     – When the web page and any links it provides are updated regularly. </a:t>
            </a:r>
          </a:p>
          <a:p>
            <a:r>
              <a:rPr lang="en-US" sz="2000" b="1" dirty="0"/>
              <a:t>Coverage </a:t>
            </a:r>
          </a:p>
          <a:p>
            <a:pPr marL="0" indent="0">
              <a:buNone/>
            </a:pPr>
            <a:r>
              <a:rPr lang="en-US" sz="2000" dirty="0"/>
              <a:t>     – Coverage is good when you can view the information without paying   fees or having additional software requirement </a:t>
            </a:r>
            <a:endParaRPr lang="en-IN" sz="2000" dirty="0"/>
          </a:p>
          <a:p>
            <a:endParaRPr lang="en-IN" sz="2000" dirty="0"/>
          </a:p>
        </p:txBody>
      </p:sp>
    </p:spTree>
    <p:extLst>
      <p:ext uri="{BB962C8B-B14F-4D97-AF65-F5344CB8AC3E}">
        <p14:creationId xmlns:p14="http://schemas.microsoft.com/office/powerpoint/2010/main" val="30699139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5446-16F4-A206-8E59-D449A00CA38C}"/>
              </a:ext>
            </a:extLst>
          </p:cNvPr>
          <p:cNvSpPr>
            <a:spLocks noGrp="1"/>
          </p:cNvSpPr>
          <p:nvPr>
            <p:ph type="title"/>
          </p:nvPr>
        </p:nvSpPr>
        <p:spPr/>
        <p:txBody>
          <a:bodyPr>
            <a:normAutofit/>
          </a:bodyPr>
          <a:lstStyle/>
          <a:p>
            <a:r>
              <a:rPr lang="en-IN" sz="4400" b="1" dirty="0"/>
              <a:t>BIBLIOGRAPHY VS REFERENCES</a:t>
            </a:r>
          </a:p>
        </p:txBody>
      </p:sp>
      <p:sp>
        <p:nvSpPr>
          <p:cNvPr id="3" name="Content Placeholder 2">
            <a:extLst>
              <a:ext uri="{FF2B5EF4-FFF2-40B4-BE49-F238E27FC236}">
                <a16:creationId xmlns:a16="http://schemas.microsoft.com/office/drawing/2014/main" id="{9F8D8D28-544B-7139-BA77-BA093EDA3346}"/>
              </a:ext>
            </a:extLst>
          </p:cNvPr>
          <p:cNvSpPr>
            <a:spLocks noGrp="1"/>
          </p:cNvSpPr>
          <p:nvPr>
            <p:ph idx="1"/>
          </p:nvPr>
        </p:nvSpPr>
        <p:spPr/>
        <p:txBody>
          <a:bodyPr>
            <a:normAutofit/>
          </a:bodyPr>
          <a:lstStyle/>
          <a:p>
            <a:pPr algn="just"/>
            <a:r>
              <a:rPr lang="en-US" sz="2400" dirty="0"/>
              <a:t>References include sources that have been directly cited in your paper/Research </a:t>
            </a:r>
          </a:p>
          <a:p>
            <a:pPr algn="just"/>
            <a:r>
              <a:rPr lang="en-US" sz="2400" dirty="0"/>
              <a:t>Bibliographies, on the other hand, contain all the sources that you have used for your paper, whether they are directly cited or not. In a bibliography, you should include all of the materials you consulted in preparing your paper </a:t>
            </a:r>
            <a:endParaRPr lang="en-IN" sz="2400" dirty="0"/>
          </a:p>
        </p:txBody>
      </p:sp>
    </p:spTree>
    <p:extLst>
      <p:ext uri="{BB962C8B-B14F-4D97-AF65-F5344CB8AC3E}">
        <p14:creationId xmlns:p14="http://schemas.microsoft.com/office/powerpoint/2010/main" val="12867256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EF5B5-346A-4482-0719-0CEBB59038E8}"/>
              </a:ext>
            </a:extLst>
          </p:cNvPr>
          <p:cNvSpPr>
            <a:spLocks noGrp="1"/>
          </p:cNvSpPr>
          <p:nvPr>
            <p:ph type="title"/>
          </p:nvPr>
        </p:nvSpPr>
        <p:spPr/>
        <p:txBody>
          <a:bodyPr>
            <a:normAutofit/>
          </a:bodyPr>
          <a:lstStyle/>
          <a:p>
            <a:r>
              <a:rPr lang="en-IN" sz="4400" b="1" dirty="0"/>
              <a:t>REFERENCING STYLE</a:t>
            </a:r>
          </a:p>
        </p:txBody>
      </p:sp>
      <p:sp>
        <p:nvSpPr>
          <p:cNvPr id="3" name="Content Placeholder 2">
            <a:extLst>
              <a:ext uri="{FF2B5EF4-FFF2-40B4-BE49-F238E27FC236}">
                <a16:creationId xmlns:a16="http://schemas.microsoft.com/office/drawing/2014/main" id="{C82EF41E-2FCE-95EC-3B46-35D469CD3FD1}"/>
              </a:ext>
            </a:extLst>
          </p:cNvPr>
          <p:cNvSpPr>
            <a:spLocks noGrp="1"/>
          </p:cNvSpPr>
          <p:nvPr>
            <p:ph idx="1"/>
          </p:nvPr>
        </p:nvSpPr>
        <p:spPr/>
        <p:txBody>
          <a:bodyPr>
            <a:normAutofit/>
          </a:bodyPr>
          <a:lstStyle/>
          <a:p>
            <a:pPr algn="just"/>
            <a:r>
              <a:rPr lang="en-US" sz="2400" dirty="0"/>
              <a:t>A citation style is a set of rules on how to cite sources in academic writing. Whenever you refer to someone else’s work, a citation is required to avoid plagiarism. </a:t>
            </a:r>
          </a:p>
          <a:p>
            <a:pPr algn="just"/>
            <a:r>
              <a:rPr lang="en-US" sz="2400" dirty="0"/>
              <a:t>Citation style guidelines are often published in an official handbook containing explanations, examples, and instructions. </a:t>
            </a:r>
            <a:endParaRPr lang="en-IN" sz="2400" dirty="0"/>
          </a:p>
        </p:txBody>
      </p:sp>
    </p:spTree>
    <p:extLst>
      <p:ext uri="{BB962C8B-B14F-4D97-AF65-F5344CB8AC3E}">
        <p14:creationId xmlns:p14="http://schemas.microsoft.com/office/powerpoint/2010/main" val="13541625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38BBF-D344-88CD-BD8A-2499011552C1}"/>
              </a:ext>
            </a:extLst>
          </p:cNvPr>
          <p:cNvSpPr>
            <a:spLocks noGrp="1"/>
          </p:cNvSpPr>
          <p:nvPr>
            <p:ph idx="1"/>
          </p:nvPr>
        </p:nvSpPr>
        <p:spPr>
          <a:xfrm>
            <a:off x="2589212" y="1645920"/>
            <a:ext cx="8915400" cy="4265302"/>
          </a:xfrm>
        </p:spPr>
        <p:txBody>
          <a:bodyPr>
            <a:normAutofit/>
          </a:bodyPr>
          <a:lstStyle/>
          <a:p>
            <a:r>
              <a:rPr lang="en-IN" sz="2000" b="1" dirty="0"/>
              <a:t>MLA </a:t>
            </a:r>
          </a:p>
          <a:p>
            <a:pPr marL="0" indent="0">
              <a:buNone/>
            </a:pPr>
            <a:r>
              <a:rPr lang="en-IN" sz="2000" dirty="0"/>
              <a:t>Modern language association (Languages &amp; Humanities) </a:t>
            </a:r>
          </a:p>
          <a:p>
            <a:r>
              <a:rPr lang="en-IN" sz="2000" b="1" dirty="0"/>
              <a:t>APA </a:t>
            </a:r>
          </a:p>
          <a:p>
            <a:pPr marL="0" indent="0">
              <a:buNone/>
            </a:pPr>
            <a:r>
              <a:rPr lang="en-IN" sz="2000" dirty="0"/>
              <a:t>American Psychological Association (Psychology, education, social sciences)</a:t>
            </a:r>
          </a:p>
          <a:p>
            <a:r>
              <a:rPr lang="en-IN" sz="2000" b="1" dirty="0"/>
              <a:t>Chicago/ Turabian </a:t>
            </a:r>
          </a:p>
          <a:p>
            <a:pPr marL="0" indent="0">
              <a:buNone/>
            </a:pPr>
            <a:r>
              <a:rPr lang="en-IN" sz="2000" dirty="0"/>
              <a:t>University of Chicago (History, humanities Notes) </a:t>
            </a:r>
          </a:p>
          <a:p>
            <a:r>
              <a:rPr lang="en-IN" sz="2000" b="1" dirty="0"/>
              <a:t>Harvard </a:t>
            </a:r>
          </a:p>
          <a:p>
            <a:pPr marL="0" indent="0">
              <a:buNone/>
            </a:pPr>
            <a:r>
              <a:rPr lang="en-IN" sz="2000" dirty="0"/>
              <a:t>University of Harvard (Economics) </a:t>
            </a:r>
          </a:p>
        </p:txBody>
      </p:sp>
    </p:spTree>
    <p:extLst>
      <p:ext uri="{BB962C8B-B14F-4D97-AF65-F5344CB8AC3E}">
        <p14:creationId xmlns:p14="http://schemas.microsoft.com/office/powerpoint/2010/main" val="31305704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3AC78D-2E2C-C733-34C5-686ACAA23A24}"/>
              </a:ext>
            </a:extLst>
          </p:cNvPr>
          <p:cNvSpPr>
            <a:spLocks noGrp="1"/>
          </p:cNvSpPr>
          <p:nvPr>
            <p:ph idx="1"/>
          </p:nvPr>
        </p:nvSpPr>
        <p:spPr>
          <a:xfrm>
            <a:off x="2589212" y="1223889"/>
            <a:ext cx="8915400" cy="5317588"/>
          </a:xfrm>
        </p:spPr>
        <p:txBody>
          <a:bodyPr>
            <a:noAutofit/>
          </a:bodyPr>
          <a:lstStyle/>
          <a:p>
            <a:r>
              <a:rPr lang="en-IN" sz="2000" b="1" dirty="0"/>
              <a:t>AP</a:t>
            </a:r>
          </a:p>
          <a:p>
            <a:pPr marL="0" indent="0">
              <a:buNone/>
            </a:pPr>
            <a:r>
              <a:rPr lang="en-IN" sz="2000" dirty="0"/>
              <a:t>Association for Press</a:t>
            </a:r>
          </a:p>
          <a:p>
            <a:r>
              <a:rPr lang="en-IN" sz="2000" b="1" dirty="0"/>
              <a:t>Vancouver </a:t>
            </a:r>
          </a:p>
          <a:p>
            <a:pPr marL="0" indent="0">
              <a:buNone/>
            </a:pPr>
            <a:r>
              <a:rPr lang="en-IN" sz="2000" dirty="0"/>
              <a:t>Medicine</a:t>
            </a:r>
          </a:p>
          <a:p>
            <a:r>
              <a:rPr lang="en-IN" sz="2000" b="1" dirty="0"/>
              <a:t>AMA</a:t>
            </a:r>
          </a:p>
          <a:p>
            <a:pPr marL="0" indent="0">
              <a:buNone/>
            </a:pPr>
            <a:r>
              <a:rPr lang="en-IN" sz="2000" dirty="0"/>
              <a:t>American Medical Association </a:t>
            </a:r>
          </a:p>
          <a:p>
            <a:r>
              <a:rPr lang="en-IN" sz="2000" b="1" dirty="0"/>
              <a:t>OSCOLA </a:t>
            </a:r>
          </a:p>
          <a:p>
            <a:pPr marL="0" indent="0">
              <a:buNone/>
            </a:pPr>
            <a:r>
              <a:rPr lang="en-IN" sz="2000" dirty="0"/>
              <a:t>Law Notes </a:t>
            </a:r>
          </a:p>
        </p:txBody>
      </p:sp>
    </p:spTree>
    <p:extLst>
      <p:ext uri="{BB962C8B-B14F-4D97-AF65-F5344CB8AC3E}">
        <p14:creationId xmlns:p14="http://schemas.microsoft.com/office/powerpoint/2010/main" val="18998578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820D3B-6968-E4C4-2331-FB7051531BD0}"/>
              </a:ext>
            </a:extLst>
          </p:cNvPr>
          <p:cNvSpPr>
            <a:spLocks noGrp="1"/>
          </p:cNvSpPr>
          <p:nvPr>
            <p:ph idx="1"/>
          </p:nvPr>
        </p:nvSpPr>
        <p:spPr/>
        <p:txBody>
          <a:bodyPr>
            <a:noAutofit/>
          </a:bodyPr>
          <a:lstStyle/>
          <a:p>
            <a:r>
              <a:rPr lang="en-IN" sz="2000" b="1" dirty="0"/>
              <a:t>IEEE </a:t>
            </a:r>
          </a:p>
          <a:p>
            <a:pPr marL="0" indent="0">
              <a:buNone/>
            </a:pPr>
            <a:r>
              <a:rPr lang="en-IN" sz="2000" dirty="0"/>
              <a:t>Institute of Electrical and Electronics Engineers Engineering </a:t>
            </a:r>
          </a:p>
          <a:p>
            <a:r>
              <a:rPr lang="en-IN" sz="2000" b="1" dirty="0"/>
              <a:t>ACS</a:t>
            </a:r>
          </a:p>
          <a:p>
            <a:pPr marL="0" indent="0">
              <a:buNone/>
            </a:pPr>
            <a:r>
              <a:rPr lang="en-IN" sz="2000" dirty="0"/>
              <a:t>American Chemical Society</a:t>
            </a:r>
          </a:p>
          <a:p>
            <a:r>
              <a:rPr lang="en-IN" sz="2000" b="1" dirty="0"/>
              <a:t>NLM</a:t>
            </a:r>
          </a:p>
          <a:p>
            <a:pPr marL="0" indent="0">
              <a:buNone/>
            </a:pPr>
            <a:r>
              <a:rPr lang="en-IN" sz="2000" dirty="0"/>
              <a:t>(National Library of Medicine) Medicine </a:t>
            </a:r>
          </a:p>
          <a:p>
            <a:r>
              <a:rPr lang="en-IN" sz="2000" b="1" dirty="0"/>
              <a:t>AAA </a:t>
            </a:r>
          </a:p>
          <a:p>
            <a:pPr marL="0" indent="0">
              <a:buNone/>
            </a:pPr>
            <a:r>
              <a:rPr lang="en-IN" sz="2000" dirty="0"/>
              <a:t>American Anthropological Association </a:t>
            </a:r>
          </a:p>
          <a:p>
            <a:pPr marL="0" indent="0">
              <a:buNone/>
            </a:pPr>
            <a:r>
              <a:rPr lang="en-IN" sz="2000" dirty="0"/>
              <a:t> </a:t>
            </a:r>
          </a:p>
          <a:p>
            <a:endParaRPr lang="en-IN" sz="2000" dirty="0"/>
          </a:p>
        </p:txBody>
      </p:sp>
    </p:spTree>
    <p:extLst>
      <p:ext uri="{BB962C8B-B14F-4D97-AF65-F5344CB8AC3E}">
        <p14:creationId xmlns:p14="http://schemas.microsoft.com/office/powerpoint/2010/main" val="26299100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8665-D1B3-31CF-8A18-4545192C6FEF}"/>
              </a:ext>
            </a:extLst>
          </p:cNvPr>
          <p:cNvSpPr>
            <a:spLocks noGrp="1"/>
          </p:cNvSpPr>
          <p:nvPr>
            <p:ph type="title"/>
          </p:nvPr>
        </p:nvSpPr>
        <p:spPr>
          <a:xfrm>
            <a:off x="2592925" y="427162"/>
            <a:ext cx="8911687" cy="1280890"/>
          </a:xfrm>
        </p:spPr>
        <p:txBody>
          <a:bodyPr>
            <a:normAutofit/>
          </a:bodyPr>
          <a:lstStyle/>
          <a:p>
            <a:r>
              <a:rPr lang="en-IN" sz="4400" b="1" dirty="0"/>
              <a:t>IN TEXT CITATION</a:t>
            </a:r>
          </a:p>
        </p:txBody>
      </p:sp>
      <p:sp>
        <p:nvSpPr>
          <p:cNvPr id="3" name="Content Placeholder 2">
            <a:extLst>
              <a:ext uri="{FF2B5EF4-FFF2-40B4-BE49-F238E27FC236}">
                <a16:creationId xmlns:a16="http://schemas.microsoft.com/office/drawing/2014/main" id="{D325B046-9BB5-F5EA-278C-56A3600B8E9E}"/>
              </a:ext>
            </a:extLst>
          </p:cNvPr>
          <p:cNvSpPr>
            <a:spLocks noGrp="1"/>
          </p:cNvSpPr>
          <p:nvPr>
            <p:ph idx="1"/>
          </p:nvPr>
        </p:nvSpPr>
        <p:spPr>
          <a:xfrm>
            <a:off x="2589212" y="1458352"/>
            <a:ext cx="8915400" cy="5012785"/>
          </a:xfrm>
        </p:spPr>
        <p:txBody>
          <a:bodyPr>
            <a:noAutofit/>
          </a:bodyPr>
          <a:lstStyle/>
          <a:p>
            <a:pPr marL="0" indent="0" algn="just">
              <a:buNone/>
            </a:pPr>
            <a:r>
              <a:rPr lang="en-US" sz="2400" dirty="0"/>
              <a:t>When you refer to a source (for example, by quoting or paraphrasing), you have to add a brief citation in the text. There are three main types of citation: </a:t>
            </a:r>
          </a:p>
          <a:p>
            <a:pPr algn="just"/>
            <a:r>
              <a:rPr lang="en-US" sz="2400" b="1" dirty="0"/>
              <a:t>Parenthetical citation: </a:t>
            </a:r>
            <a:r>
              <a:rPr lang="en-US" sz="2400" dirty="0"/>
              <a:t>You put the source reference in parentheses directly in your text. This usually includes the author’s last name along with the publication date and/or the page number. </a:t>
            </a:r>
          </a:p>
          <a:p>
            <a:pPr algn="just"/>
            <a:r>
              <a:rPr lang="en-US" sz="2400" b="1" dirty="0"/>
              <a:t>Note citation: </a:t>
            </a:r>
            <a:r>
              <a:rPr lang="en-US" sz="2400" dirty="0"/>
              <a:t>You put the source reference in a footnote or endnote. </a:t>
            </a:r>
          </a:p>
          <a:p>
            <a:pPr algn="just"/>
            <a:r>
              <a:rPr lang="en-US" sz="2400" b="1" dirty="0"/>
              <a:t>Numeric citation: </a:t>
            </a:r>
            <a:r>
              <a:rPr lang="en-US" sz="2400" dirty="0"/>
              <a:t>You number each of your sources in the reference list and use the correct number when you want to cite a source. </a:t>
            </a:r>
            <a:endParaRPr lang="en-IN" sz="2400" dirty="0"/>
          </a:p>
        </p:txBody>
      </p:sp>
    </p:spTree>
    <p:extLst>
      <p:ext uri="{BB962C8B-B14F-4D97-AF65-F5344CB8AC3E}">
        <p14:creationId xmlns:p14="http://schemas.microsoft.com/office/powerpoint/2010/main" val="35828187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A5811-7D12-936A-2712-0E7F2D04E7E7}"/>
              </a:ext>
            </a:extLst>
          </p:cNvPr>
          <p:cNvSpPr>
            <a:spLocks noGrp="1"/>
          </p:cNvSpPr>
          <p:nvPr>
            <p:ph type="title"/>
          </p:nvPr>
        </p:nvSpPr>
        <p:spPr>
          <a:xfrm>
            <a:off x="2592925" y="2392946"/>
            <a:ext cx="8911687" cy="1280890"/>
          </a:xfrm>
        </p:spPr>
        <p:txBody>
          <a:bodyPr>
            <a:normAutofit/>
          </a:bodyPr>
          <a:lstStyle/>
          <a:p>
            <a:pPr algn="ctr"/>
            <a:r>
              <a:rPr lang="en-IN" sz="4400" b="1" dirty="0"/>
              <a:t>THANK YOU</a:t>
            </a:r>
          </a:p>
        </p:txBody>
      </p:sp>
    </p:spTree>
    <p:extLst>
      <p:ext uri="{BB962C8B-B14F-4D97-AF65-F5344CB8AC3E}">
        <p14:creationId xmlns:p14="http://schemas.microsoft.com/office/powerpoint/2010/main" val="280945607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376</TotalTime>
  <Words>4551</Words>
  <Application>Microsoft Office PowerPoint</Application>
  <PresentationFormat>Widescreen</PresentationFormat>
  <Paragraphs>375</Paragraphs>
  <Slides>71</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2" baseType="lpstr">
      <vt:lpstr>Arial</vt:lpstr>
      <vt:lpstr>Arial</vt:lpstr>
      <vt:lpstr>Calibri</vt:lpstr>
      <vt:lpstr>Century Gothic</vt:lpstr>
      <vt:lpstr>Courier New</vt:lpstr>
      <vt:lpstr>Times New Roman</vt:lpstr>
      <vt:lpstr>Wingdings</vt:lpstr>
      <vt:lpstr>Wingdings 2</vt:lpstr>
      <vt:lpstr>Wingdings 3</vt:lpstr>
      <vt:lpstr>Wisp</vt:lpstr>
      <vt:lpstr>Document</vt:lpstr>
      <vt:lpstr>Review of Related Literature: Need, Purpose &amp;  Planning</vt:lpstr>
      <vt:lpstr>Learning Objectives</vt:lpstr>
      <vt:lpstr>Meaning (Re + View)</vt:lpstr>
      <vt:lpstr>What is Literature review</vt:lpstr>
      <vt:lpstr>Literature Review : A Process</vt:lpstr>
      <vt:lpstr>TYPES OF REVIEW </vt:lpstr>
      <vt:lpstr>PowerPoint Presentation</vt:lpstr>
      <vt:lpstr>PowerPoint Presentation</vt:lpstr>
      <vt:lpstr>PowerPoint Presentation</vt:lpstr>
      <vt:lpstr>PowerPoint Presentation</vt:lpstr>
      <vt:lpstr>Why write Literature Review?</vt:lpstr>
      <vt:lpstr>PowerPoint Presentation</vt:lpstr>
      <vt:lpstr>PowerPoint Presentation</vt:lpstr>
      <vt:lpstr>PowerPoint Presentation</vt:lpstr>
      <vt:lpstr>What should I do before  writing the literature review?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should you write?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SCOPE OF REVIEW</vt:lpstr>
      <vt:lpstr>TYPES OF SOURCES</vt:lpstr>
      <vt:lpstr>PRIMARY SOURCES</vt:lpstr>
      <vt:lpstr>EXAMPLES OF PRIMARY DOCUMENTS YOU COULD REVIEW AS PART OF YOUR OVERALL STUDY INCLUDE</vt:lpstr>
      <vt:lpstr>PowerPoint Presentation</vt:lpstr>
      <vt:lpstr>SECONDARY SOURCES</vt:lpstr>
      <vt:lpstr>EXAMPLES OF SECONDARY SOURCES YOU COULD REVIEW AS PART OF YOUR OVERALL STUDY INCLUDE</vt:lpstr>
      <vt:lpstr>WHERE TO SEARCH FOR EXISTING LITERATURE?</vt:lpstr>
      <vt:lpstr>PowerPoint Presentation</vt:lpstr>
      <vt:lpstr>ABSTRACTS</vt:lpstr>
      <vt:lpstr>PowerPoint Presentation</vt:lpstr>
      <vt:lpstr>INDEXES</vt:lpstr>
      <vt:lpstr>ENCYCLOPEDIAS</vt:lpstr>
      <vt:lpstr>HAND BOOKS/YEAR BOOKS</vt:lpstr>
      <vt:lpstr>PROCESS OF CONDUCTING LITERATURE REVIEW</vt:lpstr>
      <vt:lpstr>MANAGING SOURCES</vt:lpstr>
      <vt:lpstr>Example: Literature Review Gap Matrix Table</vt:lpstr>
      <vt:lpstr>QUALITY OF INTERNET RESOURCES</vt:lpstr>
      <vt:lpstr>PowerPoint Presentation</vt:lpstr>
      <vt:lpstr>BIBLIOGRAPHY VS REFERENCES</vt:lpstr>
      <vt:lpstr>REFERENCING STYLE</vt:lpstr>
      <vt:lpstr>PowerPoint Presentation</vt:lpstr>
      <vt:lpstr>PowerPoint Presentation</vt:lpstr>
      <vt:lpstr>PowerPoint Presentation</vt:lpstr>
      <vt:lpstr>IN TEXT CITATION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Related Literature: Need, Purpose &amp;  Planning</dc:title>
  <dc:creator>GOPAL SINGH</dc:creator>
  <cp:lastModifiedBy>Anuradha Kanade</cp:lastModifiedBy>
  <cp:revision>44</cp:revision>
  <dcterms:created xsi:type="dcterms:W3CDTF">2022-09-13T17:49:48Z</dcterms:created>
  <dcterms:modified xsi:type="dcterms:W3CDTF">2026-09-30T09:46:24Z</dcterms:modified>
</cp:coreProperties>
</file>