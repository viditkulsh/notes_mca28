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56" r:id="rId2"/>
    <p:sldId id="259" r:id="rId3"/>
    <p:sldId id="947" r:id="rId4"/>
    <p:sldId id="948" r:id="rId5"/>
    <p:sldId id="949" r:id="rId6"/>
    <p:sldId id="950" r:id="rId7"/>
    <p:sldId id="951" r:id="rId8"/>
    <p:sldId id="855" r:id="rId9"/>
    <p:sldId id="946" r:id="rId10"/>
    <p:sldId id="537" r:id="rId11"/>
    <p:sldId id="538" r:id="rId12"/>
    <p:sldId id="539" r:id="rId13"/>
    <p:sldId id="540" r:id="rId14"/>
    <p:sldId id="541" r:id="rId15"/>
    <p:sldId id="542" r:id="rId16"/>
    <p:sldId id="543" r:id="rId17"/>
    <p:sldId id="545" r:id="rId18"/>
    <p:sldId id="544" r:id="rId19"/>
    <p:sldId id="546" r:id="rId20"/>
    <p:sldId id="547" r:id="rId21"/>
    <p:sldId id="271" r:id="rId22"/>
    <p:sldId id="273" r:id="rId23"/>
    <p:sldId id="275" r:id="rId24"/>
    <p:sldId id="277" r:id="rId25"/>
    <p:sldId id="278" r:id="rId26"/>
    <p:sldId id="279" r:id="rId27"/>
    <p:sldId id="858" r:id="rId28"/>
    <p:sldId id="859" r:id="rId29"/>
    <p:sldId id="860" r:id="rId30"/>
    <p:sldId id="861" r:id="rId31"/>
    <p:sldId id="862" r:id="rId32"/>
    <p:sldId id="956" r:id="rId33"/>
    <p:sldId id="863" r:id="rId34"/>
    <p:sldId id="864" r:id="rId35"/>
    <p:sldId id="865" r:id="rId36"/>
    <p:sldId id="957" r:id="rId37"/>
    <p:sldId id="878" r:id="rId38"/>
    <p:sldId id="879" r:id="rId39"/>
    <p:sldId id="880" r:id="rId40"/>
    <p:sldId id="881" r:id="rId41"/>
    <p:sldId id="882" r:id="rId42"/>
    <p:sldId id="857" r:id="rId43"/>
    <p:sldId id="866" r:id="rId44"/>
    <p:sldId id="867" r:id="rId45"/>
    <p:sldId id="868" r:id="rId46"/>
    <p:sldId id="869" r:id="rId47"/>
    <p:sldId id="870" r:id="rId48"/>
    <p:sldId id="871" r:id="rId49"/>
    <p:sldId id="872" r:id="rId50"/>
    <p:sldId id="960" r:id="rId51"/>
    <p:sldId id="873" r:id="rId52"/>
    <p:sldId id="874" r:id="rId53"/>
    <p:sldId id="875" r:id="rId54"/>
    <p:sldId id="876" r:id="rId55"/>
    <p:sldId id="877" r:id="rId56"/>
    <p:sldId id="748" r:id="rId57"/>
    <p:sldId id="757" r:id="rId58"/>
    <p:sldId id="907" r:id="rId59"/>
    <p:sldId id="908" r:id="rId60"/>
    <p:sldId id="922" r:id="rId61"/>
    <p:sldId id="910" r:id="rId62"/>
    <p:sldId id="911" r:id="rId63"/>
    <p:sldId id="912" r:id="rId64"/>
    <p:sldId id="958" r:id="rId65"/>
    <p:sldId id="959" r:id="rId66"/>
    <p:sldId id="884" r:id="rId67"/>
    <p:sldId id="885" r:id="rId68"/>
    <p:sldId id="886" r:id="rId69"/>
    <p:sldId id="887" r:id="rId70"/>
    <p:sldId id="888" r:id="rId71"/>
    <p:sldId id="889" r:id="rId72"/>
    <p:sldId id="892" r:id="rId73"/>
    <p:sldId id="894" r:id="rId74"/>
    <p:sldId id="895" r:id="rId75"/>
    <p:sldId id="896" r:id="rId76"/>
    <p:sldId id="897" r:id="rId77"/>
    <p:sldId id="898" r:id="rId78"/>
    <p:sldId id="899" r:id="rId79"/>
    <p:sldId id="918" r:id="rId80"/>
    <p:sldId id="917" r:id="rId81"/>
    <p:sldId id="913" r:id="rId82"/>
    <p:sldId id="961" r:id="rId83"/>
    <p:sldId id="920" r:id="rId84"/>
    <p:sldId id="921" r:id="rId85"/>
    <p:sldId id="924" r:id="rId86"/>
    <p:sldId id="901" r:id="rId87"/>
    <p:sldId id="902" r:id="rId88"/>
    <p:sldId id="903" r:id="rId89"/>
    <p:sldId id="904" r:id="rId90"/>
    <p:sldId id="905" r:id="rId91"/>
    <p:sldId id="906" r:id="rId92"/>
    <p:sldId id="770" r:id="rId93"/>
    <p:sldId id="771" r:id="rId94"/>
    <p:sldId id="772" r:id="rId95"/>
    <p:sldId id="830" r:id="rId96"/>
    <p:sldId id="841" r:id="rId97"/>
    <p:sldId id="842" r:id="rId98"/>
    <p:sldId id="831" r:id="rId99"/>
    <p:sldId id="843" r:id="rId100"/>
    <p:sldId id="927" r:id="rId101"/>
    <p:sldId id="928" r:id="rId102"/>
    <p:sldId id="929" r:id="rId103"/>
    <p:sldId id="930" r:id="rId104"/>
    <p:sldId id="931" r:id="rId105"/>
    <p:sldId id="932" r:id="rId106"/>
    <p:sldId id="933" r:id="rId107"/>
    <p:sldId id="934" r:id="rId108"/>
    <p:sldId id="935" r:id="rId109"/>
    <p:sldId id="936" r:id="rId110"/>
    <p:sldId id="937" r:id="rId111"/>
    <p:sldId id="938" r:id="rId112"/>
    <p:sldId id="962" r:id="rId113"/>
    <p:sldId id="939" r:id="rId114"/>
    <p:sldId id="940" r:id="rId115"/>
    <p:sldId id="941" r:id="rId1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D0A1"/>
    <a:srgbClr val="76AA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5" autoAdjust="0"/>
    <p:restoredTop sz="94660"/>
  </p:normalViewPr>
  <p:slideViewPr>
    <p:cSldViewPr snapToGrid="0">
      <p:cViewPr>
        <p:scale>
          <a:sx n="60" d="100"/>
          <a:sy n="60" d="100"/>
        </p:scale>
        <p:origin x="76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F18F7-35E2-4AC5-93B8-1CB09D981C6F}" type="datetimeFigureOut">
              <a:rPr lang="en-IN" smtClean="0"/>
              <a:t>17-09-2026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867FA3-E1D8-4622-B9A9-C134C1CCF86D}" type="slidenum">
              <a:rPr lang="en-IN" smtClean="0"/>
              <a:t>‹#›</a:t>
            </a:fld>
            <a:endParaRPr lang="en-IN"/>
          </a:p>
        </p:txBody>
      </p:sp>
    </p:spTree>
    <p:extLst>
      <p:ext uri="{BB962C8B-B14F-4D97-AF65-F5344CB8AC3E}">
        <p14:creationId xmlns:p14="http://schemas.microsoft.com/office/powerpoint/2010/main" val="115957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F036B9-A8AA-44E2-8BE1-DD41B1756222}"/>
              </a:ext>
            </a:extLst>
          </p:cNvPr>
          <p:cNvSpPr>
            <a:spLocks noGrp="1" noChangeArrowheads="1"/>
          </p:cNvSpPr>
          <p:nvPr>
            <p:ph type="sldNum" sz="quarter" idx="5"/>
          </p:nvPr>
        </p:nvSpPr>
        <p:spPr>
          <a:ln/>
        </p:spPr>
        <p:txBody>
          <a:bodyPr/>
          <a:lstStyle/>
          <a:p>
            <a:fld id="{71B975F2-9E33-41D2-AC49-53C25AA2AADA}" type="slidenum">
              <a:rPr lang="en-US" altLang="en-US"/>
              <a:pPr/>
              <a:t>56</a:t>
            </a:fld>
            <a:endParaRPr lang="en-US" altLang="en-US"/>
          </a:p>
        </p:txBody>
      </p:sp>
      <p:sp>
        <p:nvSpPr>
          <p:cNvPr id="974850" name="Rectangle 2">
            <a:extLst>
              <a:ext uri="{FF2B5EF4-FFF2-40B4-BE49-F238E27FC236}">
                <a16:creationId xmlns:a16="http://schemas.microsoft.com/office/drawing/2014/main" id="{9BDAC0F0-EAD3-4654-88B5-C585A87B99E5}"/>
              </a:ext>
            </a:extLst>
          </p:cNvPr>
          <p:cNvSpPr>
            <a:spLocks noGrp="1" noRot="1" noChangeAspect="1" noChangeArrowheads="1" noTextEdit="1"/>
          </p:cNvSpPr>
          <p:nvPr>
            <p:ph type="sldImg"/>
          </p:nvPr>
        </p:nvSpPr>
        <p:spPr>
          <a:ln/>
        </p:spPr>
      </p:sp>
      <p:sp>
        <p:nvSpPr>
          <p:cNvPr id="974851" name="Rectangle 3">
            <a:extLst>
              <a:ext uri="{FF2B5EF4-FFF2-40B4-BE49-F238E27FC236}">
                <a16:creationId xmlns:a16="http://schemas.microsoft.com/office/drawing/2014/main" id="{1E592B1A-7F19-4440-804C-EE7D09AC970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EDF696-67BB-4302-B874-A53327DFD331}"/>
              </a:ext>
            </a:extLst>
          </p:cNvPr>
          <p:cNvSpPr>
            <a:spLocks noGrp="1" noChangeArrowheads="1"/>
          </p:cNvSpPr>
          <p:nvPr>
            <p:ph type="sldNum" sz="quarter" idx="5"/>
          </p:nvPr>
        </p:nvSpPr>
        <p:spPr>
          <a:ln/>
        </p:spPr>
        <p:txBody>
          <a:bodyPr/>
          <a:lstStyle/>
          <a:p>
            <a:fld id="{14BC6A42-70A8-4BA8-B6F8-DF02FEDD0316}" type="slidenum">
              <a:rPr lang="en-US" altLang="en-US"/>
              <a:pPr/>
              <a:t>57</a:t>
            </a:fld>
            <a:endParaRPr lang="en-US" altLang="en-US"/>
          </a:p>
        </p:txBody>
      </p:sp>
      <p:sp>
        <p:nvSpPr>
          <p:cNvPr id="975874" name="Rectangle 2">
            <a:extLst>
              <a:ext uri="{FF2B5EF4-FFF2-40B4-BE49-F238E27FC236}">
                <a16:creationId xmlns:a16="http://schemas.microsoft.com/office/drawing/2014/main" id="{5AA925BC-45AE-4EBE-B97C-123AEC9A2ED6}"/>
              </a:ext>
            </a:extLst>
          </p:cNvPr>
          <p:cNvSpPr>
            <a:spLocks noGrp="1" noRot="1" noChangeAspect="1" noChangeArrowheads="1" noTextEdit="1"/>
          </p:cNvSpPr>
          <p:nvPr>
            <p:ph type="sldImg"/>
          </p:nvPr>
        </p:nvSpPr>
        <p:spPr>
          <a:ln/>
        </p:spPr>
      </p:sp>
      <p:sp>
        <p:nvSpPr>
          <p:cNvPr id="975875" name="Rectangle 3">
            <a:extLst>
              <a:ext uri="{FF2B5EF4-FFF2-40B4-BE49-F238E27FC236}">
                <a16:creationId xmlns:a16="http://schemas.microsoft.com/office/drawing/2014/main" id="{3977E76D-8FEC-4C95-AAF9-5D883A3B229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7E2058-368C-4391-BB64-814967489153}"/>
              </a:ext>
            </a:extLst>
          </p:cNvPr>
          <p:cNvSpPr>
            <a:spLocks noGrp="1" noChangeArrowheads="1"/>
          </p:cNvSpPr>
          <p:nvPr>
            <p:ph type="sldNum" sz="quarter" idx="5"/>
          </p:nvPr>
        </p:nvSpPr>
        <p:spPr>
          <a:ln/>
        </p:spPr>
        <p:txBody>
          <a:bodyPr/>
          <a:lstStyle/>
          <a:p>
            <a:fld id="{47E0603B-7F5D-4110-AE5F-C8E197563AB6}" type="slidenum">
              <a:rPr lang="en-US" altLang="en-US"/>
              <a:pPr/>
              <a:t>60</a:t>
            </a:fld>
            <a:endParaRPr lang="en-US" altLang="en-US"/>
          </a:p>
        </p:txBody>
      </p:sp>
      <p:sp>
        <p:nvSpPr>
          <p:cNvPr id="983042" name="Rectangle 2">
            <a:extLst>
              <a:ext uri="{FF2B5EF4-FFF2-40B4-BE49-F238E27FC236}">
                <a16:creationId xmlns:a16="http://schemas.microsoft.com/office/drawing/2014/main" id="{AEC523A6-5E43-4C69-91D7-D35D5FECE5C9}"/>
              </a:ext>
            </a:extLst>
          </p:cNvPr>
          <p:cNvSpPr>
            <a:spLocks noGrp="1" noRot="1" noChangeAspect="1" noChangeArrowheads="1" noTextEdit="1"/>
          </p:cNvSpPr>
          <p:nvPr>
            <p:ph type="sldImg"/>
          </p:nvPr>
        </p:nvSpPr>
        <p:spPr>
          <a:ln/>
        </p:spPr>
      </p:sp>
      <p:sp>
        <p:nvSpPr>
          <p:cNvPr id="983043" name="Rectangle 3">
            <a:extLst>
              <a:ext uri="{FF2B5EF4-FFF2-40B4-BE49-F238E27FC236}">
                <a16:creationId xmlns:a16="http://schemas.microsoft.com/office/drawing/2014/main" id="{48F8C49B-5295-4FA6-9F3A-82984A76DC3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59BEBD-2BA4-4A67-B89D-9FEF75BEE200}"/>
              </a:ext>
            </a:extLst>
          </p:cNvPr>
          <p:cNvSpPr>
            <a:spLocks noGrp="1" noChangeArrowheads="1"/>
          </p:cNvSpPr>
          <p:nvPr>
            <p:ph type="sldNum" sz="quarter" idx="5"/>
          </p:nvPr>
        </p:nvSpPr>
        <p:spPr>
          <a:ln/>
        </p:spPr>
        <p:txBody>
          <a:bodyPr/>
          <a:lstStyle/>
          <a:p>
            <a:fld id="{DF72FA80-85B7-4A1F-B821-C48AFDD9D30A}" type="slidenum">
              <a:rPr lang="en-US" altLang="en-US"/>
              <a:pPr/>
              <a:t>61</a:t>
            </a:fld>
            <a:endParaRPr lang="en-US" altLang="en-US"/>
          </a:p>
        </p:txBody>
      </p:sp>
      <p:sp>
        <p:nvSpPr>
          <p:cNvPr id="984066" name="Rectangle 2">
            <a:extLst>
              <a:ext uri="{FF2B5EF4-FFF2-40B4-BE49-F238E27FC236}">
                <a16:creationId xmlns:a16="http://schemas.microsoft.com/office/drawing/2014/main" id="{7D2F4B30-784D-4CB3-B36A-C090A502428E}"/>
              </a:ext>
            </a:extLst>
          </p:cNvPr>
          <p:cNvSpPr>
            <a:spLocks noGrp="1" noRot="1" noChangeAspect="1" noChangeArrowheads="1" noTextEdit="1"/>
          </p:cNvSpPr>
          <p:nvPr>
            <p:ph type="sldImg"/>
          </p:nvPr>
        </p:nvSpPr>
        <p:spPr>
          <a:ln/>
        </p:spPr>
      </p:sp>
      <p:sp>
        <p:nvSpPr>
          <p:cNvPr id="984067" name="Rectangle 3">
            <a:extLst>
              <a:ext uri="{FF2B5EF4-FFF2-40B4-BE49-F238E27FC236}">
                <a16:creationId xmlns:a16="http://schemas.microsoft.com/office/drawing/2014/main" id="{E72D0A8C-856A-4C8B-BCBD-5679FC762A6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EECCE65-6B29-448B-AC35-F7CB295FDE07}"/>
              </a:ext>
            </a:extLst>
          </p:cNvPr>
          <p:cNvSpPr>
            <a:spLocks noGrp="1" noChangeArrowheads="1"/>
          </p:cNvSpPr>
          <p:nvPr>
            <p:ph type="sldNum" sz="quarter" idx="5"/>
          </p:nvPr>
        </p:nvSpPr>
        <p:spPr>
          <a:ln/>
        </p:spPr>
        <p:txBody>
          <a:bodyPr/>
          <a:lstStyle/>
          <a:p>
            <a:fld id="{3D63FB39-49EC-4452-8035-6C13E0E717C0}" type="slidenum">
              <a:rPr lang="en-US" altLang="en-US"/>
              <a:pPr/>
              <a:t>62</a:t>
            </a:fld>
            <a:endParaRPr lang="en-US" altLang="en-US"/>
          </a:p>
        </p:txBody>
      </p:sp>
      <p:sp>
        <p:nvSpPr>
          <p:cNvPr id="985090" name="Rectangle 2">
            <a:extLst>
              <a:ext uri="{FF2B5EF4-FFF2-40B4-BE49-F238E27FC236}">
                <a16:creationId xmlns:a16="http://schemas.microsoft.com/office/drawing/2014/main" id="{514ADDB8-3ABD-4D61-83CB-76013B6CF7AB}"/>
              </a:ext>
            </a:extLst>
          </p:cNvPr>
          <p:cNvSpPr>
            <a:spLocks noGrp="1" noRot="1" noChangeAspect="1" noChangeArrowheads="1" noTextEdit="1"/>
          </p:cNvSpPr>
          <p:nvPr>
            <p:ph type="sldImg"/>
          </p:nvPr>
        </p:nvSpPr>
        <p:spPr>
          <a:ln/>
        </p:spPr>
      </p:sp>
      <p:sp>
        <p:nvSpPr>
          <p:cNvPr id="985091" name="Rectangle 3">
            <a:extLst>
              <a:ext uri="{FF2B5EF4-FFF2-40B4-BE49-F238E27FC236}">
                <a16:creationId xmlns:a16="http://schemas.microsoft.com/office/drawing/2014/main" id="{2A174BE7-27C4-4F95-8B81-355C473E264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F6847EA-7AED-48D9-AB16-66A92D9717DC}"/>
              </a:ext>
            </a:extLst>
          </p:cNvPr>
          <p:cNvSpPr>
            <a:spLocks noGrp="1" noChangeArrowheads="1"/>
          </p:cNvSpPr>
          <p:nvPr>
            <p:ph type="sldNum" sz="quarter" idx="5"/>
          </p:nvPr>
        </p:nvSpPr>
        <p:spPr>
          <a:ln/>
        </p:spPr>
        <p:txBody>
          <a:bodyPr/>
          <a:lstStyle/>
          <a:p>
            <a:fld id="{E1D4C1A9-28D8-4ADD-A7BA-A0E0717A4671}" type="slidenum">
              <a:rPr lang="en-US" altLang="en-US"/>
              <a:pPr/>
              <a:t>79</a:t>
            </a:fld>
            <a:endParaRPr lang="en-US" altLang="en-US"/>
          </a:p>
        </p:txBody>
      </p:sp>
      <p:sp>
        <p:nvSpPr>
          <p:cNvPr id="1006594" name="Rectangle 2">
            <a:extLst>
              <a:ext uri="{FF2B5EF4-FFF2-40B4-BE49-F238E27FC236}">
                <a16:creationId xmlns:a16="http://schemas.microsoft.com/office/drawing/2014/main" id="{432E849D-CF86-4A65-B32B-8C05D28AB8C9}"/>
              </a:ext>
            </a:extLst>
          </p:cNvPr>
          <p:cNvSpPr>
            <a:spLocks noGrp="1" noRot="1" noChangeAspect="1" noChangeArrowheads="1" noTextEdit="1"/>
          </p:cNvSpPr>
          <p:nvPr>
            <p:ph type="sldImg"/>
          </p:nvPr>
        </p:nvSpPr>
        <p:spPr>
          <a:ln/>
        </p:spPr>
      </p:sp>
      <p:sp>
        <p:nvSpPr>
          <p:cNvPr id="1006595" name="Rectangle 3">
            <a:extLst>
              <a:ext uri="{FF2B5EF4-FFF2-40B4-BE49-F238E27FC236}">
                <a16:creationId xmlns:a16="http://schemas.microsoft.com/office/drawing/2014/main" id="{0A424CD2-34F7-41CF-AD5A-E3BE8A24726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0FBB3A3-F36E-4A64-9E7F-0A6DCAA6738A}"/>
              </a:ext>
            </a:extLst>
          </p:cNvPr>
          <p:cNvSpPr>
            <a:spLocks noGrp="1" noChangeArrowheads="1"/>
          </p:cNvSpPr>
          <p:nvPr>
            <p:ph type="sldNum" sz="quarter" idx="5"/>
          </p:nvPr>
        </p:nvSpPr>
        <p:spPr>
          <a:ln/>
        </p:spPr>
        <p:txBody>
          <a:bodyPr/>
          <a:lstStyle/>
          <a:p>
            <a:fld id="{EDCBA321-8FBC-4581-A599-BE9DFEA7FB8D}" type="slidenum">
              <a:rPr lang="en-US" altLang="en-US"/>
              <a:pPr/>
              <a:t>80</a:t>
            </a:fld>
            <a:endParaRPr lang="en-US" altLang="en-US"/>
          </a:p>
        </p:txBody>
      </p:sp>
      <p:sp>
        <p:nvSpPr>
          <p:cNvPr id="1004546" name="Rectangle 2">
            <a:extLst>
              <a:ext uri="{FF2B5EF4-FFF2-40B4-BE49-F238E27FC236}">
                <a16:creationId xmlns:a16="http://schemas.microsoft.com/office/drawing/2014/main" id="{A8C29F4B-DE17-469E-8ADD-FC3F4512E94B}"/>
              </a:ext>
            </a:extLst>
          </p:cNvPr>
          <p:cNvSpPr>
            <a:spLocks noGrp="1" noRot="1" noChangeAspect="1" noChangeArrowheads="1" noTextEdit="1"/>
          </p:cNvSpPr>
          <p:nvPr>
            <p:ph type="sldImg"/>
          </p:nvPr>
        </p:nvSpPr>
        <p:spPr>
          <a:ln/>
        </p:spPr>
      </p:sp>
      <p:sp>
        <p:nvSpPr>
          <p:cNvPr id="1004547" name="Rectangle 3">
            <a:extLst>
              <a:ext uri="{FF2B5EF4-FFF2-40B4-BE49-F238E27FC236}">
                <a16:creationId xmlns:a16="http://schemas.microsoft.com/office/drawing/2014/main" id="{79110103-A115-4655-913B-D4702D820B7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1F8997-ADFB-4C1B-9112-57F1E4E310B8}"/>
              </a:ext>
            </a:extLst>
          </p:cNvPr>
          <p:cNvSpPr>
            <a:spLocks noGrp="1" noChangeArrowheads="1"/>
          </p:cNvSpPr>
          <p:nvPr>
            <p:ph type="sldNum" sz="quarter" idx="5"/>
          </p:nvPr>
        </p:nvSpPr>
        <p:spPr>
          <a:ln/>
        </p:spPr>
        <p:txBody>
          <a:bodyPr/>
          <a:lstStyle/>
          <a:p>
            <a:fld id="{EE1F910C-7E2D-4641-86FE-28D3D94779D4}" type="slidenum">
              <a:rPr lang="en-US" altLang="en-US"/>
              <a:pPr/>
              <a:t>81</a:t>
            </a:fld>
            <a:endParaRPr lang="en-US" altLang="en-US"/>
          </a:p>
        </p:txBody>
      </p:sp>
      <p:sp>
        <p:nvSpPr>
          <p:cNvPr id="1000450" name="Rectangle 2">
            <a:extLst>
              <a:ext uri="{FF2B5EF4-FFF2-40B4-BE49-F238E27FC236}">
                <a16:creationId xmlns:a16="http://schemas.microsoft.com/office/drawing/2014/main" id="{697CAB2F-6057-4683-9F13-A1669928D24D}"/>
              </a:ext>
            </a:extLst>
          </p:cNvPr>
          <p:cNvSpPr>
            <a:spLocks noGrp="1" noRot="1" noChangeAspect="1" noChangeArrowheads="1" noTextEdit="1"/>
          </p:cNvSpPr>
          <p:nvPr>
            <p:ph type="sldImg"/>
          </p:nvPr>
        </p:nvSpPr>
        <p:spPr>
          <a:ln/>
        </p:spPr>
      </p:sp>
      <p:sp>
        <p:nvSpPr>
          <p:cNvPr id="1000451" name="Rectangle 3">
            <a:extLst>
              <a:ext uri="{FF2B5EF4-FFF2-40B4-BE49-F238E27FC236}">
                <a16:creationId xmlns:a16="http://schemas.microsoft.com/office/drawing/2014/main" id="{2B0B1F1F-CE1C-49EA-83F0-A724A4770E1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1F8997-ADFB-4C1B-9112-57F1E4E310B8}"/>
              </a:ext>
            </a:extLst>
          </p:cNvPr>
          <p:cNvSpPr>
            <a:spLocks noGrp="1" noChangeArrowheads="1"/>
          </p:cNvSpPr>
          <p:nvPr>
            <p:ph type="sldNum" sz="quarter" idx="5"/>
          </p:nvPr>
        </p:nvSpPr>
        <p:spPr>
          <a:ln/>
        </p:spPr>
        <p:txBody>
          <a:bodyPr/>
          <a:lstStyle/>
          <a:p>
            <a:fld id="{EE1F910C-7E2D-4641-86FE-28D3D94779D4}" type="slidenum">
              <a:rPr lang="en-US" altLang="en-US"/>
              <a:pPr/>
              <a:t>82</a:t>
            </a:fld>
            <a:endParaRPr lang="en-US" altLang="en-US"/>
          </a:p>
        </p:txBody>
      </p:sp>
      <p:sp>
        <p:nvSpPr>
          <p:cNvPr id="1000450" name="Rectangle 2">
            <a:extLst>
              <a:ext uri="{FF2B5EF4-FFF2-40B4-BE49-F238E27FC236}">
                <a16:creationId xmlns:a16="http://schemas.microsoft.com/office/drawing/2014/main" id="{697CAB2F-6057-4683-9F13-A1669928D24D}"/>
              </a:ext>
            </a:extLst>
          </p:cNvPr>
          <p:cNvSpPr>
            <a:spLocks noGrp="1" noRot="1" noChangeAspect="1" noChangeArrowheads="1" noTextEdit="1"/>
          </p:cNvSpPr>
          <p:nvPr>
            <p:ph type="sldImg"/>
          </p:nvPr>
        </p:nvSpPr>
        <p:spPr>
          <a:ln/>
        </p:spPr>
      </p:sp>
      <p:sp>
        <p:nvSpPr>
          <p:cNvPr id="1000451" name="Rectangle 3">
            <a:extLst>
              <a:ext uri="{FF2B5EF4-FFF2-40B4-BE49-F238E27FC236}">
                <a16:creationId xmlns:a16="http://schemas.microsoft.com/office/drawing/2014/main" id="{2B0B1F1F-CE1C-49EA-83F0-A724A4770E1F}"/>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42399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73976D-9668-4D83-BB70-1D6A0C1CCD8F}"/>
              </a:ext>
            </a:extLst>
          </p:cNvPr>
          <p:cNvSpPr>
            <a:spLocks noGrp="1" noChangeArrowheads="1"/>
          </p:cNvSpPr>
          <p:nvPr>
            <p:ph type="sldNum" sz="quarter" idx="5"/>
          </p:nvPr>
        </p:nvSpPr>
        <p:spPr>
          <a:ln/>
        </p:spPr>
        <p:txBody>
          <a:bodyPr/>
          <a:lstStyle/>
          <a:p>
            <a:fld id="{67B87AF3-8AA7-4BCB-BB14-D7366A03CAB2}" type="slidenum">
              <a:rPr lang="en-US" altLang="en-US"/>
              <a:pPr/>
              <a:t>83</a:t>
            </a:fld>
            <a:endParaRPr lang="en-US" altLang="en-US"/>
          </a:p>
        </p:txBody>
      </p:sp>
      <p:sp>
        <p:nvSpPr>
          <p:cNvPr id="1009666" name="Rectangle 2">
            <a:extLst>
              <a:ext uri="{FF2B5EF4-FFF2-40B4-BE49-F238E27FC236}">
                <a16:creationId xmlns:a16="http://schemas.microsoft.com/office/drawing/2014/main" id="{9F661DE3-82A4-4073-A8A3-8867184FBB77}"/>
              </a:ext>
            </a:extLst>
          </p:cNvPr>
          <p:cNvSpPr>
            <a:spLocks noGrp="1" noRot="1" noChangeAspect="1" noChangeArrowheads="1" noTextEdit="1"/>
          </p:cNvSpPr>
          <p:nvPr>
            <p:ph type="sldImg"/>
          </p:nvPr>
        </p:nvSpPr>
        <p:spPr>
          <a:ln/>
        </p:spPr>
      </p:sp>
      <p:sp>
        <p:nvSpPr>
          <p:cNvPr id="1009667" name="Rectangle 3">
            <a:extLst>
              <a:ext uri="{FF2B5EF4-FFF2-40B4-BE49-F238E27FC236}">
                <a16:creationId xmlns:a16="http://schemas.microsoft.com/office/drawing/2014/main" id="{2471BE00-CE4E-46A2-A39F-851694E975B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ED0DF1-EB3F-4BC0-8156-DC87963A15CD}"/>
              </a:ext>
            </a:extLst>
          </p:cNvPr>
          <p:cNvSpPr>
            <a:spLocks noGrp="1" noChangeArrowheads="1"/>
          </p:cNvSpPr>
          <p:nvPr>
            <p:ph type="sldNum" sz="quarter" idx="5"/>
          </p:nvPr>
        </p:nvSpPr>
        <p:spPr>
          <a:ln/>
        </p:spPr>
        <p:txBody>
          <a:bodyPr/>
          <a:lstStyle/>
          <a:p>
            <a:fld id="{B9BC567E-AF09-469C-BC55-DED8E5E1039B}" type="slidenum">
              <a:rPr lang="en-US" altLang="en-US"/>
              <a:pPr/>
              <a:t>84</a:t>
            </a:fld>
            <a:endParaRPr lang="en-US" altLang="en-US"/>
          </a:p>
        </p:txBody>
      </p:sp>
      <p:sp>
        <p:nvSpPr>
          <p:cNvPr id="1010690" name="Rectangle 2">
            <a:extLst>
              <a:ext uri="{FF2B5EF4-FFF2-40B4-BE49-F238E27FC236}">
                <a16:creationId xmlns:a16="http://schemas.microsoft.com/office/drawing/2014/main" id="{52535136-1588-41D8-B3EE-6676B1C27580}"/>
              </a:ext>
            </a:extLst>
          </p:cNvPr>
          <p:cNvSpPr>
            <a:spLocks noGrp="1" noRot="1" noChangeAspect="1" noChangeArrowheads="1" noTextEdit="1"/>
          </p:cNvSpPr>
          <p:nvPr>
            <p:ph type="sldImg"/>
          </p:nvPr>
        </p:nvSpPr>
        <p:spPr>
          <a:ln/>
        </p:spPr>
      </p:sp>
      <p:sp>
        <p:nvSpPr>
          <p:cNvPr id="1010691" name="Rectangle 3">
            <a:extLst>
              <a:ext uri="{FF2B5EF4-FFF2-40B4-BE49-F238E27FC236}">
                <a16:creationId xmlns:a16="http://schemas.microsoft.com/office/drawing/2014/main" id="{084CB918-5E84-4B33-942A-BD350DC460C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DC0DC2-70DA-40B0-988F-178F3D5D5CF4}"/>
              </a:ext>
            </a:extLst>
          </p:cNvPr>
          <p:cNvSpPr>
            <a:spLocks noGrp="1" noChangeArrowheads="1"/>
          </p:cNvSpPr>
          <p:nvPr>
            <p:ph type="sldNum" sz="quarter" idx="5"/>
          </p:nvPr>
        </p:nvSpPr>
        <p:spPr>
          <a:ln/>
        </p:spPr>
        <p:txBody>
          <a:bodyPr/>
          <a:lstStyle/>
          <a:p>
            <a:fld id="{5D49D2B1-B470-418A-81C2-A528E550F04F}" type="slidenum">
              <a:rPr lang="en-US" altLang="en-US"/>
              <a:pPr/>
              <a:t>85</a:t>
            </a:fld>
            <a:endParaRPr lang="en-US" altLang="en-US"/>
          </a:p>
        </p:txBody>
      </p:sp>
      <p:sp>
        <p:nvSpPr>
          <p:cNvPr id="1011714" name="Rectangle 2">
            <a:extLst>
              <a:ext uri="{FF2B5EF4-FFF2-40B4-BE49-F238E27FC236}">
                <a16:creationId xmlns:a16="http://schemas.microsoft.com/office/drawing/2014/main" id="{79D2A40B-95E8-428D-9F92-466F1A98A041}"/>
              </a:ext>
            </a:extLst>
          </p:cNvPr>
          <p:cNvSpPr>
            <a:spLocks noGrp="1" noRot="1" noChangeAspect="1" noChangeArrowheads="1" noTextEdit="1"/>
          </p:cNvSpPr>
          <p:nvPr>
            <p:ph type="sldImg"/>
          </p:nvPr>
        </p:nvSpPr>
        <p:spPr>
          <a:ln/>
        </p:spPr>
      </p:sp>
      <p:sp>
        <p:nvSpPr>
          <p:cNvPr id="1011715" name="Rectangle 3">
            <a:extLst>
              <a:ext uri="{FF2B5EF4-FFF2-40B4-BE49-F238E27FC236}">
                <a16:creationId xmlns:a16="http://schemas.microsoft.com/office/drawing/2014/main" id="{8B37BFF3-45E5-49A0-8136-C20D54A59CA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B8B5F5-2BCF-4275-A3AE-2146AD7F2CB4}"/>
              </a:ext>
            </a:extLst>
          </p:cNvPr>
          <p:cNvSpPr>
            <a:spLocks noGrp="1" noChangeArrowheads="1"/>
          </p:cNvSpPr>
          <p:nvPr>
            <p:ph type="sldNum" sz="quarter" idx="5"/>
          </p:nvPr>
        </p:nvSpPr>
        <p:spPr>
          <a:ln/>
        </p:spPr>
        <p:txBody>
          <a:bodyPr/>
          <a:lstStyle/>
          <a:p>
            <a:fld id="{6BE4E53D-8878-475D-9512-8730BE75BA21}" type="slidenum">
              <a:rPr lang="en-US" altLang="en-US"/>
              <a:pPr/>
              <a:t>92</a:t>
            </a:fld>
            <a:endParaRPr lang="en-US" altLang="en-US"/>
          </a:p>
        </p:txBody>
      </p:sp>
      <p:sp>
        <p:nvSpPr>
          <p:cNvPr id="1017858" name="Rectangle 2">
            <a:extLst>
              <a:ext uri="{FF2B5EF4-FFF2-40B4-BE49-F238E27FC236}">
                <a16:creationId xmlns:a16="http://schemas.microsoft.com/office/drawing/2014/main" id="{BF95C7B7-7182-411B-B41C-BFE6CFA831E7}"/>
              </a:ext>
            </a:extLst>
          </p:cNvPr>
          <p:cNvSpPr>
            <a:spLocks noGrp="1" noRot="1" noChangeAspect="1" noChangeArrowheads="1" noTextEdit="1"/>
          </p:cNvSpPr>
          <p:nvPr>
            <p:ph type="sldImg"/>
          </p:nvPr>
        </p:nvSpPr>
        <p:spPr>
          <a:ln/>
        </p:spPr>
      </p:sp>
      <p:sp>
        <p:nvSpPr>
          <p:cNvPr id="1017859" name="Rectangle 3">
            <a:extLst>
              <a:ext uri="{FF2B5EF4-FFF2-40B4-BE49-F238E27FC236}">
                <a16:creationId xmlns:a16="http://schemas.microsoft.com/office/drawing/2014/main" id="{2FBA7515-16F1-456E-9EC5-474037E1234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3B9592-03A9-4EFC-8475-42DF335196CF}"/>
              </a:ext>
            </a:extLst>
          </p:cNvPr>
          <p:cNvSpPr>
            <a:spLocks noGrp="1" noChangeArrowheads="1"/>
          </p:cNvSpPr>
          <p:nvPr>
            <p:ph type="sldNum" sz="quarter" idx="5"/>
          </p:nvPr>
        </p:nvSpPr>
        <p:spPr>
          <a:ln/>
        </p:spPr>
        <p:txBody>
          <a:bodyPr/>
          <a:lstStyle/>
          <a:p>
            <a:fld id="{030CF03A-57EF-4967-BB12-0D3D58DB07CE}" type="slidenum">
              <a:rPr lang="en-US" altLang="en-US"/>
              <a:pPr/>
              <a:t>93</a:t>
            </a:fld>
            <a:endParaRPr lang="en-US" altLang="en-US"/>
          </a:p>
        </p:txBody>
      </p:sp>
      <p:sp>
        <p:nvSpPr>
          <p:cNvPr id="1018882" name="Rectangle 2">
            <a:extLst>
              <a:ext uri="{FF2B5EF4-FFF2-40B4-BE49-F238E27FC236}">
                <a16:creationId xmlns:a16="http://schemas.microsoft.com/office/drawing/2014/main" id="{FABAEAD3-594A-42BC-B781-0409148A6120}"/>
              </a:ext>
            </a:extLst>
          </p:cNvPr>
          <p:cNvSpPr>
            <a:spLocks noGrp="1" noRot="1" noChangeAspect="1" noChangeArrowheads="1" noTextEdit="1"/>
          </p:cNvSpPr>
          <p:nvPr>
            <p:ph type="sldImg"/>
          </p:nvPr>
        </p:nvSpPr>
        <p:spPr>
          <a:ln/>
        </p:spPr>
      </p:sp>
      <p:sp>
        <p:nvSpPr>
          <p:cNvPr id="1018883" name="Rectangle 3">
            <a:extLst>
              <a:ext uri="{FF2B5EF4-FFF2-40B4-BE49-F238E27FC236}">
                <a16:creationId xmlns:a16="http://schemas.microsoft.com/office/drawing/2014/main" id="{656010FC-9838-4FBF-ADA0-8D59743E26D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638C73-FDD7-44B1-B230-7EE5BD81B51C}"/>
              </a:ext>
            </a:extLst>
          </p:cNvPr>
          <p:cNvSpPr>
            <a:spLocks noGrp="1" noChangeArrowheads="1"/>
          </p:cNvSpPr>
          <p:nvPr>
            <p:ph type="sldNum" sz="quarter" idx="5"/>
          </p:nvPr>
        </p:nvSpPr>
        <p:spPr>
          <a:ln/>
        </p:spPr>
        <p:txBody>
          <a:bodyPr/>
          <a:lstStyle/>
          <a:p>
            <a:fld id="{565C5AEA-55FA-4069-B1B0-A63253F5EDDE}" type="slidenum">
              <a:rPr lang="en-US" altLang="en-US"/>
              <a:pPr/>
              <a:t>94</a:t>
            </a:fld>
            <a:endParaRPr lang="en-US" altLang="en-US"/>
          </a:p>
        </p:txBody>
      </p:sp>
      <p:sp>
        <p:nvSpPr>
          <p:cNvPr id="1019906" name="Rectangle 2">
            <a:extLst>
              <a:ext uri="{FF2B5EF4-FFF2-40B4-BE49-F238E27FC236}">
                <a16:creationId xmlns:a16="http://schemas.microsoft.com/office/drawing/2014/main" id="{0A1DF150-4D9E-49B9-9007-270C0E798397}"/>
              </a:ext>
            </a:extLst>
          </p:cNvPr>
          <p:cNvSpPr>
            <a:spLocks noGrp="1" noRot="1" noChangeAspect="1" noChangeArrowheads="1" noTextEdit="1"/>
          </p:cNvSpPr>
          <p:nvPr>
            <p:ph type="sldImg"/>
          </p:nvPr>
        </p:nvSpPr>
        <p:spPr>
          <a:ln/>
        </p:spPr>
      </p:sp>
      <p:sp>
        <p:nvSpPr>
          <p:cNvPr id="1019907" name="Rectangle 3">
            <a:extLst>
              <a:ext uri="{FF2B5EF4-FFF2-40B4-BE49-F238E27FC236}">
                <a16:creationId xmlns:a16="http://schemas.microsoft.com/office/drawing/2014/main" id="{68BA0549-1BE6-4C27-84F9-2F50394382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D4FA12-D7FE-4E9F-AF8E-5FE08878D4E6}"/>
              </a:ext>
            </a:extLst>
          </p:cNvPr>
          <p:cNvSpPr>
            <a:spLocks noGrp="1" noChangeArrowheads="1"/>
          </p:cNvSpPr>
          <p:nvPr>
            <p:ph type="sldNum" sz="quarter" idx="5"/>
          </p:nvPr>
        </p:nvSpPr>
        <p:spPr>
          <a:ln/>
        </p:spPr>
        <p:txBody>
          <a:bodyPr/>
          <a:lstStyle/>
          <a:p>
            <a:fld id="{58C14DBC-097D-4B29-AB69-CC7EA1BF9842}" type="slidenum">
              <a:rPr lang="en-US" altLang="en-US"/>
              <a:pPr/>
              <a:t>95</a:t>
            </a:fld>
            <a:endParaRPr lang="en-US" altLang="en-US"/>
          </a:p>
        </p:txBody>
      </p:sp>
      <p:sp>
        <p:nvSpPr>
          <p:cNvPr id="1022978" name="Rectangle 2">
            <a:extLst>
              <a:ext uri="{FF2B5EF4-FFF2-40B4-BE49-F238E27FC236}">
                <a16:creationId xmlns:a16="http://schemas.microsoft.com/office/drawing/2014/main" id="{F465DA24-E5BD-45D9-A54A-BF6681FEAFA2}"/>
              </a:ext>
            </a:extLst>
          </p:cNvPr>
          <p:cNvSpPr>
            <a:spLocks noGrp="1" noRot="1" noChangeAspect="1" noChangeArrowheads="1" noTextEdit="1"/>
          </p:cNvSpPr>
          <p:nvPr>
            <p:ph type="sldImg"/>
          </p:nvPr>
        </p:nvSpPr>
        <p:spPr>
          <a:ln/>
        </p:spPr>
      </p:sp>
      <p:sp>
        <p:nvSpPr>
          <p:cNvPr id="1022979" name="Rectangle 3">
            <a:extLst>
              <a:ext uri="{FF2B5EF4-FFF2-40B4-BE49-F238E27FC236}">
                <a16:creationId xmlns:a16="http://schemas.microsoft.com/office/drawing/2014/main" id="{5CF276EE-CF16-469E-A508-AED66F5919B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66DDAEB-E35E-4CC0-B217-65A222AACA3A}"/>
              </a:ext>
            </a:extLst>
          </p:cNvPr>
          <p:cNvSpPr>
            <a:spLocks noGrp="1" noChangeArrowheads="1"/>
          </p:cNvSpPr>
          <p:nvPr>
            <p:ph type="sldNum" sz="quarter" idx="5"/>
          </p:nvPr>
        </p:nvSpPr>
        <p:spPr>
          <a:ln/>
        </p:spPr>
        <p:txBody>
          <a:bodyPr/>
          <a:lstStyle/>
          <a:p>
            <a:fld id="{51D06B6E-FF25-414C-A545-BC11F92771F8}" type="slidenum">
              <a:rPr lang="en-US" altLang="en-US"/>
              <a:pPr/>
              <a:t>96</a:t>
            </a:fld>
            <a:endParaRPr lang="en-US" altLang="en-US"/>
          </a:p>
        </p:txBody>
      </p:sp>
      <p:sp>
        <p:nvSpPr>
          <p:cNvPr id="1024002" name="Rectangle 2">
            <a:extLst>
              <a:ext uri="{FF2B5EF4-FFF2-40B4-BE49-F238E27FC236}">
                <a16:creationId xmlns:a16="http://schemas.microsoft.com/office/drawing/2014/main" id="{7245A26A-4493-4D19-9DD3-1C245C7E48AC}"/>
              </a:ext>
            </a:extLst>
          </p:cNvPr>
          <p:cNvSpPr>
            <a:spLocks noGrp="1" noRot="1" noChangeAspect="1" noChangeArrowheads="1" noTextEdit="1"/>
          </p:cNvSpPr>
          <p:nvPr>
            <p:ph type="sldImg"/>
          </p:nvPr>
        </p:nvSpPr>
        <p:spPr>
          <a:ln/>
        </p:spPr>
      </p:sp>
      <p:sp>
        <p:nvSpPr>
          <p:cNvPr id="1024003" name="Rectangle 3">
            <a:extLst>
              <a:ext uri="{FF2B5EF4-FFF2-40B4-BE49-F238E27FC236}">
                <a16:creationId xmlns:a16="http://schemas.microsoft.com/office/drawing/2014/main" id="{1610D261-FE58-4D47-82A6-434B14934C5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EB04AF7-6003-4CEC-A4A7-ADE771B7C726}"/>
              </a:ext>
            </a:extLst>
          </p:cNvPr>
          <p:cNvSpPr>
            <a:spLocks noGrp="1" noChangeArrowheads="1"/>
          </p:cNvSpPr>
          <p:nvPr>
            <p:ph type="sldNum" sz="quarter" idx="5"/>
          </p:nvPr>
        </p:nvSpPr>
        <p:spPr>
          <a:ln/>
        </p:spPr>
        <p:txBody>
          <a:bodyPr/>
          <a:lstStyle/>
          <a:p>
            <a:fld id="{110ECB76-548A-4CE3-AB71-191B331FEA40}" type="slidenum">
              <a:rPr lang="en-US" altLang="en-US"/>
              <a:pPr/>
              <a:t>97</a:t>
            </a:fld>
            <a:endParaRPr lang="en-US" altLang="en-US"/>
          </a:p>
        </p:txBody>
      </p:sp>
      <p:sp>
        <p:nvSpPr>
          <p:cNvPr id="1025026" name="Rectangle 2">
            <a:extLst>
              <a:ext uri="{FF2B5EF4-FFF2-40B4-BE49-F238E27FC236}">
                <a16:creationId xmlns:a16="http://schemas.microsoft.com/office/drawing/2014/main" id="{3DFA7AFF-3114-42F0-8D3E-9D9C6D4DDB07}"/>
              </a:ext>
            </a:extLst>
          </p:cNvPr>
          <p:cNvSpPr>
            <a:spLocks noGrp="1" noRot="1" noChangeAspect="1" noChangeArrowheads="1" noTextEdit="1"/>
          </p:cNvSpPr>
          <p:nvPr>
            <p:ph type="sldImg"/>
          </p:nvPr>
        </p:nvSpPr>
        <p:spPr>
          <a:ln/>
        </p:spPr>
      </p:sp>
      <p:sp>
        <p:nvSpPr>
          <p:cNvPr id="1025027" name="Rectangle 3">
            <a:extLst>
              <a:ext uri="{FF2B5EF4-FFF2-40B4-BE49-F238E27FC236}">
                <a16:creationId xmlns:a16="http://schemas.microsoft.com/office/drawing/2014/main" id="{78421EAF-B8D7-411B-9D95-36764D3C617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0845D79-48B8-4562-B4FA-EEFA5A52A7DE}"/>
              </a:ext>
            </a:extLst>
          </p:cNvPr>
          <p:cNvSpPr>
            <a:spLocks noGrp="1" noChangeArrowheads="1"/>
          </p:cNvSpPr>
          <p:nvPr>
            <p:ph type="sldNum" sz="quarter" idx="5"/>
          </p:nvPr>
        </p:nvSpPr>
        <p:spPr>
          <a:ln/>
        </p:spPr>
        <p:txBody>
          <a:bodyPr/>
          <a:lstStyle/>
          <a:p>
            <a:fld id="{8E06EDEB-E5D6-4412-BA6F-A616C2DF0858}" type="slidenum">
              <a:rPr lang="en-US" altLang="en-US"/>
              <a:pPr/>
              <a:t>98</a:t>
            </a:fld>
            <a:endParaRPr lang="en-US" altLang="en-US"/>
          </a:p>
        </p:txBody>
      </p:sp>
      <p:sp>
        <p:nvSpPr>
          <p:cNvPr id="1026050" name="Rectangle 2">
            <a:extLst>
              <a:ext uri="{FF2B5EF4-FFF2-40B4-BE49-F238E27FC236}">
                <a16:creationId xmlns:a16="http://schemas.microsoft.com/office/drawing/2014/main" id="{53D538C5-54EA-4A6F-AFB4-FB513046B2BC}"/>
              </a:ext>
            </a:extLst>
          </p:cNvPr>
          <p:cNvSpPr>
            <a:spLocks noGrp="1" noRot="1" noChangeAspect="1" noChangeArrowheads="1" noTextEdit="1"/>
          </p:cNvSpPr>
          <p:nvPr>
            <p:ph type="sldImg"/>
          </p:nvPr>
        </p:nvSpPr>
        <p:spPr>
          <a:ln/>
        </p:spPr>
      </p:sp>
      <p:sp>
        <p:nvSpPr>
          <p:cNvPr id="1026051" name="Rectangle 3">
            <a:extLst>
              <a:ext uri="{FF2B5EF4-FFF2-40B4-BE49-F238E27FC236}">
                <a16:creationId xmlns:a16="http://schemas.microsoft.com/office/drawing/2014/main" id="{5A387F91-3513-4DFE-916B-B95325E64E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3AEDF69-4B24-4B60-88A4-672554211E6C}"/>
              </a:ext>
            </a:extLst>
          </p:cNvPr>
          <p:cNvSpPr>
            <a:spLocks noGrp="1" noChangeArrowheads="1"/>
          </p:cNvSpPr>
          <p:nvPr>
            <p:ph type="sldNum" sz="quarter" idx="5"/>
          </p:nvPr>
        </p:nvSpPr>
        <p:spPr>
          <a:ln/>
        </p:spPr>
        <p:txBody>
          <a:bodyPr/>
          <a:lstStyle/>
          <a:p>
            <a:fld id="{99A4E2FB-05C3-41C4-B2D8-72187E5A6909}" type="slidenum">
              <a:rPr lang="en-US" altLang="en-US"/>
              <a:pPr/>
              <a:t>99</a:t>
            </a:fld>
            <a:endParaRPr lang="en-US" altLang="en-US"/>
          </a:p>
        </p:txBody>
      </p:sp>
      <p:sp>
        <p:nvSpPr>
          <p:cNvPr id="1027074" name="Rectangle 2">
            <a:extLst>
              <a:ext uri="{FF2B5EF4-FFF2-40B4-BE49-F238E27FC236}">
                <a16:creationId xmlns:a16="http://schemas.microsoft.com/office/drawing/2014/main" id="{375FE2C4-8C26-4403-9F9D-0549939E91F2}"/>
              </a:ext>
            </a:extLst>
          </p:cNvPr>
          <p:cNvSpPr>
            <a:spLocks noGrp="1" noRot="1" noChangeAspect="1" noChangeArrowheads="1" noTextEdit="1"/>
          </p:cNvSpPr>
          <p:nvPr>
            <p:ph type="sldImg"/>
          </p:nvPr>
        </p:nvSpPr>
        <p:spPr>
          <a:ln/>
        </p:spPr>
      </p:sp>
      <p:sp>
        <p:nvSpPr>
          <p:cNvPr id="1027075" name="Rectangle 3">
            <a:extLst>
              <a:ext uri="{FF2B5EF4-FFF2-40B4-BE49-F238E27FC236}">
                <a16:creationId xmlns:a16="http://schemas.microsoft.com/office/drawing/2014/main" id="{2C2AFC47-38EA-4AAD-B1D3-98055B8C07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092F00B-8520-4E0F-AEC9-26D12828A270}" type="slidenum">
              <a:rPr lang="en-IN" smtClean="0"/>
              <a:t>113</a:t>
            </a:fld>
            <a:endParaRPr lang="en-IN"/>
          </a:p>
        </p:txBody>
      </p:sp>
    </p:spTree>
    <p:extLst>
      <p:ext uri="{BB962C8B-B14F-4D97-AF65-F5344CB8AC3E}">
        <p14:creationId xmlns:p14="http://schemas.microsoft.com/office/powerpoint/2010/main" val="949367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F81C-0EA3-4668-83E7-8D4E02194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694FA4B-F2A8-473B-B5F5-8DDD28C242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188AC4-55B5-4E9A-80F7-699978C7C93B}"/>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24BB4874-F107-465B-9CC4-444B51E8E9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16651B-DC87-4554-AC39-E1E8A02ED318}"/>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2444942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E747-0773-42F9-9F46-C51800FA30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5DB74E-7A31-4994-BD07-87DC48A107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B121E2-5057-4073-AF15-D78114072816}"/>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302B1864-A70E-4A55-8A1F-0CF613E6A9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E8F32E-2A6D-40D5-8258-29E5BA23E339}"/>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343899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9C08-BE11-47FA-89CC-42F42C008A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5F195C-53D2-442F-A34B-A8FCFD5A17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9E4038-5ACB-42CA-BE31-951113225854}"/>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79663C7C-5D08-4B02-9076-CD74191597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39E32F-22DE-4923-9EFC-91F794912ED9}"/>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3211245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2B6B1-CFA5-4996-930F-99C1A01539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E75EE9-BD08-4565-8403-08005D8C5B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0B0409-2C4F-4117-A8B1-EEB361F07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9D1142-262C-469D-8000-3AEB00E96491}"/>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6" name="Footer Placeholder 5">
            <a:extLst>
              <a:ext uri="{FF2B5EF4-FFF2-40B4-BE49-F238E27FC236}">
                <a16:creationId xmlns:a16="http://schemas.microsoft.com/office/drawing/2014/main" id="{949CEE38-026A-4416-99BD-82375A694F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2842E-A89A-4AE4-8D4C-2CAA63B71ECE}"/>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3858034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BB86F-6188-4069-A83F-C1D26DD409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1B7CB7-5196-4A4E-9CF4-5903495D16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3757CE-18CA-46DB-BBA0-CB4869CB80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073575-F1FF-43C1-85A0-F2E405DE73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887CB8-B405-426C-B726-418DCE6E6F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D54C37-04CA-41C3-AAF2-A7F65A13EF0A}"/>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8" name="Footer Placeholder 7">
            <a:extLst>
              <a:ext uri="{FF2B5EF4-FFF2-40B4-BE49-F238E27FC236}">
                <a16:creationId xmlns:a16="http://schemas.microsoft.com/office/drawing/2014/main" id="{735396D4-DE66-49C4-84A0-CF70E9E612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7C40BF-D757-4AB1-AC00-01F550C51004}"/>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226355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93BB6-E42A-49D2-BE69-EB85543EF3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4940BA-9E3F-43A4-B528-D9D6D65D55B3}"/>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4" name="Footer Placeholder 3">
            <a:extLst>
              <a:ext uri="{FF2B5EF4-FFF2-40B4-BE49-F238E27FC236}">
                <a16:creationId xmlns:a16="http://schemas.microsoft.com/office/drawing/2014/main" id="{BF9E4FDA-1C2E-4037-BFE2-ADD5343DD3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0EE54E-6F3C-41AA-9587-6E32B10681CE}"/>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159830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C78F6-84D2-4DEB-AEA0-822F6D025A54}"/>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3" name="Footer Placeholder 2">
            <a:extLst>
              <a:ext uri="{FF2B5EF4-FFF2-40B4-BE49-F238E27FC236}">
                <a16:creationId xmlns:a16="http://schemas.microsoft.com/office/drawing/2014/main" id="{0E0C8D3A-B9BB-47E9-8873-C4FF935BD2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5EE41F-9C6E-4973-A0B5-333AFB70037B}"/>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150039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1B5C2-4D3E-45F6-BF07-9A4D95CBA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671219-C466-49A8-94BD-7585C3C29E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166CE4-121D-475C-86CB-69B92CA1F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F142C-C318-43EF-9394-04834E8E02A8}"/>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6" name="Footer Placeholder 5">
            <a:extLst>
              <a:ext uri="{FF2B5EF4-FFF2-40B4-BE49-F238E27FC236}">
                <a16:creationId xmlns:a16="http://schemas.microsoft.com/office/drawing/2014/main" id="{CD0F4C13-6577-4E08-91FE-D71C203FFB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145F76-366C-4072-BFF7-CAB1E36DA519}"/>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1013762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AD543-5864-4E78-B72B-FDB8FE0A7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E04751-4A6E-433D-B68C-8B3D8E703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DD961F-2CB3-4124-84D9-8AC9A2C4F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8CD73D-B120-4AFD-A3FE-9B47C18EA795}"/>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6" name="Footer Placeholder 5">
            <a:extLst>
              <a:ext uri="{FF2B5EF4-FFF2-40B4-BE49-F238E27FC236}">
                <a16:creationId xmlns:a16="http://schemas.microsoft.com/office/drawing/2014/main" id="{2AB54B31-2E05-4AE2-9793-7D7CEE1507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B15905-847A-4AB5-9F8E-7C38AF94AF64}"/>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327935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3F79-F9C9-409F-8916-701F8B967F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13E14A-B70B-48DD-BBA7-3E2EC0FC2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DCFEE5-64E7-47B0-8C23-44EA12EEE29E}"/>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E3BC7B9E-4DB0-4BAA-817B-245FCA06B6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A7066C-BE8D-482D-A66E-335352489D64}"/>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3518791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23E552-BE62-45E2-A9F1-24FAB912E1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00C589-7B98-4616-A1BF-14C01E1466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BD1125-4D97-46FF-8772-FD5B11AAF19F}"/>
              </a:ext>
            </a:extLst>
          </p:cNvPr>
          <p:cNvSpPr>
            <a:spLocks noGrp="1"/>
          </p:cNvSpPr>
          <p:nvPr>
            <p:ph type="dt" sz="half" idx="10"/>
          </p:nvPr>
        </p:nvSpPr>
        <p:spPr/>
        <p:txBody>
          <a:body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08F22AAB-E420-4301-9D73-6CB4416DCB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CB0F5-EDB4-493D-82E6-EBA15270DB9B}"/>
              </a:ext>
            </a:extLst>
          </p:cNvPr>
          <p:cNvSpPr>
            <a:spLocks noGrp="1"/>
          </p:cNvSpPr>
          <p:nvPr>
            <p:ph type="sldNum" sz="quarter" idx="12"/>
          </p:nvPr>
        </p:nvSpPr>
        <p:spPr/>
        <p:txBody>
          <a:bodyPr/>
          <a:lstStyle/>
          <a:p>
            <a:fld id="{C0BB2C08-268F-4655-9078-2B6B0724C3A2}" type="slidenum">
              <a:rPr lang="en-IN" smtClean="0"/>
              <a:t>‹#›</a:t>
            </a:fld>
            <a:endParaRPr lang="en-IN"/>
          </a:p>
        </p:txBody>
      </p:sp>
    </p:spTree>
    <p:extLst>
      <p:ext uri="{BB962C8B-B14F-4D97-AF65-F5344CB8AC3E}">
        <p14:creationId xmlns:p14="http://schemas.microsoft.com/office/powerpoint/2010/main" val="2628492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528CC9-4FA3-40FC-A97D-9744D570BC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D0CFF9-8B67-4773-B0EF-B4AFBD71B9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0DA87-AA66-4172-A584-3C8F2214C2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D7C5F7-2ED6-413E-97C3-017378E3E8C5}" type="datetimeFigureOut">
              <a:rPr lang="en-IN" smtClean="0"/>
              <a:t>17-09-2026</a:t>
            </a:fld>
            <a:endParaRPr lang="en-IN"/>
          </a:p>
        </p:txBody>
      </p:sp>
      <p:sp>
        <p:nvSpPr>
          <p:cNvPr id="5" name="Footer Placeholder 4">
            <a:extLst>
              <a:ext uri="{FF2B5EF4-FFF2-40B4-BE49-F238E27FC236}">
                <a16:creationId xmlns:a16="http://schemas.microsoft.com/office/drawing/2014/main" id="{232D68A0-7142-4C44-9E2F-B3AE40E71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8C3C68-05F2-438F-96C2-AE9C03DBCF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BB2C08-268F-4655-9078-2B6B0724C3A2}" type="slidenum">
              <a:rPr lang="en-IN" smtClean="0"/>
              <a:t>‹#›</a:t>
            </a:fld>
            <a:endParaRPr lang="en-IN"/>
          </a:p>
        </p:txBody>
      </p:sp>
    </p:spTree>
    <p:extLst>
      <p:ext uri="{BB962C8B-B14F-4D97-AF65-F5344CB8AC3E}">
        <p14:creationId xmlns:p14="http://schemas.microsoft.com/office/powerpoint/2010/main" val="215417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8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7.wmf"/></Relationships>
</file>

<file path=ppt/slides/_rels/slide96.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0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image" Target="../media/image125.png"/></Relationships>
</file>

<file path=ppt/slides/_rels/slide11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A515-D2AA-485A-8668-6B02FA72A7DF}"/>
              </a:ext>
            </a:extLst>
          </p:cNvPr>
          <p:cNvSpPr>
            <a:spLocks noGrp="1"/>
          </p:cNvSpPr>
          <p:nvPr>
            <p:ph type="ctrTitle"/>
          </p:nvPr>
        </p:nvSpPr>
        <p:spPr/>
        <p:txBody>
          <a:bodyPr/>
          <a:lstStyle/>
          <a:p>
            <a:r>
              <a:rPr lang="en-IN" sz="6000" b="1" i="0" u="none" strike="noStrike" baseline="0" dirty="0">
                <a:solidFill>
                  <a:srgbClr val="000000"/>
                </a:solidFill>
                <a:latin typeface="Times New Roman" panose="02020603050405020304" pitchFamily="18" charset="0"/>
              </a:rPr>
              <a:t>Data Link Layer </a:t>
            </a:r>
            <a:br>
              <a:rPr lang="en-IN" sz="6000" b="0" i="0" u="none" strike="noStrike" baseline="0" dirty="0">
                <a:solidFill>
                  <a:srgbClr val="000000"/>
                </a:solidFill>
                <a:latin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D26C791D-1B66-492A-9008-2C62AC5B37CC}"/>
              </a:ext>
            </a:extLst>
          </p:cNvPr>
          <p:cNvSpPr>
            <a:spLocks noGrp="1"/>
          </p:cNvSpPr>
          <p:nvPr>
            <p:ph type="subTitle" idx="1"/>
          </p:nvPr>
        </p:nvSpPr>
        <p:spPr/>
        <p:txBody>
          <a:bodyPr>
            <a:normAutofit/>
          </a:bodyPr>
          <a:lstStyle/>
          <a:p>
            <a:r>
              <a:rPr lang="en-IN" sz="1800" b="0" i="0" u="none" strike="noStrike" baseline="0" dirty="0">
                <a:solidFill>
                  <a:srgbClr val="000000"/>
                </a:solidFill>
                <a:latin typeface="Times New Roman" panose="02020603050405020304" pitchFamily="18" charset="0"/>
              </a:rPr>
              <a:t>Framing, Error detection and Error correction, Vertical Redundancy Check (VRC), Longitudinal Redundancy Check (LRC), Hamming Distance, Hamming Code, Cyclic Redundancy Check (CRC), Stop and Wait Protocol, Sliding Window Protocol, Go-Back-n ARQ, Selective-Reject ARQ, HDLC, Channel Allocation, ALOHA Systems, CSMA Protocols, Collision Free Protocols 	</a:t>
            </a:r>
          </a:p>
          <a:p>
            <a:endParaRPr lang="en-IN" dirty="0"/>
          </a:p>
        </p:txBody>
      </p:sp>
    </p:spTree>
    <p:extLst>
      <p:ext uri="{BB962C8B-B14F-4D97-AF65-F5344CB8AC3E}">
        <p14:creationId xmlns:p14="http://schemas.microsoft.com/office/powerpoint/2010/main" val="4246093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006" y="1003176"/>
            <a:ext cx="6172841" cy="2302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006" y="3413746"/>
            <a:ext cx="3495752" cy="285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Table 2">
            <a:extLst>
              <a:ext uri="{FF2B5EF4-FFF2-40B4-BE49-F238E27FC236}">
                <a16:creationId xmlns:a16="http://schemas.microsoft.com/office/drawing/2014/main" id="{3915EEF2-0849-0E7B-A889-CADF4F1B6A43}"/>
              </a:ext>
            </a:extLst>
          </p:cNvPr>
          <p:cNvGraphicFramePr>
            <a:graphicFrameLocks noGrp="1"/>
          </p:cNvGraphicFramePr>
          <p:nvPr>
            <p:extLst>
              <p:ext uri="{D42A27DB-BD31-4B8C-83A1-F6EECF244321}">
                <p14:modId xmlns:p14="http://schemas.microsoft.com/office/powerpoint/2010/main" val="2640521619"/>
              </p:ext>
            </p:extLst>
          </p:nvPr>
        </p:nvGraphicFramePr>
        <p:xfrm>
          <a:off x="8000241" y="3670224"/>
          <a:ext cx="4059954" cy="2596584"/>
        </p:xfrm>
        <a:graphic>
          <a:graphicData uri="http://schemas.openxmlformats.org/drawingml/2006/table">
            <a:tbl>
              <a:tblPr firstRow="1" bandRow="1">
                <a:tableStyleId>{5C22544A-7EE6-4342-B048-85BDC9FD1C3A}</a:tableStyleId>
              </a:tblPr>
              <a:tblGrid>
                <a:gridCol w="2029977">
                  <a:extLst>
                    <a:ext uri="{9D8B030D-6E8A-4147-A177-3AD203B41FA5}">
                      <a16:colId xmlns:a16="http://schemas.microsoft.com/office/drawing/2014/main" val="4229944644"/>
                    </a:ext>
                  </a:extLst>
                </a:gridCol>
                <a:gridCol w="2029977">
                  <a:extLst>
                    <a:ext uri="{9D8B030D-6E8A-4147-A177-3AD203B41FA5}">
                      <a16:colId xmlns:a16="http://schemas.microsoft.com/office/drawing/2014/main" val="1228489100"/>
                    </a:ext>
                  </a:extLst>
                </a:gridCol>
              </a:tblGrid>
              <a:tr h="432764">
                <a:tc>
                  <a:txBody>
                    <a:bodyPr/>
                    <a:lstStyle/>
                    <a:p>
                      <a:pPr algn="ctr"/>
                      <a:r>
                        <a:rPr lang="en-IN" dirty="0">
                          <a:latin typeface="Times New Roman" panose="02020603050405020304" pitchFamily="18" charset="0"/>
                          <a:cs typeface="Times New Roman" panose="02020603050405020304" pitchFamily="18" charset="0"/>
                        </a:rPr>
                        <a:t>Service</a:t>
                      </a:r>
                    </a:p>
                  </a:txBody>
                  <a:tcPr/>
                </a:tc>
                <a:tc>
                  <a:txBody>
                    <a:bodyPr/>
                    <a:lstStyle/>
                    <a:p>
                      <a:pPr algn="ctr"/>
                      <a:r>
                        <a:rPr lang="en-IN" dirty="0">
                          <a:latin typeface="Times New Roman" panose="02020603050405020304" pitchFamily="18" charset="0"/>
                          <a:cs typeface="Times New Roman" panose="02020603050405020304" pitchFamily="18" charset="0"/>
                        </a:rPr>
                        <a:t>Sublayer</a:t>
                      </a:r>
                    </a:p>
                  </a:txBody>
                  <a:tcPr/>
                </a:tc>
                <a:extLst>
                  <a:ext uri="{0D108BD9-81ED-4DB2-BD59-A6C34878D82A}">
                    <a16:rowId xmlns:a16="http://schemas.microsoft.com/office/drawing/2014/main" val="71966529"/>
                  </a:ext>
                </a:extLst>
              </a:tr>
              <a:tr h="432764">
                <a:tc>
                  <a:txBody>
                    <a:bodyPr/>
                    <a:lstStyle/>
                    <a:p>
                      <a:r>
                        <a:rPr lang="en-IN" dirty="0">
                          <a:latin typeface="Times New Roman" panose="02020603050405020304" pitchFamily="18" charset="0"/>
                          <a:cs typeface="Times New Roman" panose="02020603050405020304" pitchFamily="18" charset="0"/>
                        </a:rPr>
                        <a:t>Framing</a:t>
                      </a:r>
                    </a:p>
                  </a:txBody>
                  <a:tcPr/>
                </a:tc>
                <a:tc rowSpan="3">
                  <a:txBody>
                    <a:bodyPr/>
                    <a:lstStyle/>
                    <a:p>
                      <a:pPr algn="ctr"/>
                      <a:r>
                        <a:rPr lang="en-IN" dirty="0">
                          <a:latin typeface="Times New Roman" panose="02020603050405020304" pitchFamily="18" charset="0"/>
                          <a:cs typeface="Times New Roman" panose="02020603050405020304" pitchFamily="18" charset="0"/>
                        </a:rPr>
                        <a:t>MAC</a:t>
                      </a:r>
                    </a:p>
                  </a:txBody>
                  <a:tcPr anchor="ctr"/>
                </a:tc>
                <a:extLst>
                  <a:ext uri="{0D108BD9-81ED-4DB2-BD59-A6C34878D82A}">
                    <a16:rowId xmlns:a16="http://schemas.microsoft.com/office/drawing/2014/main" val="1819094952"/>
                  </a:ext>
                </a:extLst>
              </a:tr>
              <a:tr h="432764">
                <a:tc>
                  <a:txBody>
                    <a:bodyPr/>
                    <a:lstStyle/>
                    <a:p>
                      <a:r>
                        <a:rPr lang="en-IN" dirty="0">
                          <a:latin typeface="Times New Roman" panose="02020603050405020304" pitchFamily="18" charset="0"/>
                          <a:cs typeface="Times New Roman" panose="02020603050405020304" pitchFamily="18" charset="0"/>
                        </a:rPr>
                        <a:t>Addressing</a:t>
                      </a:r>
                    </a:p>
                  </a:txBody>
                  <a:tcPr/>
                </a:tc>
                <a:tc vMerge="1">
                  <a:txBody>
                    <a:bodyPr/>
                    <a:lstStyle/>
                    <a:p>
                      <a:endParaRPr lang="en-IN" dirty="0"/>
                    </a:p>
                  </a:txBody>
                  <a:tcPr/>
                </a:tc>
                <a:extLst>
                  <a:ext uri="{0D108BD9-81ED-4DB2-BD59-A6C34878D82A}">
                    <a16:rowId xmlns:a16="http://schemas.microsoft.com/office/drawing/2014/main" val="477374400"/>
                  </a:ext>
                </a:extLst>
              </a:tr>
              <a:tr h="432764">
                <a:tc>
                  <a:txBody>
                    <a:bodyPr/>
                    <a:lstStyle/>
                    <a:p>
                      <a:r>
                        <a:rPr lang="en-IN" dirty="0">
                          <a:latin typeface="Times New Roman" panose="02020603050405020304" pitchFamily="18" charset="0"/>
                          <a:cs typeface="Times New Roman" panose="02020603050405020304" pitchFamily="18" charset="0"/>
                        </a:rPr>
                        <a:t>Access Control</a:t>
                      </a:r>
                    </a:p>
                  </a:txBody>
                  <a:tcPr/>
                </a:tc>
                <a:tc vMerge="1">
                  <a:txBody>
                    <a:bodyPr/>
                    <a:lstStyle/>
                    <a:p>
                      <a:endParaRPr lang="en-IN" dirty="0"/>
                    </a:p>
                  </a:txBody>
                  <a:tcPr/>
                </a:tc>
                <a:extLst>
                  <a:ext uri="{0D108BD9-81ED-4DB2-BD59-A6C34878D82A}">
                    <a16:rowId xmlns:a16="http://schemas.microsoft.com/office/drawing/2014/main" val="709627277"/>
                  </a:ext>
                </a:extLst>
              </a:tr>
              <a:tr h="432764">
                <a:tc>
                  <a:txBody>
                    <a:bodyPr/>
                    <a:lstStyle/>
                    <a:p>
                      <a:r>
                        <a:rPr lang="en-IN" dirty="0">
                          <a:latin typeface="Times New Roman" panose="02020603050405020304" pitchFamily="18" charset="0"/>
                          <a:cs typeface="Times New Roman" panose="02020603050405020304" pitchFamily="18" charset="0"/>
                        </a:rPr>
                        <a:t>Flow control</a:t>
                      </a:r>
                    </a:p>
                  </a:txBody>
                  <a:tcPr/>
                </a:tc>
                <a:tc rowSpan="2">
                  <a:txBody>
                    <a:bodyPr/>
                    <a:lstStyle/>
                    <a:p>
                      <a:pPr algn="ctr"/>
                      <a:r>
                        <a:rPr lang="en-IN" dirty="0">
                          <a:latin typeface="Times New Roman" panose="02020603050405020304" pitchFamily="18" charset="0"/>
                          <a:cs typeface="Times New Roman" panose="02020603050405020304" pitchFamily="18" charset="0"/>
                        </a:rPr>
                        <a:t>LLC</a:t>
                      </a:r>
                    </a:p>
                  </a:txBody>
                  <a:tcPr anchor="ctr"/>
                </a:tc>
                <a:extLst>
                  <a:ext uri="{0D108BD9-81ED-4DB2-BD59-A6C34878D82A}">
                    <a16:rowId xmlns:a16="http://schemas.microsoft.com/office/drawing/2014/main" val="1187283447"/>
                  </a:ext>
                </a:extLst>
              </a:tr>
              <a:tr h="432764">
                <a:tc>
                  <a:txBody>
                    <a:bodyPr/>
                    <a:lstStyle/>
                    <a:p>
                      <a:r>
                        <a:rPr lang="en-IN" dirty="0">
                          <a:latin typeface="Times New Roman" panose="02020603050405020304" pitchFamily="18" charset="0"/>
                          <a:cs typeface="Times New Roman" panose="02020603050405020304" pitchFamily="18" charset="0"/>
                        </a:rPr>
                        <a:t>Error control</a:t>
                      </a:r>
                    </a:p>
                  </a:txBody>
                  <a:tcPr/>
                </a:tc>
                <a:tc vMerge="1">
                  <a:txBody>
                    <a:bodyPr/>
                    <a:lstStyle/>
                    <a:p>
                      <a:endParaRPr lang="en-IN" dirty="0"/>
                    </a:p>
                  </a:txBody>
                  <a:tcPr/>
                </a:tc>
                <a:extLst>
                  <a:ext uri="{0D108BD9-81ED-4DB2-BD59-A6C34878D82A}">
                    <a16:rowId xmlns:a16="http://schemas.microsoft.com/office/drawing/2014/main" val="1913960527"/>
                  </a:ext>
                </a:extLst>
              </a:tr>
            </a:tbl>
          </a:graphicData>
        </a:graphic>
      </p:graphicFrame>
      <p:pic>
        <p:nvPicPr>
          <p:cNvPr id="6" name="Picture 5">
            <a:extLst>
              <a:ext uri="{FF2B5EF4-FFF2-40B4-BE49-F238E27FC236}">
                <a16:creationId xmlns:a16="http://schemas.microsoft.com/office/drawing/2014/main" id="{CEC60FBF-D7C3-E019-D2ED-91D9C179E5C0}"/>
              </a:ext>
            </a:extLst>
          </p:cNvPr>
          <p:cNvPicPr>
            <a:picLocks noChangeAspect="1"/>
          </p:cNvPicPr>
          <p:nvPr/>
        </p:nvPicPr>
        <p:blipFill>
          <a:blip r:embed="rId4"/>
          <a:stretch>
            <a:fillRect/>
          </a:stretch>
        </p:blipFill>
        <p:spPr>
          <a:xfrm>
            <a:off x="72240" y="1360748"/>
            <a:ext cx="4410691" cy="4906060"/>
          </a:xfrm>
          <a:prstGeom prst="rect">
            <a:avLst/>
          </a:prstGeom>
        </p:spPr>
      </p:pic>
    </p:spTree>
    <p:extLst>
      <p:ext uri="{BB962C8B-B14F-4D97-AF65-F5344CB8AC3E}">
        <p14:creationId xmlns:p14="http://schemas.microsoft.com/office/powerpoint/2010/main" val="3567185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4" name="Picture 3">
            <a:extLst>
              <a:ext uri="{FF2B5EF4-FFF2-40B4-BE49-F238E27FC236}">
                <a16:creationId xmlns:a16="http://schemas.microsoft.com/office/drawing/2014/main" id="{BA9F94EE-7134-91CB-3339-6D06BE81B30C}"/>
              </a:ext>
            </a:extLst>
          </p:cNvPr>
          <p:cNvPicPr>
            <a:picLocks noChangeAspect="1"/>
          </p:cNvPicPr>
          <p:nvPr/>
        </p:nvPicPr>
        <p:blipFill>
          <a:blip r:embed="rId2"/>
          <a:stretch>
            <a:fillRect/>
          </a:stretch>
        </p:blipFill>
        <p:spPr>
          <a:xfrm>
            <a:off x="351623" y="1181847"/>
            <a:ext cx="11488753" cy="5515745"/>
          </a:xfrm>
          <a:prstGeom prst="rect">
            <a:avLst/>
          </a:prstGeom>
        </p:spPr>
      </p:pic>
    </p:spTree>
    <p:extLst>
      <p:ext uri="{BB962C8B-B14F-4D97-AF65-F5344CB8AC3E}">
        <p14:creationId xmlns:p14="http://schemas.microsoft.com/office/powerpoint/2010/main" val="107313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94037" y="-108690"/>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5" name="Picture 4">
            <a:extLst>
              <a:ext uri="{FF2B5EF4-FFF2-40B4-BE49-F238E27FC236}">
                <a16:creationId xmlns:a16="http://schemas.microsoft.com/office/drawing/2014/main" id="{2C55F4DE-4C6A-02D1-5746-0E7DC787E270}"/>
              </a:ext>
            </a:extLst>
          </p:cNvPr>
          <p:cNvPicPr>
            <a:picLocks noChangeAspect="1"/>
          </p:cNvPicPr>
          <p:nvPr/>
        </p:nvPicPr>
        <p:blipFill>
          <a:blip r:embed="rId2"/>
          <a:srcRect t="42548"/>
          <a:stretch/>
        </p:blipFill>
        <p:spPr>
          <a:xfrm>
            <a:off x="365913" y="3304674"/>
            <a:ext cx="11460174" cy="2999234"/>
          </a:xfrm>
          <a:prstGeom prst="rect">
            <a:avLst/>
          </a:prstGeom>
        </p:spPr>
      </p:pic>
      <p:sp>
        <p:nvSpPr>
          <p:cNvPr id="6" name="Rectangle: Rounded Corners 5">
            <a:extLst>
              <a:ext uri="{FF2B5EF4-FFF2-40B4-BE49-F238E27FC236}">
                <a16:creationId xmlns:a16="http://schemas.microsoft.com/office/drawing/2014/main" id="{7397F7F8-74A5-D577-228D-04F7BDEB2443}"/>
              </a:ext>
            </a:extLst>
          </p:cNvPr>
          <p:cNvSpPr/>
          <p:nvPr/>
        </p:nvSpPr>
        <p:spPr>
          <a:xfrm>
            <a:off x="365913" y="818148"/>
            <a:ext cx="11336803" cy="239829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i="0" u="none" strike="noStrike" baseline="0" dirty="0">
                <a:solidFill>
                  <a:srgbClr val="000000"/>
                </a:solidFill>
                <a:latin typeface="Arial" panose="020B0604020202020204" pitchFamily="34" charset="0"/>
              </a:rPr>
              <a:t>2. Addressing:</a:t>
            </a:r>
          </a:p>
          <a:p>
            <a:pPr marL="285750" indent="-285750" algn="just">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The Data link layer appends the physical address in the header of the frame before sending it to physical layer. </a:t>
            </a:r>
            <a:endParaRPr lang="en-IN" sz="1800" b="0" i="0" u="none" strike="noStrike" baseline="0" dirty="0">
              <a:solidFill>
                <a:srgbClr val="000000"/>
              </a:solidFill>
              <a:latin typeface="Arial" panose="020B0604020202020204" pitchFamily="34" charset="0"/>
            </a:endParaRPr>
          </a:p>
          <a:p>
            <a:pPr marL="285750" indent="-285750" algn="just">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The physical address contains the address of the sender and receiver. </a:t>
            </a:r>
            <a:endParaRPr lang="en-IN" sz="1800" b="0" i="0" u="none" strike="noStrike" baseline="0" dirty="0">
              <a:solidFill>
                <a:srgbClr val="000000"/>
              </a:solidFill>
              <a:latin typeface="Arial" panose="020B0604020202020204" pitchFamily="34" charset="0"/>
            </a:endParaRPr>
          </a:p>
          <a:p>
            <a:pPr marL="285750" indent="-285750" algn="just">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In case the receiver happens to be on the same physical network as the sender; the receiver is at only one hop from the sender and the receiver address contains the receiver‘s physical address. </a:t>
            </a:r>
          </a:p>
          <a:p>
            <a:pPr marL="285750" indent="-285750" algn="just">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In case the receiver is not directly connected to the sender, the physical address is the address of the next node where the data is supposed to be delivered. </a:t>
            </a:r>
            <a:endParaRPr lang="en-IN" dirty="0"/>
          </a:p>
        </p:txBody>
      </p:sp>
    </p:spTree>
    <p:extLst>
      <p:ext uri="{BB962C8B-B14F-4D97-AF65-F5344CB8AC3E}">
        <p14:creationId xmlns:p14="http://schemas.microsoft.com/office/powerpoint/2010/main" val="315186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4" name="Picture 3">
            <a:extLst>
              <a:ext uri="{FF2B5EF4-FFF2-40B4-BE49-F238E27FC236}">
                <a16:creationId xmlns:a16="http://schemas.microsoft.com/office/drawing/2014/main" id="{84AB630D-309E-118F-24AF-09EB1C0EC4CB}"/>
              </a:ext>
            </a:extLst>
          </p:cNvPr>
          <p:cNvPicPr>
            <a:picLocks noChangeAspect="1"/>
          </p:cNvPicPr>
          <p:nvPr/>
        </p:nvPicPr>
        <p:blipFill>
          <a:blip r:embed="rId2"/>
          <a:srcRect t="37169"/>
          <a:stretch/>
        </p:blipFill>
        <p:spPr>
          <a:xfrm>
            <a:off x="427834" y="3136232"/>
            <a:ext cx="11336332" cy="3561360"/>
          </a:xfrm>
          <a:prstGeom prst="rect">
            <a:avLst/>
          </a:prstGeom>
        </p:spPr>
      </p:pic>
      <p:sp>
        <p:nvSpPr>
          <p:cNvPr id="6" name="Rectangle: Rounded Corners 5">
            <a:extLst>
              <a:ext uri="{FF2B5EF4-FFF2-40B4-BE49-F238E27FC236}">
                <a16:creationId xmlns:a16="http://schemas.microsoft.com/office/drawing/2014/main" id="{DD147A34-5C6F-AB26-EFD0-523E3D476065}"/>
              </a:ext>
            </a:extLst>
          </p:cNvPr>
          <p:cNvSpPr/>
          <p:nvPr/>
        </p:nvSpPr>
        <p:spPr>
          <a:xfrm>
            <a:off x="336884" y="1197212"/>
            <a:ext cx="11638548" cy="1650261"/>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IN" sz="1800" b="1" i="0" u="none" strike="noStrike" baseline="0" dirty="0">
                <a:solidFill>
                  <a:srgbClr val="000000"/>
                </a:solidFill>
                <a:latin typeface="Arial" panose="020B0604020202020204" pitchFamily="34" charset="0"/>
              </a:rPr>
              <a:t>3. Flow control </a:t>
            </a:r>
            <a:endParaRPr lang="en-IN" sz="1800" b="0" i="0" u="none" strike="noStrike" baseline="0" dirty="0">
              <a:solidFill>
                <a:srgbClr val="000000"/>
              </a:solidFill>
              <a:latin typeface="Arial" panose="020B0604020202020204" pitchFamily="34" charset="0"/>
            </a:endParaRPr>
          </a:p>
          <a:p>
            <a:pPr marL="285750" indent="-285750">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The data link layer makes sure that the sender sends the data at a speed at which the receiver can receive it else if there is an overflow at the receiver side the data will be lost. </a:t>
            </a:r>
            <a:endParaRPr lang="en-IN" sz="1800" b="0" i="0" u="none" strike="noStrike" baseline="0" dirty="0">
              <a:solidFill>
                <a:srgbClr val="000000"/>
              </a:solidFill>
              <a:latin typeface="Arial" panose="020B0604020202020204" pitchFamily="34" charset="0"/>
            </a:endParaRPr>
          </a:p>
          <a:p>
            <a:pPr marL="285750" indent="-285750">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The data link layer imposes flow control mechanism over the sender and receiver to avoid data loss at the receiver. </a:t>
            </a:r>
          </a:p>
        </p:txBody>
      </p:sp>
    </p:spTree>
    <p:extLst>
      <p:ext uri="{BB962C8B-B14F-4D97-AF65-F5344CB8AC3E}">
        <p14:creationId xmlns:p14="http://schemas.microsoft.com/office/powerpoint/2010/main" val="290527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5" name="Picture 4">
            <a:extLst>
              <a:ext uri="{FF2B5EF4-FFF2-40B4-BE49-F238E27FC236}">
                <a16:creationId xmlns:a16="http://schemas.microsoft.com/office/drawing/2014/main" id="{6ECA64BE-5F25-347E-51BC-1208957D4170}"/>
              </a:ext>
            </a:extLst>
          </p:cNvPr>
          <p:cNvPicPr>
            <a:picLocks noChangeAspect="1"/>
          </p:cNvPicPr>
          <p:nvPr/>
        </p:nvPicPr>
        <p:blipFill>
          <a:blip r:embed="rId2"/>
          <a:srcRect t="37468"/>
          <a:stretch/>
        </p:blipFill>
        <p:spPr>
          <a:xfrm>
            <a:off x="581739" y="2743200"/>
            <a:ext cx="11317279" cy="3341893"/>
          </a:xfrm>
          <a:prstGeom prst="rect">
            <a:avLst/>
          </a:prstGeom>
        </p:spPr>
      </p:pic>
      <p:sp>
        <p:nvSpPr>
          <p:cNvPr id="6" name="Rectangle: Rounded Corners 5">
            <a:extLst>
              <a:ext uri="{FF2B5EF4-FFF2-40B4-BE49-F238E27FC236}">
                <a16:creationId xmlns:a16="http://schemas.microsoft.com/office/drawing/2014/main" id="{8833D6EB-3025-1AEB-796F-C4BEAED1B086}"/>
              </a:ext>
            </a:extLst>
          </p:cNvPr>
          <p:cNvSpPr/>
          <p:nvPr/>
        </p:nvSpPr>
        <p:spPr>
          <a:xfrm>
            <a:off x="437360" y="1485971"/>
            <a:ext cx="11317279" cy="1130968"/>
          </a:xfrm>
          <a:prstGeom prst="roundRect">
            <a:avLst/>
          </a:prstGeom>
          <a:solidFill>
            <a:srgbClr val="B6D0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i="0" u="none" strike="noStrike" baseline="0" dirty="0">
                <a:solidFill>
                  <a:srgbClr val="000000"/>
                </a:solidFill>
                <a:latin typeface="Arial" panose="020B0604020202020204" pitchFamily="34" charset="0"/>
              </a:rPr>
              <a:t>4. </a:t>
            </a:r>
            <a:r>
              <a:rPr lang="en-US" b="1" dirty="0">
                <a:solidFill>
                  <a:srgbClr val="000000"/>
                </a:solidFill>
                <a:latin typeface="Arial" panose="020B0604020202020204" pitchFamily="34" charset="0"/>
              </a:rPr>
              <a:t>Access Control</a:t>
            </a:r>
            <a:endParaRPr lang="en-US" sz="1800" b="1" i="0" u="none" strike="noStrike" baseline="0" dirty="0">
              <a:solidFill>
                <a:srgbClr val="000000"/>
              </a:solidFill>
              <a:latin typeface="Arial" panose="020B0604020202020204" pitchFamily="34" charset="0"/>
            </a:endParaRPr>
          </a:p>
          <a:p>
            <a:pPr marL="285750" indent="-285750">
              <a:buFont typeface="Wingdings" panose="05000000000000000000" pitchFamily="2" charset="2"/>
              <a:buChar char="v"/>
            </a:pPr>
            <a:r>
              <a:rPr lang="en-US" sz="1800" b="0" i="0" u="none" strike="noStrike" baseline="0" dirty="0">
                <a:solidFill>
                  <a:srgbClr val="000000"/>
                </a:solidFill>
                <a:latin typeface="Arial" panose="020B0604020202020204" pitchFamily="34" charset="0"/>
              </a:rPr>
              <a:t>The data link layer imposes access control mechanism to determine which device has right to send data in a multipoint connection scenario.</a:t>
            </a:r>
            <a:endParaRPr lang="en-IN" dirty="0"/>
          </a:p>
        </p:txBody>
      </p:sp>
    </p:spTree>
    <p:extLst>
      <p:ext uri="{BB962C8B-B14F-4D97-AF65-F5344CB8AC3E}">
        <p14:creationId xmlns:p14="http://schemas.microsoft.com/office/powerpoint/2010/main" val="2995511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a:t>
            </a:r>
            <a:endParaRPr lang="en-IN" dirty="0"/>
          </a:p>
        </p:txBody>
      </p:sp>
      <p:pic>
        <p:nvPicPr>
          <p:cNvPr id="4" name="Picture 3">
            <a:extLst>
              <a:ext uri="{FF2B5EF4-FFF2-40B4-BE49-F238E27FC236}">
                <a16:creationId xmlns:a16="http://schemas.microsoft.com/office/drawing/2014/main" id="{C6A64061-F31B-FBB2-5468-23EA2E27537F}"/>
              </a:ext>
            </a:extLst>
          </p:cNvPr>
          <p:cNvPicPr>
            <a:picLocks noChangeAspect="1"/>
          </p:cNvPicPr>
          <p:nvPr/>
        </p:nvPicPr>
        <p:blipFill>
          <a:blip r:embed="rId2"/>
          <a:stretch>
            <a:fillRect/>
          </a:stretch>
        </p:blipFill>
        <p:spPr>
          <a:xfrm>
            <a:off x="433608" y="1137607"/>
            <a:ext cx="11212490" cy="5449060"/>
          </a:xfrm>
          <a:prstGeom prst="rect">
            <a:avLst/>
          </a:prstGeom>
        </p:spPr>
      </p:pic>
      <p:sp>
        <p:nvSpPr>
          <p:cNvPr id="5" name="TextBox 4">
            <a:extLst>
              <a:ext uri="{FF2B5EF4-FFF2-40B4-BE49-F238E27FC236}">
                <a16:creationId xmlns:a16="http://schemas.microsoft.com/office/drawing/2014/main" id="{C0229242-0477-314F-36C5-68A3B4A71E52}"/>
              </a:ext>
            </a:extLst>
          </p:cNvPr>
          <p:cNvSpPr txBox="1"/>
          <p:nvPr/>
        </p:nvSpPr>
        <p:spPr>
          <a:xfrm>
            <a:off x="6424863" y="2518610"/>
            <a:ext cx="762000" cy="369332"/>
          </a:xfrm>
          <a:prstGeom prst="rect">
            <a:avLst/>
          </a:prstGeom>
          <a:solidFill>
            <a:srgbClr val="B6D0A1"/>
          </a:solidFill>
        </p:spPr>
        <p:txBody>
          <a:bodyPr wrap="square" rtlCol="0">
            <a:spAutoFit/>
          </a:bodyPr>
          <a:lstStyle/>
          <a:p>
            <a:r>
              <a:rPr lang="en-IN" dirty="0"/>
              <a:t>trailer</a:t>
            </a:r>
          </a:p>
        </p:txBody>
      </p:sp>
    </p:spTree>
    <p:extLst>
      <p:ext uri="{BB962C8B-B14F-4D97-AF65-F5344CB8AC3E}">
        <p14:creationId xmlns:p14="http://schemas.microsoft.com/office/powerpoint/2010/main" val="89431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121A-7362-4645-B41A-12994D0D40E2}"/>
              </a:ext>
            </a:extLst>
          </p:cNvPr>
          <p:cNvSpPr>
            <a:spLocks noGrp="1"/>
          </p:cNvSpPr>
          <p:nvPr>
            <p:ph type="title"/>
          </p:nvPr>
        </p:nvSpPr>
        <p:spPr>
          <a:xfrm>
            <a:off x="142164" y="160408"/>
            <a:ext cx="10515600" cy="1325563"/>
          </a:xfrm>
        </p:spPr>
        <p:txBody>
          <a:bodyPr/>
          <a:lstStyle/>
          <a:p>
            <a:r>
              <a:rPr lang="en-IN" sz="4400" b="1" i="0" u="none" strike="noStrike" baseline="0" dirty="0">
                <a:solidFill>
                  <a:srgbClr val="000000"/>
                </a:solidFill>
                <a:latin typeface="Arial" panose="020B0604020202020204" pitchFamily="34" charset="0"/>
              </a:rPr>
              <a:t>Data Link Layer </a:t>
            </a:r>
            <a:endParaRPr lang="en-IN" dirty="0"/>
          </a:p>
        </p:txBody>
      </p:sp>
      <p:sp>
        <p:nvSpPr>
          <p:cNvPr id="3" name="Content Placeholder 2">
            <a:extLst>
              <a:ext uri="{FF2B5EF4-FFF2-40B4-BE49-F238E27FC236}">
                <a16:creationId xmlns:a16="http://schemas.microsoft.com/office/drawing/2014/main" id="{C92BD7EA-1835-460C-8D65-3EC0A916F829}"/>
              </a:ext>
            </a:extLst>
          </p:cNvPr>
          <p:cNvSpPr>
            <a:spLocks noGrp="1"/>
          </p:cNvSpPr>
          <p:nvPr>
            <p:ph idx="1"/>
          </p:nvPr>
        </p:nvSpPr>
        <p:spPr>
          <a:xfrm>
            <a:off x="142164" y="1266979"/>
            <a:ext cx="11907672" cy="5065582"/>
          </a:xfrm>
        </p:spPr>
        <p:txBody>
          <a:bodyPr/>
          <a:lstStyle/>
          <a:p>
            <a:pPr marL="0" indent="0">
              <a:buNone/>
            </a:pPr>
            <a:r>
              <a:rPr lang="en-US" sz="1800" b="0" i="0" u="none" strike="noStrike" baseline="0" dirty="0">
                <a:solidFill>
                  <a:srgbClr val="000000"/>
                </a:solidFill>
                <a:latin typeface="Arial" panose="020B0604020202020204" pitchFamily="34" charset="0"/>
              </a:rPr>
              <a:t>I. The Data Link layer adds reliability to the physical layer by providing error detection and correction mechanisms. </a:t>
            </a:r>
            <a:endParaRPr lang="en-IN" sz="1800" b="0" i="0" u="none" strike="noStrike" baseline="0" dirty="0">
              <a:solidFill>
                <a:srgbClr val="000000"/>
              </a:solidFill>
              <a:latin typeface="Arial" panose="020B0604020202020204" pitchFamily="34" charset="0"/>
            </a:endParaRPr>
          </a:p>
          <a:p>
            <a:pPr marL="0" indent="0">
              <a:buNone/>
            </a:pPr>
            <a:r>
              <a:rPr lang="en-US" sz="1800" b="0" i="0" u="none" strike="noStrike" baseline="0" dirty="0">
                <a:solidFill>
                  <a:srgbClr val="000000"/>
                </a:solidFill>
                <a:latin typeface="Arial" panose="020B0604020202020204" pitchFamily="34" charset="0"/>
              </a:rPr>
              <a:t>II. On the sender side, the Data Link layer receives the data from Network Layer and divides the stream of bits into fixed size manageable units called as </a:t>
            </a:r>
            <a:r>
              <a:rPr lang="en-US" sz="1800" b="1" i="0" u="none" strike="noStrike" baseline="0" dirty="0">
                <a:solidFill>
                  <a:srgbClr val="000000"/>
                </a:solidFill>
                <a:latin typeface="Arial" panose="020B0604020202020204" pitchFamily="34" charset="0"/>
              </a:rPr>
              <a:t>Frames </a:t>
            </a:r>
            <a:r>
              <a:rPr lang="en-US" sz="1800" b="0" i="0" u="none" strike="noStrike" baseline="0" dirty="0">
                <a:solidFill>
                  <a:srgbClr val="000000"/>
                </a:solidFill>
                <a:latin typeface="Arial" panose="020B0604020202020204" pitchFamily="34" charset="0"/>
              </a:rPr>
              <a:t>and sends it to the physical layer. On the receiver side, the data link layer receives the stream of bits from the physical layer and regroups them into frames and sends them to the Network layer. This process is called </a:t>
            </a:r>
            <a:r>
              <a:rPr lang="en-US" sz="1800" b="1" i="0" u="none" strike="noStrike" baseline="0" dirty="0">
                <a:solidFill>
                  <a:srgbClr val="000000"/>
                </a:solidFill>
                <a:latin typeface="Arial" panose="020B0604020202020204" pitchFamily="34" charset="0"/>
              </a:rPr>
              <a:t>Framing. </a:t>
            </a:r>
            <a:r>
              <a:rPr lang="en-US" sz="1800" b="0" i="0" u="none" strike="noStrike" baseline="0" dirty="0">
                <a:solidFill>
                  <a:srgbClr val="000000"/>
                </a:solidFill>
                <a:latin typeface="Arial" panose="020B0604020202020204" pitchFamily="34" charset="0"/>
              </a:rPr>
              <a:t>It is shown in the figure below: </a:t>
            </a:r>
          </a:p>
          <a:p>
            <a:pPr marL="0" indent="0">
              <a:buNone/>
            </a:pPr>
            <a:endParaRPr lang="en-IN" dirty="0"/>
          </a:p>
        </p:txBody>
      </p:sp>
      <p:pic>
        <p:nvPicPr>
          <p:cNvPr id="5" name="Picture 4">
            <a:extLst>
              <a:ext uri="{FF2B5EF4-FFF2-40B4-BE49-F238E27FC236}">
                <a16:creationId xmlns:a16="http://schemas.microsoft.com/office/drawing/2014/main" id="{C271B639-0719-4B95-98D7-17A644F76E96}"/>
              </a:ext>
            </a:extLst>
          </p:cNvPr>
          <p:cNvPicPr>
            <a:picLocks noChangeAspect="1"/>
          </p:cNvPicPr>
          <p:nvPr/>
        </p:nvPicPr>
        <p:blipFill>
          <a:blip r:embed="rId2"/>
          <a:stretch>
            <a:fillRect/>
          </a:stretch>
        </p:blipFill>
        <p:spPr>
          <a:xfrm>
            <a:off x="1501254" y="3218109"/>
            <a:ext cx="8611737" cy="1895740"/>
          </a:xfrm>
          <a:prstGeom prst="rect">
            <a:avLst/>
          </a:prstGeom>
        </p:spPr>
      </p:pic>
      <p:sp>
        <p:nvSpPr>
          <p:cNvPr id="7" name="TextBox 6">
            <a:extLst>
              <a:ext uri="{FF2B5EF4-FFF2-40B4-BE49-F238E27FC236}">
                <a16:creationId xmlns:a16="http://schemas.microsoft.com/office/drawing/2014/main" id="{60F5258C-ED31-43B4-A7A5-54AB6137D8D6}"/>
              </a:ext>
            </a:extLst>
          </p:cNvPr>
          <p:cNvSpPr txBox="1"/>
          <p:nvPr/>
        </p:nvSpPr>
        <p:spPr>
          <a:xfrm>
            <a:off x="3021842" y="5218927"/>
            <a:ext cx="6148316" cy="369332"/>
          </a:xfrm>
          <a:prstGeom prst="rect">
            <a:avLst/>
          </a:prstGeom>
          <a:noFill/>
        </p:spPr>
        <p:txBody>
          <a:bodyPr wrap="square">
            <a:spAutoFit/>
          </a:bodyPr>
          <a:lstStyle/>
          <a:p>
            <a:r>
              <a:rPr lang="en-US" sz="1800" b="1" i="0" u="none" strike="noStrike" baseline="0" dirty="0">
                <a:solidFill>
                  <a:srgbClr val="000000"/>
                </a:solidFill>
                <a:latin typeface="Arial" panose="020B0604020202020204" pitchFamily="34" charset="0"/>
              </a:rPr>
              <a:t>Fig: Data Link Layer: The process of Framing </a:t>
            </a:r>
            <a:endParaRPr lang="en-IN" dirty="0"/>
          </a:p>
        </p:txBody>
      </p:sp>
    </p:spTree>
    <p:extLst>
      <p:ext uri="{BB962C8B-B14F-4D97-AF65-F5344CB8AC3E}">
        <p14:creationId xmlns:p14="http://schemas.microsoft.com/office/powerpoint/2010/main" val="273136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A515-D2AA-485A-8668-6B02FA72A7DF}"/>
              </a:ext>
            </a:extLst>
          </p:cNvPr>
          <p:cNvSpPr>
            <a:spLocks noGrp="1"/>
          </p:cNvSpPr>
          <p:nvPr>
            <p:ph type="ctrTitle"/>
          </p:nvPr>
        </p:nvSpPr>
        <p:spPr>
          <a:xfrm>
            <a:off x="145815" y="554261"/>
            <a:ext cx="5476943" cy="1138181"/>
          </a:xfrm>
        </p:spPr>
        <p:txBody>
          <a:bodyPr>
            <a:normAutofit fontScale="90000"/>
          </a:bodyPr>
          <a:lstStyle/>
          <a:p>
            <a:r>
              <a:rPr lang="en-IN" sz="6000" b="1" i="0" u="none" strike="noStrike" baseline="0" dirty="0">
                <a:solidFill>
                  <a:srgbClr val="000000"/>
                </a:solidFill>
                <a:latin typeface="Times New Roman" panose="02020603050405020304" pitchFamily="18" charset="0"/>
              </a:rPr>
              <a:t>Data Link Layer </a:t>
            </a:r>
            <a:br>
              <a:rPr lang="en-IN" sz="6000" b="0" i="0" u="none" strike="noStrike" baseline="0" dirty="0">
                <a:solidFill>
                  <a:srgbClr val="000000"/>
                </a:solidFill>
                <a:latin typeface="Times New Roman" panose="02020603050405020304" pitchFamily="18" charset="0"/>
              </a:rPr>
            </a:br>
            <a:endParaRPr lang="en-IN" dirty="0"/>
          </a:p>
        </p:txBody>
      </p:sp>
      <p:sp>
        <p:nvSpPr>
          <p:cNvPr id="4" name="TextBox 3"/>
          <p:cNvSpPr txBox="1"/>
          <p:nvPr/>
        </p:nvSpPr>
        <p:spPr>
          <a:xfrm>
            <a:off x="68178" y="4857486"/>
            <a:ext cx="12055642" cy="1754326"/>
          </a:xfrm>
          <a:prstGeom prst="rect">
            <a:avLst/>
          </a:prstGeom>
          <a:noFill/>
        </p:spPr>
        <p:txBody>
          <a:bodyPr wrap="square" rtlCol="0">
            <a:spAutoFit/>
          </a:bodyPr>
          <a:lstStyle/>
          <a:p>
            <a:r>
              <a:rPr lang="en-US" dirty="0"/>
              <a:t>Network layer – packets/data packets - stream of bits / Divide the stream of bits into fixed size manageable units– </a:t>
            </a:r>
            <a:r>
              <a:rPr lang="en-US" dirty="0">
                <a:solidFill>
                  <a:srgbClr val="FF0000"/>
                </a:solidFill>
              </a:rPr>
              <a:t>payload field</a:t>
            </a:r>
          </a:p>
          <a:p>
            <a:r>
              <a:rPr lang="en-US" dirty="0"/>
              <a:t>101011101010101010101011101010101010111</a:t>
            </a:r>
          </a:p>
          <a:p>
            <a:endParaRPr lang="en-US" dirty="0"/>
          </a:p>
          <a:p>
            <a:r>
              <a:rPr lang="en-US" dirty="0">
                <a:solidFill>
                  <a:srgbClr val="FF0000"/>
                </a:solidFill>
              </a:rPr>
              <a:t>Header</a:t>
            </a:r>
            <a:r>
              <a:rPr lang="en-US" dirty="0"/>
              <a:t> – physical address/MAC address of sender and receiver </a:t>
            </a:r>
          </a:p>
          <a:p>
            <a:endParaRPr lang="en-US" dirty="0"/>
          </a:p>
          <a:p>
            <a:r>
              <a:rPr lang="en-US" dirty="0">
                <a:solidFill>
                  <a:srgbClr val="FF0000"/>
                </a:solidFill>
              </a:rPr>
              <a:t>Trailer</a:t>
            </a:r>
            <a:r>
              <a:rPr lang="en-US" dirty="0"/>
              <a:t> – error detection bits</a:t>
            </a:r>
          </a:p>
        </p:txBody>
      </p:sp>
      <p:pic>
        <p:nvPicPr>
          <p:cNvPr id="9" name="Picture 8">
            <a:extLst>
              <a:ext uri="{FF2B5EF4-FFF2-40B4-BE49-F238E27FC236}">
                <a16:creationId xmlns:a16="http://schemas.microsoft.com/office/drawing/2014/main" id="{B5C460D7-6EFB-CDAD-DE77-BBAA12A6FBBB}"/>
              </a:ext>
            </a:extLst>
          </p:cNvPr>
          <p:cNvPicPr>
            <a:picLocks noChangeAspect="1"/>
          </p:cNvPicPr>
          <p:nvPr/>
        </p:nvPicPr>
        <p:blipFill>
          <a:blip r:embed="rId2"/>
          <a:stretch>
            <a:fillRect/>
          </a:stretch>
        </p:blipFill>
        <p:spPr>
          <a:xfrm>
            <a:off x="794597" y="1123351"/>
            <a:ext cx="10602805" cy="3734321"/>
          </a:xfrm>
          <a:prstGeom prst="rect">
            <a:avLst/>
          </a:prstGeom>
        </p:spPr>
      </p:pic>
    </p:spTree>
    <p:extLst>
      <p:ext uri="{BB962C8B-B14F-4D97-AF65-F5344CB8AC3E}">
        <p14:creationId xmlns:p14="http://schemas.microsoft.com/office/powerpoint/2010/main" val="2256105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333500"/>
            <a:ext cx="8467725" cy="491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611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0239" y="1371600"/>
            <a:ext cx="8234362"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0954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95401"/>
            <a:ext cx="8256116"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772026"/>
            <a:ext cx="830580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1672" y="4162426"/>
            <a:ext cx="7477125"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46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14600"/>
            <a:ext cx="83820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038226"/>
            <a:ext cx="838200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309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95401"/>
            <a:ext cx="8382000"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438400"/>
            <a:ext cx="8382000" cy="42574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9559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71600"/>
            <a:ext cx="821055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9143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95400"/>
            <a:ext cx="82296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6596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524" y="1371600"/>
            <a:ext cx="8294077"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9449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71600"/>
            <a:ext cx="82296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8935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85546"/>
            <a:ext cx="8153400" cy="4786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3143250"/>
            <a:ext cx="86677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401" y="3143250"/>
            <a:ext cx="86677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972" y="4800600"/>
            <a:ext cx="86677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5972" y="4800600"/>
            <a:ext cx="86677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8379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81200" y="152400"/>
            <a:ext cx="8229600" cy="9906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sp3d>
        </p:spPr>
        <p:txBody>
          <a:bodyPr>
            <a:flatTx/>
          </a:bodyPr>
          <a:lstStyle/>
          <a:p>
            <a:pPr eaLnBrk="1" hangingPunct="1"/>
            <a:r>
              <a:rPr lang="en-US" sz="2400" b="1" dirty="0">
                <a:solidFill>
                  <a:srgbClr val="FFFF00"/>
                </a:solidFill>
                <a:latin typeface="Times New Roman" panose="02020603050405020304" pitchFamily="18" charset="0"/>
                <a:cs typeface="Times New Roman" panose="02020603050405020304" pitchFamily="18" charset="0"/>
              </a:rPr>
              <a:t>3.2 Framing and its types</a:t>
            </a:r>
            <a:endParaRPr lang="en-US" sz="2200" b="1" dirty="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828800" y="1295400"/>
            <a:ext cx="8382000" cy="4953000"/>
          </a:xfrm>
          <a:solidFill>
            <a:schemeClr val="accent1"/>
          </a:solidFill>
          <a:ln>
            <a:solidFill>
              <a:schemeClr val="tx2"/>
            </a:solidFill>
          </a:ln>
        </p:spPr>
        <p:txBody>
          <a:bodyPr/>
          <a:lstStyle/>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057400"/>
            <a:ext cx="8153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702" y="1409700"/>
            <a:ext cx="8163699"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6907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2057400" y="4724400"/>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6" name="object 6"/>
          <p:cNvSpPr/>
          <p:nvPr/>
        </p:nvSpPr>
        <p:spPr>
          <a:xfrm>
            <a:off x="2093976" y="2072639"/>
            <a:ext cx="8077200" cy="2529840"/>
          </a:xfrm>
          <a:custGeom>
            <a:avLst/>
            <a:gdLst/>
            <a:ahLst/>
            <a:cxnLst/>
            <a:rect l="l" t="t" r="r" b="b"/>
            <a:pathLst>
              <a:path w="8077200" h="2529840">
                <a:moveTo>
                  <a:pt x="8077200" y="0"/>
                </a:moveTo>
                <a:lnTo>
                  <a:pt x="0" y="0"/>
                </a:lnTo>
                <a:lnTo>
                  <a:pt x="0" y="2529839"/>
                </a:lnTo>
                <a:lnTo>
                  <a:pt x="8077200" y="2529839"/>
                </a:lnTo>
                <a:lnTo>
                  <a:pt x="8077200" y="0"/>
                </a:lnTo>
                <a:close/>
              </a:path>
            </a:pathLst>
          </a:custGeom>
          <a:solidFill>
            <a:srgbClr val="99FF33"/>
          </a:solidFill>
        </p:spPr>
        <p:txBody>
          <a:bodyPr wrap="square" lIns="0" tIns="0" rIns="0" bIns="0" rtlCol="0"/>
          <a:lstStyle/>
          <a:p>
            <a:endParaRPr/>
          </a:p>
        </p:txBody>
      </p:sp>
      <p:sp>
        <p:nvSpPr>
          <p:cNvPr id="7" name="object 7"/>
          <p:cNvSpPr txBox="1"/>
          <p:nvPr/>
        </p:nvSpPr>
        <p:spPr>
          <a:xfrm>
            <a:off x="2894458" y="2094739"/>
            <a:ext cx="6477635" cy="2491067"/>
          </a:xfrm>
          <a:prstGeom prst="rect">
            <a:avLst/>
          </a:prstGeom>
        </p:spPr>
        <p:txBody>
          <a:bodyPr vert="horz" wrap="square" lIns="0" tIns="13335" rIns="0" bIns="0" rtlCol="0">
            <a:spAutoFit/>
          </a:bodyPr>
          <a:lstStyle/>
          <a:p>
            <a:pPr marL="1094740" marR="1083310" algn="ctr">
              <a:spcBef>
                <a:spcPts val="105"/>
              </a:spcBef>
            </a:pPr>
            <a:r>
              <a:rPr sz="3200" b="1" dirty="0">
                <a:latin typeface="Arial"/>
                <a:cs typeface="Arial"/>
              </a:rPr>
              <a:t>Data</a:t>
            </a:r>
            <a:r>
              <a:rPr sz="3200" b="1" spc="-40" dirty="0">
                <a:latin typeface="Arial"/>
                <a:cs typeface="Arial"/>
              </a:rPr>
              <a:t> </a:t>
            </a:r>
            <a:r>
              <a:rPr sz="3200" b="1" dirty="0">
                <a:latin typeface="Arial"/>
                <a:cs typeface="Arial"/>
              </a:rPr>
              <a:t>can</a:t>
            </a:r>
            <a:r>
              <a:rPr sz="3200" b="1" spc="-40" dirty="0">
                <a:latin typeface="Arial"/>
                <a:cs typeface="Arial"/>
              </a:rPr>
              <a:t> </a:t>
            </a:r>
            <a:r>
              <a:rPr sz="3200" b="1" dirty="0">
                <a:latin typeface="Arial"/>
                <a:cs typeface="Arial"/>
              </a:rPr>
              <a:t>be</a:t>
            </a:r>
            <a:r>
              <a:rPr sz="3200" b="1" spc="-25" dirty="0">
                <a:latin typeface="Arial"/>
                <a:cs typeface="Arial"/>
              </a:rPr>
              <a:t> </a:t>
            </a:r>
            <a:r>
              <a:rPr sz="3200" b="1" dirty="0">
                <a:latin typeface="Arial"/>
                <a:cs typeface="Arial"/>
              </a:rPr>
              <a:t>corrupted </a:t>
            </a:r>
            <a:r>
              <a:rPr sz="3200" b="1" spc="-869" dirty="0">
                <a:latin typeface="Arial"/>
                <a:cs typeface="Arial"/>
              </a:rPr>
              <a:t> </a:t>
            </a:r>
            <a:r>
              <a:rPr sz="3200" b="1" dirty="0">
                <a:latin typeface="Arial"/>
                <a:cs typeface="Arial"/>
              </a:rPr>
              <a:t>during</a:t>
            </a:r>
            <a:r>
              <a:rPr sz="3200" b="1" spc="-45" dirty="0">
                <a:latin typeface="Arial"/>
                <a:cs typeface="Arial"/>
              </a:rPr>
              <a:t> </a:t>
            </a:r>
            <a:r>
              <a:rPr sz="3200" b="1" dirty="0">
                <a:latin typeface="Arial"/>
                <a:cs typeface="Arial"/>
              </a:rPr>
              <a:t>transmission.</a:t>
            </a:r>
            <a:endParaRPr sz="3200" dirty="0">
              <a:latin typeface="Arial"/>
              <a:cs typeface="Arial"/>
            </a:endParaRPr>
          </a:p>
          <a:p>
            <a:pPr>
              <a:spcBef>
                <a:spcPts val="45"/>
              </a:spcBef>
            </a:pPr>
            <a:endParaRPr sz="3300" dirty="0">
              <a:latin typeface="Arial"/>
              <a:cs typeface="Arial"/>
            </a:endParaRPr>
          </a:p>
          <a:p>
            <a:pPr marL="12065" marR="5080" indent="-1905" algn="ctr"/>
            <a:r>
              <a:rPr sz="3200" b="1" dirty="0">
                <a:latin typeface="Arial"/>
                <a:cs typeface="Arial"/>
              </a:rPr>
              <a:t>Some applications require that </a:t>
            </a:r>
            <a:r>
              <a:rPr sz="3200" b="1" spc="5" dirty="0">
                <a:latin typeface="Arial"/>
                <a:cs typeface="Arial"/>
              </a:rPr>
              <a:t> </a:t>
            </a:r>
            <a:r>
              <a:rPr sz="3200" b="1" dirty="0">
                <a:latin typeface="Arial"/>
                <a:cs typeface="Arial"/>
              </a:rPr>
              <a:t>errors</a:t>
            </a:r>
            <a:r>
              <a:rPr sz="3200" b="1" spc="-15" dirty="0">
                <a:latin typeface="Arial"/>
                <a:cs typeface="Arial"/>
              </a:rPr>
              <a:t> </a:t>
            </a:r>
            <a:r>
              <a:rPr sz="3200" b="1" dirty="0">
                <a:latin typeface="Arial"/>
                <a:cs typeface="Arial"/>
              </a:rPr>
              <a:t>be</a:t>
            </a:r>
            <a:r>
              <a:rPr sz="3200" b="1" spc="-25" dirty="0">
                <a:latin typeface="Arial"/>
                <a:cs typeface="Arial"/>
              </a:rPr>
              <a:t> </a:t>
            </a:r>
            <a:r>
              <a:rPr sz="3200" b="1" spc="-5" dirty="0">
                <a:latin typeface="Arial"/>
                <a:cs typeface="Arial"/>
              </a:rPr>
              <a:t>detected</a:t>
            </a:r>
            <a:r>
              <a:rPr sz="3200" b="1" spc="-30" dirty="0">
                <a:latin typeface="Arial"/>
                <a:cs typeface="Arial"/>
              </a:rPr>
              <a:t> </a:t>
            </a:r>
            <a:r>
              <a:rPr sz="3200" b="1" dirty="0">
                <a:latin typeface="Arial"/>
                <a:cs typeface="Arial"/>
              </a:rPr>
              <a:t>and</a:t>
            </a:r>
            <a:r>
              <a:rPr sz="3200" b="1" spc="-25" dirty="0">
                <a:latin typeface="Arial"/>
                <a:cs typeface="Arial"/>
              </a:rPr>
              <a:t> </a:t>
            </a:r>
            <a:r>
              <a:rPr sz="3200" b="1" spc="-5" dirty="0">
                <a:latin typeface="Arial"/>
                <a:cs typeface="Arial"/>
              </a:rPr>
              <a:t>corrected.</a:t>
            </a:r>
            <a:endParaRPr sz="3200" dirty="0">
              <a:latin typeface="Arial"/>
              <a:cs typeface="Arial"/>
            </a:endParaRPr>
          </a:p>
        </p:txBody>
      </p:sp>
      <p:sp>
        <p:nvSpPr>
          <p:cNvPr id="2" name="object 5">
            <a:extLst>
              <a:ext uri="{FF2B5EF4-FFF2-40B4-BE49-F238E27FC236}">
                <a16:creationId xmlns:a16="http://schemas.microsoft.com/office/drawing/2014/main" id="{A06B30D2-7561-77DF-BC4B-42FDA96DA213}"/>
              </a:ext>
            </a:extLst>
          </p:cNvPr>
          <p:cNvSpPr/>
          <p:nvPr/>
        </p:nvSpPr>
        <p:spPr>
          <a:xfrm>
            <a:off x="2057400" y="1949116"/>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31075" y="2395704"/>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3" name="object 3"/>
          <p:cNvSpPr/>
          <p:nvPr/>
        </p:nvSpPr>
        <p:spPr>
          <a:xfrm>
            <a:off x="1832598" y="3614904"/>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4" name="object 4"/>
          <p:cNvSpPr txBox="1"/>
          <p:nvPr/>
        </p:nvSpPr>
        <p:spPr>
          <a:xfrm>
            <a:off x="1869175" y="2487143"/>
            <a:ext cx="8077200" cy="1020792"/>
          </a:xfrm>
          <a:prstGeom prst="rect">
            <a:avLst/>
          </a:prstGeom>
          <a:solidFill>
            <a:srgbClr val="99FF33"/>
          </a:solidFill>
        </p:spPr>
        <p:txBody>
          <a:bodyPr vert="horz" wrap="square" lIns="0" tIns="35560" rIns="0" bIns="0" rtlCol="0">
            <a:spAutoFit/>
          </a:bodyPr>
          <a:lstStyle/>
          <a:p>
            <a:pPr marL="2312670" marR="129539" indent="-2175510">
              <a:spcBef>
                <a:spcPts val="280"/>
              </a:spcBef>
            </a:pPr>
            <a:r>
              <a:rPr sz="3200" b="1" dirty="0">
                <a:latin typeface="Arial"/>
                <a:cs typeface="Arial"/>
              </a:rPr>
              <a:t>In</a:t>
            </a:r>
            <a:r>
              <a:rPr sz="3200" b="1" spc="-25" dirty="0">
                <a:latin typeface="Arial"/>
                <a:cs typeface="Arial"/>
              </a:rPr>
              <a:t> </a:t>
            </a:r>
            <a:r>
              <a:rPr sz="3200" b="1" dirty="0">
                <a:latin typeface="Arial"/>
                <a:cs typeface="Arial"/>
              </a:rPr>
              <a:t>a </a:t>
            </a:r>
            <a:r>
              <a:rPr sz="3200" b="1" spc="-5" dirty="0">
                <a:latin typeface="Arial"/>
                <a:cs typeface="Arial"/>
              </a:rPr>
              <a:t>single-bit</a:t>
            </a:r>
            <a:r>
              <a:rPr sz="3200" b="1" spc="-35" dirty="0">
                <a:latin typeface="Arial"/>
                <a:cs typeface="Arial"/>
              </a:rPr>
              <a:t> </a:t>
            </a:r>
            <a:r>
              <a:rPr sz="3200" b="1" spc="-30" dirty="0">
                <a:latin typeface="Arial"/>
                <a:cs typeface="Arial"/>
              </a:rPr>
              <a:t>error,</a:t>
            </a:r>
            <a:r>
              <a:rPr sz="3200" b="1" dirty="0">
                <a:latin typeface="Arial"/>
                <a:cs typeface="Arial"/>
              </a:rPr>
              <a:t> </a:t>
            </a:r>
            <a:r>
              <a:rPr sz="3200" b="1" spc="-5" dirty="0">
                <a:latin typeface="Arial"/>
                <a:cs typeface="Arial"/>
              </a:rPr>
              <a:t>only</a:t>
            </a:r>
            <a:r>
              <a:rPr sz="3200" b="1" spc="-20" dirty="0">
                <a:latin typeface="Arial"/>
                <a:cs typeface="Arial"/>
              </a:rPr>
              <a:t> </a:t>
            </a:r>
            <a:r>
              <a:rPr sz="3200" b="1" dirty="0">
                <a:latin typeface="Arial"/>
                <a:cs typeface="Arial"/>
              </a:rPr>
              <a:t>1</a:t>
            </a:r>
            <a:r>
              <a:rPr sz="3200" b="1" spc="-20" dirty="0">
                <a:latin typeface="Arial"/>
                <a:cs typeface="Arial"/>
              </a:rPr>
              <a:t> </a:t>
            </a:r>
            <a:r>
              <a:rPr sz="3200" b="1" dirty="0">
                <a:latin typeface="Arial"/>
                <a:cs typeface="Arial"/>
              </a:rPr>
              <a:t>bit</a:t>
            </a:r>
            <a:r>
              <a:rPr sz="3200" b="1" spc="-20" dirty="0">
                <a:latin typeface="Arial"/>
                <a:cs typeface="Arial"/>
              </a:rPr>
              <a:t> </a:t>
            </a:r>
            <a:r>
              <a:rPr sz="3200" b="1" dirty="0">
                <a:latin typeface="Arial"/>
                <a:cs typeface="Arial"/>
              </a:rPr>
              <a:t>in</a:t>
            </a:r>
            <a:r>
              <a:rPr sz="3200" b="1" spc="-5" dirty="0">
                <a:latin typeface="Arial"/>
                <a:cs typeface="Arial"/>
              </a:rPr>
              <a:t> </a:t>
            </a:r>
            <a:r>
              <a:rPr sz="3200" b="1" dirty="0">
                <a:latin typeface="Arial"/>
                <a:cs typeface="Arial"/>
              </a:rPr>
              <a:t>the</a:t>
            </a:r>
            <a:r>
              <a:rPr sz="3200" b="1" spc="-30" dirty="0">
                <a:latin typeface="Arial"/>
                <a:cs typeface="Arial"/>
              </a:rPr>
              <a:t> </a:t>
            </a:r>
            <a:r>
              <a:rPr sz="3200" b="1" dirty="0">
                <a:latin typeface="Arial"/>
                <a:cs typeface="Arial"/>
              </a:rPr>
              <a:t>data </a:t>
            </a:r>
            <a:r>
              <a:rPr sz="3200" b="1" spc="-875" dirty="0">
                <a:latin typeface="Arial"/>
                <a:cs typeface="Arial"/>
              </a:rPr>
              <a:t> </a:t>
            </a:r>
            <a:r>
              <a:rPr sz="3200" b="1" dirty="0">
                <a:latin typeface="Arial"/>
                <a:cs typeface="Arial"/>
              </a:rPr>
              <a:t>unit</a:t>
            </a:r>
            <a:r>
              <a:rPr sz="3200" b="1" spc="-35" dirty="0">
                <a:latin typeface="Arial"/>
                <a:cs typeface="Arial"/>
              </a:rPr>
              <a:t> </a:t>
            </a:r>
            <a:r>
              <a:rPr sz="3200" b="1" dirty="0">
                <a:latin typeface="Arial"/>
                <a:cs typeface="Arial"/>
              </a:rPr>
              <a:t>has</a:t>
            </a:r>
            <a:r>
              <a:rPr sz="3200" b="1" spc="-20" dirty="0">
                <a:latin typeface="Arial"/>
                <a:cs typeface="Arial"/>
              </a:rPr>
              <a:t> </a:t>
            </a:r>
            <a:r>
              <a:rPr sz="3200" b="1" spc="-5" dirty="0">
                <a:latin typeface="Arial"/>
                <a:cs typeface="Arial"/>
              </a:rPr>
              <a:t>changed.</a:t>
            </a:r>
            <a:endParaRPr sz="3200">
              <a:latin typeface="Arial"/>
              <a:cs typeface="Arial"/>
            </a:endParaRPr>
          </a:p>
        </p:txBody>
      </p:sp>
      <p:sp>
        <p:nvSpPr>
          <p:cNvPr id="9" name="TextBox 8">
            <a:extLst>
              <a:ext uri="{FF2B5EF4-FFF2-40B4-BE49-F238E27FC236}">
                <a16:creationId xmlns:a16="http://schemas.microsoft.com/office/drawing/2014/main" id="{6B025C29-E8D5-468F-9A28-75E81BBB4CAF}"/>
              </a:ext>
            </a:extLst>
          </p:cNvPr>
          <p:cNvSpPr txBox="1"/>
          <p:nvPr/>
        </p:nvSpPr>
        <p:spPr>
          <a:xfrm>
            <a:off x="1831075" y="1542699"/>
            <a:ext cx="6096000" cy="523220"/>
          </a:xfrm>
          <a:prstGeom prst="rect">
            <a:avLst/>
          </a:prstGeom>
          <a:noFill/>
        </p:spPr>
        <p:txBody>
          <a:bodyPr wrap="square">
            <a:spAutoFit/>
          </a:bodyPr>
          <a:lstStyle/>
          <a:p>
            <a:r>
              <a:rPr lang="en-IN" sz="2800" b="1" i="1" dirty="0">
                <a:latin typeface="Times New Roman"/>
                <a:cs typeface="Times New Roman"/>
              </a:rPr>
              <a:t>Single-bit</a:t>
            </a:r>
            <a:r>
              <a:rPr lang="en-IN" sz="2800" b="1" i="1" spc="-110" dirty="0">
                <a:latin typeface="Times New Roman"/>
                <a:cs typeface="Times New Roman"/>
              </a:rPr>
              <a:t> </a:t>
            </a:r>
            <a:r>
              <a:rPr lang="en-IN" sz="2800" b="1" i="1" dirty="0">
                <a:latin typeface="Times New Roman"/>
                <a:cs typeface="Times New Roman"/>
              </a:rPr>
              <a:t>error</a:t>
            </a:r>
            <a:endParaRPr lang="en-IN" sz="2800" dirty="0"/>
          </a:p>
        </p:txBody>
      </p:sp>
      <p:sp>
        <p:nvSpPr>
          <p:cNvPr id="7" name="Title 6"/>
          <p:cNvSpPr>
            <a:spLocks noGrp="1"/>
          </p:cNvSpPr>
          <p:nvPr>
            <p:ph type="title"/>
          </p:nvPr>
        </p:nvSpPr>
        <p:spPr/>
        <p:txBody>
          <a:bodyPr/>
          <a:lstStyle/>
          <a:p>
            <a:r>
              <a:rPr lang="en-US" b="1" i="1" dirty="0">
                <a:latin typeface="Times New Roman" pitchFamily="18" charset="0"/>
                <a:cs typeface="Times New Roman" pitchFamily="18" charset="0"/>
              </a:rPr>
              <a:t>Types of Error</a:t>
            </a:r>
            <a:endParaRPr lang="en-IN" b="1" i="1" dirty="0">
              <a:latin typeface="Times New Roman" pitchFamily="18" charset="0"/>
              <a:cs typeface="Times New Roman" pitchFamily="18" charset="0"/>
            </a:endParaRPr>
          </a:p>
        </p:txBody>
      </p:sp>
      <p:pic>
        <p:nvPicPr>
          <p:cNvPr id="10" name="object 4"/>
          <p:cNvPicPr/>
          <p:nvPr/>
        </p:nvPicPr>
        <p:blipFill>
          <a:blip r:embed="rId2" cstate="print"/>
          <a:stretch>
            <a:fillRect/>
          </a:stretch>
        </p:blipFill>
        <p:spPr>
          <a:xfrm>
            <a:off x="1831075" y="4467382"/>
            <a:ext cx="8153400" cy="156165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52902" y="1613255"/>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5" name="object 5"/>
          <p:cNvSpPr/>
          <p:nvPr/>
        </p:nvSpPr>
        <p:spPr>
          <a:xfrm>
            <a:off x="754425" y="2832454"/>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6" name="object 6"/>
          <p:cNvSpPr txBox="1"/>
          <p:nvPr/>
        </p:nvSpPr>
        <p:spPr>
          <a:xfrm>
            <a:off x="791002" y="1704693"/>
            <a:ext cx="8077200" cy="1020792"/>
          </a:xfrm>
          <a:prstGeom prst="rect">
            <a:avLst/>
          </a:prstGeom>
          <a:solidFill>
            <a:srgbClr val="99FF33"/>
          </a:solidFill>
        </p:spPr>
        <p:txBody>
          <a:bodyPr vert="horz" wrap="square" lIns="0" tIns="35560" rIns="0" bIns="0" rtlCol="0">
            <a:spAutoFit/>
          </a:bodyPr>
          <a:lstStyle/>
          <a:p>
            <a:pPr marL="1129665" marR="267970" indent="-852169">
              <a:spcBef>
                <a:spcPts val="280"/>
              </a:spcBef>
            </a:pPr>
            <a:r>
              <a:rPr sz="3200" b="1" dirty="0">
                <a:latin typeface="Arial"/>
                <a:cs typeface="Arial"/>
              </a:rPr>
              <a:t>A</a:t>
            </a:r>
            <a:r>
              <a:rPr sz="3200" b="1" spc="-125" dirty="0">
                <a:latin typeface="Arial"/>
                <a:cs typeface="Arial"/>
              </a:rPr>
              <a:t> </a:t>
            </a:r>
            <a:r>
              <a:rPr sz="3200" b="1" spc="-5" dirty="0">
                <a:latin typeface="Arial"/>
                <a:cs typeface="Arial"/>
              </a:rPr>
              <a:t>burst</a:t>
            </a:r>
            <a:r>
              <a:rPr sz="3200" b="1" spc="-30" dirty="0">
                <a:latin typeface="Arial"/>
                <a:cs typeface="Arial"/>
              </a:rPr>
              <a:t> </a:t>
            </a:r>
            <a:r>
              <a:rPr sz="3200" b="1" dirty="0">
                <a:latin typeface="Arial"/>
                <a:cs typeface="Arial"/>
              </a:rPr>
              <a:t>error </a:t>
            </a:r>
            <a:r>
              <a:rPr sz="3200" b="1" spc="-5" dirty="0">
                <a:latin typeface="Arial"/>
                <a:cs typeface="Arial"/>
              </a:rPr>
              <a:t>means</a:t>
            </a:r>
            <a:r>
              <a:rPr sz="3200" b="1" spc="-20" dirty="0">
                <a:latin typeface="Arial"/>
                <a:cs typeface="Arial"/>
              </a:rPr>
              <a:t> </a:t>
            </a:r>
            <a:r>
              <a:rPr sz="3200" b="1" dirty="0">
                <a:latin typeface="Arial"/>
                <a:cs typeface="Arial"/>
              </a:rPr>
              <a:t>that</a:t>
            </a:r>
            <a:r>
              <a:rPr sz="3200" b="1" spc="-25" dirty="0">
                <a:latin typeface="Arial"/>
                <a:cs typeface="Arial"/>
              </a:rPr>
              <a:t> </a:t>
            </a:r>
            <a:r>
              <a:rPr sz="3200" b="1" dirty="0">
                <a:latin typeface="Arial"/>
                <a:cs typeface="Arial"/>
              </a:rPr>
              <a:t>2</a:t>
            </a:r>
            <a:r>
              <a:rPr sz="3200" b="1" spc="-15" dirty="0">
                <a:latin typeface="Arial"/>
                <a:cs typeface="Arial"/>
              </a:rPr>
              <a:t> </a:t>
            </a:r>
            <a:r>
              <a:rPr sz="3200" b="1" dirty="0">
                <a:latin typeface="Arial"/>
                <a:cs typeface="Arial"/>
              </a:rPr>
              <a:t>or</a:t>
            </a:r>
            <a:r>
              <a:rPr sz="3200" b="1" spc="-5" dirty="0">
                <a:latin typeface="Arial"/>
                <a:cs typeface="Arial"/>
              </a:rPr>
              <a:t> </a:t>
            </a:r>
            <a:r>
              <a:rPr sz="3200" b="1" dirty="0">
                <a:latin typeface="Arial"/>
                <a:cs typeface="Arial"/>
              </a:rPr>
              <a:t>more</a:t>
            </a:r>
            <a:r>
              <a:rPr sz="3200" b="1" spc="-15" dirty="0">
                <a:latin typeface="Arial"/>
                <a:cs typeface="Arial"/>
              </a:rPr>
              <a:t> </a:t>
            </a:r>
            <a:r>
              <a:rPr sz="3200" b="1" dirty="0">
                <a:latin typeface="Arial"/>
                <a:cs typeface="Arial"/>
              </a:rPr>
              <a:t>bits </a:t>
            </a:r>
            <a:r>
              <a:rPr sz="3200" b="1" spc="-875" dirty="0">
                <a:latin typeface="Arial"/>
                <a:cs typeface="Arial"/>
              </a:rPr>
              <a:t> </a:t>
            </a:r>
            <a:r>
              <a:rPr sz="3200" b="1" dirty="0">
                <a:latin typeface="Arial"/>
                <a:cs typeface="Arial"/>
              </a:rPr>
              <a:t>in</a:t>
            </a:r>
            <a:r>
              <a:rPr sz="3200" b="1" spc="-25" dirty="0">
                <a:latin typeface="Arial"/>
                <a:cs typeface="Arial"/>
              </a:rPr>
              <a:t> </a:t>
            </a:r>
            <a:r>
              <a:rPr sz="3200" b="1" dirty="0">
                <a:latin typeface="Arial"/>
                <a:cs typeface="Arial"/>
              </a:rPr>
              <a:t>the</a:t>
            </a:r>
            <a:r>
              <a:rPr sz="3200" b="1" spc="-25" dirty="0">
                <a:latin typeface="Arial"/>
                <a:cs typeface="Arial"/>
              </a:rPr>
              <a:t> </a:t>
            </a:r>
            <a:r>
              <a:rPr sz="3200" b="1" dirty="0">
                <a:latin typeface="Arial"/>
                <a:cs typeface="Arial"/>
              </a:rPr>
              <a:t>data</a:t>
            </a:r>
            <a:r>
              <a:rPr sz="3200" b="1" spc="-30" dirty="0">
                <a:latin typeface="Arial"/>
                <a:cs typeface="Arial"/>
              </a:rPr>
              <a:t> </a:t>
            </a:r>
            <a:r>
              <a:rPr sz="3200" b="1" dirty="0">
                <a:latin typeface="Arial"/>
                <a:cs typeface="Arial"/>
              </a:rPr>
              <a:t>unit</a:t>
            </a:r>
            <a:r>
              <a:rPr sz="3200" b="1" spc="-25" dirty="0">
                <a:latin typeface="Arial"/>
                <a:cs typeface="Arial"/>
              </a:rPr>
              <a:t> </a:t>
            </a:r>
            <a:r>
              <a:rPr sz="3200" b="1" spc="-5" dirty="0">
                <a:latin typeface="Arial"/>
                <a:cs typeface="Arial"/>
              </a:rPr>
              <a:t>have</a:t>
            </a:r>
            <a:r>
              <a:rPr sz="3200" b="1" spc="-20" dirty="0">
                <a:latin typeface="Arial"/>
                <a:cs typeface="Arial"/>
              </a:rPr>
              <a:t> </a:t>
            </a:r>
            <a:r>
              <a:rPr sz="3200" b="1" spc="-5" dirty="0">
                <a:latin typeface="Arial"/>
                <a:cs typeface="Arial"/>
              </a:rPr>
              <a:t>changed.</a:t>
            </a:r>
            <a:endParaRPr sz="3200">
              <a:latin typeface="Arial"/>
              <a:cs typeface="Arial"/>
            </a:endParaRPr>
          </a:p>
        </p:txBody>
      </p:sp>
      <p:sp>
        <p:nvSpPr>
          <p:cNvPr id="10" name="TextBox 9">
            <a:extLst>
              <a:ext uri="{FF2B5EF4-FFF2-40B4-BE49-F238E27FC236}">
                <a16:creationId xmlns:a16="http://schemas.microsoft.com/office/drawing/2014/main" id="{6EE82FC7-643D-461B-8E32-A1D2A1820C0B}"/>
              </a:ext>
            </a:extLst>
          </p:cNvPr>
          <p:cNvSpPr txBox="1"/>
          <p:nvPr/>
        </p:nvSpPr>
        <p:spPr>
          <a:xfrm>
            <a:off x="754425" y="1044205"/>
            <a:ext cx="6096000" cy="523220"/>
          </a:xfrm>
          <a:prstGeom prst="rect">
            <a:avLst/>
          </a:prstGeom>
          <a:noFill/>
        </p:spPr>
        <p:txBody>
          <a:bodyPr wrap="square">
            <a:spAutoFit/>
          </a:bodyPr>
          <a:lstStyle/>
          <a:p>
            <a:r>
              <a:rPr lang="en-US" sz="2800" b="1" i="1" dirty="0">
                <a:latin typeface="Times New Roman"/>
                <a:cs typeface="Times New Roman"/>
              </a:rPr>
              <a:t>Burst</a:t>
            </a:r>
            <a:r>
              <a:rPr lang="en-US" sz="2800" b="1" i="1" spc="-30" dirty="0">
                <a:latin typeface="Times New Roman"/>
                <a:cs typeface="Times New Roman"/>
              </a:rPr>
              <a:t> </a:t>
            </a:r>
            <a:r>
              <a:rPr lang="en-US" sz="2800" b="1" i="1" dirty="0">
                <a:latin typeface="Times New Roman"/>
                <a:cs typeface="Times New Roman"/>
              </a:rPr>
              <a:t>error</a:t>
            </a:r>
            <a:r>
              <a:rPr lang="en-US" sz="2800" b="1" i="1" spc="-35" dirty="0">
                <a:latin typeface="Times New Roman"/>
                <a:cs typeface="Times New Roman"/>
              </a:rPr>
              <a:t> </a:t>
            </a:r>
            <a:endParaRPr lang="en-IN" sz="2800" dirty="0"/>
          </a:p>
        </p:txBody>
      </p:sp>
      <p:sp>
        <p:nvSpPr>
          <p:cNvPr id="11" name="Title 6"/>
          <p:cNvSpPr>
            <a:spLocks noGrp="1"/>
          </p:cNvSpPr>
          <p:nvPr>
            <p:ph type="title"/>
          </p:nvPr>
        </p:nvSpPr>
        <p:spPr>
          <a:xfrm>
            <a:off x="838200" y="133109"/>
            <a:ext cx="10515600" cy="1325563"/>
          </a:xfrm>
        </p:spPr>
        <p:txBody>
          <a:bodyPr/>
          <a:lstStyle/>
          <a:p>
            <a:r>
              <a:rPr lang="en-US" b="1" i="1" dirty="0">
                <a:latin typeface="Times New Roman" pitchFamily="18" charset="0"/>
                <a:cs typeface="Times New Roman" pitchFamily="18" charset="0"/>
              </a:rPr>
              <a:t>Types of Error</a:t>
            </a:r>
            <a:endParaRPr lang="en-IN" b="1" i="1" dirty="0">
              <a:latin typeface="Times New Roman" pitchFamily="18" charset="0"/>
              <a:cs typeface="Times New Roman" pitchFamily="18" charset="0"/>
            </a:endParaRPr>
          </a:p>
        </p:txBody>
      </p:sp>
      <p:pic>
        <p:nvPicPr>
          <p:cNvPr id="12" name="object 4"/>
          <p:cNvPicPr/>
          <p:nvPr/>
        </p:nvPicPr>
        <p:blipFill>
          <a:blip r:embed="rId2" cstate="print"/>
          <a:stretch>
            <a:fillRect/>
          </a:stretch>
        </p:blipFill>
        <p:spPr>
          <a:xfrm>
            <a:off x="343667" y="3204117"/>
            <a:ext cx="7158147" cy="3327817"/>
          </a:xfrm>
          <a:prstGeom prst="rect">
            <a:avLst/>
          </a:prstGeom>
        </p:spPr>
      </p:pic>
      <p:sp>
        <p:nvSpPr>
          <p:cNvPr id="4" name="TextBox 3">
            <a:extLst>
              <a:ext uri="{FF2B5EF4-FFF2-40B4-BE49-F238E27FC236}">
                <a16:creationId xmlns:a16="http://schemas.microsoft.com/office/drawing/2014/main" id="{E5628D53-D630-E389-BB12-12E51A93B27B}"/>
              </a:ext>
            </a:extLst>
          </p:cNvPr>
          <p:cNvSpPr txBox="1"/>
          <p:nvPr/>
        </p:nvSpPr>
        <p:spPr>
          <a:xfrm>
            <a:off x="7651886" y="3124657"/>
            <a:ext cx="4307503" cy="3785652"/>
          </a:xfrm>
          <a:prstGeom prst="rect">
            <a:avLst/>
          </a:prstGeom>
          <a:noFill/>
        </p:spPr>
        <p:txBody>
          <a:bodyPr wrap="square">
            <a:spAutoFit/>
          </a:bodyPr>
          <a:lstStyle/>
          <a:p>
            <a:pPr marL="457200" indent="-457200" algn="just">
              <a:buFont typeface="Wingdings" panose="05000000000000000000" pitchFamily="2" charset="2"/>
              <a:buChar char="v"/>
            </a:pPr>
            <a:r>
              <a:rPr lang="en-US" sz="2400" dirty="0">
                <a:latin typeface="Times New Roman"/>
                <a:cs typeface="Times New Roman"/>
              </a:rPr>
              <a:t>Note that a burst error does not necessarily mean that the errors occur in consecutive bits. </a:t>
            </a:r>
          </a:p>
          <a:p>
            <a:pPr marL="457200" indent="-457200" algn="just">
              <a:buFont typeface="Wingdings" panose="05000000000000000000" pitchFamily="2" charset="2"/>
              <a:buChar char="v"/>
            </a:pPr>
            <a:r>
              <a:rPr lang="en-US" sz="2400" dirty="0">
                <a:latin typeface="Times New Roman"/>
                <a:cs typeface="Times New Roman"/>
              </a:rPr>
              <a:t>The length of the burst is measured from the first corrupted bit to the last corrupted bit. </a:t>
            </a:r>
          </a:p>
          <a:p>
            <a:pPr marL="457200" indent="-457200" algn="just">
              <a:buFont typeface="Wingdings" panose="05000000000000000000" pitchFamily="2" charset="2"/>
              <a:buChar char="v"/>
            </a:pPr>
            <a:r>
              <a:rPr lang="en-US" sz="2400" dirty="0">
                <a:latin typeface="Times New Roman"/>
                <a:cs typeface="Times New Roman"/>
              </a:rPr>
              <a:t>Some bits in between may not have been corrupted.</a:t>
            </a:r>
            <a:endParaRPr lang="en-IN" sz="24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body" idx="1"/>
          </p:nvPr>
        </p:nvSpPr>
        <p:spPr>
          <a:xfrm>
            <a:off x="2385059" y="1568374"/>
            <a:ext cx="7775070" cy="1970796"/>
          </a:xfrm>
          <a:prstGeom prst="rect">
            <a:avLst/>
          </a:prstGeom>
        </p:spPr>
        <p:txBody>
          <a:bodyPr vert="horz" wrap="square" lIns="0" tIns="12065" rIns="0" bIns="0" rtlCol="0">
            <a:spAutoFit/>
          </a:bodyPr>
          <a:lstStyle/>
          <a:p>
            <a:pPr marL="546100" marR="158750">
              <a:lnSpc>
                <a:spcPct val="100299"/>
              </a:lnSpc>
              <a:spcBef>
                <a:spcPts val="95"/>
              </a:spcBef>
            </a:pPr>
            <a:r>
              <a:rPr sz="3200" dirty="0">
                <a:latin typeface="Tahoma"/>
                <a:cs typeface="Tahoma"/>
              </a:rPr>
              <a:t>Redundancy : </a:t>
            </a:r>
            <a:r>
              <a:rPr sz="2400" dirty="0">
                <a:latin typeface="Tahoma"/>
                <a:cs typeface="Tahoma"/>
              </a:rPr>
              <a:t>is the </a:t>
            </a:r>
            <a:r>
              <a:rPr sz="2400" spc="-5" dirty="0">
                <a:latin typeface="Tahoma"/>
                <a:cs typeface="Tahoma"/>
              </a:rPr>
              <a:t>central concept </a:t>
            </a:r>
            <a:r>
              <a:rPr sz="2400" dirty="0">
                <a:latin typeface="Tahoma"/>
                <a:cs typeface="Tahoma"/>
              </a:rPr>
              <a:t>in detecting &amp; </a:t>
            </a:r>
            <a:r>
              <a:rPr sz="2400" spc="-740" dirty="0">
                <a:latin typeface="Tahoma"/>
                <a:cs typeface="Tahoma"/>
              </a:rPr>
              <a:t> </a:t>
            </a:r>
            <a:r>
              <a:rPr sz="2400" spc="-5" dirty="0">
                <a:latin typeface="Tahoma"/>
                <a:cs typeface="Tahoma"/>
              </a:rPr>
              <a:t>correcting</a:t>
            </a:r>
            <a:r>
              <a:rPr sz="2400" dirty="0">
                <a:latin typeface="Tahoma"/>
                <a:cs typeface="Tahoma"/>
              </a:rPr>
              <a:t> </a:t>
            </a:r>
            <a:r>
              <a:rPr sz="2400" spc="-10" dirty="0">
                <a:latin typeface="Tahoma"/>
                <a:cs typeface="Tahoma"/>
              </a:rPr>
              <a:t>errors.</a:t>
            </a:r>
            <a:endParaRPr sz="2400" dirty="0">
              <a:latin typeface="Tahoma"/>
              <a:cs typeface="Tahoma"/>
            </a:endParaRPr>
          </a:p>
          <a:p>
            <a:pPr marL="546100" marR="5080">
              <a:lnSpc>
                <a:spcPct val="99200"/>
              </a:lnSpc>
              <a:spcBef>
                <a:spcPts val="20"/>
              </a:spcBef>
            </a:pPr>
            <a:r>
              <a:rPr sz="2400" dirty="0">
                <a:latin typeface="Tahoma"/>
                <a:cs typeface="Tahoma"/>
              </a:rPr>
              <a:t>We </a:t>
            </a:r>
            <a:r>
              <a:rPr sz="2400" spc="-5" dirty="0">
                <a:latin typeface="Tahoma"/>
                <a:cs typeface="Tahoma"/>
              </a:rPr>
              <a:t>need to send some extra </a:t>
            </a:r>
            <a:r>
              <a:rPr sz="2400" dirty="0">
                <a:latin typeface="Tahoma"/>
                <a:cs typeface="Tahoma"/>
              </a:rPr>
              <a:t>bits </a:t>
            </a:r>
            <a:r>
              <a:rPr sz="2400" spc="-5" dirty="0">
                <a:latin typeface="Tahoma"/>
                <a:cs typeface="Tahoma"/>
              </a:rPr>
              <a:t>with </a:t>
            </a:r>
            <a:r>
              <a:rPr sz="2400" dirty="0">
                <a:latin typeface="Tahoma"/>
                <a:cs typeface="Tahoma"/>
              </a:rPr>
              <a:t>our data. </a:t>
            </a:r>
            <a:r>
              <a:rPr sz="2400" spc="-5" dirty="0">
                <a:latin typeface="Tahoma"/>
                <a:cs typeface="Tahoma"/>
              </a:rPr>
              <a:t>These </a:t>
            </a:r>
            <a:r>
              <a:rPr sz="2400" dirty="0">
                <a:latin typeface="Tahoma"/>
                <a:cs typeface="Tahoma"/>
              </a:rPr>
              <a:t> </a:t>
            </a:r>
            <a:r>
              <a:rPr sz="2400" spc="-5" dirty="0">
                <a:latin typeface="Tahoma"/>
                <a:cs typeface="Tahoma"/>
              </a:rPr>
              <a:t>redundant</a:t>
            </a:r>
            <a:r>
              <a:rPr sz="2400" spc="-30" dirty="0">
                <a:latin typeface="Tahoma"/>
                <a:cs typeface="Tahoma"/>
              </a:rPr>
              <a:t> </a:t>
            </a:r>
            <a:r>
              <a:rPr sz="2400" dirty="0">
                <a:latin typeface="Tahoma"/>
                <a:cs typeface="Tahoma"/>
              </a:rPr>
              <a:t>bits</a:t>
            </a:r>
            <a:r>
              <a:rPr sz="2400" spc="-15" dirty="0">
                <a:latin typeface="Tahoma"/>
                <a:cs typeface="Tahoma"/>
              </a:rPr>
              <a:t> </a:t>
            </a:r>
            <a:r>
              <a:rPr sz="2400" dirty="0">
                <a:latin typeface="Tahoma"/>
                <a:cs typeface="Tahoma"/>
              </a:rPr>
              <a:t>are</a:t>
            </a:r>
            <a:r>
              <a:rPr sz="2400" spc="-15" dirty="0">
                <a:latin typeface="Tahoma"/>
                <a:cs typeface="Tahoma"/>
              </a:rPr>
              <a:t> </a:t>
            </a:r>
            <a:r>
              <a:rPr sz="2400" dirty="0">
                <a:latin typeface="Tahoma"/>
                <a:cs typeface="Tahoma"/>
              </a:rPr>
              <a:t>added</a:t>
            </a:r>
            <a:r>
              <a:rPr sz="2400" spc="-10" dirty="0">
                <a:latin typeface="Tahoma"/>
                <a:cs typeface="Tahoma"/>
              </a:rPr>
              <a:t> </a:t>
            </a:r>
            <a:r>
              <a:rPr sz="2400" dirty="0">
                <a:latin typeface="Tahoma"/>
                <a:cs typeface="Tahoma"/>
              </a:rPr>
              <a:t>by</a:t>
            </a:r>
            <a:r>
              <a:rPr sz="2400" spc="-5" dirty="0">
                <a:latin typeface="Tahoma"/>
                <a:cs typeface="Tahoma"/>
              </a:rPr>
              <a:t> the</a:t>
            </a:r>
            <a:r>
              <a:rPr sz="2400" spc="-25" dirty="0">
                <a:latin typeface="Tahoma"/>
                <a:cs typeface="Tahoma"/>
              </a:rPr>
              <a:t> </a:t>
            </a:r>
            <a:r>
              <a:rPr sz="2400" spc="-5" dirty="0">
                <a:latin typeface="Tahoma"/>
                <a:cs typeface="Tahoma"/>
              </a:rPr>
              <a:t>sender </a:t>
            </a:r>
            <a:r>
              <a:rPr sz="2400" dirty="0">
                <a:latin typeface="Tahoma"/>
                <a:cs typeface="Tahoma"/>
              </a:rPr>
              <a:t>and</a:t>
            </a:r>
            <a:r>
              <a:rPr sz="2400" spc="-20" dirty="0">
                <a:latin typeface="Tahoma"/>
                <a:cs typeface="Tahoma"/>
              </a:rPr>
              <a:t> </a:t>
            </a:r>
            <a:r>
              <a:rPr sz="2400" spc="-5" dirty="0">
                <a:latin typeface="Tahoma"/>
                <a:cs typeface="Tahoma"/>
              </a:rPr>
              <a:t>removed</a:t>
            </a:r>
            <a:r>
              <a:rPr sz="2400" spc="-25" dirty="0">
                <a:latin typeface="Tahoma"/>
                <a:cs typeface="Tahoma"/>
              </a:rPr>
              <a:t> </a:t>
            </a:r>
            <a:r>
              <a:rPr sz="2400" dirty="0">
                <a:latin typeface="Tahoma"/>
                <a:cs typeface="Tahoma"/>
              </a:rPr>
              <a:t>by </a:t>
            </a:r>
            <a:r>
              <a:rPr sz="2400" spc="-735" dirty="0">
                <a:latin typeface="Tahoma"/>
                <a:cs typeface="Tahoma"/>
              </a:rPr>
              <a:t> </a:t>
            </a:r>
            <a:r>
              <a:rPr sz="2400" spc="-5" dirty="0">
                <a:latin typeface="Tahoma"/>
                <a:cs typeface="Tahoma"/>
              </a:rPr>
              <a:t>the</a:t>
            </a:r>
            <a:r>
              <a:rPr sz="2400" spc="-10" dirty="0">
                <a:latin typeface="Tahoma"/>
                <a:cs typeface="Tahoma"/>
              </a:rPr>
              <a:t> </a:t>
            </a:r>
            <a:r>
              <a:rPr sz="2400" spc="-5" dirty="0">
                <a:latin typeface="Tahoma"/>
                <a:cs typeface="Tahoma"/>
              </a:rPr>
              <a:t>receiver</a:t>
            </a:r>
            <a:r>
              <a:rPr sz="2400" dirty="0">
                <a:latin typeface="Tahoma"/>
                <a:cs typeface="Tahoma"/>
              </a:rPr>
              <a:t> .</a:t>
            </a:r>
          </a:p>
        </p:txBody>
      </p:sp>
      <p:grpSp>
        <p:nvGrpSpPr>
          <p:cNvPr id="14" name="object 14"/>
          <p:cNvGrpSpPr/>
          <p:nvPr/>
        </p:nvGrpSpPr>
        <p:grpSpPr>
          <a:xfrm>
            <a:off x="1600200" y="-192505"/>
            <a:ext cx="8593836" cy="1053465"/>
            <a:chOff x="76200" y="0"/>
            <a:chExt cx="8593836" cy="1053465"/>
          </a:xfrm>
        </p:grpSpPr>
        <p:sp>
          <p:nvSpPr>
            <p:cNvPr id="15" name="object 15"/>
            <p:cNvSpPr/>
            <p:nvPr/>
          </p:nvSpPr>
          <p:spPr>
            <a:xfrm>
              <a:off x="367284" y="108203"/>
              <a:ext cx="382905" cy="474345"/>
            </a:xfrm>
            <a:custGeom>
              <a:avLst/>
              <a:gdLst/>
              <a:ahLst/>
              <a:cxnLst/>
              <a:rect l="l" t="t" r="r" b="b"/>
              <a:pathLst>
                <a:path w="382905" h="474345">
                  <a:moveTo>
                    <a:pt x="382524" y="0"/>
                  </a:moveTo>
                  <a:lnTo>
                    <a:pt x="0" y="0"/>
                  </a:lnTo>
                  <a:lnTo>
                    <a:pt x="0" y="348996"/>
                  </a:lnTo>
                  <a:lnTo>
                    <a:pt x="0" y="473964"/>
                  </a:lnTo>
                  <a:lnTo>
                    <a:pt x="382524" y="473964"/>
                  </a:lnTo>
                  <a:lnTo>
                    <a:pt x="382524" y="348996"/>
                  </a:lnTo>
                  <a:lnTo>
                    <a:pt x="382524" y="0"/>
                  </a:lnTo>
                  <a:close/>
                </a:path>
              </a:pathLst>
            </a:custGeom>
            <a:solidFill>
              <a:srgbClr val="FFCF00"/>
            </a:solidFill>
          </p:spPr>
          <p:txBody>
            <a:bodyPr wrap="square" lIns="0" tIns="0" rIns="0" bIns="0" rtlCol="0"/>
            <a:lstStyle/>
            <a:p>
              <a:endParaRPr/>
            </a:p>
          </p:txBody>
        </p:sp>
        <p:pic>
          <p:nvPicPr>
            <p:cNvPr id="16" name="object 16"/>
            <p:cNvPicPr/>
            <p:nvPr/>
          </p:nvPicPr>
          <p:blipFill>
            <a:blip r:embed="rId2" cstate="print"/>
            <a:stretch>
              <a:fillRect/>
            </a:stretch>
          </p:blipFill>
          <p:spPr>
            <a:xfrm>
              <a:off x="749808" y="108204"/>
              <a:ext cx="327660" cy="473963"/>
            </a:xfrm>
            <a:prstGeom prst="rect">
              <a:avLst/>
            </a:prstGeom>
          </p:spPr>
        </p:pic>
        <p:sp>
          <p:nvSpPr>
            <p:cNvPr id="17" name="object 17"/>
            <p:cNvSpPr/>
            <p:nvPr/>
          </p:nvSpPr>
          <p:spPr>
            <a:xfrm>
              <a:off x="490728" y="530351"/>
              <a:ext cx="370840" cy="474345"/>
            </a:xfrm>
            <a:custGeom>
              <a:avLst/>
              <a:gdLst/>
              <a:ahLst/>
              <a:cxnLst/>
              <a:rect l="l" t="t" r="r" b="b"/>
              <a:pathLst>
                <a:path w="370840" h="474344">
                  <a:moveTo>
                    <a:pt x="370332" y="0"/>
                  </a:moveTo>
                  <a:lnTo>
                    <a:pt x="0" y="0"/>
                  </a:lnTo>
                  <a:lnTo>
                    <a:pt x="0" y="348996"/>
                  </a:lnTo>
                  <a:lnTo>
                    <a:pt x="0" y="473964"/>
                  </a:lnTo>
                  <a:lnTo>
                    <a:pt x="370332" y="473964"/>
                  </a:lnTo>
                  <a:lnTo>
                    <a:pt x="370332" y="348996"/>
                  </a:lnTo>
                  <a:lnTo>
                    <a:pt x="370332" y="0"/>
                  </a:lnTo>
                  <a:close/>
                </a:path>
              </a:pathLst>
            </a:custGeom>
            <a:solidFill>
              <a:srgbClr val="3333CC"/>
            </a:solidFill>
          </p:spPr>
          <p:txBody>
            <a:bodyPr wrap="square" lIns="0" tIns="0" rIns="0" bIns="0" rtlCol="0"/>
            <a:lstStyle/>
            <a:p>
              <a:endParaRPr/>
            </a:p>
          </p:txBody>
        </p:sp>
        <p:pic>
          <p:nvPicPr>
            <p:cNvPr id="18" name="object 18"/>
            <p:cNvPicPr/>
            <p:nvPr/>
          </p:nvPicPr>
          <p:blipFill>
            <a:blip r:embed="rId3" cstate="print"/>
            <a:stretch>
              <a:fillRect/>
            </a:stretch>
          </p:blipFill>
          <p:spPr>
            <a:xfrm>
              <a:off x="861059" y="530351"/>
              <a:ext cx="367284" cy="473963"/>
            </a:xfrm>
            <a:prstGeom prst="rect">
              <a:avLst/>
            </a:prstGeom>
          </p:spPr>
        </p:pic>
        <p:pic>
          <p:nvPicPr>
            <p:cNvPr id="19" name="object 19"/>
            <p:cNvPicPr/>
            <p:nvPr/>
          </p:nvPicPr>
          <p:blipFill>
            <a:blip r:embed="rId4" cstate="print"/>
            <a:stretch>
              <a:fillRect/>
            </a:stretch>
          </p:blipFill>
          <p:spPr>
            <a:xfrm>
              <a:off x="76200" y="457200"/>
              <a:ext cx="560832" cy="422148"/>
            </a:xfrm>
            <a:prstGeom prst="rect">
              <a:avLst/>
            </a:prstGeom>
          </p:spPr>
        </p:pic>
        <p:sp>
          <p:nvSpPr>
            <p:cNvPr id="20" name="object 20"/>
            <p:cNvSpPr/>
            <p:nvPr/>
          </p:nvSpPr>
          <p:spPr>
            <a:xfrm>
              <a:off x="711708" y="0"/>
              <a:ext cx="32384" cy="1053465"/>
            </a:xfrm>
            <a:custGeom>
              <a:avLst/>
              <a:gdLst/>
              <a:ahLst/>
              <a:cxnLst/>
              <a:rect l="l" t="t" r="r" b="b"/>
              <a:pathLst>
                <a:path w="32384" h="1053465">
                  <a:moveTo>
                    <a:pt x="32004" y="565404"/>
                  </a:moveTo>
                  <a:lnTo>
                    <a:pt x="0" y="565404"/>
                  </a:lnTo>
                  <a:lnTo>
                    <a:pt x="0" y="1053084"/>
                  </a:lnTo>
                  <a:lnTo>
                    <a:pt x="32004" y="1053084"/>
                  </a:lnTo>
                  <a:lnTo>
                    <a:pt x="32004" y="565404"/>
                  </a:lnTo>
                  <a:close/>
                </a:path>
                <a:path w="32384" h="1053465">
                  <a:moveTo>
                    <a:pt x="32004" y="0"/>
                  </a:moveTo>
                  <a:lnTo>
                    <a:pt x="0" y="0"/>
                  </a:lnTo>
                  <a:lnTo>
                    <a:pt x="0" y="533400"/>
                  </a:lnTo>
                  <a:lnTo>
                    <a:pt x="32004" y="533400"/>
                  </a:lnTo>
                  <a:lnTo>
                    <a:pt x="32004" y="0"/>
                  </a:lnTo>
                  <a:close/>
                </a:path>
              </a:pathLst>
            </a:custGeom>
            <a:solidFill>
              <a:srgbClr val="1C1C1C"/>
            </a:solidFill>
          </p:spPr>
          <p:txBody>
            <a:bodyPr wrap="square" lIns="0" tIns="0" rIns="0" bIns="0" rtlCol="0"/>
            <a:lstStyle/>
            <a:p>
              <a:endParaRPr/>
            </a:p>
          </p:txBody>
        </p:sp>
        <p:pic>
          <p:nvPicPr>
            <p:cNvPr id="21" name="object 21"/>
            <p:cNvPicPr/>
            <p:nvPr/>
          </p:nvPicPr>
          <p:blipFill>
            <a:blip r:embed="rId5" cstate="print"/>
            <a:stretch>
              <a:fillRect/>
            </a:stretch>
          </p:blipFill>
          <p:spPr>
            <a:xfrm>
              <a:off x="443484" y="533400"/>
              <a:ext cx="8226552" cy="32003"/>
            </a:xfrm>
            <a:prstGeom prst="rect">
              <a:avLst/>
            </a:prstGeom>
          </p:spPr>
        </p:pic>
      </p:grpSp>
      <p:grpSp>
        <p:nvGrpSpPr>
          <p:cNvPr id="23" name="object 23"/>
          <p:cNvGrpSpPr/>
          <p:nvPr/>
        </p:nvGrpSpPr>
        <p:grpSpPr>
          <a:xfrm>
            <a:off x="2040636" y="3850416"/>
            <a:ext cx="8153400" cy="1199147"/>
            <a:chOff x="419100" y="4744453"/>
            <a:chExt cx="8153400" cy="1199147"/>
          </a:xfrm>
        </p:grpSpPr>
        <p:sp>
          <p:nvSpPr>
            <p:cNvPr id="24" name="object 24"/>
            <p:cNvSpPr/>
            <p:nvPr/>
          </p:nvSpPr>
          <p:spPr>
            <a:xfrm>
              <a:off x="419100" y="4744453"/>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25" name="object 25"/>
            <p:cNvSpPr/>
            <p:nvPr/>
          </p:nvSpPr>
          <p:spPr>
            <a:xfrm>
              <a:off x="457200" y="4876800"/>
              <a:ext cx="8077200" cy="1066800"/>
            </a:xfrm>
            <a:custGeom>
              <a:avLst/>
              <a:gdLst/>
              <a:ahLst/>
              <a:cxnLst/>
              <a:rect l="l" t="t" r="r" b="b"/>
              <a:pathLst>
                <a:path w="8077200" h="1066800">
                  <a:moveTo>
                    <a:pt x="8077200" y="0"/>
                  </a:moveTo>
                  <a:lnTo>
                    <a:pt x="0" y="0"/>
                  </a:lnTo>
                  <a:lnTo>
                    <a:pt x="0" y="1066800"/>
                  </a:lnTo>
                  <a:lnTo>
                    <a:pt x="8077200" y="1066800"/>
                  </a:lnTo>
                  <a:lnTo>
                    <a:pt x="8077200" y="0"/>
                  </a:lnTo>
                  <a:close/>
                </a:path>
              </a:pathLst>
            </a:custGeom>
            <a:solidFill>
              <a:srgbClr val="99FF33"/>
            </a:solidFill>
          </p:spPr>
          <p:txBody>
            <a:bodyPr wrap="square" lIns="0" tIns="0" rIns="0" bIns="0" rtlCol="0"/>
            <a:lstStyle/>
            <a:p>
              <a:endParaRPr/>
            </a:p>
          </p:txBody>
        </p:sp>
        <p:sp>
          <p:nvSpPr>
            <p:cNvPr id="26" name="object 26"/>
            <p:cNvSpPr/>
            <p:nvPr/>
          </p:nvSpPr>
          <p:spPr>
            <a:xfrm>
              <a:off x="457200" y="4876800"/>
              <a:ext cx="8077200" cy="1066800"/>
            </a:xfrm>
            <a:custGeom>
              <a:avLst/>
              <a:gdLst/>
              <a:ahLst/>
              <a:cxnLst/>
              <a:rect l="l" t="t" r="r" b="b"/>
              <a:pathLst>
                <a:path w="8077200" h="1066800">
                  <a:moveTo>
                    <a:pt x="0" y="1066800"/>
                  </a:moveTo>
                  <a:lnTo>
                    <a:pt x="8077200" y="1066800"/>
                  </a:lnTo>
                  <a:lnTo>
                    <a:pt x="8077200" y="0"/>
                  </a:lnTo>
                  <a:lnTo>
                    <a:pt x="0" y="0"/>
                  </a:lnTo>
                  <a:lnTo>
                    <a:pt x="0" y="1066800"/>
                  </a:lnTo>
                  <a:close/>
                </a:path>
              </a:pathLst>
            </a:custGeom>
            <a:ln w="76200">
              <a:solidFill>
                <a:srgbClr val="00E3A8"/>
              </a:solidFill>
            </a:ln>
          </p:spPr>
          <p:txBody>
            <a:bodyPr wrap="square" lIns="0" tIns="0" rIns="0" bIns="0" rtlCol="0"/>
            <a:lstStyle/>
            <a:p>
              <a:endParaRPr/>
            </a:p>
          </p:txBody>
        </p:sp>
      </p:grpSp>
      <p:sp>
        <p:nvSpPr>
          <p:cNvPr id="28" name="object 28"/>
          <p:cNvSpPr txBox="1"/>
          <p:nvPr/>
        </p:nvSpPr>
        <p:spPr>
          <a:xfrm>
            <a:off x="2078736" y="3780971"/>
            <a:ext cx="8001000" cy="1225335"/>
          </a:xfrm>
          <a:prstGeom prst="rect">
            <a:avLst/>
          </a:prstGeom>
        </p:spPr>
        <p:txBody>
          <a:bodyPr vert="horz" wrap="square" lIns="0" tIns="238125" rIns="0" bIns="0" rtlCol="0">
            <a:spAutoFit/>
          </a:bodyPr>
          <a:lstStyle/>
          <a:p>
            <a:pPr marL="393700" marR="297815" indent="-88900">
              <a:spcBef>
                <a:spcPts val="2050"/>
              </a:spcBef>
            </a:pPr>
            <a:r>
              <a:rPr sz="3200" b="1" spc="-120" dirty="0">
                <a:latin typeface="Arial"/>
                <a:cs typeface="Arial"/>
              </a:rPr>
              <a:t>To</a:t>
            </a:r>
            <a:r>
              <a:rPr sz="3200" b="1" spc="-20" dirty="0">
                <a:latin typeface="Arial"/>
                <a:cs typeface="Arial"/>
              </a:rPr>
              <a:t> </a:t>
            </a:r>
            <a:r>
              <a:rPr sz="3200" b="1" spc="-5" dirty="0">
                <a:latin typeface="Arial"/>
                <a:cs typeface="Arial"/>
              </a:rPr>
              <a:t>detect</a:t>
            </a:r>
            <a:r>
              <a:rPr sz="3200" b="1" spc="-25" dirty="0">
                <a:latin typeface="Arial"/>
                <a:cs typeface="Arial"/>
              </a:rPr>
              <a:t> </a:t>
            </a:r>
            <a:r>
              <a:rPr sz="3200" b="1" dirty="0">
                <a:latin typeface="Arial"/>
                <a:cs typeface="Arial"/>
              </a:rPr>
              <a:t>or </a:t>
            </a:r>
            <a:r>
              <a:rPr sz="3200" b="1" spc="-5" dirty="0">
                <a:latin typeface="Arial"/>
                <a:cs typeface="Arial"/>
              </a:rPr>
              <a:t>correct</a:t>
            </a:r>
            <a:r>
              <a:rPr sz="3200" b="1" spc="-15" dirty="0">
                <a:latin typeface="Arial"/>
                <a:cs typeface="Arial"/>
              </a:rPr>
              <a:t> </a:t>
            </a:r>
            <a:r>
              <a:rPr sz="3200" b="1" spc="-5" dirty="0">
                <a:latin typeface="Arial"/>
                <a:cs typeface="Arial"/>
              </a:rPr>
              <a:t>errors,</a:t>
            </a:r>
            <a:r>
              <a:rPr sz="3200" b="1" dirty="0">
                <a:latin typeface="Arial"/>
                <a:cs typeface="Arial"/>
              </a:rPr>
              <a:t> we</a:t>
            </a:r>
            <a:r>
              <a:rPr sz="3200" b="1" spc="-30" dirty="0">
                <a:latin typeface="Arial"/>
                <a:cs typeface="Arial"/>
              </a:rPr>
              <a:t> </a:t>
            </a:r>
            <a:r>
              <a:rPr sz="3200" b="1" dirty="0">
                <a:latin typeface="Arial"/>
                <a:cs typeface="Arial"/>
              </a:rPr>
              <a:t>need</a:t>
            </a:r>
            <a:r>
              <a:rPr sz="3200" b="1" spc="-25" dirty="0">
                <a:latin typeface="Arial"/>
                <a:cs typeface="Arial"/>
              </a:rPr>
              <a:t> </a:t>
            </a:r>
            <a:r>
              <a:rPr sz="3200" b="1" dirty="0">
                <a:latin typeface="Arial"/>
                <a:cs typeface="Arial"/>
              </a:rPr>
              <a:t>to </a:t>
            </a:r>
            <a:r>
              <a:rPr sz="3200" b="1" spc="-875" dirty="0">
                <a:latin typeface="Arial"/>
                <a:cs typeface="Arial"/>
              </a:rPr>
              <a:t> </a:t>
            </a:r>
            <a:r>
              <a:rPr sz="3200" b="1" spc="-5" dirty="0">
                <a:latin typeface="Arial"/>
                <a:cs typeface="Arial"/>
              </a:rPr>
              <a:t>send</a:t>
            </a:r>
            <a:r>
              <a:rPr sz="3200" b="1" spc="-25" dirty="0">
                <a:latin typeface="Arial"/>
                <a:cs typeface="Arial"/>
              </a:rPr>
              <a:t> </a:t>
            </a:r>
            <a:r>
              <a:rPr sz="3200" b="1" spc="-5" dirty="0">
                <a:latin typeface="Arial"/>
                <a:cs typeface="Arial"/>
              </a:rPr>
              <a:t>extra</a:t>
            </a:r>
            <a:r>
              <a:rPr sz="3200" b="1" spc="-20" dirty="0">
                <a:latin typeface="Arial"/>
                <a:cs typeface="Arial"/>
              </a:rPr>
              <a:t> </a:t>
            </a:r>
            <a:r>
              <a:rPr sz="3200" b="1" dirty="0">
                <a:latin typeface="Arial"/>
                <a:cs typeface="Arial"/>
              </a:rPr>
              <a:t>(redundant)</a:t>
            </a:r>
            <a:r>
              <a:rPr sz="3200" b="1" spc="-55" dirty="0">
                <a:latin typeface="Arial"/>
                <a:cs typeface="Arial"/>
              </a:rPr>
              <a:t> </a:t>
            </a:r>
            <a:r>
              <a:rPr sz="3200" b="1" dirty="0">
                <a:latin typeface="Arial"/>
                <a:cs typeface="Arial"/>
              </a:rPr>
              <a:t>bits</a:t>
            </a:r>
            <a:r>
              <a:rPr sz="3200" b="1" spc="-30" dirty="0">
                <a:latin typeface="Arial"/>
                <a:cs typeface="Arial"/>
              </a:rPr>
              <a:t> </a:t>
            </a:r>
            <a:r>
              <a:rPr sz="3200" b="1" dirty="0">
                <a:latin typeface="Arial"/>
                <a:cs typeface="Arial"/>
              </a:rPr>
              <a:t>with</a:t>
            </a:r>
            <a:r>
              <a:rPr sz="3200" b="1" spc="-30" dirty="0">
                <a:latin typeface="Arial"/>
                <a:cs typeface="Arial"/>
              </a:rPr>
              <a:t> </a:t>
            </a:r>
            <a:r>
              <a:rPr sz="3200" b="1" spc="-5" dirty="0">
                <a:latin typeface="Arial"/>
                <a:cs typeface="Arial"/>
              </a:rPr>
              <a:t>data.</a:t>
            </a:r>
            <a:endParaRPr sz="3200" dirty="0">
              <a:latin typeface="Arial"/>
              <a:cs typeface="Arial"/>
            </a:endParaRPr>
          </a:p>
        </p:txBody>
      </p:sp>
      <p:sp>
        <p:nvSpPr>
          <p:cNvPr id="30" name="Title 6"/>
          <p:cNvSpPr>
            <a:spLocks noGrp="1"/>
          </p:cNvSpPr>
          <p:nvPr>
            <p:ph type="title"/>
          </p:nvPr>
        </p:nvSpPr>
        <p:spPr>
          <a:xfrm>
            <a:off x="2752343" y="262792"/>
            <a:ext cx="9080266" cy="1325563"/>
          </a:xfrm>
        </p:spPr>
        <p:txBody>
          <a:bodyPr/>
          <a:lstStyle/>
          <a:p>
            <a:r>
              <a:rPr lang="en-US" b="1" i="1" dirty="0">
                <a:latin typeface="Times New Roman" pitchFamily="18" charset="0"/>
                <a:cs typeface="Times New Roman" pitchFamily="18" charset="0"/>
              </a:rPr>
              <a:t>Error Detection</a:t>
            </a:r>
            <a:endParaRPr lang="en-IN" b="1" i="1" dirty="0">
              <a:latin typeface="Times New Roman" pitchFamily="18" charset="0"/>
              <a:cs typeface="Times New Roman" pitchFamily="18" charset="0"/>
            </a:endParaRPr>
          </a:p>
        </p:txBody>
      </p:sp>
      <p:sp>
        <p:nvSpPr>
          <p:cNvPr id="2" name="object 24">
            <a:extLst>
              <a:ext uri="{FF2B5EF4-FFF2-40B4-BE49-F238E27FC236}">
                <a16:creationId xmlns:a16="http://schemas.microsoft.com/office/drawing/2014/main" id="{FB5060CF-72F9-262D-A999-B9054CF02D95}"/>
              </a:ext>
            </a:extLst>
          </p:cNvPr>
          <p:cNvSpPr/>
          <p:nvPr/>
        </p:nvSpPr>
        <p:spPr>
          <a:xfrm>
            <a:off x="2040636" y="5181910"/>
            <a:ext cx="8153400" cy="0"/>
          </a:xfrm>
          <a:custGeom>
            <a:avLst/>
            <a:gdLst/>
            <a:ahLst/>
            <a:cxnLst/>
            <a:rect l="l" t="t" r="r" b="b"/>
            <a:pathLst>
              <a:path w="8153400">
                <a:moveTo>
                  <a:pt x="0" y="0"/>
                </a:moveTo>
                <a:lnTo>
                  <a:pt x="8153400" y="0"/>
                </a:lnTo>
              </a:path>
            </a:pathLst>
          </a:custGeom>
          <a:ln w="76200">
            <a:solidFill>
              <a:srgbClr val="009900"/>
            </a:solidFill>
          </a:ln>
        </p:spPr>
        <p:txBody>
          <a:bodyPr wrap="square" lIns="0" tIns="0" rIns="0" bIns="0" rtlCol="0"/>
          <a:lstStyle/>
          <a:p>
            <a:endParaRPr/>
          </a:p>
        </p:txBody>
      </p:sp>
      <p:sp>
        <p:nvSpPr>
          <p:cNvPr id="3" name="TextBox 2">
            <a:extLst>
              <a:ext uri="{FF2B5EF4-FFF2-40B4-BE49-F238E27FC236}">
                <a16:creationId xmlns:a16="http://schemas.microsoft.com/office/drawing/2014/main" id="{8AFB4C41-0898-D0EC-5896-C1C234051234}"/>
              </a:ext>
            </a:extLst>
          </p:cNvPr>
          <p:cNvSpPr txBox="1"/>
          <p:nvPr/>
        </p:nvSpPr>
        <p:spPr>
          <a:xfrm>
            <a:off x="3308043" y="5446295"/>
            <a:ext cx="4616757" cy="461665"/>
          </a:xfrm>
          <a:prstGeom prst="rect">
            <a:avLst/>
          </a:prstGeom>
          <a:solidFill>
            <a:schemeClr val="accent2">
              <a:lumMod val="60000"/>
              <a:lumOff val="40000"/>
            </a:schemeClr>
          </a:solidFill>
          <a:ln>
            <a:solidFill>
              <a:schemeClr val="tx1">
                <a:lumMod val="95000"/>
                <a:lumOff val="5000"/>
              </a:schemeClr>
            </a:solidFill>
          </a:ln>
        </p:spPr>
        <p:txBody>
          <a:bodyPr wrap="square" rtlCol="0">
            <a:spAutoFit/>
          </a:bodyPr>
          <a:lstStyle/>
          <a:p>
            <a:r>
              <a:rPr lang="en-IN" sz="2400" dirty="0"/>
              <a:t>Data	Extra bits (Redundant bits)</a:t>
            </a:r>
          </a:p>
        </p:txBody>
      </p:sp>
      <p:cxnSp>
        <p:nvCxnSpPr>
          <p:cNvPr id="5" name="Straight Connector 4">
            <a:extLst>
              <a:ext uri="{FF2B5EF4-FFF2-40B4-BE49-F238E27FC236}">
                <a16:creationId xmlns:a16="http://schemas.microsoft.com/office/drawing/2014/main" id="{110D3C06-3249-3507-FC8E-11D27F0BF12A}"/>
              </a:ext>
            </a:extLst>
          </p:cNvPr>
          <p:cNvCxnSpPr/>
          <p:nvPr/>
        </p:nvCxnSpPr>
        <p:spPr>
          <a:xfrm>
            <a:off x="4138863" y="5438274"/>
            <a:ext cx="0" cy="46522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495300"/>
            <a:ext cx="8915400" cy="76200"/>
            <a:chOff x="0" y="495300"/>
            <a:chExt cx="8915400" cy="76200"/>
          </a:xfrm>
        </p:grpSpPr>
        <p:sp>
          <p:nvSpPr>
            <p:cNvPr id="3" name="object 3"/>
            <p:cNvSpPr/>
            <p:nvPr/>
          </p:nvSpPr>
          <p:spPr>
            <a:xfrm>
              <a:off x="152400" y="533400"/>
              <a:ext cx="8763000" cy="0"/>
            </a:xfrm>
            <a:custGeom>
              <a:avLst/>
              <a:gdLst/>
              <a:ahLst/>
              <a:cxnLst/>
              <a:rect l="l" t="t" r="r" b="b"/>
              <a:pathLst>
                <a:path w="8763000">
                  <a:moveTo>
                    <a:pt x="0" y="0"/>
                  </a:moveTo>
                  <a:lnTo>
                    <a:pt x="8763000" y="0"/>
                  </a:lnTo>
                </a:path>
              </a:pathLst>
            </a:custGeom>
            <a:ln w="76200">
              <a:solidFill>
                <a:srgbClr val="FF0000"/>
              </a:solidFill>
            </a:ln>
          </p:spPr>
          <p:txBody>
            <a:bodyPr wrap="square" lIns="0" tIns="0" rIns="0" bIns="0" rtlCol="0"/>
            <a:lstStyle/>
            <a:p>
              <a:endParaRPr/>
            </a:p>
          </p:txBody>
        </p:sp>
        <p:sp>
          <p:nvSpPr>
            <p:cNvPr id="4" name="object 4"/>
            <p:cNvSpPr/>
            <p:nvPr/>
          </p:nvSpPr>
          <p:spPr>
            <a:xfrm>
              <a:off x="0" y="533400"/>
              <a:ext cx="8763000" cy="0"/>
            </a:xfrm>
            <a:custGeom>
              <a:avLst/>
              <a:gdLst/>
              <a:ahLst/>
              <a:cxnLst/>
              <a:rect l="l" t="t" r="r" b="b"/>
              <a:pathLst>
                <a:path w="8763000">
                  <a:moveTo>
                    <a:pt x="0" y="0"/>
                  </a:moveTo>
                  <a:lnTo>
                    <a:pt x="8763000" y="0"/>
                  </a:lnTo>
                </a:path>
              </a:pathLst>
            </a:custGeom>
            <a:ln w="76200">
              <a:solidFill>
                <a:srgbClr val="FF0000"/>
              </a:solidFill>
            </a:ln>
          </p:spPr>
          <p:txBody>
            <a:bodyPr wrap="square" lIns="0" tIns="0" rIns="0" bIns="0" rtlCol="0"/>
            <a:lstStyle/>
            <a:p>
              <a:endParaRPr/>
            </a:p>
          </p:txBody>
        </p:sp>
      </p:grpSp>
      <p:sp>
        <p:nvSpPr>
          <p:cNvPr id="5" name="object 5"/>
          <p:cNvSpPr/>
          <p:nvPr/>
        </p:nvSpPr>
        <p:spPr>
          <a:xfrm>
            <a:off x="1677162" y="1372361"/>
            <a:ext cx="8763000" cy="0"/>
          </a:xfrm>
          <a:custGeom>
            <a:avLst/>
            <a:gdLst/>
            <a:ahLst/>
            <a:cxnLst/>
            <a:rect l="l" t="t" r="r" b="b"/>
            <a:pathLst>
              <a:path w="8763000">
                <a:moveTo>
                  <a:pt x="0" y="0"/>
                </a:moveTo>
                <a:lnTo>
                  <a:pt x="8763000" y="0"/>
                </a:lnTo>
              </a:path>
            </a:pathLst>
          </a:custGeom>
          <a:ln w="19812">
            <a:solidFill>
              <a:srgbClr val="FF0000"/>
            </a:solidFill>
          </a:ln>
        </p:spPr>
        <p:txBody>
          <a:bodyPr wrap="square" lIns="0" tIns="0" rIns="0" bIns="0" rtlCol="0"/>
          <a:lstStyle/>
          <a:p>
            <a:endParaRPr/>
          </a:p>
        </p:txBody>
      </p:sp>
      <p:sp>
        <p:nvSpPr>
          <p:cNvPr id="6" name="object 6"/>
          <p:cNvSpPr txBox="1">
            <a:spLocks noGrp="1"/>
          </p:cNvSpPr>
          <p:nvPr>
            <p:ph type="title"/>
          </p:nvPr>
        </p:nvSpPr>
        <p:spPr>
          <a:xfrm>
            <a:off x="1907541" y="635220"/>
            <a:ext cx="8531858" cy="689932"/>
          </a:xfrm>
          <a:prstGeom prst="rect">
            <a:avLst/>
          </a:prstGeom>
        </p:spPr>
        <p:txBody>
          <a:bodyPr vert="horz" wrap="square" lIns="0" tIns="12700" rIns="0" bIns="0" rtlCol="0" anchor="ctr">
            <a:spAutoFit/>
          </a:bodyPr>
          <a:lstStyle/>
          <a:p>
            <a:pPr marL="12700">
              <a:lnSpc>
                <a:spcPct val="100000"/>
              </a:lnSpc>
              <a:spcBef>
                <a:spcPts val="100"/>
              </a:spcBef>
              <a:tabLst>
                <a:tab pos="1631314" algn="l"/>
              </a:tabLst>
            </a:pPr>
            <a:r>
              <a:rPr b="1" spc="-10" dirty="0">
                <a:solidFill>
                  <a:srgbClr val="3333CC"/>
                </a:solidFill>
                <a:latin typeface="Times New Roman"/>
                <a:cs typeface="Times New Roman"/>
              </a:rPr>
              <a:t>Figure</a:t>
            </a:r>
            <a:r>
              <a:rPr b="1" spc="-5" dirty="0">
                <a:solidFill>
                  <a:srgbClr val="3333CC"/>
                </a:solidFill>
                <a:latin typeface="Times New Roman"/>
                <a:cs typeface="Times New Roman"/>
              </a:rPr>
              <a:t>	</a:t>
            </a:r>
            <a:r>
              <a:rPr sz="2000" b="1" i="1" dirty="0">
                <a:latin typeface="Times New Roman"/>
                <a:cs typeface="Times New Roman"/>
              </a:rPr>
              <a:t>The</a:t>
            </a:r>
            <a:r>
              <a:rPr sz="2000" b="1" i="1" spc="-15" dirty="0">
                <a:latin typeface="Times New Roman"/>
                <a:cs typeface="Times New Roman"/>
              </a:rPr>
              <a:t> </a:t>
            </a:r>
            <a:r>
              <a:rPr sz="2000" b="1" i="1" dirty="0">
                <a:latin typeface="Times New Roman"/>
                <a:cs typeface="Times New Roman"/>
              </a:rPr>
              <a:t>structure</a:t>
            </a:r>
            <a:r>
              <a:rPr sz="2000" b="1" i="1" spc="-30" dirty="0">
                <a:latin typeface="Times New Roman"/>
                <a:cs typeface="Times New Roman"/>
              </a:rPr>
              <a:t> </a:t>
            </a:r>
            <a:r>
              <a:rPr sz="2000" b="1" i="1" dirty="0">
                <a:latin typeface="Times New Roman"/>
                <a:cs typeface="Times New Roman"/>
              </a:rPr>
              <a:t>of</a:t>
            </a:r>
            <a:r>
              <a:rPr sz="2000" b="1" i="1" spc="-20" dirty="0">
                <a:latin typeface="Times New Roman"/>
                <a:cs typeface="Times New Roman"/>
              </a:rPr>
              <a:t> </a:t>
            </a:r>
            <a:r>
              <a:rPr sz="2000" b="1" i="1" dirty="0">
                <a:latin typeface="Times New Roman"/>
                <a:cs typeface="Times New Roman"/>
              </a:rPr>
              <a:t>encoder</a:t>
            </a:r>
            <a:r>
              <a:rPr sz="2000" b="1" i="1" spc="-35" dirty="0">
                <a:latin typeface="Times New Roman"/>
                <a:cs typeface="Times New Roman"/>
              </a:rPr>
              <a:t> </a:t>
            </a:r>
            <a:r>
              <a:rPr sz="2000" b="1" i="1" dirty="0">
                <a:latin typeface="Times New Roman"/>
                <a:cs typeface="Times New Roman"/>
              </a:rPr>
              <a:t>and</a:t>
            </a:r>
            <a:r>
              <a:rPr sz="2000" b="1" i="1" spc="-20" dirty="0">
                <a:latin typeface="Times New Roman"/>
                <a:cs typeface="Times New Roman"/>
              </a:rPr>
              <a:t> </a:t>
            </a:r>
            <a:r>
              <a:rPr sz="2000" b="1" i="1" dirty="0">
                <a:latin typeface="Times New Roman"/>
                <a:cs typeface="Times New Roman"/>
              </a:rPr>
              <a:t>decoder</a:t>
            </a:r>
            <a:endParaRPr sz="2000" dirty="0">
              <a:latin typeface="Times New Roman"/>
              <a:cs typeface="Times New Roman"/>
            </a:endParaRPr>
          </a:p>
        </p:txBody>
      </p:sp>
      <p:sp>
        <p:nvSpPr>
          <p:cNvPr id="7" name="object 7"/>
          <p:cNvSpPr/>
          <p:nvPr/>
        </p:nvSpPr>
        <p:spPr>
          <a:xfrm>
            <a:off x="1676400" y="6248400"/>
            <a:ext cx="8763000" cy="0"/>
          </a:xfrm>
          <a:custGeom>
            <a:avLst/>
            <a:gdLst/>
            <a:ahLst/>
            <a:cxnLst/>
            <a:rect l="l" t="t" r="r" b="b"/>
            <a:pathLst>
              <a:path w="8763000">
                <a:moveTo>
                  <a:pt x="0" y="0"/>
                </a:moveTo>
                <a:lnTo>
                  <a:pt x="8763000" y="0"/>
                </a:lnTo>
              </a:path>
            </a:pathLst>
          </a:custGeom>
          <a:ln w="76200">
            <a:solidFill>
              <a:srgbClr val="FF0000"/>
            </a:solidFill>
          </a:ln>
        </p:spPr>
        <p:txBody>
          <a:bodyPr wrap="square" lIns="0" tIns="0" rIns="0" bIns="0" rtlCol="0"/>
          <a:lstStyle/>
          <a:p>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915" y="1582981"/>
            <a:ext cx="7042245" cy="4454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485145"/>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b="1" spc="-5" dirty="0">
                <a:solidFill>
                  <a:srgbClr val="333399"/>
                </a:solidFill>
                <a:latin typeface="Tahoma"/>
                <a:cs typeface="Tahoma"/>
              </a:rPr>
              <a:t>Detection</a:t>
            </a:r>
            <a:r>
              <a:rPr b="1" spc="-40" dirty="0">
                <a:solidFill>
                  <a:srgbClr val="333399"/>
                </a:solidFill>
                <a:latin typeface="Tahoma"/>
                <a:cs typeface="Tahoma"/>
              </a:rPr>
              <a:t> </a:t>
            </a:r>
            <a:r>
              <a:rPr b="1" dirty="0">
                <a:solidFill>
                  <a:srgbClr val="333399"/>
                </a:solidFill>
                <a:latin typeface="Tahoma"/>
                <a:cs typeface="Tahoma"/>
              </a:rPr>
              <a:t>Versus</a:t>
            </a:r>
            <a:r>
              <a:rPr b="1" spc="-35" dirty="0">
                <a:solidFill>
                  <a:srgbClr val="333399"/>
                </a:solidFill>
                <a:latin typeface="Tahoma"/>
                <a:cs typeface="Tahoma"/>
              </a:rPr>
              <a:t> </a:t>
            </a:r>
            <a:r>
              <a:rPr b="1" dirty="0">
                <a:solidFill>
                  <a:srgbClr val="333399"/>
                </a:solidFill>
                <a:latin typeface="Tahoma"/>
                <a:cs typeface="Tahoma"/>
              </a:rPr>
              <a:t>Correction</a:t>
            </a:r>
            <a:endParaRPr>
              <a:latin typeface="Tahoma"/>
              <a:cs typeface="Tahoma"/>
            </a:endParaRPr>
          </a:p>
        </p:txBody>
      </p:sp>
      <p:sp>
        <p:nvSpPr>
          <p:cNvPr id="3" name="object 3"/>
          <p:cNvSpPr txBox="1"/>
          <p:nvPr/>
        </p:nvSpPr>
        <p:spPr>
          <a:xfrm>
            <a:off x="2136141" y="1614044"/>
            <a:ext cx="8024495" cy="4191532"/>
          </a:xfrm>
          <a:prstGeom prst="rect">
            <a:avLst/>
          </a:prstGeom>
        </p:spPr>
        <p:txBody>
          <a:bodyPr vert="horz" wrap="square" lIns="0" tIns="10795" rIns="0" bIns="0" rtlCol="0">
            <a:spAutoFit/>
          </a:bodyPr>
          <a:lstStyle/>
          <a:p>
            <a:pPr marL="355600" marR="23495" indent="-343535">
              <a:lnSpc>
                <a:spcPct val="100400"/>
              </a:lnSpc>
              <a:spcBef>
                <a:spcPts val="85"/>
              </a:spcBef>
              <a:buClr>
                <a:srgbClr val="3333CC"/>
              </a:buClr>
              <a:buSzPct val="59375"/>
              <a:buFont typeface="Wingdings"/>
              <a:buChar char=""/>
              <a:tabLst>
                <a:tab pos="355600" algn="l"/>
                <a:tab pos="356235" algn="l"/>
              </a:tabLst>
            </a:pPr>
            <a:r>
              <a:rPr sz="3200" spc="190" dirty="0">
                <a:latin typeface="Cambria"/>
                <a:cs typeface="Cambria"/>
              </a:rPr>
              <a:t>In</a:t>
            </a:r>
            <a:r>
              <a:rPr sz="3200" spc="315" dirty="0">
                <a:latin typeface="Cambria"/>
                <a:cs typeface="Cambria"/>
              </a:rPr>
              <a:t> </a:t>
            </a:r>
            <a:r>
              <a:rPr sz="3200" spc="80" dirty="0">
                <a:latin typeface="Cambria"/>
                <a:cs typeface="Cambria"/>
              </a:rPr>
              <a:t>error</a:t>
            </a:r>
            <a:r>
              <a:rPr sz="3200" spc="320" dirty="0">
                <a:latin typeface="Cambria"/>
                <a:cs typeface="Cambria"/>
              </a:rPr>
              <a:t> </a:t>
            </a:r>
            <a:r>
              <a:rPr sz="3200" spc="155" dirty="0">
                <a:solidFill>
                  <a:srgbClr val="92D050"/>
                </a:solidFill>
                <a:latin typeface="Cambria"/>
                <a:cs typeface="Cambria"/>
              </a:rPr>
              <a:t>detection</a:t>
            </a:r>
            <a:r>
              <a:rPr sz="3200" spc="290" dirty="0">
                <a:solidFill>
                  <a:srgbClr val="92D050"/>
                </a:solidFill>
                <a:latin typeface="Cambria"/>
                <a:cs typeface="Cambria"/>
              </a:rPr>
              <a:t> </a:t>
            </a:r>
            <a:r>
              <a:rPr sz="3200" spc="365" dirty="0">
                <a:latin typeface="Cambria"/>
                <a:cs typeface="Cambria"/>
              </a:rPr>
              <a:t>,</a:t>
            </a:r>
            <a:r>
              <a:rPr sz="3200" spc="315" dirty="0">
                <a:latin typeface="Cambria"/>
                <a:cs typeface="Cambria"/>
              </a:rPr>
              <a:t> </a:t>
            </a:r>
            <a:r>
              <a:rPr sz="2800" spc="50" dirty="0">
                <a:latin typeface="Cambria"/>
                <a:cs typeface="Cambria"/>
              </a:rPr>
              <a:t>we</a:t>
            </a:r>
            <a:r>
              <a:rPr sz="2800" spc="275" dirty="0">
                <a:latin typeface="Cambria"/>
                <a:cs typeface="Cambria"/>
              </a:rPr>
              <a:t> </a:t>
            </a:r>
            <a:r>
              <a:rPr sz="2800" spc="135" dirty="0">
                <a:latin typeface="Cambria"/>
                <a:cs typeface="Cambria"/>
              </a:rPr>
              <a:t>are</a:t>
            </a:r>
            <a:r>
              <a:rPr sz="2800" spc="270" dirty="0">
                <a:latin typeface="Cambria"/>
                <a:cs typeface="Cambria"/>
              </a:rPr>
              <a:t> </a:t>
            </a:r>
            <a:r>
              <a:rPr sz="2800" spc="135" dirty="0">
                <a:latin typeface="Cambria"/>
                <a:cs typeface="Cambria"/>
              </a:rPr>
              <a:t>looking</a:t>
            </a:r>
            <a:r>
              <a:rPr sz="2800" spc="295" dirty="0">
                <a:latin typeface="Cambria"/>
                <a:cs typeface="Cambria"/>
              </a:rPr>
              <a:t> </a:t>
            </a:r>
            <a:r>
              <a:rPr sz="2800" spc="130" dirty="0">
                <a:solidFill>
                  <a:srgbClr val="FF0000"/>
                </a:solidFill>
                <a:latin typeface="Cambria"/>
                <a:cs typeface="Cambria"/>
              </a:rPr>
              <a:t>only</a:t>
            </a:r>
            <a:r>
              <a:rPr sz="2800" spc="290" dirty="0">
                <a:solidFill>
                  <a:srgbClr val="FF0000"/>
                </a:solidFill>
                <a:latin typeface="Cambria"/>
                <a:cs typeface="Cambria"/>
              </a:rPr>
              <a:t> </a:t>
            </a:r>
            <a:r>
              <a:rPr sz="2800" spc="95" dirty="0">
                <a:latin typeface="Cambria"/>
                <a:cs typeface="Cambria"/>
              </a:rPr>
              <a:t>to </a:t>
            </a:r>
            <a:r>
              <a:rPr sz="2800" spc="-600" dirty="0">
                <a:latin typeface="Cambria"/>
                <a:cs typeface="Cambria"/>
              </a:rPr>
              <a:t> </a:t>
            </a:r>
            <a:r>
              <a:rPr sz="2800" spc="135" dirty="0">
                <a:latin typeface="Cambria"/>
                <a:cs typeface="Cambria"/>
              </a:rPr>
              <a:t>see </a:t>
            </a:r>
            <a:r>
              <a:rPr sz="2800" spc="50" dirty="0">
                <a:solidFill>
                  <a:srgbClr val="FF0000"/>
                </a:solidFill>
                <a:latin typeface="Cambria"/>
                <a:cs typeface="Cambria"/>
              </a:rPr>
              <a:t>if</a:t>
            </a:r>
            <a:r>
              <a:rPr sz="2800" spc="55" dirty="0">
                <a:solidFill>
                  <a:srgbClr val="FF0000"/>
                </a:solidFill>
                <a:latin typeface="Cambria"/>
                <a:cs typeface="Cambria"/>
              </a:rPr>
              <a:t> </a:t>
            </a:r>
            <a:r>
              <a:rPr sz="2800" spc="204" dirty="0">
                <a:latin typeface="Cambria"/>
                <a:cs typeface="Cambria"/>
              </a:rPr>
              <a:t>any </a:t>
            </a:r>
            <a:r>
              <a:rPr sz="2800" spc="70" dirty="0">
                <a:latin typeface="Cambria"/>
                <a:cs typeface="Cambria"/>
              </a:rPr>
              <a:t>error</a:t>
            </a:r>
            <a:r>
              <a:rPr sz="2800" spc="75" dirty="0">
                <a:latin typeface="Cambria"/>
                <a:cs typeface="Cambria"/>
              </a:rPr>
              <a:t> </a:t>
            </a:r>
            <a:r>
              <a:rPr sz="2800" spc="265" dirty="0">
                <a:latin typeface="Cambria"/>
                <a:cs typeface="Cambria"/>
              </a:rPr>
              <a:t>has </a:t>
            </a:r>
            <a:r>
              <a:rPr sz="2800" spc="170" dirty="0">
                <a:latin typeface="Cambria"/>
                <a:cs typeface="Cambria"/>
              </a:rPr>
              <a:t>occurred. </a:t>
            </a:r>
            <a:r>
              <a:rPr sz="2800" spc="155" dirty="0">
                <a:latin typeface="Cambria"/>
                <a:cs typeface="Cambria"/>
              </a:rPr>
              <a:t>A </a:t>
            </a:r>
            <a:r>
              <a:rPr sz="2800" spc="140" dirty="0">
                <a:latin typeface="Cambria"/>
                <a:cs typeface="Cambria"/>
              </a:rPr>
              <a:t>single-bit </a:t>
            </a:r>
            <a:r>
              <a:rPr sz="2800" spc="145" dirty="0">
                <a:latin typeface="Cambria"/>
                <a:cs typeface="Cambria"/>
              </a:rPr>
              <a:t> </a:t>
            </a:r>
            <a:r>
              <a:rPr sz="2800" spc="70" dirty="0">
                <a:latin typeface="Cambria"/>
                <a:cs typeface="Cambria"/>
              </a:rPr>
              <a:t>error</a:t>
            </a:r>
            <a:r>
              <a:rPr sz="2800" spc="270" dirty="0">
                <a:latin typeface="Cambria"/>
                <a:cs typeface="Cambria"/>
              </a:rPr>
              <a:t> </a:t>
            </a:r>
            <a:r>
              <a:rPr sz="2800" spc="155" dirty="0">
                <a:latin typeface="Cambria"/>
                <a:cs typeface="Cambria"/>
              </a:rPr>
              <a:t>is</a:t>
            </a:r>
            <a:r>
              <a:rPr sz="2800" spc="275" dirty="0">
                <a:latin typeface="Cambria"/>
                <a:cs typeface="Cambria"/>
              </a:rPr>
              <a:t> </a:t>
            </a:r>
            <a:r>
              <a:rPr sz="2800" spc="165" dirty="0">
                <a:latin typeface="Cambria"/>
                <a:cs typeface="Cambria"/>
              </a:rPr>
              <a:t>the</a:t>
            </a:r>
            <a:r>
              <a:rPr sz="2800" spc="275" dirty="0">
                <a:latin typeface="Cambria"/>
                <a:cs typeface="Cambria"/>
              </a:rPr>
              <a:t> </a:t>
            </a:r>
            <a:r>
              <a:rPr sz="2800" spc="220" dirty="0">
                <a:latin typeface="Cambria"/>
                <a:cs typeface="Cambria"/>
              </a:rPr>
              <a:t>same</a:t>
            </a:r>
            <a:r>
              <a:rPr sz="2800" spc="275" dirty="0">
                <a:latin typeface="Cambria"/>
                <a:cs typeface="Cambria"/>
              </a:rPr>
              <a:t> </a:t>
            </a:r>
            <a:r>
              <a:rPr sz="2800" spc="65" dirty="0">
                <a:latin typeface="Cambria"/>
                <a:cs typeface="Cambria"/>
              </a:rPr>
              <a:t>for</a:t>
            </a:r>
            <a:r>
              <a:rPr sz="2800" spc="290" dirty="0">
                <a:latin typeface="Cambria"/>
                <a:cs typeface="Cambria"/>
              </a:rPr>
              <a:t> </a:t>
            </a:r>
            <a:r>
              <a:rPr sz="2800" spc="300" dirty="0">
                <a:latin typeface="Cambria"/>
                <a:cs typeface="Cambria"/>
              </a:rPr>
              <a:t>us</a:t>
            </a:r>
            <a:r>
              <a:rPr sz="2800" spc="265" dirty="0">
                <a:latin typeface="Cambria"/>
                <a:cs typeface="Cambria"/>
              </a:rPr>
              <a:t> </a:t>
            </a:r>
            <a:r>
              <a:rPr sz="2800" spc="250" dirty="0">
                <a:latin typeface="Cambria"/>
                <a:cs typeface="Cambria"/>
              </a:rPr>
              <a:t>as</a:t>
            </a:r>
            <a:r>
              <a:rPr sz="2800" spc="275" dirty="0">
                <a:latin typeface="Cambria"/>
                <a:cs typeface="Cambria"/>
              </a:rPr>
              <a:t> </a:t>
            </a:r>
            <a:r>
              <a:rPr sz="2800" spc="254" dirty="0">
                <a:latin typeface="Cambria"/>
                <a:cs typeface="Cambria"/>
              </a:rPr>
              <a:t>a</a:t>
            </a:r>
            <a:r>
              <a:rPr sz="2800" spc="290" dirty="0">
                <a:latin typeface="Cambria"/>
                <a:cs typeface="Cambria"/>
              </a:rPr>
              <a:t> </a:t>
            </a:r>
            <a:r>
              <a:rPr sz="2800" spc="195" dirty="0">
                <a:latin typeface="Cambria"/>
                <a:cs typeface="Cambria"/>
              </a:rPr>
              <a:t>burst</a:t>
            </a:r>
            <a:r>
              <a:rPr sz="2800" spc="285" dirty="0">
                <a:latin typeface="Cambria"/>
                <a:cs typeface="Cambria"/>
              </a:rPr>
              <a:t> </a:t>
            </a:r>
            <a:r>
              <a:rPr sz="2800" spc="110" dirty="0">
                <a:latin typeface="Cambria"/>
                <a:cs typeface="Cambria"/>
              </a:rPr>
              <a:t>error.</a:t>
            </a:r>
            <a:endParaRPr sz="2800" dirty="0">
              <a:latin typeface="Cambria"/>
              <a:cs typeface="Cambria"/>
            </a:endParaRPr>
          </a:p>
          <a:p>
            <a:pPr marL="355600" marR="5080" indent="-343535">
              <a:spcBef>
                <a:spcPts val="745"/>
              </a:spcBef>
              <a:buClr>
                <a:srgbClr val="3333CC"/>
              </a:buClr>
              <a:buSzPct val="59375"/>
              <a:buFont typeface="Wingdings"/>
              <a:buChar char=""/>
              <a:tabLst>
                <a:tab pos="355600" algn="l"/>
                <a:tab pos="356235" algn="l"/>
              </a:tabLst>
            </a:pPr>
            <a:r>
              <a:rPr sz="3200" spc="190" dirty="0">
                <a:latin typeface="Cambria"/>
                <a:cs typeface="Cambria"/>
              </a:rPr>
              <a:t>In </a:t>
            </a:r>
            <a:r>
              <a:rPr sz="3200" spc="80" dirty="0">
                <a:latin typeface="Cambria"/>
                <a:cs typeface="Cambria"/>
              </a:rPr>
              <a:t>error</a:t>
            </a:r>
            <a:r>
              <a:rPr sz="3200" spc="85" dirty="0">
                <a:latin typeface="Cambria"/>
                <a:cs typeface="Cambria"/>
              </a:rPr>
              <a:t> </a:t>
            </a:r>
            <a:r>
              <a:rPr sz="3200" spc="145" dirty="0">
                <a:solidFill>
                  <a:srgbClr val="92D050"/>
                </a:solidFill>
                <a:latin typeface="Cambria"/>
                <a:cs typeface="Cambria"/>
              </a:rPr>
              <a:t>correction </a:t>
            </a:r>
            <a:r>
              <a:rPr sz="3200" spc="365" dirty="0">
                <a:latin typeface="Cambria"/>
                <a:cs typeface="Cambria"/>
              </a:rPr>
              <a:t>, </a:t>
            </a:r>
            <a:r>
              <a:rPr sz="2800" spc="50" dirty="0">
                <a:latin typeface="Cambria"/>
                <a:cs typeface="Cambria"/>
              </a:rPr>
              <a:t>we</a:t>
            </a:r>
            <a:r>
              <a:rPr sz="2800" spc="55" dirty="0">
                <a:latin typeface="Cambria"/>
                <a:cs typeface="Cambria"/>
              </a:rPr>
              <a:t> </a:t>
            </a:r>
            <a:r>
              <a:rPr sz="2800" spc="155" dirty="0">
                <a:latin typeface="Cambria"/>
                <a:cs typeface="Cambria"/>
              </a:rPr>
              <a:t>need </a:t>
            </a:r>
            <a:r>
              <a:rPr sz="2800" spc="95" dirty="0">
                <a:latin typeface="Cambria"/>
                <a:cs typeface="Cambria"/>
              </a:rPr>
              <a:t>to </a:t>
            </a:r>
            <a:r>
              <a:rPr sz="2800" spc="155" dirty="0">
                <a:solidFill>
                  <a:srgbClr val="FF0000"/>
                </a:solidFill>
                <a:latin typeface="Cambria"/>
                <a:cs typeface="Cambria"/>
              </a:rPr>
              <a:t>know </a:t>
            </a:r>
            <a:r>
              <a:rPr sz="2800" spc="165" dirty="0">
                <a:latin typeface="Cambria"/>
                <a:cs typeface="Cambria"/>
              </a:rPr>
              <a:t>the </a:t>
            </a:r>
            <a:r>
              <a:rPr sz="2800" spc="-605" dirty="0">
                <a:latin typeface="Cambria"/>
                <a:cs typeface="Cambria"/>
              </a:rPr>
              <a:t> </a:t>
            </a:r>
            <a:r>
              <a:rPr sz="2800" spc="170" dirty="0">
                <a:latin typeface="Cambria"/>
                <a:cs typeface="Cambria"/>
              </a:rPr>
              <a:t>exact</a:t>
            </a:r>
            <a:r>
              <a:rPr sz="2800" spc="275" dirty="0">
                <a:latin typeface="Cambria"/>
                <a:cs typeface="Cambria"/>
              </a:rPr>
              <a:t> </a:t>
            </a:r>
            <a:r>
              <a:rPr sz="2800" spc="210" dirty="0">
                <a:latin typeface="Cambria"/>
                <a:cs typeface="Cambria"/>
              </a:rPr>
              <a:t>number</a:t>
            </a:r>
            <a:r>
              <a:rPr sz="2800" spc="305" dirty="0">
                <a:latin typeface="Cambria"/>
                <a:cs typeface="Cambria"/>
              </a:rPr>
              <a:t> </a:t>
            </a:r>
            <a:r>
              <a:rPr sz="2800" spc="60" dirty="0">
                <a:latin typeface="Cambria"/>
                <a:cs typeface="Cambria"/>
              </a:rPr>
              <a:t>of</a:t>
            </a:r>
            <a:r>
              <a:rPr sz="2800" spc="270" dirty="0">
                <a:latin typeface="Cambria"/>
                <a:cs typeface="Cambria"/>
              </a:rPr>
              <a:t> </a:t>
            </a:r>
            <a:r>
              <a:rPr sz="2800" spc="150" dirty="0">
                <a:latin typeface="Cambria"/>
                <a:cs typeface="Cambria"/>
              </a:rPr>
              <a:t>bits</a:t>
            </a:r>
            <a:r>
              <a:rPr sz="2800" spc="275" dirty="0">
                <a:latin typeface="Cambria"/>
                <a:cs typeface="Cambria"/>
              </a:rPr>
              <a:t> </a:t>
            </a:r>
            <a:r>
              <a:rPr sz="2800" spc="195" dirty="0">
                <a:latin typeface="Cambria"/>
                <a:cs typeface="Cambria"/>
              </a:rPr>
              <a:t>that</a:t>
            </a:r>
            <a:r>
              <a:rPr sz="2800" spc="285" dirty="0">
                <a:latin typeface="Cambria"/>
                <a:cs typeface="Cambria"/>
              </a:rPr>
              <a:t> </a:t>
            </a:r>
            <a:r>
              <a:rPr sz="2800" spc="135" dirty="0">
                <a:latin typeface="Cambria"/>
                <a:cs typeface="Cambria"/>
              </a:rPr>
              <a:t>are</a:t>
            </a:r>
            <a:r>
              <a:rPr sz="2800" spc="270" dirty="0">
                <a:latin typeface="Cambria"/>
                <a:cs typeface="Cambria"/>
              </a:rPr>
              <a:t> </a:t>
            </a:r>
            <a:r>
              <a:rPr sz="2800" spc="145" dirty="0">
                <a:latin typeface="Cambria"/>
                <a:cs typeface="Cambria"/>
              </a:rPr>
              <a:t>corrupted</a:t>
            </a:r>
            <a:r>
              <a:rPr sz="2800" spc="295" dirty="0">
                <a:latin typeface="Cambria"/>
                <a:cs typeface="Cambria"/>
              </a:rPr>
              <a:t> </a:t>
            </a:r>
            <a:r>
              <a:rPr sz="2800" spc="229" dirty="0">
                <a:latin typeface="Cambria"/>
                <a:cs typeface="Cambria"/>
              </a:rPr>
              <a:t>and </a:t>
            </a:r>
            <a:r>
              <a:rPr sz="2800" spc="-605" dirty="0">
                <a:latin typeface="Cambria"/>
                <a:cs typeface="Cambria"/>
              </a:rPr>
              <a:t> </a:t>
            </a:r>
            <a:r>
              <a:rPr sz="2800" spc="130" dirty="0">
                <a:latin typeface="Cambria"/>
                <a:cs typeface="Cambria"/>
              </a:rPr>
              <a:t>more</a:t>
            </a:r>
            <a:r>
              <a:rPr sz="2800" spc="290" dirty="0">
                <a:latin typeface="Cambria"/>
                <a:cs typeface="Cambria"/>
              </a:rPr>
              <a:t> </a:t>
            </a:r>
            <a:r>
              <a:rPr sz="2800" spc="155" dirty="0">
                <a:latin typeface="Cambria"/>
                <a:cs typeface="Cambria"/>
              </a:rPr>
              <a:t>importantly,</a:t>
            </a:r>
            <a:r>
              <a:rPr sz="2800" spc="300" dirty="0">
                <a:latin typeface="Cambria"/>
                <a:cs typeface="Cambria"/>
              </a:rPr>
              <a:t> </a:t>
            </a:r>
            <a:r>
              <a:rPr sz="2800" spc="125" dirty="0">
                <a:latin typeface="Cambria"/>
                <a:cs typeface="Cambria"/>
              </a:rPr>
              <a:t>their</a:t>
            </a:r>
            <a:r>
              <a:rPr sz="2800" spc="290" dirty="0">
                <a:latin typeface="Cambria"/>
                <a:cs typeface="Cambria"/>
              </a:rPr>
              <a:t> </a:t>
            </a:r>
            <a:r>
              <a:rPr sz="2800" spc="140" dirty="0">
                <a:latin typeface="Cambria"/>
                <a:cs typeface="Cambria"/>
              </a:rPr>
              <a:t>location</a:t>
            </a:r>
            <a:r>
              <a:rPr sz="2800" spc="275" dirty="0">
                <a:latin typeface="Cambria"/>
                <a:cs typeface="Cambria"/>
              </a:rPr>
              <a:t> </a:t>
            </a:r>
            <a:r>
              <a:rPr sz="2800" spc="170" dirty="0">
                <a:latin typeface="Cambria"/>
                <a:cs typeface="Cambria"/>
              </a:rPr>
              <a:t>in</a:t>
            </a:r>
            <a:r>
              <a:rPr sz="2800" spc="285" dirty="0">
                <a:latin typeface="Cambria"/>
                <a:cs typeface="Cambria"/>
              </a:rPr>
              <a:t> </a:t>
            </a:r>
            <a:r>
              <a:rPr sz="2800" spc="165" dirty="0">
                <a:latin typeface="Cambria"/>
                <a:cs typeface="Cambria"/>
              </a:rPr>
              <a:t>the </a:t>
            </a:r>
            <a:r>
              <a:rPr sz="2800" spc="170" dirty="0">
                <a:latin typeface="Cambria"/>
                <a:cs typeface="Cambria"/>
              </a:rPr>
              <a:t> </a:t>
            </a:r>
            <a:r>
              <a:rPr sz="2800" spc="204" dirty="0">
                <a:latin typeface="Cambria"/>
                <a:cs typeface="Cambria"/>
              </a:rPr>
              <a:t>message.</a:t>
            </a:r>
            <a:r>
              <a:rPr sz="2800" spc="285" dirty="0">
                <a:latin typeface="Cambria"/>
                <a:cs typeface="Cambria"/>
              </a:rPr>
              <a:t> </a:t>
            </a:r>
            <a:endParaRPr lang="en-IN" sz="2800" spc="285" dirty="0">
              <a:latin typeface="Cambria"/>
              <a:cs typeface="Cambria"/>
            </a:endParaRPr>
          </a:p>
          <a:p>
            <a:pPr marL="355600" marR="5080" indent="-343535">
              <a:spcBef>
                <a:spcPts val="745"/>
              </a:spcBef>
              <a:buClr>
                <a:srgbClr val="3333CC"/>
              </a:buClr>
              <a:buSzPct val="59375"/>
              <a:buFont typeface="Wingdings"/>
              <a:buChar char=""/>
              <a:tabLst>
                <a:tab pos="355600" algn="l"/>
                <a:tab pos="356235" algn="l"/>
              </a:tabLst>
            </a:pPr>
            <a:r>
              <a:rPr sz="3200" spc="140" dirty="0">
                <a:solidFill>
                  <a:srgbClr val="FF0000"/>
                </a:solidFill>
                <a:latin typeface="Cambria"/>
                <a:cs typeface="Cambria"/>
              </a:rPr>
              <a:t>Note:</a:t>
            </a:r>
            <a:r>
              <a:rPr sz="3200" spc="280" dirty="0">
                <a:solidFill>
                  <a:srgbClr val="FF0000"/>
                </a:solidFill>
                <a:latin typeface="Cambria"/>
                <a:cs typeface="Cambria"/>
              </a:rPr>
              <a:t> </a:t>
            </a:r>
            <a:r>
              <a:rPr sz="2400" spc="105" dirty="0">
                <a:solidFill>
                  <a:srgbClr val="FF0000"/>
                </a:solidFill>
                <a:latin typeface="Cambria"/>
                <a:cs typeface="Cambria"/>
              </a:rPr>
              <a:t>correction</a:t>
            </a:r>
            <a:r>
              <a:rPr sz="2400" spc="245" dirty="0">
                <a:solidFill>
                  <a:srgbClr val="FF0000"/>
                </a:solidFill>
                <a:latin typeface="Cambria"/>
                <a:cs typeface="Cambria"/>
              </a:rPr>
              <a:t> </a:t>
            </a:r>
            <a:r>
              <a:rPr sz="2400" spc="50" dirty="0">
                <a:solidFill>
                  <a:srgbClr val="FF0000"/>
                </a:solidFill>
                <a:latin typeface="Cambria"/>
                <a:cs typeface="Cambria"/>
              </a:rPr>
              <a:t>of</a:t>
            </a:r>
            <a:r>
              <a:rPr sz="2400" spc="240" dirty="0">
                <a:solidFill>
                  <a:srgbClr val="FF0000"/>
                </a:solidFill>
                <a:latin typeface="Cambria"/>
                <a:cs typeface="Cambria"/>
              </a:rPr>
              <a:t> </a:t>
            </a:r>
            <a:r>
              <a:rPr sz="2400" spc="85" dirty="0">
                <a:solidFill>
                  <a:srgbClr val="FF0000"/>
                </a:solidFill>
                <a:latin typeface="Cambria"/>
                <a:cs typeface="Cambria"/>
              </a:rPr>
              <a:t>errors</a:t>
            </a:r>
            <a:r>
              <a:rPr sz="2400" spc="225" dirty="0">
                <a:solidFill>
                  <a:srgbClr val="FF0000"/>
                </a:solidFill>
                <a:latin typeface="Cambria"/>
                <a:cs typeface="Cambria"/>
              </a:rPr>
              <a:t> </a:t>
            </a:r>
            <a:r>
              <a:rPr sz="2400" spc="130" dirty="0">
                <a:solidFill>
                  <a:srgbClr val="FF0000"/>
                </a:solidFill>
                <a:latin typeface="Cambria"/>
                <a:cs typeface="Cambria"/>
              </a:rPr>
              <a:t>is</a:t>
            </a:r>
            <a:r>
              <a:rPr sz="2400" spc="240" dirty="0">
                <a:solidFill>
                  <a:srgbClr val="FF0000"/>
                </a:solidFill>
                <a:latin typeface="Cambria"/>
                <a:cs typeface="Cambria"/>
              </a:rPr>
              <a:t> </a:t>
            </a:r>
            <a:r>
              <a:rPr sz="2400" spc="114" dirty="0">
                <a:solidFill>
                  <a:srgbClr val="FF0000"/>
                </a:solidFill>
                <a:latin typeface="Cambria"/>
                <a:cs typeface="Cambria"/>
              </a:rPr>
              <a:t>more</a:t>
            </a:r>
            <a:r>
              <a:rPr sz="2400" spc="229" dirty="0">
                <a:solidFill>
                  <a:srgbClr val="FF0000"/>
                </a:solidFill>
                <a:latin typeface="Cambria"/>
                <a:cs typeface="Cambria"/>
              </a:rPr>
              <a:t> </a:t>
            </a:r>
            <a:r>
              <a:rPr sz="2400" spc="105" dirty="0">
                <a:solidFill>
                  <a:srgbClr val="FF0000"/>
                </a:solidFill>
                <a:latin typeface="Cambria"/>
                <a:cs typeface="Cambria"/>
              </a:rPr>
              <a:t>difficult</a:t>
            </a:r>
            <a:r>
              <a:rPr sz="2400" spc="235" dirty="0">
                <a:solidFill>
                  <a:srgbClr val="FF0000"/>
                </a:solidFill>
                <a:latin typeface="Cambria"/>
                <a:cs typeface="Cambria"/>
              </a:rPr>
              <a:t> </a:t>
            </a:r>
            <a:r>
              <a:rPr sz="2400" spc="204" dirty="0">
                <a:solidFill>
                  <a:srgbClr val="FF0000"/>
                </a:solidFill>
                <a:latin typeface="Cambria"/>
                <a:cs typeface="Cambria"/>
              </a:rPr>
              <a:t>than </a:t>
            </a:r>
            <a:r>
              <a:rPr sz="2400" spc="-509" dirty="0">
                <a:solidFill>
                  <a:srgbClr val="FF0000"/>
                </a:solidFill>
                <a:latin typeface="Cambria"/>
                <a:cs typeface="Cambria"/>
              </a:rPr>
              <a:t> </a:t>
            </a:r>
            <a:r>
              <a:rPr sz="2400" spc="145" dirty="0">
                <a:solidFill>
                  <a:srgbClr val="FF0000"/>
                </a:solidFill>
                <a:latin typeface="Cambria"/>
                <a:cs typeface="Cambria"/>
              </a:rPr>
              <a:t>the</a:t>
            </a:r>
            <a:r>
              <a:rPr sz="2400" spc="235" dirty="0">
                <a:solidFill>
                  <a:srgbClr val="FF0000"/>
                </a:solidFill>
                <a:latin typeface="Cambria"/>
                <a:cs typeface="Cambria"/>
              </a:rPr>
              <a:t> </a:t>
            </a:r>
            <a:r>
              <a:rPr sz="2400" spc="110" dirty="0">
                <a:solidFill>
                  <a:srgbClr val="FF0000"/>
                </a:solidFill>
                <a:latin typeface="Cambria"/>
                <a:cs typeface="Cambria"/>
              </a:rPr>
              <a:t>detection</a:t>
            </a:r>
            <a:endParaRPr sz="2400" dirty="0">
              <a:latin typeface="Cambria"/>
              <a:cs typeface="Cambr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Error </a:t>
            </a:r>
            <a:r>
              <a:rPr b="1" spc="-5" dirty="0">
                <a:solidFill>
                  <a:srgbClr val="333399"/>
                </a:solidFill>
                <a:latin typeface="Tahoma"/>
                <a:cs typeface="Tahoma"/>
              </a:rPr>
              <a:t>Detection</a:t>
            </a:r>
            <a:r>
              <a:rPr b="1" spc="-40" dirty="0">
                <a:solidFill>
                  <a:srgbClr val="333399"/>
                </a:solidFill>
                <a:latin typeface="Tahoma"/>
                <a:cs typeface="Tahoma"/>
              </a:rPr>
              <a:t> </a:t>
            </a:r>
            <a:r>
              <a:rPr lang="en-US" b="1" dirty="0">
                <a:solidFill>
                  <a:srgbClr val="333399"/>
                </a:solidFill>
                <a:latin typeface="Tahoma"/>
                <a:cs typeface="Tahoma"/>
              </a:rPr>
              <a:t>Techniques</a:t>
            </a:r>
            <a:endParaRPr dirty="0">
              <a:latin typeface="Tahoma"/>
              <a:cs typeface="Tahoma"/>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574" y="1330538"/>
            <a:ext cx="8843760" cy="303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CFF5DDFA-F312-9B5D-9518-092784F9D080}"/>
              </a:ext>
            </a:extLst>
          </p:cNvPr>
          <p:cNvPicPr>
            <a:picLocks noChangeAspect="1"/>
          </p:cNvPicPr>
          <p:nvPr/>
        </p:nvPicPr>
        <p:blipFill>
          <a:blip r:embed="rId3"/>
          <a:stretch>
            <a:fillRect/>
          </a:stretch>
        </p:blipFill>
        <p:spPr>
          <a:xfrm>
            <a:off x="2799347" y="4499283"/>
            <a:ext cx="6248381" cy="2056358"/>
          </a:xfrm>
          <a:prstGeom prst="rect">
            <a:avLst/>
          </a:prstGeom>
        </p:spPr>
      </p:pic>
    </p:spTree>
    <p:extLst>
      <p:ext uri="{BB962C8B-B14F-4D97-AF65-F5344CB8AC3E}">
        <p14:creationId xmlns:p14="http://schemas.microsoft.com/office/powerpoint/2010/main" val="2163515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VRC</a:t>
            </a:r>
            <a:endParaRPr dirty="0">
              <a:latin typeface="Tahoma"/>
              <a:cs typeface="Tahoma"/>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798" y="1603115"/>
            <a:ext cx="557212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074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VRC</a:t>
            </a:r>
            <a:endParaRPr dirty="0">
              <a:latin typeface="Tahoma"/>
              <a:cs typeface="Tahoma"/>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913" y="1762124"/>
            <a:ext cx="8342376"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5FCEEF57-5125-32BF-36D8-CAD3AFF10454}"/>
              </a:ext>
            </a:extLst>
          </p:cNvPr>
          <p:cNvSpPr txBox="1"/>
          <p:nvPr/>
        </p:nvSpPr>
        <p:spPr>
          <a:xfrm>
            <a:off x="6096000" y="1192848"/>
            <a:ext cx="6096000" cy="646331"/>
          </a:xfrm>
          <a:prstGeom prst="rect">
            <a:avLst/>
          </a:prstGeom>
          <a:noFill/>
        </p:spPr>
        <p:txBody>
          <a:bodyPr wrap="square">
            <a:spAutoFit/>
          </a:bodyPr>
          <a:lstStyle/>
          <a:p>
            <a:r>
              <a:rPr lang="en-US" b="0" i="0" dirty="0">
                <a:solidFill>
                  <a:srgbClr val="273239"/>
                </a:solidFill>
                <a:effectLst/>
                <a:latin typeface="Nunito" pitchFamily="2" charset="0"/>
              </a:rPr>
              <a:t>Parity generator will count number of 1s in data unit and will add parity bit.</a:t>
            </a:r>
            <a:endParaRPr lang="en-IN" dirty="0"/>
          </a:p>
        </p:txBody>
      </p:sp>
    </p:spTree>
    <p:extLst>
      <p:ext uri="{BB962C8B-B14F-4D97-AF65-F5344CB8AC3E}">
        <p14:creationId xmlns:p14="http://schemas.microsoft.com/office/powerpoint/2010/main" val="4060505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VRC</a:t>
            </a:r>
            <a:endParaRPr dirty="0">
              <a:latin typeface="Tahoma"/>
              <a:cs typeface="Tahoma"/>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682" y="1738313"/>
            <a:ext cx="8804440" cy="3911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109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VRC</a:t>
            </a:r>
            <a:endParaRPr dirty="0">
              <a:latin typeface="Tahoma"/>
              <a:cs typeface="Tahoma"/>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498" y="1560466"/>
            <a:ext cx="9579047" cy="2738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1708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VRC</a:t>
            </a:r>
            <a:endParaRPr dirty="0">
              <a:latin typeface="Tahoma"/>
              <a:cs typeface="Tahoma"/>
            </a:endParaRPr>
          </a:p>
        </p:txBody>
      </p:sp>
      <p:pic>
        <p:nvPicPr>
          <p:cNvPr id="4" name="Picture 3">
            <a:extLst>
              <a:ext uri="{FF2B5EF4-FFF2-40B4-BE49-F238E27FC236}">
                <a16:creationId xmlns:a16="http://schemas.microsoft.com/office/drawing/2014/main" id="{0A3FC7D3-37B8-9BB7-E210-8440B663A240}"/>
              </a:ext>
            </a:extLst>
          </p:cNvPr>
          <p:cNvPicPr>
            <a:picLocks noChangeAspect="1"/>
          </p:cNvPicPr>
          <p:nvPr/>
        </p:nvPicPr>
        <p:blipFill>
          <a:blip r:embed="rId2"/>
          <a:srcRect r="65864"/>
          <a:stretch/>
        </p:blipFill>
        <p:spPr>
          <a:xfrm>
            <a:off x="1343153" y="2597316"/>
            <a:ext cx="1399578" cy="543001"/>
          </a:xfrm>
          <a:prstGeom prst="rect">
            <a:avLst/>
          </a:prstGeom>
        </p:spPr>
      </p:pic>
      <p:pic>
        <p:nvPicPr>
          <p:cNvPr id="6" name="Picture 5">
            <a:extLst>
              <a:ext uri="{FF2B5EF4-FFF2-40B4-BE49-F238E27FC236}">
                <a16:creationId xmlns:a16="http://schemas.microsoft.com/office/drawing/2014/main" id="{11288DF2-E9E6-9A90-AAE1-FD95CE6D0B62}"/>
              </a:ext>
            </a:extLst>
          </p:cNvPr>
          <p:cNvPicPr>
            <a:picLocks noChangeAspect="1"/>
          </p:cNvPicPr>
          <p:nvPr/>
        </p:nvPicPr>
        <p:blipFill>
          <a:blip r:embed="rId2"/>
          <a:srcRect l="33898" r="33783"/>
          <a:stretch/>
        </p:blipFill>
        <p:spPr>
          <a:xfrm>
            <a:off x="1343153" y="3429000"/>
            <a:ext cx="1399578" cy="543001"/>
          </a:xfrm>
          <a:prstGeom prst="rect">
            <a:avLst/>
          </a:prstGeom>
        </p:spPr>
      </p:pic>
      <p:pic>
        <p:nvPicPr>
          <p:cNvPr id="8" name="Picture 7">
            <a:extLst>
              <a:ext uri="{FF2B5EF4-FFF2-40B4-BE49-F238E27FC236}">
                <a16:creationId xmlns:a16="http://schemas.microsoft.com/office/drawing/2014/main" id="{40FB7D7A-D5A0-2AF7-2A37-D99C7F977B4F}"/>
              </a:ext>
            </a:extLst>
          </p:cNvPr>
          <p:cNvPicPr>
            <a:picLocks noChangeAspect="1"/>
          </p:cNvPicPr>
          <p:nvPr/>
        </p:nvPicPr>
        <p:blipFill>
          <a:blip r:embed="rId2"/>
          <a:srcRect l="62900"/>
          <a:stretch/>
        </p:blipFill>
        <p:spPr>
          <a:xfrm>
            <a:off x="1343153" y="4238684"/>
            <a:ext cx="1399578" cy="543001"/>
          </a:xfrm>
          <a:prstGeom prst="rect">
            <a:avLst/>
          </a:prstGeom>
        </p:spPr>
      </p:pic>
      <p:sp>
        <p:nvSpPr>
          <p:cNvPr id="9" name="TextBox 8">
            <a:extLst>
              <a:ext uri="{FF2B5EF4-FFF2-40B4-BE49-F238E27FC236}">
                <a16:creationId xmlns:a16="http://schemas.microsoft.com/office/drawing/2014/main" id="{33351347-6DA4-C2B0-6D00-28A695AD62E3}"/>
              </a:ext>
            </a:extLst>
          </p:cNvPr>
          <p:cNvSpPr txBox="1"/>
          <p:nvPr/>
        </p:nvSpPr>
        <p:spPr>
          <a:xfrm>
            <a:off x="1230857" y="1868968"/>
            <a:ext cx="897192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Find the even parity bit (VRC) for the following message stream:</a:t>
            </a:r>
          </a:p>
        </p:txBody>
      </p:sp>
    </p:spTree>
    <p:extLst>
      <p:ext uri="{BB962C8B-B14F-4D97-AF65-F5344CB8AC3E}">
        <p14:creationId xmlns:p14="http://schemas.microsoft.com/office/powerpoint/2010/main" val="2810001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LRC</a:t>
            </a:r>
            <a:endParaRPr dirty="0">
              <a:latin typeface="Tahoma"/>
              <a:cs typeface="Tahoma"/>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014" y="1610353"/>
            <a:ext cx="10227428" cy="31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1867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LRC</a:t>
            </a:r>
            <a:endParaRPr dirty="0">
              <a:latin typeface="Tahoma"/>
              <a:cs typeface="Tahoma"/>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027" y="1536511"/>
            <a:ext cx="78581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1556" y="4916394"/>
            <a:ext cx="62865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2441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LRC</a:t>
            </a:r>
            <a:endParaRPr dirty="0">
              <a:latin typeface="Tahoma"/>
              <a:cs typeface="Tahoma"/>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784" y="1386100"/>
            <a:ext cx="8077109" cy="224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5359" y="4119279"/>
            <a:ext cx="337185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992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5574" y="471497"/>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LRC</a:t>
            </a:r>
            <a:endParaRPr dirty="0">
              <a:latin typeface="Tahoma"/>
              <a:cs typeface="Tahoma"/>
            </a:endParaRPr>
          </a:p>
        </p:txBody>
      </p:sp>
      <p:pic>
        <p:nvPicPr>
          <p:cNvPr id="4" name="Picture 3">
            <a:extLst>
              <a:ext uri="{FF2B5EF4-FFF2-40B4-BE49-F238E27FC236}">
                <a16:creationId xmlns:a16="http://schemas.microsoft.com/office/drawing/2014/main" id="{4511B185-CCD8-5F8C-2AE0-52F7381C59F1}"/>
              </a:ext>
            </a:extLst>
          </p:cNvPr>
          <p:cNvPicPr>
            <a:picLocks noChangeAspect="1"/>
          </p:cNvPicPr>
          <p:nvPr/>
        </p:nvPicPr>
        <p:blipFill>
          <a:blip r:embed="rId2"/>
          <a:stretch>
            <a:fillRect/>
          </a:stretch>
        </p:blipFill>
        <p:spPr>
          <a:xfrm>
            <a:off x="321023" y="1507120"/>
            <a:ext cx="11774543" cy="1228896"/>
          </a:xfrm>
          <a:prstGeom prst="rect">
            <a:avLst/>
          </a:prstGeom>
        </p:spPr>
      </p:pic>
    </p:spTree>
    <p:extLst>
      <p:ext uri="{BB962C8B-B14F-4D97-AF65-F5344CB8AC3E}">
        <p14:creationId xmlns:p14="http://schemas.microsoft.com/office/powerpoint/2010/main" val="33651455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Cyclic Redundancy Check</a:t>
            </a:r>
            <a:endParaRPr lang="en-US" sz="3200" dirty="0">
              <a:latin typeface="Times New Roman"/>
              <a:cs typeface="Times New Roman"/>
            </a:endParaRPr>
          </a:p>
        </p:txBody>
      </p:sp>
      <p:sp>
        <p:nvSpPr>
          <p:cNvPr id="2" name="TextBox 1"/>
          <p:cNvSpPr txBox="1"/>
          <p:nvPr/>
        </p:nvSpPr>
        <p:spPr>
          <a:xfrm>
            <a:off x="1357953" y="1665027"/>
            <a:ext cx="4619766" cy="923330"/>
          </a:xfrm>
          <a:prstGeom prst="rect">
            <a:avLst/>
          </a:prstGeom>
          <a:noFill/>
        </p:spPr>
        <p:txBody>
          <a:bodyPr wrap="square" rtlCol="0">
            <a:spAutoFit/>
          </a:bodyPr>
          <a:lstStyle/>
          <a:p>
            <a:pPr marL="285750" indent="-285750">
              <a:buFont typeface="Arial" pitchFamily="34" charset="0"/>
              <a:buChar char="•"/>
            </a:pPr>
            <a:r>
              <a:rPr lang="en-US" dirty="0"/>
              <a:t>It is one of the error detection technique</a:t>
            </a:r>
          </a:p>
          <a:p>
            <a:pPr marL="285750" indent="-285750">
              <a:buFont typeface="Arial" pitchFamily="34" charset="0"/>
              <a:buChar char="•"/>
            </a:pPr>
            <a:endParaRPr lang="en-US" dirty="0"/>
          </a:p>
          <a:p>
            <a:pPr marL="285750" indent="-285750">
              <a:buFont typeface="Arial" pitchFamily="34" charset="0"/>
              <a:buChar char="•"/>
            </a:pPr>
            <a:r>
              <a:rPr lang="en-US" dirty="0"/>
              <a:t>Steps for finding the redundant bits</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755" y="5948363"/>
            <a:ext cx="61531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755" y="2673656"/>
            <a:ext cx="452437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6736" y="3422390"/>
            <a:ext cx="2581275"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4395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Cyclic Redundancy Check</a:t>
            </a:r>
            <a:endParaRPr lang="en-US" sz="3200" dirty="0">
              <a:latin typeface="Times New Roman"/>
              <a:cs typeface="Times New Roman"/>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953" y="1471897"/>
            <a:ext cx="61531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descr="send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6560" y="1157168"/>
            <a:ext cx="3447434" cy="544795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FFFFFF"/>
                </a:solidFill>
                <a:effectLst/>
                <a:latin typeface="Consolas" pitchFamily="49" charset="0"/>
                <a:cs typeface="Arial" pitchFamily="34" charset="0"/>
              </a:rPr>
              <a:t>the remainder is 001 and hence the encoded data sent is 100100001. </a:t>
            </a:r>
            <a:br>
              <a:rPr kumimoji="0" lang="en-US" sz="11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5"/>
          <p:cNvSpPr>
            <a:spLocks noChangeArrowheads="1"/>
          </p:cNvSpPr>
          <p:nvPr/>
        </p:nvSpPr>
        <p:spPr bwMode="auto">
          <a:xfrm>
            <a:off x="1505803" y="4437306"/>
            <a:ext cx="5360442" cy="135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dirty="0">
                <a:latin typeface="Arial Black" pitchFamily="34" charset="0"/>
                <a:cs typeface="Arial" pitchFamily="34" charset="0"/>
              </a:rPr>
              <a:t>T</a:t>
            </a:r>
            <a:r>
              <a:rPr kumimoji="0" lang="en-US" b="0" i="0" u="none" strike="noStrike" cap="none" normalizeH="0" baseline="0" dirty="0">
                <a:ln>
                  <a:noFill/>
                </a:ln>
                <a:effectLst/>
                <a:latin typeface="Arial Black" pitchFamily="34" charset="0"/>
                <a:cs typeface="Arial" pitchFamily="34" charset="0"/>
              </a:rPr>
              <a:t>he remainder is </a:t>
            </a:r>
            <a:r>
              <a:rPr kumimoji="0" lang="en-US" b="0" i="0" u="none" strike="noStrike" cap="none" normalizeH="0" baseline="0" dirty="0">
                <a:ln>
                  <a:noFill/>
                </a:ln>
                <a:solidFill>
                  <a:srgbClr val="FF0000"/>
                </a:solidFill>
                <a:effectLst/>
                <a:latin typeface="Arial Black" pitchFamily="34" charset="0"/>
                <a:cs typeface="Arial" pitchFamily="34" charset="0"/>
              </a:rPr>
              <a:t>001</a:t>
            </a:r>
            <a:r>
              <a:rPr kumimoji="0" lang="en-US" b="0" i="0" u="none" strike="noStrike" cap="none" normalizeH="0" baseline="0" dirty="0">
                <a:ln>
                  <a:noFill/>
                </a:ln>
                <a:effectLst/>
                <a:latin typeface="Arial Black" pitchFamily="34" charset="0"/>
                <a:cs typeface="Arial" pitchFamily="34" charset="0"/>
              </a:rPr>
              <a:t> and </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latin typeface="Arial Black"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effectLst/>
                <a:latin typeface="Arial Black" pitchFamily="34" charset="0"/>
                <a:cs typeface="Arial" pitchFamily="34" charset="0"/>
              </a:rPr>
              <a:t>hence the transmitted data is 100100</a:t>
            </a:r>
            <a:r>
              <a:rPr kumimoji="0" lang="en-US" b="0" i="0" u="none" strike="noStrike" cap="none" normalizeH="0" baseline="0" dirty="0">
                <a:ln>
                  <a:noFill/>
                </a:ln>
                <a:solidFill>
                  <a:srgbClr val="FF0000"/>
                </a:solidFill>
                <a:effectLst/>
                <a:latin typeface="Arial Black" pitchFamily="34" charset="0"/>
                <a:cs typeface="Arial" pitchFamily="34" charset="0"/>
              </a:rPr>
              <a:t>001</a:t>
            </a:r>
            <a:r>
              <a:rPr kumimoji="0" lang="en-US" b="0" i="0" u="none" strike="noStrike" cap="none" normalizeH="0" baseline="0" dirty="0">
                <a:ln>
                  <a:noFill/>
                </a:ln>
                <a:effectLst/>
                <a:latin typeface="Arial Black" pitchFamily="34" charset="0"/>
                <a:cs typeface="Arial" pitchFamily="34" charset="0"/>
              </a:rPr>
              <a:t>. </a:t>
            </a:r>
            <a:br>
              <a:rPr kumimoji="0" lang="en-US" sz="1600" b="0" i="0" u="none" strike="noStrike" cap="none" normalizeH="0" baseline="0" dirty="0">
                <a:ln>
                  <a:noFill/>
                </a:ln>
                <a:effectLst/>
                <a:latin typeface="Arial Black" pitchFamily="34" charset="0"/>
                <a:cs typeface="Arial" pitchFamily="34" charset="0"/>
              </a:rPr>
            </a:br>
            <a:endParaRPr kumimoji="0" lang="en-US" sz="2800" b="0" i="0" u="none" strike="noStrike" cap="none" normalizeH="0" baseline="0" dirty="0">
              <a:ln>
                <a:noFill/>
              </a:ln>
              <a:effectLst/>
              <a:latin typeface="Arial Black" pitchFamily="34" charset="0"/>
              <a:cs typeface="Arial" pitchFamily="34" charset="0"/>
            </a:endParaRPr>
          </a:p>
        </p:txBody>
      </p:sp>
    </p:spTree>
    <p:extLst>
      <p:ext uri="{BB962C8B-B14F-4D97-AF65-F5344CB8AC3E}">
        <p14:creationId xmlns:p14="http://schemas.microsoft.com/office/powerpoint/2010/main" val="1760774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Cyclic Redundancy Check</a:t>
            </a:r>
            <a:endParaRPr lang="en-US" sz="3200" dirty="0">
              <a:latin typeface="Times New Roman"/>
              <a:cs typeface="Times New Roman"/>
            </a:endParaRPr>
          </a:p>
        </p:txBody>
      </p:sp>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FFFFFF"/>
                </a:solidFill>
                <a:effectLst/>
                <a:latin typeface="Consolas" pitchFamily="49" charset="0"/>
                <a:cs typeface="Arial" pitchFamily="34" charset="0"/>
              </a:rPr>
              <a:t>the remainder is 001 and hence the encoded data sent is 100100001. </a:t>
            </a:r>
            <a:br>
              <a:rPr kumimoji="0" lang="en-US" sz="11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5"/>
          <p:cNvSpPr>
            <a:spLocks noChangeArrowheads="1"/>
          </p:cNvSpPr>
          <p:nvPr/>
        </p:nvSpPr>
        <p:spPr bwMode="auto">
          <a:xfrm>
            <a:off x="1505802" y="4437306"/>
            <a:ext cx="5577385" cy="135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lvl="0" fontAlgn="base">
              <a:spcBef>
                <a:spcPct val="0"/>
              </a:spcBef>
              <a:spcAft>
                <a:spcPct val="0"/>
              </a:spcAft>
            </a:pPr>
            <a:r>
              <a:rPr lang="en-US" dirty="0">
                <a:latin typeface="Arial Black" pitchFamily="34" charset="0"/>
                <a:cs typeface="Arial" pitchFamily="34" charset="0"/>
              </a:rPr>
              <a:t>The remainder is all zeros. </a:t>
            </a:r>
          </a:p>
          <a:p>
            <a:pPr lvl="0" fontAlgn="base">
              <a:spcBef>
                <a:spcPct val="0"/>
              </a:spcBef>
              <a:spcAft>
                <a:spcPct val="0"/>
              </a:spcAft>
            </a:pPr>
            <a:endParaRPr lang="en-US" dirty="0">
              <a:latin typeface="Arial Black" pitchFamily="34" charset="0"/>
              <a:cs typeface="Arial" pitchFamily="34" charset="0"/>
            </a:endParaRPr>
          </a:p>
          <a:p>
            <a:pPr lvl="0" fontAlgn="base">
              <a:spcBef>
                <a:spcPct val="0"/>
              </a:spcBef>
              <a:spcAft>
                <a:spcPct val="0"/>
              </a:spcAft>
            </a:pPr>
            <a:r>
              <a:rPr lang="en-US" dirty="0">
                <a:latin typeface="Arial Black" pitchFamily="34" charset="0"/>
                <a:cs typeface="Arial" pitchFamily="34" charset="0"/>
              </a:rPr>
              <a:t>Hence, the data received has no error.</a:t>
            </a:r>
            <a:br>
              <a:rPr kumimoji="0" lang="en-US" sz="1600" b="0" i="0" u="none" strike="noStrike" cap="none" normalizeH="0" baseline="0" dirty="0">
                <a:ln>
                  <a:noFill/>
                </a:ln>
                <a:effectLst/>
                <a:latin typeface="Arial Black" pitchFamily="34" charset="0"/>
                <a:cs typeface="Arial" pitchFamily="34" charset="0"/>
              </a:rPr>
            </a:br>
            <a:endParaRPr kumimoji="0" lang="en-US" sz="2800" b="0" i="0" u="none" strike="noStrike" cap="none" normalizeH="0" baseline="0" dirty="0">
              <a:ln>
                <a:noFill/>
              </a:ln>
              <a:effectLst/>
              <a:latin typeface="Arial Black" pitchFamily="34" charset="0"/>
              <a:cs typeface="Arial" pitchFamily="34" charset="0"/>
            </a:endParaRPr>
          </a:p>
        </p:txBody>
      </p:sp>
      <p:sp>
        <p:nvSpPr>
          <p:cNvPr id="2" name="Rectangle 1"/>
          <p:cNvSpPr>
            <a:spLocks noChangeArrowheads="1"/>
          </p:cNvSpPr>
          <p:nvPr/>
        </p:nvSpPr>
        <p:spPr bwMode="auto">
          <a:xfrm>
            <a:off x="1357953" y="1557681"/>
            <a:ext cx="2647584" cy="10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effectLst/>
                <a:cs typeface="Arial" pitchFamily="34" charset="0"/>
              </a:rPr>
              <a:t>Receiver Side: </a:t>
            </a:r>
          </a:p>
          <a:p>
            <a:pPr marL="0" marR="0" lvl="0" indent="0" algn="l" defTabSz="914400" rtl="0" eaLnBrk="1" fontAlgn="base" latinLnBrk="0" hangingPunct="1">
              <a:lnSpc>
                <a:spcPct val="100000"/>
              </a:lnSpc>
              <a:spcBef>
                <a:spcPct val="0"/>
              </a:spcBef>
              <a:spcAft>
                <a:spcPct val="0"/>
              </a:spcAft>
              <a:buClrTx/>
              <a:buSzTx/>
              <a:buFontTx/>
              <a:buNone/>
              <a:tabLst/>
            </a:pPr>
            <a:endParaRPr lang="en-US" sz="2000" dirty="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effectLst/>
                <a:cs typeface="Arial" pitchFamily="34" charset="0"/>
              </a:rPr>
              <a:t>Received bits 100100001</a:t>
            </a:r>
            <a:r>
              <a:rPr kumimoji="0" lang="en-US" b="0" i="0" u="none" strike="noStrike" cap="none" normalizeH="0" baseline="0" dirty="0">
                <a:ln>
                  <a:noFill/>
                </a:ln>
                <a:effectLst/>
                <a:cs typeface="Arial" pitchFamily="34" charset="0"/>
              </a:rPr>
              <a:t> </a:t>
            </a:r>
            <a:endParaRPr kumimoji="0" lang="en-US" sz="3200" b="0" i="0" u="none" strike="noStrike" cap="none" normalizeH="0" baseline="0" dirty="0">
              <a:ln>
                <a:noFill/>
              </a:ln>
              <a:effectLst/>
              <a:cs typeface="Arial" pitchFamily="34" charset="0"/>
            </a:endParaRPr>
          </a:p>
        </p:txBody>
      </p:sp>
      <p:pic>
        <p:nvPicPr>
          <p:cNvPr id="3075" name="Picture 3"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536" y="1015658"/>
            <a:ext cx="3679446" cy="58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883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Cyclic Redundancy Check</a:t>
            </a:r>
            <a:endParaRPr lang="en-US" sz="3200" dirty="0">
              <a:latin typeface="Times New Roman"/>
              <a:cs typeface="Times New Roman"/>
            </a:endParaRPr>
          </a:p>
        </p:txBody>
      </p:sp>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FFFFFF"/>
                </a:solidFill>
                <a:effectLst/>
                <a:latin typeface="Consolas" pitchFamily="49" charset="0"/>
                <a:cs typeface="Arial" pitchFamily="34" charset="0"/>
              </a:rPr>
              <a:t>the remainder is 001 and hence the encoded data sent is 100100001. </a:t>
            </a:r>
            <a:br>
              <a:rPr kumimoji="0" lang="en-US" sz="11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5"/>
          <p:cNvSpPr>
            <a:spLocks noChangeArrowheads="1"/>
          </p:cNvSpPr>
          <p:nvPr/>
        </p:nvSpPr>
        <p:spPr bwMode="auto">
          <a:xfrm>
            <a:off x="1505801" y="4437306"/>
            <a:ext cx="7365243" cy="135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lvl="0" fontAlgn="base">
              <a:spcBef>
                <a:spcPct val="0"/>
              </a:spcBef>
              <a:spcAft>
                <a:spcPct val="0"/>
              </a:spcAft>
            </a:pPr>
            <a:r>
              <a:rPr lang="en-US" dirty="0">
                <a:latin typeface="Arial Black" pitchFamily="34" charset="0"/>
                <a:cs typeface="Arial" pitchFamily="34" charset="0"/>
              </a:rPr>
              <a:t>The remainder is not all zeros. </a:t>
            </a:r>
          </a:p>
          <a:p>
            <a:pPr lvl="0" fontAlgn="base">
              <a:spcBef>
                <a:spcPct val="0"/>
              </a:spcBef>
              <a:spcAft>
                <a:spcPct val="0"/>
              </a:spcAft>
            </a:pPr>
            <a:endParaRPr lang="en-US" dirty="0">
              <a:latin typeface="Arial Black" pitchFamily="34" charset="0"/>
              <a:cs typeface="Arial" pitchFamily="34" charset="0"/>
            </a:endParaRPr>
          </a:p>
          <a:p>
            <a:pPr lvl="0" fontAlgn="base">
              <a:spcBef>
                <a:spcPct val="0"/>
              </a:spcBef>
              <a:spcAft>
                <a:spcPct val="0"/>
              </a:spcAft>
            </a:pPr>
            <a:r>
              <a:rPr lang="en-US" dirty="0">
                <a:latin typeface="Arial Black" pitchFamily="34" charset="0"/>
                <a:cs typeface="Arial" pitchFamily="34" charset="0"/>
              </a:rPr>
              <a:t>Hence, the error is detected at the receiver side.</a:t>
            </a:r>
            <a:br>
              <a:rPr kumimoji="0" lang="en-US" sz="1600" b="0" i="0" u="none" strike="noStrike" cap="none" normalizeH="0" baseline="0" dirty="0">
                <a:ln>
                  <a:noFill/>
                </a:ln>
                <a:effectLst/>
                <a:latin typeface="Arial Black" pitchFamily="34" charset="0"/>
                <a:cs typeface="Arial" pitchFamily="34" charset="0"/>
              </a:rPr>
            </a:br>
            <a:endParaRPr kumimoji="0" lang="en-US" sz="2800" b="0" i="0" u="none" strike="noStrike" cap="none" normalizeH="0" baseline="0" dirty="0">
              <a:ln>
                <a:noFill/>
              </a:ln>
              <a:effectLst/>
              <a:latin typeface="Arial Black" pitchFamily="34" charset="0"/>
              <a:cs typeface="Arial" pitchFamily="34" charset="0"/>
            </a:endParaRPr>
          </a:p>
        </p:txBody>
      </p:sp>
      <p:sp>
        <p:nvSpPr>
          <p:cNvPr id="2" name="Rectangle 1"/>
          <p:cNvSpPr>
            <a:spLocks noChangeArrowheads="1"/>
          </p:cNvSpPr>
          <p:nvPr/>
        </p:nvSpPr>
        <p:spPr bwMode="auto">
          <a:xfrm>
            <a:off x="1357953" y="1557681"/>
            <a:ext cx="2653996" cy="10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effectLst/>
                <a:cs typeface="Arial" pitchFamily="34" charset="0"/>
              </a:rPr>
              <a:t>Receiver Side: </a:t>
            </a:r>
          </a:p>
          <a:p>
            <a:pPr marL="0" marR="0" lvl="0" indent="0" algn="l" defTabSz="914400" rtl="0" eaLnBrk="1" fontAlgn="base" latinLnBrk="0" hangingPunct="1">
              <a:lnSpc>
                <a:spcPct val="100000"/>
              </a:lnSpc>
              <a:spcBef>
                <a:spcPct val="0"/>
              </a:spcBef>
              <a:spcAft>
                <a:spcPct val="0"/>
              </a:spcAft>
              <a:buClrTx/>
              <a:buSzTx/>
              <a:buFontTx/>
              <a:buNone/>
              <a:tabLst/>
            </a:pPr>
            <a:endParaRPr lang="en-US" sz="2000" dirty="0">
              <a:cs typeface="Arial" pitchFamily="34" charset="0"/>
            </a:endParaRPr>
          </a:p>
          <a:p>
            <a:pPr lvl="0" fontAlgn="base">
              <a:spcBef>
                <a:spcPct val="0"/>
              </a:spcBef>
              <a:spcAft>
                <a:spcPct val="0"/>
              </a:spcAft>
            </a:pPr>
            <a:r>
              <a:rPr kumimoji="0" lang="en-US" sz="2000" b="0" i="0" u="none" strike="noStrike" cap="none" normalizeH="0" baseline="0" dirty="0">
                <a:ln>
                  <a:noFill/>
                </a:ln>
                <a:effectLst/>
                <a:cs typeface="Arial" pitchFamily="34" charset="0"/>
              </a:rPr>
              <a:t>Received bits </a:t>
            </a:r>
            <a:r>
              <a:rPr lang="en-IN" sz="2000" dirty="0"/>
              <a:t>100000001</a:t>
            </a:r>
            <a:r>
              <a:rPr kumimoji="0" lang="en-US" b="0" i="0" u="none" strike="noStrike" cap="none" normalizeH="0" baseline="0" dirty="0">
                <a:ln>
                  <a:noFill/>
                </a:ln>
                <a:effectLst/>
                <a:cs typeface="Arial" pitchFamily="34" charset="0"/>
              </a:rPr>
              <a:t> </a:t>
            </a:r>
            <a:endParaRPr kumimoji="0" lang="en-US" sz="3200" b="0" i="0" u="none" strike="noStrike" cap="none" normalizeH="0" baseline="0" dirty="0">
              <a:ln>
                <a:noFill/>
              </a:ln>
              <a:effectLst/>
              <a:cs typeface="Arial" pitchFamily="34" charset="0"/>
            </a:endParaRPr>
          </a:p>
        </p:txBody>
      </p:sp>
      <p:pic>
        <p:nvPicPr>
          <p:cNvPr id="4098" name="Picture 2" descr="receiver 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5616" y="1179369"/>
            <a:ext cx="3379195" cy="5340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997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Cyclic Redundancy Check</a:t>
            </a:r>
            <a:endParaRPr lang="en-US" sz="3200" dirty="0">
              <a:latin typeface="Times New Roman"/>
              <a:cs typeface="Times New Roman"/>
            </a:endParaRPr>
          </a:p>
        </p:txBody>
      </p:sp>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FFFFFF"/>
                </a:solidFill>
                <a:effectLst/>
                <a:latin typeface="Consolas" pitchFamily="49" charset="0"/>
                <a:cs typeface="Arial" pitchFamily="34" charset="0"/>
              </a:rPr>
              <a:t>the remainder is 001 and hence the encoded data sent is 100100001. </a:t>
            </a:r>
            <a:br>
              <a:rPr kumimoji="0" lang="en-US" sz="11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5"/>
          <p:cNvSpPr>
            <a:spLocks noChangeArrowheads="1"/>
          </p:cNvSpPr>
          <p:nvPr/>
        </p:nvSpPr>
        <p:spPr bwMode="auto">
          <a:xfrm>
            <a:off x="1357953" y="1590704"/>
            <a:ext cx="7365243" cy="366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lvl="0" fontAlgn="base">
              <a:spcBef>
                <a:spcPct val="0"/>
              </a:spcBef>
              <a:spcAft>
                <a:spcPct val="0"/>
              </a:spcAft>
            </a:pPr>
            <a:r>
              <a:rPr lang="en-US" dirty="0">
                <a:latin typeface="Arial Black" pitchFamily="34" charset="0"/>
                <a:cs typeface="Arial" pitchFamily="34" charset="0"/>
              </a:rPr>
              <a:t>Exercise:</a:t>
            </a:r>
            <a:endParaRPr kumimoji="0" lang="en-US" sz="2800" b="0" i="0" u="none" strike="noStrike" cap="none" normalizeH="0" baseline="0" dirty="0">
              <a:ln>
                <a:noFill/>
              </a:ln>
              <a:effectLst/>
              <a:latin typeface="Arial Black" pitchFamily="34" charset="0"/>
              <a:cs typeface="Arial"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11" y="2132600"/>
            <a:ext cx="53340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91486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485145"/>
            <a:ext cx="8229600" cy="721351"/>
          </a:xfrm>
          <a:prstGeom prst="rect">
            <a:avLst/>
          </a:prstGeom>
          <a:solidFill>
            <a:srgbClr val="FFFF00"/>
          </a:solidFill>
        </p:spPr>
        <p:txBody>
          <a:bodyPr vert="horz" wrap="square" lIns="0" tIns="43815" rIns="0" bIns="0" rtlCol="0" anchor="ctr">
            <a:spAutoFit/>
          </a:bodyPr>
          <a:lstStyle/>
          <a:p>
            <a:pPr marL="91440">
              <a:lnSpc>
                <a:spcPct val="100000"/>
              </a:lnSpc>
              <a:spcBef>
                <a:spcPts val="345"/>
              </a:spcBef>
            </a:pPr>
            <a:r>
              <a:rPr lang="en-US" b="1" spc="-5" dirty="0">
                <a:solidFill>
                  <a:srgbClr val="333399"/>
                </a:solidFill>
                <a:latin typeface="Tahoma"/>
                <a:cs typeface="Tahoma"/>
              </a:rPr>
              <a:t>Error </a:t>
            </a:r>
            <a:r>
              <a:rPr b="1" dirty="0">
                <a:solidFill>
                  <a:srgbClr val="333399"/>
                </a:solidFill>
                <a:latin typeface="Tahoma"/>
                <a:cs typeface="Tahoma"/>
              </a:rPr>
              <a:t>Correction</a:t>
            </a:r>
            <a:endParaRPr dirty="0">
              <a:latin typeface="Tahoma"/>
              <a:cs typeface="Tahoma"/>
            </a:endParaRPr>
          </a:p>
        </p:txBody>
      </p:sp>
      <p:sp>
        <p:nvSpPr>
          <p:cNvPr id="5" name="TextBox 4">
            <a:extLst>
              <a:ext uri="{FF2B5EF4-FFF2-40B4-BE49-F238E27FC236}">
                <a16:creationId xmlns:a16="http://schemas.microsoft.com/office/drawing/2014/main" id="{B1988198-DD1D-8317-476A-6E7CADB056CC}"/>
              </a:ext>
            </a:extLst>
          </p:cNvPr>
          <p:cNvSpPr txBox="1"/>
          <p:nvPr/>
        </p:nvSpPr>
        <p:spPr>
          <a:xfrm>
            <a:off x="858252" y="1374339"/>
            <a:ext cx="10282989" cy="4401205"/>
          </a:xfrm>
          <a:prstGeom prst="rect">
            <a:avLst/>
          </a:prstGeom>
          <a:noFill/>
        </p:spPr>
        <p:txBody>
          <a:bodyPr wrap="square">
            <a:spAutoFit/>
          </a:bodyPr>
          <a:lstStyle/>
          <a:p>
            <a:pPr marL="457200" indent="-457200" algn="just">
              <a:buFont typeface="Wingdings" panose="05000000000000000000" pitchFamily="2" charset="2"/>
              <a:buChar char="§"/>
            </a:pPr>
            <a:r>
              <a:rPr lang="en-US" sz="2800" spc="220" dirty="0">
                <a:latin typeface="Cambria"/>
              </a:rPr>
              <a:t>There are two main methods of error correction. </a:t>
            </a:r>
          </a:p>
          <a:p>
            <a:pPr marL="457200" indent="-457200" algn="just">
              <a:buFont typeface="Wingdings" panose="05000000000000000000" pitchFamily="2" charset="2"/>
              <a:buChar char="§"/>
            </a:pPr>
            <a:r>
              <a:rPr lang="en-US" sz="2800" spc="220" dirty="0">
                <a:solidFill>
                  <a:srgbClr val="FF0000"/>
                </a:solidFill>
                <a:latin typeface="Cambria"/>
              </a:rPr>
              <a:t>Forward error correction </a:t>
            </a:r>
            <a:r>
              <a:rPr lang="en-US" sz="2800" spc="220" dirty="0">
                <a:latin typeface="Cambria"/>
              </a:rPr>
              <a:t>is the process in which the receiver tries to correct the error using error correction techniques.</a:t>
            </a:r>
          </a:p>
          <a:p>
            <a:pPr marL="457200" indent="-457200" algn="just">
              <a:buFont typeface="Wingdings" panose="05000000000000000000" pitchFamily="2" charset="2"/>
              <a:buChar char="§"/>
            </a:pPr>
            <a:r>
              <a:rPr lang="en-US" sz="2800" spc="220" dirty="0">
                <a:solidFill>
                  <a:srgbClr val="FF0000"/>
                </a:solidFill>
                <a:latin typeface="Cambria"/>
              </a:rPr>
              <a:t>Correction by retransmission </a:t>
            </a:r>
            <a:r>
              <a:rPr lang="en-US" sz="2800" spc="220" dirty="0">
                <a:latin typeface="Cambria"/>
              </a:rPr>
              <a:t>is a technique in which the receiver detects the occurrence of an error and asks the sender to resend the message. Resending is repeated until a message arrives that the receiver believes is error-free (usually, not all errors can be detected)</a:t>
            </a:r>
            <a:endParaRPr lang="en-IN" sz="2800" spc="220" dirty="0">
              <a:latin typeface="Cambria"/>
            </a:endParaRPr>
          </a:p>
        </p:txBody>
      </p:sp>
    </p:spTree>
    <p:extLst>
      <p:ext uri="{BB962C8B-B14F-4D97-AF65-F5344CB8AC3E}">
        <p14:creationId xmlns:p14="http://schemas.microsoft.com/office/powerpoint/2010/main" val="3559813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What is Hamming Code?</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99" y="1878365"/>
            <a:ext cx="11423176" cy="3598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3887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Terms Related to Hamming Code</a:t>
            </a:r>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481" y="1846294"/>
            <a:ext cx="12001927" cy="442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1257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Hamming Code(7,4)</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332" y="1834656"/>
            <a:ext cx="10960503" cy="490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47235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Hamming Code(7,4)</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865" y="1806011"/>
            <a:ext cx="10968393" cy="4926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193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Hamming Code(7,4)</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445" y="1787688"/>
            <a:ext cx="11168418" cy="5029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358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Hamming Code(7,4)</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981" y="1764896"/>
            <a:ext cx="34480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4119563"/>
            <a:ext cx="2390775"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0343" y="4095750"/>
            <a:ext cx="223837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24" y="4019550"/>
            <a:ext cx="24288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0267" y="5760706"/>
            <a:ext cx="34385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82981" y="3728907"/>
            <a:ext cx="3055393" cy="369332"/>
          </a:xfrm>
          <a:prstGeom prst="rect">
            <a:avLst/>
          </a:prstGeom>
          <a:noFill/>
        </p:spPr>
        <p:txBody>
          <a:bodyPr wrap="square" rtlCol="0">
            <a:spAutoFit/>
          </a:bodyPr>
          <a:lstStyle/>
          <a:p>
            <a:r>
              <a:rPr lang="en-US" b="1" dirty="0"/>
              <a:t>Parity Bit Calculation:</a:t>
            </a:r>
            <a:endParaRPr lang="en-IN" b="1" dirty="0"/>
          </a:p>
        </p:txBody>
      </p:sp>
      <p:sp>
        <p:nvSpPr>
          <p:cNvPr id="10" name="TextBox 9"/>
          <p:cNvSpPr txBox="1"/>
          <p:nvPr/>
        </p:nvSpPr>
        <p:spPr>
          <a:xfrm>
            <a:off x="2057186" y="6028477"/>
            <a:ext cx="1683081" cy="369332"/>
          </a:xfrm>
          <a:prstGeom prst="rect">
            <a:avLst/>
          </a:prstGeom>
          <a:noFill/>
        </p:spPr>
        <p:txBody>
          <a:bodyPr wrap="square" rtlCol="0">
            <a:spAutoFit/>
          </a:bodyPr>
          <a:lstStyle/>
          <a:p>
            <a:r>
              <a:rPr lang="en-US" b="1" dirty="0"/>
              <a:t>Transmitted Bit</a:t>
            </a:r>
            <a:endParaRPr lang="en-IN" b="1" dirty="0"/>
          </a:p>
        </p:txBody>
      </p:sp>
    </p:spTree>
    <p:extLst>
      <p:ext uri="{BB962C8B-B14F-4D97-AF65-F5344CB8AC3E}">
        <p14:creationId xmlns:p14="http://schemas.microsoft.com/office/powerpoint/2010/main" val="5985647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Error Detection – Hamming Code</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082" y="1938338"/>
            <a:ext cx="3429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2968292384"/>
              </p:ext>
            </p:extLst>
          </p:nvPr>
        </p:nvGraphicFramePr>
        <p:xfrm>
          <a:off x="833082" y="3640287"/>
          <a:ext cx="10153365" cy="1483360"/>
        </p:xfrm>
        <a:graphic>
          <a:graphicData uri="http://schemas.openxmlformats.org/drawingml/2006/table">
            <a:tbl>
              <a:tblPr firstRow="1" bandRow="1">
                <a:tableStyleId>{5C22544A-7EE6-4342-B048-85BDC9FD1C3A}</a:tableStyleId>
              </a:tblPr>
              <a:tblGrid>
                <a:gridCol w="3384455">
                  <a:extLst>
                    <a:ext uri="{9D8B030D-6E8A-4147-A177-3AD203B41FA5}">
                      <a16:colId xmlns:a16="http://schemas.microsoft.com/office/drawing/2014/main" val="20000"/>
                    </a:ext>
                  </a:extLst>
                </a:gridCol>
                <a:gridCol w="3384455">
                  <a:extLst>
                    <a:ext uri="{9D8B030D-6E8A-4147-A177-3AD203B41FA5}">
                      <a16:colId xmlns:a16="http://schemas.microsoft.com/office/drawing/2014/main" val="20001"/>
                    </a:ext>
                  </a:extLst>
                </a:gridCol>
                <a:gridCol w="3384455">
                  <a:extLst>
                    <a:ext uri="{9D8B030D-6E8A-4147-A177-3AD203B41FA5}">
                      <a16:colId xmlns:a16="http://schemas.microsoft.com/office/drawing/2014/main" val="20002"/>
                    </a:ext>
                  </a:extLst>
                </a:gridCol>
              </a:tblGrid>
              <a:tr h="370840">
                <a:tc>
                  <a:txBody>
                    <a:bodyPr/>
                    <a:lstStyle/>
                    <a:p>
                      <a:r>
                        <a:rPr lang="en-US" dirty="0"/>
                        <a:t>Parity Bits</a:t>
                      </a:r>
                      <a:endParaRPr lang="en-IN" dirty="0"/>
                    </a:p>
                  </a:txBody>
                  <a:tcPr/>
                </a:tc>
                <a:tc>
                  <a:txBody>
                    <a:bodyPr/>
                    <a:lstStyle/>
                    <a:p>
                      <a:endParaRPr lang="en-IN" dirty="0"/>
                    </a:p>
                  </a:txBody>
                  <a:tcPr/>
                </a:tc>
                <a:tc>
                  <a:txBody>
                    <a:bodyPr/>
                    <a:lstStyle/>
                    <a:p>
                      <a:r>
                        <a:rPr lang="en-US" dirty="0"/>
                        <a:t>Calculated Parity</a:t>
                      </a:r>
                      <a:endParaRPr lang="en-IN" dirty="0"/>
                    </a:p>
                  </a:txBody>
                  <a:tcPr/>
                </a:tc>
                <a:extLst>
                  <a:ext uri="{0D108BD9-81ED-4DB2-BD59-A6C34878D82A}">
                    <a16:rowId xmlns:a16="http://schemas.microsoft.com/office/drawing/2014/main" val="10000"/>
                  </a:ext>
                </a:extLst>
              </a:tr>
              <a:tr h="370840">
                <a:tc>
                  <a:txBody>
                    <a:bodyPr/>
                    <a:lstStyle/>
                    <a:p>
                      <a:r>
                        <a:rPr lang="en-US" dirty="0"/>
                        <a:t>P</a:t>
                      </a:r>
                      <a:r>
                        <a:rPr lang="en-US" baseline="-25000" dirty="0"/>
                        <a:t>1</a:t>
                      </a:r>
                      <a:r>
                        <a:rPr lang="en-US" dirty="0"/>
                        <a:t> – 3,5,7 – P</a:t>
                      </a:r>
                      <a:r>
                        <a:rPr lang="en-US" baseline="-25000" dirty="0"/>
                        <a:t>1</a:t>
                      </a:r>
                      <a:r>
                        <a:rPr lang="en-US" dirty="0"/>
                        <a:t>,D</a:t>
                      </a:r>
                      <a:r>
                        <a:rPr lang="en-US" baseline="-25000" dirty="0"/>
                        <a:t>1</a:t>
                      </a:r>
                      <a:r>
                        <a:rPr lang="en-US" dirty="0"/>
                        <a:t>,D</a:t>
                      </a:r>
                      <a:r>
                        <a:rPr lang="en-US" baseline="-25000" dirty="0"/>
                        <a:t>2</a:t>
                      </a:r>
                      <a:r>
                        <a:rPr lang="en-US" dirty="0"/>
                        <a:t>,D</a:t>
                      </a:r>
                      <a:r>
                        <a:rPr lang="en-US" baseline="-25000" dirty="0"/>
                        <a:t>4</a:t>
                      </a:r>
                      <a:endParaRPr lang="en-IN"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a:t>
                      </a:r>
                      <a:r>
                        <a:rPr lang="en-US" baseline="-25000" dirty="0"/>
                        <a:t>1</a:t>
                      </a:r>
                      <a:r>
                        <a:rPr lang="en-US" dirty="0"/>
                        <a:t>,D</a:t>
                      </a:r>
                      <a:r>
                        <a:rPr lang="en-US" baseline="-25000" dirty="0"/>
                        <a:t>1</a:t>
                      </a:r>
                      <a:r>
                        <a:rPr lang="en-US" dirty="0"/>
                        <a:t>,D</a:t>
                      </a:r>
                      <a:r>
                        <a:rPr lang="en-US" baseline="-25000" dirty="0"/>
                        <a:t>2</a:t>
                      </a:r>
                      <a:r>
                        <a:rPr lang="en-US" dirty="0"/>
                        <a:t>,D</a:t>
                      </a:r>
                      <a:r>
                        <a:rPr lang="en-US" baseline="-25000" dirty="0"/>
                        <a:t>4</a:t>
                      </a:r>
                      <a:r>
                        <a:rPr lang="en-US" dirty="0"/>
                        <a:t> - 0 0 1 1</a:t>
                      </a:r>
                    </a:p>
                  </a:txBody>
                  <a:tcPr/>
                </a:tc>
                <a:tc>
                  <a:txBody>
                    <a:bodyPr/>
                    <a:lstStyle/>
                    <a:p>
                      <a:r>
                        <a:rPr lang="en-US" dirty="0"/>
                        <a:t>0</a:t>
                      </a:r>
                      <a:endParaRPr lang="en-IN" dirty="0"/>
                    </a:p>
                  </a:txBody>
                  <a:tcPr/>
                </a:tc>
                <a:extLst>
                  <a:ext uri="{0D108BD9-81ED-4DB2-BD59-A6C34878D82A}">
                    <a16:rowId xmlns:a16="http://schemas.microsoft.com/office/drawing/2014/main" val="10001"/>
                  </a:ext>
                </a:extLst>
              </a:tr>
              <a:tr h="370840">
                <a:tc>
                  <a:txBody>
                    <a:bodyPr/>
                    <a:lstStyle/>
                    <a:p>
                      <a:r>
                        <a:rPr lang="en-US" dirty="0"/>
                        <a:t>P</a:t>
                      </a:r>
                      <a:r>
                        <a:rPr lang="en-US" baseline="-25000" dirty="0"/>
                        <a:t>2</a:t>
                      </a:r>
                      <a:r>
                        <a:rPr lang="en-US" dirty="0"/>
                        <a:t> – 3,6,7– P</a:t>
                      </a:r>
                      <a:r>
                        <a:rPr lang="en-US" baseline="-25000" dirty="0"/>
                        <a:t>2</a:t>
                      </a:r>
                      <a:r>
                        <a:rPr lang="en-US" dirty="0"/>
                        <a:t>,D</a:t>
                      </a:r>
                      <a:r>
                        <a:rPr lang="en-US" baseline="-25000" dirty="0"/>
                        <a:t>1</a:t>
                      </a:r>
                      <a:r>
                        <a:rPr lang="en-US" dirty="0"/>
                        <a:t>,D</a:t>
                      </a:r>
                      <a:r>
                        <a:rPr lang="en-US" baseline="-25000" dirty="0"/>
                        <a:t>3</a:t>
                      </a:r>
                      <a:r>
                        <a:rPr lang="en-US" dirty="0"/>
                        <a:t>,D</a:t>
                      </a:r>
                      <a:r>
                        <a:rPr lang="en-US" baseline="-25000" dirty="0"/>
                        <a:t>4</a:t>
                      </a:r>
                      <a:endParaRPr lang="en-IN" dirty="0"/>
                    </a:p>
                  </a:txBody>
                  <a:tcPr/>
                </a:tc>
                <a:tc>
                  <a:txBody>
                    <a:bodyPr/>
                    <a:lstStyle/>
                    <a:p>
                      <a:r>
                        <a:rPr lang="en-US" dirty="0"/>
                        <a:t>P</a:t>
                      </a:r>
                      <a:r>
                        <a:rPr lang="en-US" baseline="-25000" dirty="0"/>
                        <a:t>2</a:t>
                      </a:r>
                      <a:r>
                        <a:rPr lang="en-US" dirty="0"/>
                        <a:t>,D</a:t>
                      </a:r>
                      <a:r>
                        <a:rPr lang="en-US" baseline="-25000" dirty="0"/>
                        <a:t>1</a:t>
                      </a:r>
                      <a:r>
                        <a:rPr lang="en-US" dirty="0"/>
                        <a:t>,D</a:t>
                      </a:r>
                      <a:r>
                        <a:rPr lang="en-US" baseline="-25000" dirty="0"/>
                        <a:t>3</a:t>
                      </a:r>
                      <a:r>
                        <a:rPr lang="en-US" dirty="0"/>
                        <a:t>,D</a:t>
                      </a:r>
                      <a:r>
                        <a:rPr lang="en-US" baseline="-25000" dirty="0"/>
                        <a:t>4 </a:t>
                      </a:r>
                      <a:r>
                        <a:rPr lang="en-US" baseline="0" dirty="0"/>
                        <a:t>- </a:t>
                      </a:r>
                      <a:r>
                        <a:rPr lang="en-US" dirty="0"/>
                        <a:t>1 0 1 1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2"/>
                  </a:ext>
                </a:extLst>
              </a:tr>
              <a:tr h="370840">
                <a:tc>
                  <a:txBody>
                    <a:bodyPr/>
                    <a:lstStyle/>
                    <a:p>
                      <a:r>
                        <a:rPr lang="en-US" dirty="0"/>
                        <a:t>P</a:t>
                      </a:r>
                      <a:r>
                        <a:rPr lang="en-US" baseline="-25000" dirty="0"/>
                        <a:t>3</a:t>
                      </a:r>
                      <a:r>
                        <a:rPr lang="en-US" dirty="0"/>
                        <a:t> – 5,6,7– P</a:t>
                      </a:r>
                      <a:r>
                        <a:rPr lang="en-US" baseline="-25000" dirty="0"/>
                        <a:t>3</a:t>
                      </a:r>
                      <a:r>
                        <a:rPr lang="en-US" dirty="0"/>
                        <a:t>,D</a:t>
                      </a:r>
                      <a:r>
                        <a:rPr lang="en-US" baseline="-25000" dirty="0"/>
                        <a:t>2</a:t>
                      </a:r>
                      <a:r>
                        <a:rPr lang="en-US" dirty="0"/>
                        <a:t>,D</a:t>
                      </a:r>
                      <a:r>
                        <a:rPr lang="en-US" baseline="-25000" dirty="0"/>
                        <a:t>3</a:t>
                      </a:r>
                      <a:r>
                        <a:rPr lang="en-US" dirty="0"/>
                        <a:t>,D</a:t>
                      </a:r>
                      <a:r>
                        <a:rPr lang="en-US" baseline="-25000" dirty="0"/>
                        <a:t>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a:t>
                      </a:r>
                      <a:r>
                        <a:rPr lang="en-US" baseline="-25000" dirty="0"/>
                        <a:t>3</a:t>
                      </a:r>
                      <a:r>
                        <a:rPr lang="en-US" dirty="0"/>
                        <a:t>,D</a:t>
                      </a:r>
                      <a:r>
                        <a:rPr lang="en-US" baseline="-25000" dirty="0"/>
                        <a:t>2</a:t>
                      </a:r>
                      <a:r>
                        <a:rPr lang="en-US" dirty="0"/>
                        <a:t>,D</a:t>
                      </a:r>
                      <a:r>
                        <a:rPr lang="en-US" baseline="-25000" dirty="0"/>
                        <a:t>3</a:t>
                      </a:r>
                      <a:r>
                        <a:rPr lang="en-US" dirty="0"/>
                        <a:t>,D</a:t>
                      </a:r>
                      <a:r>
                        <a:rPr lang="en-US" baseline="-25000" dirty="0"/>
                        <a:t>4</a:t>
                      </a:r>
                      <a:r>
                        <a:rPr lang="en-US" dirty="0"/>
                        <a:t> - 0 1 1 1</a:t>
                      </a:r>
                    </a:p>
                  </a:txBody>
                  <a:tcPr/>
                </a:tc>
                <a:tc>
                  <a:txBody>
                    <a:bodyPr/>
                    <a:lstStyle/>
                    <a:p>
                      <a:r>
                        <a:rPr lang="en-US" dirty="0"/>
                        <a:t>1</a:t>
                      </a:r>
                      <a:endParaRPr lang="en-IN" dirty="0"/>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968990" y="5527343"/>
            <a:ext cx="9785445" cy="369332"/>
          </a:xfrm>
          <a:prstGeom prst="rect">
            <a:avLst/>
          </a:prstGeom>
          <a:noFill/>
        </p:spPr>
        <p:txBody>
          <a:bodyPr wrap="square" rtlCol="0">
            <a:spAutoFit/>
          </a:bodyPr>
          <a:lstStyle/>
          <a:p>
            <a:r>
              <a:rPr lang="en-US" dirty="0"/>
              <a:t>Calculated Parity bits are not zero. It indicates that there is error in the received bits – Error is detected</a:t>
            </a:r>
            <a:endParaRPr lang="en-IN" dirty="0"/>
          </a:p>
        </p:txBody>
      </p:sp>
    </p:spTree>
    <p:extLst>
      <p:ext uri="{BB962C8B-B14F-4D97-AF65-F5344CB8AC3E}">
        <p14:creationId xmlns:p14="http://schemas.microsoft.com/office/powerpoint/2010/main" val="27788917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Error Detection – Hamming Code</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93876100"/>
              </p:ext>
            </p:extLst>
          </p:nvPr>
        </p:nvGraphicFramePr>
        <p:xfrm>
          <a:off x="720338" y="3429000"/>
          <a:ext cx="9337539" cy="1752600"/>
        </p:xfrm>
        <a:graphic>
          <a:graphicData uri="http://schemas.openxmlformats.org/drawingml/2006/table">
            <a:tbl>
              <a:tblPr firstRow="1" bandRow="1">
                <a:tableStyleId>{5C22544A-7EE6-4342-B048-85BDC9FD1C3A}</a:tableStyleId>
              </a:tblPr>
              <a:tblGrid>
                <a:gridCol w="3384455">
                  <a:extLst>
                    <a:ext uri="{9D8B030D-6E8A-4147-A177-3AD203B41FA5}">
                      <a16:colId xmlns:a16="http://schemas.microsoft.com/office/drawing/2014/main" val="20000"/>
                    </a:ext>
                  </a:extLst>
                </a:gridCol>
                <a:gridCol w="1726063">
                  <a:extLst>
                    <a:ext uri="{9D8B030D-6E8A-4147-A177-3AD203B41FA5}">
                      <a16:colId xmlns:a16="http://schemas.microsoft.com/office/drawing/2014/main" val="20001"/>
                    </a:ext>
                  </a:extLst>
                </a:gridCol>
                <a:gridCol w="2053316">
                  <a:extLst>
                    <a:ext uri="{9D8B030D-6E8A-4147-A177-3AD203B41FA5}">
                      <a16:colId xmlns:a16="http://schemas.microsoft.com/office/drawing/2014/main" val="20002"/>
                    </a:ext>
                  </a:extLst>
                </a:gridCol>
                <a:gridCol w="2173705">
                  <a:extLst>
                    <a:ext uri="{9D8B030D-6E8A-4147-A177-3AD203B41FA5}">
                      <a16:colId xmlns:a16="http://schemas.microsoft.com/office/drawing/2014/main" val="2722498445"/>
                    </a:ext>
                  </a:extLst>
                </a:gridCol>
              </a:tblGrid>
              <a:tr h="370840">
                <a:tc>
                  <a:txBody>
                    <a:bodyPr/>
                    <a:lstStyle/>
                    <a:p>
                      <a:r>
                        <a:rPr lang="en-US" dirty="0"/>
                        <a:t>Parity Bits</a:t>
                      </a:r>
                      <a:endParaRPr lang="en-IN" dirty="0"/>
                    </a:p>
                  </a:txBody>
                  <a:tcPr/>
                </a:tc>
                <a:tc>
                  <a:txBody>
                    <a:bodyPr/>
                    <a:lstStyle/>
                    <a:p>
                      <a:r>
                        <a:rPr lang="en-US" dirty="0"/>
                        <a:t>Calculated</a:t>
                      </a:r>
                      <a:r>
                        <a:rPr lang="en-IN" dirty="0"/>
                        <a:t> Parity </a:t>
                      </a:r>
                    </a:p>
                  </a:txBody>
                  <a:tcPr/>
                </a:tc>
                <a:tc>
                  <a:txBody>
                    <a:bodyPr/>
                    <a:lstStyle/>
                    <a:p>
                      <a:r>
                        <a:rPr lang="en-IN" dirty="0"/>
                        <a:t>Received </a:t>
                      </a:r>
                      <a:r>
                        <a:rPr lang="en-US" dirty="0"/>
                        <a:t>Parity</a:t>
                      </a:r>
                      <a:endParaRPr lang="en-IN" dirty="0"/>
                    </a:p>
                  </a:txBody>
                  <a:tcPr/>
                </a:tc>
                <a:tc>
                  <a:txBody>
                    <a:bodyPr/>
                    <a:lstStyle/>
                    <a:p>
                      <a:r>
                        <a:rPr lang="en-IN" dirty="0"/>
                        <a:t>Check Received = Calculated </a:t>
                      </a:r>
                    </a:p>
                  </a:txBody>
                  <a:tcPr/>
                </a:tc>
                <a:extLst>
                  <a:ext uri="{0D108BD9-81ED-4DB2-BD59-A6C34878D82A}">
                    <a16:rowId xmlns:a16="http://schemas.microsoft.com/office/drawing/2014/main" val="10000"/>
                  </a:ext>
                </a:extLst>
              </a:tr>
              <a:tr h="370840">
                <a:tc>
                  <a:txBody>
                    <a:bodyPr/>
                    <a:lstStyle/>
                    <a:p>
                      <a:r>
                        <a:rPr lang="en-US" dirty="0"/>
                        <a:t>P</a:t>
                      </a:r>
                      <a:r>
                        <a:rPr lang="en-US" baseline="-25000" dirty="0"/>
                        <a:t>1</a:t>
                      </a:r>
                      <a:r>
                        <a:rPr lang="en-US" dirty="0"/>
                        <a:t> – 3,5,7 –D</a:t>
                      </a:r>
                      <a:r>
                        <a:rPr lang="en-US" baseline="-25000" dirty="0"/>
                        <a:t>1</a:t>
                      </a:r>
                      <a:r>
                        <a:rPr lang="en-US" dirty="0"/>
                        <a:t>,D</a:t>
                      </a:r>
                      <a:r>
                        <a:rPr lang="en-US" baseline="-25000" dirty="0"/>
                        <a:t>2</a:t>
                      </a:r>
                      <a:r>
                        <a:rPr lang="en-US" dirty="0"/>
                        <a:t>,D</a:t>
                      </a:r>
                      <a:r>
                        <a:rPr lang="en-US" baseline="-25000" dirty="0"/>
                        <a:t>4 </a:t>
                      </a:r>
                      <a:r>
                        <a:rPr lang="en-US" baseline="0" dirty="0"/>
                        <a:t>– 0,1,1</a:t>
                      </a:r>
                      <a:endParaRPr lang="en-IN" baseline="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endParaRPr lang="en-IN" dirty="0"/>
                    </a:p>
                  </a:txBody>
                  <a:tcPr/>
                </a:tc>
                <a:tc>
                  <a:txBody>
                    <a:bodyPr/>
                    <a:lstStyle/>
                    <a:p>
                      <a:r>
                        <a:rPr lang="en-IN" dirty="0"/>
                        <a:t>0</a:t>
                      </a:r>
                    </a:p>
                  </a:txBody>
                  <a:tcPr/>
                </a:tc>
                <a:extLst>
                  <a:ext uri="{0D108BD9-81ED-4DB2-BD59-A6C34878D82A}">
                    <a16:rowId xmlns:a16="http://schemas.microsoft.com/office/drawing/2014/main" val="10001"/>
                  </a:ext>
                </a:extLst>
              </a:tr>
              <a:tr h="370840">
                <a:tc>
                  <a:txBody>
                    <a:bodyPr/>
                    <a:lstStyle/>
                    <a:p>
                      <a:r>
                        <a:rPr lang="en-US" dirty="0"/>
                        <a:t>P</a:t>
                      </a:r>
                      <a:r>
                        <a:rPr lang="en-US" baseline="-25000" dirty="0"/>
                        <a:t>2</a:t>
                      </a:r>
                      <a:r>
                        <a:rPr lang="en-US" dirty="0"/>
                        <a:t> – 3,6,7–D</a:t>
                      </a:r>
                      <a:r>
                        <a:rPr lang="en-US" baseline="-25000" dirty="0"/>
                        <a:t>1</a:t>
                      </a:r>
                      <a:r>
                        <a:rPr lang="en-US" dirty="0"/>
                        <a:t>,D</a:t>
                      </a:r>
                      <a:r>
                        <a:rPr lang="en-US" baseline="-25000" dirty="0"/>
                        <a:t>3</a:t>
                      </a:r>
                      <a:r>
                        <a:rPr lang="en-US" dirty="0"/>
                        <a:t>,D</a:t>
                      </a:r>
                      <a:r>
                        <a:rPr lang="en-US" baseline="-25000" dirty="0"/>
                        <a:t>4 </a:t>
                      </a:r>
                      <a:r>
                        <a:rPr lang="en-US" baseline="0" dirty="0"/>
                        <a:t>– 0, 0, 1</a:t>
                      </a:r>
                      <a:endParaRPr lang="en-IN" baseline="0"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IN" dirty="0"/>
                        <a:t>0</a:t>
                      </a:r>
                    </a:p>
                  </a:txBody>
                  <a:tcPr/>
                </a:tc>
                <a:extLst>
                  <a:ext uri="{0D108BD9-81ED-4DB2-BD59-A6C34878D82A}">
                    <a16:rowId xmlns:a16="http://schemas.microsoft.com/office/drawing/2014/main" val="10002"/>
                  </a:ext>
                </a:extLst>
              </a:tr>
              <a:tr h="370840">
                <a:tc>
                  <a:txBody>
                    <a:bodyPr/>
                    <a:lstStyle/>
                    <a:p>
                      <a:r>
                        <a:rPr lang="en-US" dirty="0"/>
                        <a:t>P</a:t>
                      </a:r>
                      <a:r>
                        <a:rPr lang="en-US" baseline="-25000" dirty="0"/>
                        <a:t>3</a:t>
                      </a:r>
                      <a:r>
                        <a:rPr lang="en-US" dirty="0"/>
                        <a:t> – 5,6,7–D</a:t>
                      </a:r>
                      <a:r>
                        <a:rPr lang="en-US" baseline="-25000" dirty="0"/>
                        <a:t>2</a:t>
                      </a:r>
                      <a:r>
                        <a:rPr lang="en-US" dirty="0"/>
                        <a:t>,D</a:t>
                      </a:r>
                      <a:r>
                        <a:rPr lang="en-US" baseline="-25000" dirty="0"/>
                        <a:t>3</a:t>
                      </a:r>
                      <a:r>
                        <a:rPr lang="en-US" dirty="0"/>
                        <a:t>,D</a:t>
                      </a:r>
                      <a:r>
                        <a:rPr lang="en-US" baseline="-25000" dirty="0"/>
                        <a:t>4</a:t>
                      </a:r>
                      <a:r>
                        <a:rPr lang="en-US" baseline="0" dirty="0"/>
                        <a:t>- 1,0,1</a:t>
                      </a:r>
                      <a:endParaRPr lang="en-IN" baseline="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endParaRPr lang="en-IN" dirty="0"/>
                    </a:p>
                  </a:txBody>
                  <a:tcPr/>
                </a:tc>
                <a:tc>
                  <a:txBody>
                    <a:bodyPr/>
                    <a:lstStyle/>
                    <a:p>
                      <a:r>
                        <a:rPr lang="en-IN" dirty="0"/>
                        <a:t>0</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968990" y="5527343"/>
            <a:ext cx="9785445" cy="369332"/>
          </a:xfrm>
          <a:prstGeom prst="rect">
            <a:avLst/>
          </a:prstGeom>
          <a:noFill/>
        </p:spPr>
        <p:txBody>
          <a:bodyPr wrap="square" rtlCol="0">
            <a:spAutoFit/>
          </a:bodyPr>
          <a:lstStyle/>
          <a:p>
            <a:r>
              <a:rPr lang="en-US" dirty="0"/>
              <a:t>The received and calculated parity bits are same. It indicates that there is no error in the received bits</a:t>
            </a:r>
            <a:endParaRPr lang="en-IN" dirty="0"/>
          </a:p>
        </p:txBody>
      </p:sp>
      <p:sp>
        <p:nvSpPr>
          <p:cNvPr id="3" name="TextBox 2">
            <a:extLst>
              <a:ext uri="{FF2B5EF4-FFF2-40B4-BE49-F238E27FC236}">
                <a16:creationId xmlns:a16="http://schemas.microsoft.com/office/drawing/2014/main" id="{B4758D2A-33AC-F548-4A8F-73E48CB9B66C}"/>
              </a:ext>
            </a:extLst>
          </p:cNvPr>
          <p:cNvSpPr txBox="1"/>
          <p:nvPr/>
        </p:nvSpPr>
        <p:spPr>
          <a:xfrm>
            <a:off x="968990" y="1876926"/>
            <a:ext cx="3827599" cy="1477328"/>
          </a:xfrm>
          <a:prstGeom prst="rect">
            <a:avLst/>
          </a:prstGeom>
          <a:noFill/>
        </p:spPr>
        <p:txBody>
          <a:bodyPr wrap="square" rtlCol="0">
            <a:spAutoFit/>
          </a:bodyPr>
          <a:lstStyle/>
          <a:p>
            <a:r>
              <a:rPr lang="en-IN" dirty="0"/>
              <a:t>Transmitted Bits – 1010010</a:t>
            </a:r>
          </a:p>
          <a:p>
            <a:endParaRPr lang="en-IN" dirty="0"/>
          </a:p>
          <a:p>
            <a:r>
              <a:rPr lang="en-IN" dirty="0"/>
              <a:t>Received Bits – 1010010</a:t>
            </a:r>
          </a:p>
          <a:p>
            <a:endParaRPr lang="en-IN" dirty="0"/>
          </a:p>
          <a:p>
            <a:r>
              <a:rPr lang="en-IN" dirty="0"/>
              <a:t>D</a:t>
            </a:r>
            <a:r>
              <a:rPr lang="en-IN" baseline="-25000" dirty="0"/>
              <a:t>1</a:t>
            </a:r>
            <a:r>
              <a:rPr lang="en-IN" dirty="0"/>
              <a:t> – 0 , D</a:t>
            </a:r>
            <a:r>
              <a:rPr lang="en-IN" baseline="-25000" dirty="0"/>
              <a:t>2</a:t>
            </a:r>
            <a:r>
              <a:rPr lang="en-IN" dirty="0"/>
              <a:t> – 1, D</a:t>
            </a:r>
            <a:r>
              <a:rPr lang="en-IN" baseline="-25000" dirty="0"/>
              <a:t>3</a:t>
            </a:r>
            <a:r>
              <a:rPr lang="en-IN" dirty="0"/>
              <a:t> – 0, D</a:t>
            </a:r>
            <a:r>
              <a:rPr lang="en-IN" baseline="-25000" dirty="0"/>
              <a:t>4</a:t>
            </a:r>
            <a:r>
              <a:rPr lang="en-IN" dirty="0"/>
              <a:t> – 1 </a:t>
            </a:r>
          </a:p>
        </p:txBody>
      </p:sp>
    </p:spTree>
    <p:extLst>
      <p:ext uri="{BB962C8B-B14F-4D97-AF65-F5344CB8AC3E}">
        <p14:creationId xmlns:p14="http://schemas.microsoft.com/office/powerpoint/2010/main" val="2510772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Error Correction – Hamming Code</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082" y="1938338"/>
            <a:ext cx="3429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3558590004"/>
              </p:ext>
            </p:extLst>
          </p:nvPr>
        </p:nvGraphicFramePr>
        <p:xfrm>
          <a:off x="833082" y="3338513"/>
          <a:ext cx="9170730" cy="1752600"/>
        </p:xfrm>
        <a:graphic>
          <a:graphicData uri="http://schemas.openxmlformats.org/drawingml/2006/table">
            <a:tbl>
              <a:tblPr firstRow="1" bandRow="1">
                <a:tableStyleId>{5C22544A-7EE6-4342-B048-85BDC9FD1C3A}</a:tableStyleId>
              </a:tblPr>
              <a:tblGrid>
                <a:gridCol w="3056910">
                  <a:extLst>
                    <a:ext uri="{9D8B030D-6E8A-4147-A177-3AD203B41FA5}">
                      <a16:colId xmlns:a16="http://schemas.microsoft.com/office/drawing/2014/main" val="20000"/>
                    </a:ext>
                  </a:extLst>
                </a:gridCol>
                <a:gridCol w="1528455">
                  <a:extLst>
                    <a:ext uri="{9D8B030D-6E8A-4147-A177-3AD203B41FA5}">
                      <a16:colId xmlns:a16="http://schemas.microsoft.com/office/drawing/2014/main" val="20001"/>
                    </a:ext>
                  </a:extLst>
                </a:gridCol>
                <a:gridCol w="1528455">
                  <a:extLst>
                    <a:ext uri="{9D8B030D-6E8A-4147-A177-3AD203B41FA5}">
                      <a16:colId xmlns:a16="http://schemas.microsoft.com/office/drawing/2014/main" val="395308353"/>
                    </a:ext>
                  </a:extLst>
                </a:gridCol>
                <a:gridCol w="3056910">
                  <a:extLst>
                    <a:ext uri="{9D8B030D-6E8A-4147-A177-3AD203B41FA5}">
                      <a16:colId xmlns:a16="http://schemas.microsoft.com/office/drawing/2014/main" val="20002"/>
                    </a:ext>
                  </a:extLst>
                </a:gridCol>
              </a:tblGrid>
              <a:tr h="370840">
                <a:tc>
                  <a:txBody>
                    <a:bodyPr/>
                    <a:lstStyle/>
                    <a:p>
                      <a:r>
                        <a:rPr lang="en-US" dirty="0"/>
                        <a:t>Parity Bits</a:t>
                      </a:r>
                      <a:endParaRPr lang="en-IN" dirty="0"/>
                    </a:p>
                  </a:txBody>
                  <a:tcPr/>
                </a:tc>
                <a:tc>
                  <a:txBody>
                    <a:bodyPr/>
                    <a:lstStyle/>
                    <a:p>
                      <a:r>
                        <a:rPr lang="en-IN" dirty="0"/>
                        <a:t>Calculated Parity</a:t>
                      </a:r>
                    </a:p>
                  </a:txBody>
                  <a:tcPr/>
                </a:tc>
                <a:tc>
                  <a:txBody>
                    <a:bodyPr/>
                    <a:lstStyle/>
                    <a:p>
                      <a:r>
                        <a:rPr lang="en-IN" dirty="0"/>
                        <a:t>Received </a:t>
                      </a:r>
                      <a:r>
                        <a:rPr lang="en-US" dirty="0"/>
                        <a:t>Parity</a:t>
                      </a:r>
                      <a:endParaRPr lang="en-IN" dirty="0"/>
                    </a:p>
                  </a:txBody>
                  <a:tcPr/>
                </a:tc>
                <a:tc>
                  <a:txBody>
                    <a:bodyPr/>
                    <a:lstStyle/>
                    <a:p>
                      <a:r>
                        <a:rPr lang="en-US" dirty="0"/>
                        <a:t>Check Calculated Parity = Received Parity (Syndrome)</a:t>
                      </a:r>
                      <a:endParaRPr lang="en-IN" dirty="0"/>
                    </a:p>
                  </a:txBody>
                  <a:tcPr/>
                </a:tc>
                <a:extLst>
                  <a:ext uri="{0D108BD9-81ED-4DB2-BD59-A6C34878D82A}">
                    <a16:rowId xmlns:a16="http://schemas.microsoft.com/office/drawing/2014/main" val="10000"/>
                  </a:ext>
                </a:extLst>
              </a:tr>
              <a:tr h="370840">
                <a:tc>
                  <a:txBody>
                    <a:bodyPr/>
                    <a:lstStyle/>
                    <a:p>
                      <a:r>
                        <a:rPr lang="en-US" dirty="0"/>
                        <a:t>P</a:t>
                      </a:r>
                      <a:r>
                        <a:rPr lang="en-US" baseline="-25000" dirty="0"/>
                        <a:t>1</a:t>
                      </a:r>
                      <a:r>
                        <a:rPr lang="en-US" dirty="0"/>
                        <a:t> – 3,5,7 – D</a:t>
                      </a:r>
                      <a:r>
                        <a:rPr lang="en-US" baseline="-25000" dirty="0"/>
                        <a:t>1</a:t>
                      </a:r>
                      <a:r>
                        <a:rPr lang="en-US" dirty="0"/>
                        <a:t>,D</a:t>
                      </a:r>
                      <a:r>
                        <a:rPr lang="en-US" baseline="-25000" dirty="0"/>
                        <a:t>2</a:t>
                      </a:r>
                      <a:r>
                        <a:rPr lang="en-US" dirty="0"/>
                        <a:t>,D</a:t>
                      </a:r>
                      <a:r>
                        <a:rPr lang="en-US" baseline="-25000" dirty="0"/>
                        <a:t>4 </a:t>
                      </a:r>
                      <a:r>
                        <a:rPr lang="en-US" baseline="0" dirty="0"/>
                        <a:t>– 0, 1, 1</a:t>
                      </a:r>
                      <a:endParaRPr lang="en-IN" baseline="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0001"/>
                  </a:ext>
                </a:extLst>
              </a:tr>
              <a:tr h="370840">
                <a:tc>
                  <a:txBody>
                    <a:bodyPr/>
                    <a:lstStyle/>
                    <a:p>
                      <a:r>
                        <a:rPr lang="en-US" dirty="0"/>
                        <a:t>P</a:t>
                      </a:r>
                      <a:r>
                        <a:rPr lang="en-US" baseline="-25000" dirty="0"/>
                        <a:t>2</a:t>
                      </a:r>
                      <a:r>
                        <a:rPr lang="en-US" dirty="0"/>
                        <a:t> – 3,6,7– D</a:t>
                      </a:r>
                      <a:r>
                        <a:rPr lang="en-US" baseline="-25000" dirty="0"/>
                        <a:t>1</a:t>
                      </a:r>
                      <a:r>
                        <a:rPr lang="en-US" dirty="0"/>
                        <a:t>,D</a:t>
                      </a:r>
                      <a:r>
                        <a:rPr lang="en-US" baseline="-25000" dirty="0"/>
                        <a:t>3</a:t>
                      </a:r>
                      <a:r>
                        <a:rPr lang="en-US" dirty="0"/>
                        <a:t>,D</a:t>
                      </a:r>
                      <a:r>
                        <a:rPr lang="en-US" baseline="-25000" dirty="0"/>
                        <a:t>4</a:t>
                      </a:r>
                      <a:r>
                        <a:rPr lang="en-US" baseline="0" dirty="0"/>
                        <a:t>- 0, 1, 1</a:t>
                      </a:r>
                      <a:endParaRPr lang="en-IN" baseline="0" dirty="0"/>
                    </a:p>
                  </a:txBody>
                  <a:tcPr/>
                </a:tc>
                <a:tc>
                  <a:txBody>
                    <a:bodyPr/>
                    <a:lstStyle/>
                    <a:p>
                      <a:r>
                        <a:rPr lang="en-IN" dirty="0"/>
                        <a:t>0</a:t>
                      </a:r>
                    </a:p>
                  </a:txBody>
                  <a:tcPr/>
                </a:tc>
                <a:tc>
                  <a:txBody>
                    <a:bodyPr/>
                    <a:lstStyle/>
                    <a:p>
                      <a:r>
                        <a:rPr lang="en-US" dirty="0"/>
                        <a:t>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2"/>
                  </a:ext>
                </a:extLst>
              </a:tr>
              <a:tr h="370840">
                <a:tc>
                  <a:txBody>
                    <a:bodyPr/>
                    <a:lstStyle/>
                    <a:p>
                      <a:r>
                        <a:rPr lang="en-US" dirty="0"/>
                        <a:t>P</a:t>
                      </a:r>
                      <a:r>
                        <a:rPr lang="en-US" baseline="-25000" dirty="0"/>
                        <a:t>3</a:t>
                      </a:r>
                      <a:r>
                        <a:rPr lang="en-US" dirty="0"/>
                        <a:t> – 5,6,7– D</a:t>
                      </a:r>
                      <a:r>
                        <a:rPr lang="en-US" baseline="-25000" dirty="0"/>
                        <a:t>2</a:t>
                      </a:r>
                      <a:r>
                        <a:rPr lang="en-US" dirty="0"/>
                        <a:t>,D</a:t>
                      </a:r>
                      <a:r>
                        <a:rPr lang="en-US" baseline="-25000" dirty="0"/>
                        <a:t>3</a:t>
                      </a:r>
                      <a:r>
                        <a:rPr lang="en-US" dirty="0"/>
                        <a:t>,D</a:t>
                      </a:r>
                      <a:r>
                        <a:rPr lang="en-US" baseline="-25000" dirty="0"/>
                        <a:t>4 </a:t>
                      </a:r>
                      <a:r>
                        <a:rPr lang="en-US" baseline="0" dirty="0"/>
                        <a:t>– 1, 1, 1</a:t>
                      </a:r>
                      <a:endParaRPr lang="en-IN" baseline="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a:t>
                      </a:r>
                    </a:p>
                  </a:txBody>
                  <a:tcPr/>
                </a:tc>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923766" y="5523429"/>
            <a:ext cx="9785445" cy="1323439"/>
          </a:xfrm>
          <a:prstGeom prst="rect">
            <a:avLst/>
          </a:prstGeom>
          <a:noFill/>
        </p:spPr>
        <p:txBody>
          <a:bodyPr wrap="square" rtlCol="0">
            <a:spAutoFit/>
          </a:bodyPr>
          <a:lstStyle/>
          <a:p>
            <a:r>
              <a:rPr lang="en-US" dirty="0"/>
              <a:t>Syndrome – (110)</a:t>
            </a:r>
            <a:r>
              <a:rPr lang="en-US" baseline="-25000" dirty="0"/>
              <a:t>2</a:t>
            </a:r>
            <a:r>
              <a:rPr lang="en-US" dirty="0"/>
              <a:t> – 6 indicated the error bit position</a:t>
            </a:r>
          </a:p>
          <a:p>
            <a:endParaRPr lang="en-US" baseline="-25000" dirty="0"/>
          </a:p>
          <a:p>
            <a:r>
              <a:rPr lang="en-US" dirty="0"/>
              <a:t>6</a:t>
            </a:r>
            <a:r>
              <a:rPr lang="en-US" baseline="30000" dirty="0"/>
              <a:t>th</a:t>
            </a:r>
            <a:r>
              <a:rPr lang="en-US" dirty="0"/>
              <a:t> bit position value  is 1 so to correct the error it should be flipped</a:t>
            </a:r>
          </a:p>
          <a:p>
            <a:endParaRPr lang="en-US" sz="1200" dirty="0"/>
          </a:p>
          <a:p>
            <a:r>
              <a:rPr lang="en-US" dirty="0"/>
              <a:t>Corrected data is 1010010 </a:t>
            </a:r>
            <a:endParaRPr lang="en-IN" baseline="-25000" dirty="0"/>
          </a:p>
        </p:txBody>
      </p:sp>
      <p:sp>
        <p:nvSpPr>
          <p:cNvPr id="3" name="TextBox 2">
            <a:extLst>
              <a:ext uri="{FF2B5EF4-FFF2-40B4-BE49-F238E27FC236}">
                <a16:creationId xmlns:a16="http://schemas.microsoft.com/office/drawing/2014/main" id="{2DCAB8C3-2D55-528C-4511-EC9E90E5FCFB}"/>
              </a:ext>
            </a:extLst>
          </p:cNvPr>
          <p:cNvSpPr txBox="1"/>
          <p:nvPr/>
        </p:nvSpPr>
        <p:spPr>
          <a:xfrm>
            <a:off x="923766" y="5154097"/>
            <a:ext cx="10124127" cy="369332"/>
          </a:xfrm>
          <a:prstGeom prst="rect">
            <a:avLst/>
          </a:prstGeom>
          <a:noFill/>
        </p:spPr>
        <p:txBody>
          <a:bodyPr wrap="square" rtlCol="0">
            <a:spAutoFit/>
          </a:bodyPr>
          <a:lstStyle/>
          <a:p>
            <a:r>
              <a:rPr lang="en-US" dirty="0"/>
              <a:t>The received and calculated parity bits are not same. It indicates that there is an error in the received bits</a:t>
            </a:r>
            <a:endParaRPr lang="en-IN" dirty="0"/>
          </a:p>
        </p:txBody>
      </p:sp>
    </p:spTree>
    <p:extLst>
      <p:ext uri="{BB962C8B-B14F-4D97-AF65-F5344CB8AC3E}">
        <p14:creationId xmlns:p14="http://schemas.microsoft.com/office/powerpoint/2010/main" val="8225896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536003" y="731824"/>
            <a:ext cx="3683635" cy="513715"/>
          </a:xfrm>
          <a:prstGeom prst="rect">
            <a:avLst/>
          </a:prstGeom>
          <a:solidFill>
            <a:srgbClr val="FFFF00"/>
          </a:solidFill>
        </p:spPr>
        <p:txBody>
          <a:bodyPr vert="horz" wrap="square" lIns="0" tIns="13335" rIns="0" bIns="0" rtlCol="0" anchor="ctr">
            <a:spAutoFit/>
          </a:bodyPr>
          <a:lstStyle/>
          <a:p>
            <a:pPr marL="12700">
              <a:lnSpc>
                <a:spcPct val="100000"/>
              </a:lnSpc>
              <a:spcBef>
                <a:spcPts val="105"/>
              </a:spcBef>
            </a:pPr>
            <a:r>
              <a:rPr sz="3200" b="1" dirty="0">
                <a:latin typeface="Arial"/>
                <a:cs typeface="Arial"/>
              </a:rPr>
              <a:t>Hamming</a:t>
            </a:r>
            <a:r>
              <a:rPr sz="3200" b="1" spc="-70" dirty="0">
                <a:latin typeface="Arial"/>
                <a:cs typeface="Arial"/>
              </a:rPr>
              <a:t> </a:t>
            </a:r>
            <a:r>
              <a:rPr sz="3200" b="1" spc="-5" dirty="0">
                <a:latin typeface="Arial"/>
                <a:cs typeface="Arial"/>
              </a:rPr>
              <a:t>Distance</a:t>
            </a:r>
            <a:endParaRPr sz="3200" dirty="0">
              <a:latin typeface="Arial"/>
              <a:cs typeface="Arial"/>
            </a:endParaRPr>
          </a:p>
        </p:txBody>
      </p:sp>
      <p:sp>
        <p:nvSpPr>
          <p:cNvPr id="9" name="object 9"/>
          <p:cNvSpPr txBox="1"/>
          <p:nvPr/>
        </p:nvSpPr>
        <p:spPr>
          <a:xfrm>
            <a:off x="1266570" y="988682"/>
            <a:ext cx="8766810" cy="3720890"/>
          </a:xfrm>
          <a:prstGeom prst="rect">
            <a:avLst/>
          </a:prstGeom>
        </p:spPr>
        <p:txBody>
          <a:bodyPr vert="horz" wrap="square" lIns="0" tIns="12065" rIns="0" bIns="0" rtlCol="0">
            <a:spAutoFit/>
          </a:bodyPr>
          <a:lstStyle/>
          <a:p>
            <a:pPr marL="523875" algn="ctr">
              <a:lnSpc>
                <a:spcPts val="3425"/>
              </a:lnSpc>
            </a:pPr>
            <a:endParaRPr lang="en-US" sz="2800" b="1" dirty="0">
              <a:latin typeface="Arial"/>
              <a:cs typeface="Arial"/>
            </a:endParaRPr>
          </a:p>
          <a:p>
            <a:pPr marL="523875" algn="ctr">
              <a:lnSpc>
                <a:spcPts val="3425"/>
              </a:lnSpc>
            </a:pPr>
            <a:endParaRPr lang="en-US" sz="2800" b="1" dirty="0">
              <a:latin typeface="Arial"/>
              <a:cs typeface="Arial"/>
            </a:endParaRPr>
          </a:p>
          <a:p>
            <a:pPr marL="523875" algn="ctr">
              <a:lnSpc>
                <a:spcPts val="3425"/>
              </a:lnSpc>
            </a:pPr>
            <a:r>
              <a:rPr lang="en-US" sz="2800" b="1" dirty="0">
                <a:latin typeface="Arial"/>
                <a:cs typeface="Arial"/>
              </a:rPr>
              <a:t>The</a:t>
            </a:r>
            <a:r>
              <a:rPr lang="en-US" sz="2800" b="1" spc="-30" dirty="0">
                <a:latin typeface="Arial"/>
                <a:cs typeface="Arial"/>
              </a:rPr>
              <a:t> </a:t>
            </a:r>
            <a:r>
              <a:rPr lang="en-US" sz="2800" b="1" dirty="0">
                <a:latin typeface="Arial"/>
                <a:cs typeface="Arial"/>
              </a:rPr>
              <a:t>Hamming</a:t>
            </a:r>
            <a:r>
              <a:rPr lang="en-US" sz="2800" b="1" spc="-25" dirty="0">
                <a:latin typeface="Arial"/>
                <a:cs typeface="Arial"/>
              </a:rPr>
              <a:t> </a:t>
            </a:r>
            <a:r>
              <a:rPr lang="en-US" sz="2800" b="1" spc="-5" dirty="0">
                <a:latin typeface="Arial"/>
                <a:cs typeface="Arial"/>
              </a:rPr>
              <a:t>distance</a:t>
            </a:r>
            <a:r>
              <a:rPr lang="en-US" sz="2800" b="1" spc="-25" dirty="0">
                <a:latin typeface="Arial"/>
                <a:cs typeface="Arial"/>
              </a:rPr>
              <a:t> </a:t>
            </a:r>
            <a:r>
              <a:rPr lang="en-US" sz="2800" b="1" spc="-5" dirty="0">
                <a:latin typeface="Arial"/>
                <a:cs typeface="Arial"/>
              </a:rPr>
              <a:t>between</a:t>
            </a:r>
            <a:r>
              <a:rPr lang="en-US" sz="2800" b="1" spc="-45" dirty="0">
                <a:latin typeface="Arial"/>
                <a:cs typeface="Arial"/>
              </a:rPr>
              <a:t> </a:t>
            </a:r>
            <a:r>
              <a:rPr lang="en-US" sz="2800" b="1" dirty="0">
                <a:latin typeface="Arial"/>
                <a:cs typeface="Arial"/>
              </a:rPr>
              <a:t>two</a:t>
            </a:r>
            <a:endParaRPr lang="en-US" sz="2800" dirty="0">
              <a:latin typeface="Arial"/>
              <a:cs typeface="Arial"/>
            </a:endParaRPr>
          </a:p>
          <a:p>
            <a:pPr marL="1273810" marR="740410" algn="ctr"/>
            <a:r>
              <a:rPr lang="en-US" sz="2800" b="1" dirty="0">
                <a:latin typeface="Arial"/>
                <a:cs typeface="Arial"/>
              </a:rPr>
              <a:t>words</a:t>
            </a:r>
            <a:r>
              <a:rPr lang="en-US" sz="2800" b="1" spc="-35" dirty="0">
                <a:latin typeface="Arial"/>
                <a:cs typeface="Arial"/>
              </a:rPr>
              <a:t> </a:t>
            </a:r>
            <a:r>
              <a:rPr lang="en-US" sz="2800" b="1" dirty="0">
                <a:latin typeface="Arial"/>
                <a:cs typeface="Arial"/>
              </a:rPr>
              <a:t>is</a:t>
            </a:r>
            <a:r>
              <a:rPr lang="en-US" sz="2800" b="1" spc="-10" dirty="0">
                <a:latin typeface="Arial"/>
                <a:cs typeface="Arial"/>
              </a:rPr>
              <a:t> </a:t>
            </a:r>
            <a:r>
              <a:rPr lang="en-US" sz="2800" b="1" dirty="0">
                <a:latin typeface="Arial"/>
                <a:cs typeface="Arial"/>
              </a:rPr>
              <a:t>the</a:t>
            </a:r>
            <a:r>
              <a:rPr lang="en-US" sz="2800" b="1" spc="-25" dirty="0">
                <a:latin typeface="Arial"/>
                <a:cs typeface="Arial"/>
              </a:rPr>
              <a:t> </a:t>
            </a:r>
            <a:r>
              <a:rPr lang="en-US" sz="2800" b="1" spc="-5" dirty="0">
                <a:latin typeface="Arial"/>
                <a:cs typeface="Arial"/>
              </a:rPr>
              <a:t>number</a:t>
            </a:r>
            <a:r>
              <a:rPr lang="en-US" sz="2800" b="1" spc="-15" dirty="0">
                <a:latin typeface="Arial"/>
                <a:cs typeface="Arial"/>
              </a:rPr>
              <a:t> </a:t>
            </a:r>
            <a:r>
              <a:rPr lang="en-US" sz="2800" b="1" dirty="0">
                <a:latin typeface="Arial"/>
                <a:cs typeface="Arial"/>
              </a:rPr>
              <a:t>of</a:t>
            </a:r>
            <a:r>
              <a:rPr lang="en-US" sz="2800" b="1" spc="-20" dirty="0">
                <a:latin typeface="Arial"/>
                <a:cs typeface="Arial"/>
              </a:rPr>
              <a:t> </a:t>
            </a:r>
            <a:r>
              <a:rPr lang="en-US" sz="2800" b="1" spc="-5" dirty="0">
                <a:latin typeface="Arial"/>
                <a:cs typeface="Arial"/>
              </a:rPr>
              <a:t>differences </a:t>
            </a:r>
            <a:r>
              <a:rPr lang="en-US" sz="2800" b="1" spc="-869" dirty="0">
                <a:latin typeface="Arial"/>
                <a:cs typeface="Arial"/>
              </a:rPr>
              <a:t> </a:t>
            </a:r>
            <a:r>
              <a:rPr lang="en-US" sz="2800" b="1" spc="-5" dirty="0">
                <a:latin typeface="Arial"/>
                <a:cs typeface="Arial"/>
              </a:rPr>
              <a:t>between</a:t>
            </a:r>
            <a:r>
              <a:rPr lang="en-US" sz="2800" b="1" spc="-30" dirty="0">
                <a:latin typeface="Arial"/>
                <a:cs typeface="Arial"/>
              </a:rPr>
              <a:t> </a:t>
            </a:r>
            <a:r>
              <a:rPr lang="en-US" sz="2800" b="1" spc="-5" dirty="0">
                <a:latin typeface="Arial"/>
                <a:cs typeface="Arial"/>
              </a:rPr>
              <a:t>corresponding</a:t>
            </a:r>
            <a:r>
              <a:rPr lang="en-US" sz="2800" b="1" spc="-50" dirty="0">
                <a:latin typeface="Arial"/>
                <a:cs typeface="Arial"/>
              </a:rPr>
              <a:t> </a:t>
            </a:r>
            <a:r>
              <a:rPr lang="en-US" sz="2800" b="1" dirty="0">
                <a:latin typeface="Arial"/>
                <a:cs typeface="Arial"/>
              </a:rPr>
              <a:t>bits.</a:t>
            </a:r>
          </a:p>
          <a:p>
            <a:pPr marL="1273810" marR="740410" algn="ctr"/>
            <a:endParaRPr lang="en-US" sz="2800" dirty="0">
              <a:latin typeface="Arial"/>
              <a:cs typeface="Arial"/>
            </a:endParaRPr>
          </a:p>
          <a:p>
            <a:pPr marL="774700" marR="5080"/>
            <a:r>
              <a:rPr lang="en-US" sz="2400" spc="-5" dirty="0">
                <a:latin typeface="Microsoft Sans Serif"/>
                <a:cs typeface="Microsoft Sans Serif"/>
              </a:rPr>
              <a:t>T</a:t>
            </a:r>
            <a:r>
              <a:rPr sz="2400" spc="-5" dirty="0">
                <a:latin typeface="Microsoft Sans Serif"/>
                <a:cs typeface="Microsoft Sans Serif"/>
              </a:rPr>
              <a:t>he</a:t>
            </a:r>
            <a:r>
              <a:rPr sz="2400" spc="20" dirty="0">
                <a:latin typeface="Microsoft Sans Serif"/>
                <a:cs typeface="Microsoft Sans Serif"/>
              </a:rPr>
              <a:t> </a:t>
            </a:r>
            <a:r>
              <a:rPr sz="2400" spc="-5" dirty="0">
                <a:latin typeface="Microsoft Sans Serif"/>
                <a:cs typeface="Microsoft Sans Serif"/>
              </a:rPr>
              <a:t>Hamming</a:t>
            </a:r>
            <a:r>
              <a:rPr sz="2400" spc="55" dirty="0">
                <a:latin typeface="Microsoft Sans Serif"/>
                <a:cs typeface="Microsoft Sans Serif"/>
              </a:rPr>
              <a:t> </a:t>
            </a:r>
            <a:r>
              <a:rPr sz="2400" spc="-5" dirty="0">
                <a:latin typeface="Microsoft Sans Serif"/>
                <a:cs typeface="Microsoft Sans Serif"/>
              </a:rPr>
              <a:t>distance</a:t>
            </a:r>
            <a:r>
              <a:rPr sz="2400" spc="45" dirty="0">
                <a:latin typeface="Microsoft Sans Serif"/>
                <a:cs typeface="Microsoft Sans Serif"/>
              </a:rPr>
              <a:t> </a:t>
            </a:r>
            <a:r>
              <a:rPr sz="2400" spc="-5" dirty="0">
                <a:latin typeface="Microsoft Sans Serif"/>
                <a:cs typeface="Microsoft Sans Serif"/>
              </a:rPr>
              <a:t>can</a:t>
            </a:r>
            <a:r>
              <a:rPr sz="2400" spc="25" dirty="0">
                <a:latin typeface="Microsoft Sans Serif"/>
                <a:cs typeface="Microsoft Sans Serif"/>
              </a:rPr>
              <a:t> </a:t>
            </a:r>
            <a:r>
              <a:rPr sz="2400" spc="-10" dirty="0">
                <a:latin typeface="Microsoft Sans Serif"/>
                <a:cs typeface="Microsoft Sans Serif"/>
              </a:rPr>
              <a:t>easily</a:t>
            </a:r>
            <a:r>
              <a:rPr sz="2400" spc="40" dirty="0">
                <a:latin typeface="Microsoft Sans Serif"/>
                <a:cs typeface="Microsoft Sans Serif"/>
              </a:rPr>
              <a:t> </a:t>
            </a:r>
            <a:r>
              <a:rPr sz="2400" spc="-5" dirty="0">
                <a:latin typeface="Microsoft Sans Serif"/>
                <a:cs typeface="Microsoft Sans Serif"/>
              </a:rPr>
              <a:t>be</a:t>
            </a:r>
            <a:r>
              <a:rPr sz="2400" spc="40" dirty="0">
                <a:latin typeface="Microsoft Sans Serif"/>
                <a:cs typeface="Microsoft Sans Serif"/>
              </a:rPr>
              <a:t> </a:t>
            </a:r>
            <a:r>
              <a:rPr sz="2400" spc="-5" dirty="0">
                <a:latin typeface="Microsoft Sans Serif"/>
                <a:cs typeface="Microsoft Sans Serif"/>
              </a:rPr>
              <a:t>found</a:t>
            </a:r>
            <a:r>
              <a:rPr sz="2400" spc="30" dirty="0">
                <a:latin typeface="Microsoft Sans Serif"/>
                <a:cs typeface="Microsoft Sans Serif"/>
              </a:rPr>
              <a:t> </a:t>
            </a:r>
            <a:r>
              <a:rPr sz="2400" spc="-10" dirty="0">
                <a:latin typeface="Microsoft Sans Serif"/>
                <a:cs typeface="Microsoft Sans Serif"/>
              </a:rPr>
              <a:t>if</a:t>
            </a:r>
            <a:r>
              <a:rPr sz="2400" spc="25" dirty="0">
                <a:latin typeface="Microsoft Sans Serif"/>
                <a:cs typeface="Microsoft Sans Serif"/>
              </a:rPr>
              <a:t> </a:t>
            </a:r>
            <a:r>
              <a:rPr sz="2400" spc="-10" dirty="0">
                <a:latin typeface="Microsoft Sans Serif"/>
                <a:cs typeface="Microsoft Sans Serif"/>
              </a:rPr>
              <a:t>we</a:t>
            </a:r>
            <a:r>
              <a:rPr sz="2400" spc="30" dirty="0">
                <a:latin typeface="Microsoft Sans Serif"/>
                <a:cs typeface="Microsoft Sans Serif"/>
              </a:rPr>
              <a:t> </a:t>
            </a:r>
            <a:r>
              <a:rPr sz="2400" spc="-10" dirty="0">
                <a:latin typeface="Microsoft Sans Serif"/>
                <a:cs typeface="Microsoft Sans Serif"/>
              </a:rPr>
              <a:t>apply</a:t>
            </a:r>
            <a:r>
              <a:rPr sz="2400" spc="60" dirty="0">
                <a:latin typeface="Microsoft Sans Serif"/>
                <a:cs typeface="Microsoft Sans Serif"/>
              </a:rPr>
              <a:t> </a:t>
            </a:r>
            <a:r>
              <a:rPr sz="2400" dirty="0">
                <a:latin typeface="Microsoft Sans Serif"/>
                <a:cs typeface="Microsoft Sans Serif"/>
              </a:rPr>
              <a:t>the </a:t>
            </a:r>
            <a:r>
              <a:rPr sz="2400" spc="5" dirty="0">
                <a:latin typeface="Microsoft Sans Serif"/>
                <a:cs typeface="Microsoft Sans Serif"/>
              </a:rPr>
              <a:t> </a:t>
            </a:r>
            <a:r>
              <a:rPr sz="2400" dirty="0">
                <a:latin typeface="Microsoft Sans Serif"/>
                <a:cs typeface="Microsoft Sans Serif"/>
              </a:rPr>
              <a:t>XOR</a:t>
            </a:r>
            <a:r>
              <a:rPr sz="2400" spc="25" dirty="0">
                <a:latin typeface="Microsoft Sans Serif"/>
                <a:cs typeface="Microsoft Sans Serif"/>
              </a:rPr>
              <a:t> </a:t>
            </a:r>
            <a:r>
              <a:rPr sz="2400" spc="-5" dirty="0">
                <a:latin typeface="Microsoft Sans Serif"/>
                <a:cs typeface="Microsoft Sans Serif"/>
              </a:rPr>
              <a:t>operation</a:t>
            </a:r>
            <a:r>
              <a:rPr sz="2400" spc="35" dirty="0">
                <a:latin typeface="Microsoft Sans Serif"/>
                <a:cs typeface="Microsoft Sans Serif"/>
              </a:rPr>
              <a:t> </a:t>
            </a:r>
            <a:r>
              <a:rPr sz="2400" dirty="0">
                <a:latin typeface="Microsoft Sans Serif"/>
                <a:cs typeface="Microsoft Sans Serif"/>
              </a:rPr>
              <a:t>(</a:t>
            </a:r>
            <a:r>
              <a:rPr lang="en-IN" sz="2400" dirty="0"/>
              <a:t>⊕</a:t>
            </a:r>
            <a:r>
              <a:rPr sz="2400" dirty="0">
                <a:latin typeface="Microsoft Sans Serif"/>
                <a:cs typeface="Microsoft Sans Serif"/>
              </a:rPr>
              <a:t>)</a:t>
            </a:r>
            <a:r>
              <a:rPr sz="2400" spc="15" dirty="0">
                <a:latin typeface="Microsoft Sans Serif"/>
                <a:cs typeface="Microsoft Sans Serif"/>
              </a:rPr>
              <a:t> </a:t>
            </a:r>
            <a:r>
              <a:rPr sz="2400" spc="-5" dirty="0">
                <a:latin typeface="Microsoft Sans Serif"/>
                <a:cs typeface="Microsoft Sans Serif"/>
              </a:rPr>
              <a:t>on</a:t>
            </a:r>
            <a:r>
              <a:rPr sz="2400" spc="30" dirty="0">
                <a:latin typeface="Microsoft Sans Serif"/>
                <a:cs typeface="Microsoft Sans Serif"/>
              </a:rPr>
              <a:t> </a:t>
            </a:r>
            <a:r>
              <a:rPr sz="2400" dirty="0">
                <a:latin typeface="Microsoft Sans Serif"/>
                <a:cs typeface="Microsoft Sans Serif"/>
              </a:rPr>
              <a:t>the</a:t>
            </a:r>
            <a:r>
              <a:rPr sz="2400" spc="20" dirty="0">
                <a:latin typeface="Microsoft Sans Serif"/>
                <a:cs typeface="Microsoft Sans Serif"/>
              </a:rPr>
              <a:t> </a:t>
            </a:r>
            <a:r>
              <a:rPr sz="2400" dirty="0">
                <a:latin typeface="Microsoft Sans Serif"/>
                <a:cs typeface="Microsoft Sans Serif"/>
              </a:rPr>
              <a:t>two</a:t>
            </a:r>
            <a:r>
              <a:rPr sz="2400" spc="30" dirty="0">
                <a:latin typeface="Microsoft Sans Serif"/>
                <a:cs typeface="Microsoft Sans Serif"/>
              </a:rPr>
              <a:t> </a:t>
            </a:r>
            <a:r>
              <a:rPr sz="2400" spc="-5" dirty="0">
                <a:latin typeface="Microsoft Sans Serif"/>
                <a:cs typeface="Microsoft Sans Serif"/>
              </a:rPr>
              <a:t>words</a:t>
            </a:r>
            <a:r>
              <a:rPr sz="2400" spc="40" dirty="0">
                <a:latin typeface="Microsoft Sans Serif"/>
                <a:cs typeface="Microsoft Sans Serif"/>
              </a:rPr>
              <a:t> </a:t>
            </a:r>
            <a:r>
              <a:rPr sz="2400" spc="-5" dirty="0">
                <a:latin typeface="Microsoft Sans Serif"/>
                <a:cs typeface="Microsoft Sans Serif"/>
              </a:rPr>
              <a:t>and</a:t>
            </a:r>
            <a:r>
              <a:rPr sz="2400" spc="25" dirty="0">
                <a:latin typeface="Microsoft Sans Serif"/>
                <a:cs typeface="Microsoft Sans Serif"/>
              </a:rPr>
              <a:t> </a:t>
            </a:r>
            <a:r>
              <a:rPr sz="2400" spc="-5" dirty="0">
                <a:latin typeface="Microsoft Sans Serif"/>
                <a:cs typeface="Microsoft Sans Serif"/>
              </a:rPr>
              <a:t>count</a:t>
            </a:r>
            <a:r>
              <a:rPr sz="2400" spc="35" dirty="0">
                <a:latin typeface="Microsoft Sans Serif"/>
                <a:cs typeface="Microsoft Sans Serif"/>
              </a:rPr>
              <a:t> </a:t>
            </a:r>
            <a:r>
              <a:rPr sz="2400" dirty="0">
                <a:latin typeface="Microsoft Sans Serif"/>
                <a:cs typeface="Microsoft Sans Serif"/>
              </a:rPr>
              <a:t>the</a:t>
            </a:r>
            <a:r>
              <a:rPr sz="2400" spc="25" dirty="0">
                <a:latin typeface="Microsoft Sans Serif"/>
                <a:cs typeface="Microsoft Sans Serif"/>
              </a:rPr>
              <a:t> </a:t>
            </a:r>
            <a:r>
              <a:rPr sz="2400" spc="-5" dirty="0">
                <a:latin typeface="Microsoft Sans Serif"/>
                <a:cs typeface="Microsoft Sans Serif"/>
              </a:rPr>
              <a:t>number </a:t>
            </a:r>
            <a:r>
              <a:rPr sz="2400" spc="-620" dirty="0">
                <a:latin typeface="Microsoft Sans Serif"/>
                <a:cs typeface="Microsoft Sans Serif"/>
              </a:rPr>
              <a:t> </a:t>
            </a:r>
            <a:r>
              <a:rPr sz="2400" dirty="0">
                <a:latin typeface="Microsoft Sans Serif"/>
                <a:cs typeface="Microsoft Sans Serif"/>
              </a:rPr>
              <a:t>of</a:t>
            </a:r>
            <a:r>
              <a:rPr sz="2400" spc="15" dirty="0">
                <a:latin typeface="Microsoft Sans Serif"/>
                <a:cs typeface="Microsoft Sans Serif"/>
              </a:rPr>
              <a:t> </a:t>
            </a:r>
            <a:r>
              <a:rPr sz="2400" spc="-25" dirty="0">
                <a:solidFill>
                  <a:srgbClr val="FF0000"/>
                </a:solidFill>
                <a:latin typeface="Microsoft Sans Serif"/>
                <a:cs typeface="Microsoft Sans Serif"/>
              </a:rPr>
              <a:t>1’s</a:t>
            </a:r>
            <a:r>
              <a:rPr sz="2400" spc="45" dirty="0">
                <a:solidFill>
                  <a:srgbClr val="FF0000"/>
                </a:solidFill>
                <a:latin typeface="Microsoft Sans Serif"/>
                <a:cs typeface="Microsoft Sans Serif"/>
              </a:rPr>
              <a:t> </a:t>
            </a:r>
            <a:r>
              <a:rPr sz="2400" spc="-10" dirty="0">
                <a:latin typeface="Microsoft Sans Serif"/>
                <a:cs typeface="Microsoft Sans Serif"/>
              </a:rPr>
              <a:t>in</a:t>
            </a:r>
            <a:r>
              <a:rPr sz="2400" spc="20" dirty="0">
                <a:latin typeface="Microsoft Sans Serif"/>
                <a:cs typeface="Microsoft Sans Serif"/>
              </a:rPr>
              <a:t> </a:t>
            </a:r>
            <a:r>
              <a:rPr sz="2400" dirty="0">
                <a:latin typeface="Microsoft Sans Serif"/>
                <a:cs typeface="Microsoft Sans Serif"/>
              </a:rPr>
              <a:t>the</a:t>
            </a:r>
            <a:r>
              <a:rPr sz="2400" spc="25" dirty="0">
                <a:latin typeface="Microsoft Sans Serif"/>
                <a:cs typeface="Microsoft Sans Serif"/>
              </a:rPr>
              <a:t> </a:t>
            </a:r>
            <a:r>
              <a:rPr sz="2400" spc="-5" dirty="0">
                <a:latin typeface="Microsoft Sans Serif"/>
                <a:cs typeface="Microsoft Sans Serif"/>
              </a:rPr>
              <a:t>result.</a:t>
            </a:r>
            <a:r>
              <a:rPr sz="2400" spc="30" dirty="0">
                <a:latin typeface="Microsoft Sans Serif"/>
                <a:cs typeface="Microsoft Sans Serif"/>
              </a:rPr>
              <a:t> </a:t>
            </a:r>
            <a:endParaRPr sz="2400" dirty="0">
              <a:latin typeface="Microsoft Sans Serif"/>
              <a:cs typeface="Microsoft Sans Serif"/>
            </a:endParaRPr>
          </a:p>
        </p:txBody>
      </p:sp>
    </p:spTree>
    <p:extLst>
      <p:ext uri="{BB962C8B-B14F-4D97-AF65-F5344CB8AC3E}">
        <p14:creationId xmlns:p14="http://schemas.microsoft.com/office/powerpoint/2010/main" val="978181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1341" y="1164081"/>
            <a:ext cx="8531225" cy="1751120"/>
          </a:xfrm>
          <a:prstGeom prst="rect">
            <a:avLst/>
          </a:prstGeom>
        </p:spPr>
        <p:txBody>
          <a:bodyPr vert="horz" wrap="square" lIns="0" tIns="12065" rIns="0" bIns="0" rtlCol="0">
            <a:spAutoFit/>
          </a:bodyPr>
          <a:lstStyle/>
          <a:p>
            <a:pPr marL="12700" marR="5080">
              <a:spcBef>
                <a:spcPts val="95"/>
              </a:spcBef>
              <a:tabLst>
                <a:tab pos="622300" algn="l"/>
                <a:tab pos="1096010" algn="l"/>
                <a:tab pos="1829435" algn="l"/>
                <a:tab pos="2420620" algn="l"/>
                <a:tab pos="4039870" algn="l"/>
                <a:tab pos="5380990" algn="l"/>
                <a:tab pos="6699250" algn="l"/>
                <a:tab pos="7352030" algn="l"/>
                <a:tab pos="8220709" algn="l"/>
              </a:tabLst>
            </a:pPr>
            <a:r>
              <a:rPr sz="2800" b="1" i="1" spc="-5" dirty="0">
                <a:latin typeface="Times New Roman"/>
                <a:cs typeface="Times New Roman"/>
              </a:rPr>
              <a:t>L</a:t>
            </a:r>
            <a:r>
              <a:rPr sz="2800" b="1" i="1" spc="-15" dirty="0">
                <a:latin typeface="Times New Roman"/>
                <a:cs typeface="Times New Roman"/>
              </a:rPr>
              <a:t>e</a:t>
            </a:r>
            <a:r>
              <a:rPr sz="2800" b="1" i="1" spc="-5" dirty="0">
                <a:latin typeface="Times New Roman"/>
                <a:cs typeface="Times New Roman"/>
              </a:rPr>
              <a:t>t</a:t>
            </a:r>
            <a:r>
              <a:rPr sz="2800" b="1" i="1" dirty="0">
                <a:latin typeface="Times New Roman"/>
                <a:cs typeface="Times New Roman"/>
              </a:rPr>
              <a:t>	u</a:t>
            </a:r>
            <a:r>
              <a:rPr sz="2800" b="1" i="1" spc="-5" dirty="0">
                <a:latin typeface="Times New Roman"/>
                <a:cs typeface="Times New Roman"/>
              </a:rPr>
              <a:t>s</a:t>
            </a:r>
            <a:r>
              <a:rPr sz="2800" b="1" i="1" dirty="0">
                <a:latin typeface="Times New Roman"/>
                <a:cs typeface="Times New Roman"/>
              </a:rPr>
              <a:t>	</a:t>
            </a:r>
            <a:r>
              <a:rPr sz="2800" b="1" i="1" spc="-5" dirty="0">
                <a:latin typeface="Times New Roman"/>
                <a:cs typeface="Times New Roman"/>
              </a:rPr>
              <a:t>fi</a:t>
            </a:r>
            <a:r>
              <a:rPr sz="2800" b="1" i="1" spc="15" dirty="0">
                <a:latin typeface="Times New Roman"/>
                <a:cs typeface="Times New Roman"/>
              </a:rPr>
              <a:t>n</a:t>
            </a:r>
            <a:r>
              <a:rPr sz="2800" b="1" i="1" spc="-5" dirty="0">
                <a:latin typeface="Times New Roman"/>
                <a:cs typeface="Times New Roman"/>
              </a:rPr>
              <a:t>d</a:t>
            </a:r>
            <a:r>
              <a:rPr sz="2800" b="1" i="1" dirty="0">
                <a:latin typeface="Times New Roman"/>
                <a:cs typeface="Times New Roman"/>
              </a:rPr>
              <a:t>	</a:t>
            </a:r>
            <a:r>
              <a:rPr sz="2800" b="1" i="1" spc="-5" dirty="0">
                <a:latin typeface="Times New Roman"/>
                <a:cs typeface="Times New Roman"/>
              </a:rPr>
              <a:t>the</a:t>
            </a:r>
            <a:r>
              <a:rPr sz="2800" b="1" i="1" dirty="0">
                <a:latin typeface="Times New Roman"/>
                <a:cs typeface="Times New Roman"/>
              </a:rPr>
              <a:t>	</a:t>
            </a:r>
            <a:r>
              <a:rPr sz="2800" b="1" i="1" spc="-5" dirty="0">
                <a:latin typeface="Times New Roman"/>
                <a:cs typeface="Times New Roman"/>
              </a:rPr>
              <a:t>Hamming</a:t>
            </a:r>
            <a:r>
              <a:rPr sz="2800" b="1" i="1" dirty="0">
                <a:latin typeface="Times New Roman"/>
                <a:cs typeface="Times New Roman"/>
              </a:rPr>
              <a:t>	</a:t>
            </a:r>
            <a:r>
              <a:rPr sz="2800" b="1" i="1" spc="-5" dirty="0">
                <a:latin typeface="Times New Roman"/>
                <a:cs typeface="Times New Roman"/>
              </a:rPr>
              <a:t>dist</a:t>
            </a:r>
            <a:r>
              <a:rPr sz="2800" b="1" i="1" dirty="0">
                <a:latin typeface="Times New Roman"/>
                <a:cs typeface="Times New Roman"/>
              </a:rPr>
              <a:t>a</a:t>
            </a:r>
            <a:r>
              <a:rPr sz="2800" b="1" i="1" spc="-5" dirty="0">
                <a:latin typeface="Times New Roman"/>
                <a:cs typeface="Times New Roman"/>
              </a:rPr>
              <a:t>nce</a:t>
            </a:r>
            <a:r>
              <a:rPr sz="2800" b="1" i="1" dirty="0">
                <a:latin typeface="Times New Roman"/>
                <a:cs typeface="Times New Roman"/>
              </a:rPr>
              <a:t>	</a:t>
            </a:r>
            <a:r>
              <a:rPr sz="2800" b="1" i="1" spc="-5" dirty="0">
                <a:latin typeface="Times New Roman"/>
                <a:cs typeface="Times New Roman"/>
              </a:rPr>
              <a:t>be</a:t>
            </a:r>
            <a:r>
              <a:rPr sz="2800" b="1" i="1" spc="-15" dirty="0">
                <a:latin typeface="Times New Roman"/>
                <a:cs typeface="Times New Roman"/>
              </a:rPr>
              <a:t>t</a:t>
            </a:r>
            <a:r>
              <a:rPr sz="2800" b="1" i="1" spc="-5" dirty="0">
                <a:latin typeface="Times New Roman"/>
                <a:cs typeface="Times New Roman"/>
              </a:rPr>
              <a:t>w</a:t>
            </a:r>
            <a:r>
              <a:rPr sz="2800" b="1" i="1" spc="-20" dirty="0">
                <a:latin typeface="Times New Roman"/>
                <a:cs typeface="Times New Roman"/>
              </a:rPr>
              <a:t>e</a:t>
            </a:r>
            <a:r>
              <a:rPr sz="2800" b="1" i="1" spc="-5" dirty="0">
                <a:latin typeface="Times New Roman"/>
                <a:cs typeface="Times New Roman"/>
              </a:rPr>
              <a:t>en</a:t>
            </a:r>
            <a:r>
              <a:rPr sz="2800" b="1" i="1" dirty="0">
                <a:latin typeface="Times New Roman"/>
                <a:cs typeface="Times New Roman"/>
              </a:rPr>
              <a:t>	</a:t>
            </a:r>
            <a:r>
              <a:rPr sz="2800" b="1" i="1" spc="-5" dirty="0">
                <a:latin typeface="Times New Roman"/>
                <a:cs typeface="Times New Roman"/>
              </a:rPr>
              <a:t>two</a:t>
            </a:r>
            <a:r>
              <a:rPr sz="2800" b="1" i="1" dirty="0">
                <a:latin typeface="Times New Roman"/>
                <a:cs typeface="Times New Roman"/>
              </a:rPr>
              <a:t>	</a:t>
            </a:r>
            <a:r>
              <a:rPr sz="2800" b="1" i="1" spc="-5" dirty="0">
                <a:latin typeface="Times New Roman"/>
                <a:cs typeface="Times New Roman"/>
              </a:rPr>
              <a:t>p</a:t>
            </a:r>
            <a:r>
              <a:rPr sz="2800" b="1" i="1" dirty="0">
                <a:latin typeface="Times New Roman"/>
                <a:cs typeface="Times New Roman"/>
              </a:rPr>
              <a:t>a</a:t>
            </a:r>
            <a:r>
              <a:rPr sz="2800" b="1" i="1" spc="-5" dirty="0">
                <a:latin typeface="Times New Roman"/>
                <a:cs typeface="Times New Roman"/>
              </a:rPr>
              <a:t>irs</a:t>
            </a:r>
            <a:r>
              <a:rPr sz="2800" b="1" i="1" dirty="0">
                <a:latin typeface="Times New Roman"/>
                <a:cs typeface="Times New Roman"/>
              </a:rPr>
              <a:t>	of  </a:t>
            </a:r>
            <a:r>
              <a:rPr sz="2800" b="1" i="1" spc="-5" dirty="0">
                <a:latin typeface="Times New Roman"/>
                <a:cs typeface="Times New Roman"/>
              </a:rPr>
              <a:t>words.</a:t>
            </a:r>
            <a:endParaRPr sz="2800" dirty="0">
              <a:latin typeface="Times New Roman"/>
              <a:cs typeface="Times New Roman"/>
            </a:endParaRPr>
          </a:p>
          <a:p>
            <a:pPr>
              <a:spcBef>
                <a:spcPts val="25"/>
              </a:spcBef>
            </a:pPr>
            <a:endParaRPr sz="2900" dirty="0">
              <a:latin typeface="Times New Roman"/>
              <a:cs typeface="Times New Roman"/>
            </a:endParaRPr>
          </a:p>
          <a:p>
            <a:pPr marL="12700">
              <a:spcBef>
                <a:spcPts val="5"/>
              </a:spcBef>
              <a:tabLst>
                <a:tab pos="509270" algn="l"/>
                <a:tab pos="1313815" algn="l"/>
                <a:tab pos="3025775" algn="l"/>
                <a:tab pos="4460240" algn="l"/>
                <a:tab pos="5611495" algn="l"/>
                <a:tab pos="6475095" algn="l"/>
                <a:tab pos="6943090" algn="l"/>
                <a:tab pos="7352030" algn="l"/>
              </a:tabLst>
            </a:pPr>
            <a:r>
              <a:rPr sz="2800" b="1" i="1" dirty="0">
                <a:solidFill>
                  <a:srgbClr val="FF0000"/>
                </a:solidFill>
                <a:latin typeface="Times New Roman"/>
                <a:cs typeface="Times New Roman"/>
              </a:rPr>
              <a:t>1</a:t>
            </a:r>
            <a:r>
              <a:rPr sz="2800" b="1" i="1" dirty="0">
                <a:latin typeface="Times New Roman"/>
                <a:cs typeface="Times New Roman"/>
              </a:rPr>
              <a:t>.	The	</a:t>
            </a:r>
            <a:r>
              <a:rPr sz="2800" b="1" i="1" spc="-5" dirty="0">
                <a:latin typeface="Times New Roman"/>
                <a:cs typeface="Times New Roman"/>
              </a:rPr>
              <a:t>Hamming	</a:t>
            </a:r>
            <a:r>
              <a:rPr sz="2800" b="1" i="1" dirty="0">
                <a:latin typeface="Times New Roman"/>
                <a:cs typeface="Times New Roman"/>
              </a:rPr>
              <a:t>distance	d(000,	</a:t>
            </a:r>
            <a:r>
              <a:rPr sz="2800" b="1" i="1" spc="-40" dirty="0">
                <a:latin typeface="Times New Roman"/>
                <a:cs typeface="Times New Roman"/>
              </a:rPr>
              <a:t>011)	</a:t>
            </a:r>
            <a:r>
              <a:rPr sz="2800" b="1" i="1" spc="-5" dirty="0">
                <a:latin typeface="Times New Roman"/>
                <a:cs typeface="Times New Roman"/>
              </a:rPr>
              <a:t>is	2	because</a:t>
            </a:r>
            <a:endParaRPr sz="2800" dirty="0">
              <a:latin typeface="Times New Roman"/>
              <a:cs typeface="Times New Roman"/>
            </a:endParaRPr>
          </a:p>
        </p:txBody>
      </p:sp>
      <p:sp>
        <p:nvSpPr>
          <p:cNvPr id="3" name="object 3"/>
          <p:cNvSpPr txBox="1">
            <a:spLocks noGrp="1"/>
          </p:cNvSpPr>
          <p:nvPr>
            <p:ph type="title"/>
          </p:nvPr>
        </p:nvSpPr>
        <p:spPr>
          <a:xfrm>
            <a:off x="1676871" y="500064"/>
            <a:ext cx="7890210" cy="505908"/>
          </a:xfrm>
          <a:prstGeom prst="rect">
            <a:avLst/>
          </a:prstGeom>
          <a:solidFill>
            <a:srgbClr val="FFFF00"/>
          </a:solidFill>
        </p:spPr>
        <p:txBody>
          <a:bodyPr vert="horz" wrap="square" lIns="0" tIns="13335" rIns="0" bIns="0" rtlCol="0" anchor="ctr">
            <a:spAutoFit/>
          </a:bodyPr>
          <a:lstStyle/>
          <a:p>
            <a:pPr marL="12700">
              <a:lnSpc>
                <a:spcPct val="100000"/>
              </a:lnSpc>
              <a:spcBef>
                <a:spcPts val="105"/>
              </a:spcBef>
            </a:pPr>
            <a:r>
              <a:rPr lang="en-US" sz="3200" b="1" i="1" dirty="0">
                <a:solidFill>
                  <a:srgbClr val="FF0000"/>
                </a:solidFill>
                <a:latin typeface="Times New Roman"/>
                <a:cs typeface="Times New Roman"/>
              </a:rPr>
              <a:t>Hamming Distance</a:t>
            </a:r>
            <a:endParaRPr sz="3200" dirty="0">
              <a:latin typeface="Times New Roman"/>
              <a:cs typeface="Times New Roman"/>
            </a:endParaRPr>
          </a:p>
        </p:txBody>
      </p:sp>
      <p:sp>
        <p:nvSpPr>
          <p:cNvPr id="4" name="object 4"/>
          <p:cNvSpPr txBox="1"/>
          <p:nvPr/>
        </p:nvSpPr>
        <p:spPr>
          <a:xfrm>
            <a:off x="1907540" y="4136897"/>
            <a:ext cx="8065770" cy="452120"/>
          </a:xfrm>
          <a:prstGeom prst="rect">
            <a:avLst/>
          </a:prstGeom>
        </p:spPr>
        <p:txBody>
          <a:bodyPr vert="horz" wrap="square" lIns="0" tIns="12065" rIns="0" bIns="0" rtlCol="0">
            <a:spAutoFit/>
          </a:bodyPr>
          <a:lstStyle/>
          <a:p>
            <a:pPr marL="12700">
              <a:spcBef>
                <a:spcPts val="95"/>
              </a:spcBef>
            </a:pPr>
            <a:r>
              <a:rPr sz="2800" b="1" i="1" dirty="0">
                <a:solidFill>
                  <a:srgbClr val="FF0000"/>
                </a:solidFill>
                <a:latin typeface="Times New Roman"/>
                <a:cs typeface="Times New Roman"/>
              </a:rPr>
              <a:t>2.</a:t>
            </a:r>
            <a:r>
              <a:rPr sz="2800" b="1" i="1" spc="-10" dirty="0">
                <a:solidFill>
                  <a:srgbClr val="FF0000"/>
                </a:solidFill>
                <a:latin typeface="Times New Roman"/>
                <a:cs typeface="Times New Roman"/>
              </a:rPr>
              <a:t> </a:t>
            </a:r>
            <a:r>
              <a:rPr sz="2800" b="1" i="1" spc="-5" dirty="0">
                <a:latin typeface="Times New Roman"/>
                <a:cs typeface="Times New Roman"/>
              </a:rPr>
              <a:t>The</a:t>
            </a:r>
            <a:r>
              <a:rPr sz="2800" b="1" i="1" spc="15" dirty="0">
                <a:latin typeface="Times New Roman"/>
                <a:cs typeface="Times New Roman"/>
              </a:rPr>
              <a:t> </a:t>
            </a:r>
            <a:r>
              <a:rPr sz="2800" b="1" i="1" spc="-5" dirty="0">
                <a:latin typeface="Times New Roman"/>
                <a:cs typeface="Times New Roman"/>
              </a:rPr>
              <a:t>Hamming</a:t>
            </a:r>
            <a:r>
              <a:rPr sz="2800" b="1" i="1" spc="5" dirty="0">
                <a:latin typeface="Times New Roman"/>
                <a:cs typeface="Times New Roman"/>
              </a:rPr>
              <a:t> </a:t>
            </a:r>
            <a:r>
              <a:rPr sz="2800" b="1" i="1" dirty="0">
                <a:latin typeface="Times New Roman"/>
                <a:cs typeface="Times New Roman"/>
              </a:rPr>
              <a:t>distance</a:t>
            </a:r>
            <a:r>
              <a:rPr sz="2800" b="1" i="1" spc="-15" dirty="0">
                <a:latin typeface="Times New Roman"/>
                <a:cs typeface="Times New Roman"/>
              </a:rPr>
              <a:t> </a:t>
            </a:r>
            <a:r>
              <a:rPr sz="2800" b="1" i="1" dirty="0">
                <a:latin typeface="Times New Roman"/>
                <a:cs typeface="Times New Roman"/>
              </a:rPr>
              <a:t>d(10101,</a:t>
            </a:r>
            <a:r>
              <a:rPr sz="2800" b="1" i="1" spc="-15" dirty="0">
                <a:latin typeface="Times New Roman"/>
                <a:cs typeface="Times New Roman"/>
              </a:rPr>
              <a:t> </a:t>
            </a:r>
            <a:r>
              <a:rPr sz="2800" b="1" i="1" spc="-80" dirty="0">
                <a:latin typeface="Times New Roman"/>
                <a:cs typeface="Times New Roman"/>
              </a:rPr>
              <a:t>11110)</a:t>
            </a:r>
            <a:r>
              <a:rPr sz="2800" b="1" i="1" spc="-15" dirty="0">
                <a:latin typeface="Times New Roman"/>
                <a:cs typeface="Times New Roman"/>
              </a:rPr>
              <a:t> </a:t>
            </a:r>
            <a:r>
              <a:rPr sz="2800" b="1" i="1" spc="-5" dirty="0">
                <a:latin typeface="Times New Roman"/>
                <a:cs typeface="Times New Roman"/>
              </a:rPr>
              <a:t>is</a:t>
            </a:r>
            <a:r>
              <a:rPr sz="2800" b="1" i="1" spc="-15" dirty="0">
                <a:latin typeface="Times New Roman"/>
                <a:cs typeface="Times New Roman"/>
              </a:rPr>
              <a:t> </a:t>
            </a:r>
            <a:r>
              <a:rPr sz="2800" b="1" i="1" spc="-5" dirty="0">
                <a:latin typeface="Times New Roman"/>
                <a:cs typeface="Times New Roman"/>
              </a:rPr>
              <a:t>3</a:t>
            </a:r>
            <a:r>
              <a:rPr sz="2800" b="1" i="1" dirty="0">
                <a:latin typeface="Times New Roman"/>
                <a:cs typeface="Times New Roman"/>
              </a:rPr>
              <a:t> </a:t>
            </a:r>
            <a:r>
              <a:rPr sz="2800" b="1" i="1" spc="-5" dirty="0">
                <a:latin typeface="Times New Roman"/>
                <a:cs typeface="Times New Roman"/>
              </a:rPr>
              <a:t>because</a:t>
            </a:r>
            <a:endParaRPr sz="2800">
              <a:latin typeface="Times New Roman"/>
              <a:cs typeface="Times New Roman"/>
            </a:endParaRPr>
          </a:p>
        </p:txBody>
      </p:sp>
      <p:grpSp>
        <p:nvGrpSpPr>
          <p:cNvPr id="5" name="object 5"/>
          <p:cNvGrpSpPr/>
          <p:nvPr/>
        </p:nvGrpSpPr>
        <p:grpSpPr>
          <a:xfrm>
            <a:off x="4666488" y="3218179"/>
            <a:ext cx="3022600" cy="457200"/>
            <a:chOff x="3142488" y="3218179"/>
            <a:chExt cx="3022600" cy="457200"/>
          </a:xfrm>
        </p:grpSpPr>
        <p:pic>
          <p:nvPicPr>
            <p:cNvPr id="6" name="object 6"/>
            <p:cNvPicPr/>
            <p:nvPr/>
          </p:nvPicPr>
          <p:blipFill>
            <a:blip r:embed="rId2" cstate="print"/>
            <a:stretch>
              <a:fillRect/>
            </a:stretch>
          </p:blipFill>
          <p:spPr>
            <a:xfrm>
              <a:off x="3236280" y="3329121"/>
              <a:ext cx="2816607" cy="253809"/>
            </a:xfrm>
            <a:prstGeom prst="rect">
              <a:avLst/>
            </a:prstGeom>
          </p:spPr>
        </p:pic>
        <p:sp>
          <p:nvSpPr>
            <p:cNvPr id="7" name="object 7"/>
            <p:cNvSpPr/>
            <p:nvPr/>
          </p:nvSpPr>
          <p:spPr>
            <a:xfrm>
              <a:off x="3142488" y="3218179"/>
              <a:ext cx="3022600" cy="457200"/>
            </a:xfrm>
            <a:custGeom>
              <a:avLst/>
              <a:gdLst/>
              <a:ahLst/>
              <a:cxnLst/>
              <a:rect l="l" t="t" r="r" b="b"/>
              <a:pathLst>
                <a:path w="3022600" h="457200">
                  <a:moveTo>
                    <a:pt x="2975737" y="46990"/>
                  </a:moveTo>
                  <a:lnTo>
                    <a:pt x="46355" y="46990"/>
                  </a:lnTo>
                  <a:lnTo>
                    <a:pt x="46355" y="58420"/>
                  </a:lnTo>
                  <a:lnTo>
                    <a:pt x="46355" y="400050"/>
                  </a:lnTo>
                  <a:lnTo>
                    <a:pt x="46355" y="411480"/>
                  </a:lnTo>
                  <a:lnTo>
                    <a:pt x="2975737" y="411480"/>
                  </a:lnTo>
                  <a:lnTo>
                    <a:pt x="2975737" y="400050"/>
                  </a:lnTo>
                  <a:lnTo>
                    <a:pt x="57912" y="400050"/>
                  </a:lnTo>
                  <a:lnTo>
                    <a:pt x="57912" y="58420"/>
                  </a:lnTo>
                  <a:lnTo>
                    <a:pt x="2964180" y="58420"/>
                  </a:lnTo>
                  <a:lnTo>
                    <a:pt x="2964180" y="399796"/>
                  </a:lnTo>
                  <a:lnTo>
                    <a:pt x="2975737" y="399796"/>
                  </a:lnTo>
                  <a:lnTo>
                    <a:pt x="2975737" y="58420"/>
                  </a:lnTo>
                  <a:lnTo>
                    <a:pt x="2975737" y="46990"/>
                  </a:lnTo>
                  <a:close/>
                </a:path>
                <a:path w="3022600" h="457200">
                  <a:moveTo>
                    <a:pt x="3022092" y="0"/>
                  </a:moveTo>
                  <a:lnTo>
                    <a:pt x="2987294" y="0"/>
                  </a:lnTo>
                  <a:lnTo>
                    <a:pt x="2987294" y="35560"/>
                  </a:lnTo>
                  <a:lnTo>
                    <a:pt x="2987294" y="422910"/>
                  </a:lnTo>
                  <a:lnTo>
                    <a:pt x="34798" y="422910"/>
                  </a:lnTo>
                  <a:lnTo>
                    <a:pt x="34798" y="35560"/>
                  </a:lnTo>
                  <a:lnTo>
                    <a:pt x="2987294" y="35560"/>
                  </a:lnTo>
                  <a:lnTo>
                    <a:pt x="2987294" y="0"/>
                  </a:lnTo>
                  <a:lnTo>
                    <a:pt x="0" y="0"/>
                  </a:lnTo>
                  <a:lnTo>
                    <a:pt x="0" y="35560"/>
                  </a:lnTo>
                  <a:lnTo>
                    <a:pt x="0" y="422910"/>
                  </a:lnTo>
                  <a:lnTo>
                    <a:pt x="0" y="457200"/>
                  </a:lnTo>
                  <a:lnTo>
                    <a:pt x="3022092" y="457200"/>
                  </a:lnTo>
                  <a:lnTo>
                    <a:pt x="3022092" y="422910"/>
                  </a:lnTo>
                  <a:lnTo>
                    <a:pt x="3022092" y="35560"/>
                  </a:lnTo>
                  <a:lnTo>
                    <a:pt x="3022092" y="35306"/>
                  </a:lnTo>
                  <a:lnTo>
                    <a:pt x="3022092" y="0"/>
                  </a:lnTo>
                  <a:close/>
                </a:path>
              </a:pathLst>
            </a:custGeom>
            <a:solidFill>
              <a:srgbClr val="3333CC"/>
            </a:solidFill>
          </p:spPr>
          <p:txBody>
            <a:bodyPr wrap="square" lIns="0" tIns="0" rIns="0" bIns="0" rtlCol="0"/>
            <a:lstStyle/>
            <a:p>
              <a:endParaRPr/>
            </a:p>
          </p:txBody>
        </p:sp>
      </p:grpSp>
      <p:grpSp>
        <p:nvGrpSpPr>
          <p:cNvPr id="8" name="object 8"/>
          <p:cNvGrpSpPr/>
          <p:nvPr/>
        </p:nvGrpSpPr>
        <p:grpSpPr>
          <a:xfrm>
            <a:off x="4133089" y="4969509"/>
            <a:ext cx="3927475" cy="424180"/>
            <a:chOff x="2609088" y="4969509"/>
            <a:chExt cx="3927475" cy="424180"/>
          </a:xfrm>
        </p:grpSpPr>
        <p:pic>
          <p:nvPicPr>
            <p:cNvPr id="9" name="object 9"/>
            <p:cNvPicPr/>
            <p:nvPr/>
          </p:nvPicPr>
          <p:blipFill>
            <a:blip r:embed="rId3" cstate="print"/>
            <a:stretch>
              <a:fillRect/>
            </a:stretch>
          </p:blipFill>
          <p:spPr>
            <a:xfrm>
              <a:off x="2693969" y="5045261"/>
              <a:ext cx="3739766" cy="255034"/>
            </a:xfrm>
            <a:prstGeom prst="rect">
              <a:avLst/>
            </a:prstGeom>
          </p:spPr>
        </p:pic>
        <p:sp>
          <p:nvSpPr>
            <p:cNvPr id="10" name="object 10"/>
            <p:cNvSpPr/>
            <p:nvPr/>
          </p:nvSpPr>
          <p:spPr>
            <a:xfrm>
              <a:off x="2609088" y="4969509"/>
              <a:ext cx="3927475" cy="424180"/>
            </a:xfrm>
            <a:custGeom>
              <a:avLst/>
              <a:gdLst/>
              <a:ahLst/>
              <a:cxnLst/>
              <a:rect l="l" t="t" r="r" b="b"/>
              <a:pathLst>
                <a:path w="3927475" h="424179">
                  <a:moveTo>
                    <a:pt x="3880993" y="46990"/>
                  </a:moveTo>
                  <a:lnTo>
                    <a:pt x="3869436" y="46990"/>
                  </a:lnTo>
                  <a:lnTo>
                    <a:pt x="3869436" y="58420"/>
                  </a:lnTo>
                  <a:lnTo>
                    <a:pt x="3869436" y="365760"/>
                  </a:lnTo>
                  <a:lnTo>
                    <a:pt x="57912" y="365760"/>
                  </a:lnTo>
                  <a:lnTo>
                    <a:pt x="57912" y="58420"/>
                  </a:lnTo>
                  <a:lnTo>
                    <a:pt x="3869436" y="58420"/>
                  </a:lnTo>
                  <a:lnTo>
                    <a:pt x="3869436" y="46990"/>
                  </a:lnTo>
                  <a:lnTo>
                    <a:pt x="46355" y="46990"/>
                  </a:lnTo>
                  <a:lnTo>
                    <a:pt x="46355" y="58420"/>
                  </a:lnTo>
                  <a:lnTo>
                    <a:pt x="46355" y="365760"/>
                  </a:lnTo>
                  <a:lnTo>
                    <a:pt x="46355" y="377190"/>
                  </a:lnTo>
                  <a:lnTo>
                    <a:pt x="3880993" y="377190"/>
                  </a:lnTo>
                  <a:lnTo>
                    <a:pt x="3880993" y="366014"/>
                  </a:lnTo>
                  <a:lnTo>
                    <a:pt x="3880993" y="365760"/>
                  </a:lnTo>
                  <a:lnTo>
                    <a:pt x="3880993" y="58420"/>
                  </a:lnTo>
                  <a:lnTo>
                    <a:pt x="3880993" y="58166"/>
                  </a:lnTo>
                  <a:lnTo>
                    <a:pt x="3880993" y="46990"/>
                  </a:lnTo>
                  <a:close/>
                </a:path>
                <a:path w="3927475" h="424179">
                  <a:moveTo>
                    <a:pt x="3927335" y="0"/>
                  </a:moveTo>
                  <a:lnTo>
                    <a:pt x="3892550" y="0"/>
                  </a:lnTo>
                  <a:lnTo>
                    <a:pt x="3892550" y="35560"/>
                  </a:lnTo>
                  <a:lnTo>
                    <a:pt x="3892550" y="388620"/>
                  </a:lnTo>
                  <a:lnTo>
                    <a:pt x="34798" y="388620"/>
                  </a:lnTo>
                  <a:lnTo>
                    <a:pt x="34798" y="35560"/>
                  </a:lnTo>
                  <a:lnTo>
                    <a:pt x="3892550" y="35560"/>
                  </a:lnTo>
                  <a:lnTo>
                    <a:pt x="3892550" y="0"/>
                  </a:lnTo>
                  <a:lnTo>
                    <a:pt x="0" y="0"/>
                  </a:lnTo>
                  <a:lnTo>
                    <a:pt x="0" y="35560"/>
                  </a:lnTo>
                  <a:lnTo>
                    <a:pt x="0" y="388620"/>
                  </a:lnTo>
                  <a:lnTo>
                    <a:pt x="0" y="424180"/>
                  </a:lnTo>
                  <a:lnTo>
                    <a:pt x="3927335" y="424180"/>
                  </a:lnTo>
                  <a:lnTo>
                    <a:pt x="3927335" y="389128"/>
                  </a:lnTo>
                  <a:lnTo>
                    <a:pt x="3927335" y="388620"/>
                  </a:lnTo>
                  <a:lnTo>
                    <a:pt x="3927335" y="35560"/>
                  </a:lnTo>
                  <a:lnTo>
                    <a:pt x="3927335" y="35052"/>
                  </a:lnTo>
                  <a:lnTo>
                    <a:pt x="3927335" y="0"/>
                  </a:lnTo>
                  <a:close/>
                </a:path>
              </a:pathLst>
            </a:custGeom>
            <a:solidFill>
              <a:srgbClr val="3333CC"/>
            </a:solidFill>
          </p:spPr>
          <p:txBody>
            <a:bodyPr wrap="square" lIns="0" tIns="0" rIns="0" bIns="0" rtlCol="0"/>
            <a:lstStyle/>
            <a:p>
              <a:endParaRPr/>
            </a:p>
          </p:txBody>
        </p:sp>
      </p:grpSp>
    </p:spTree>
    <p:extLst>
      <p:ext uri="{BB962C8B-B14F-4D97-AF65-F5344CB8AC3E}">
        <p14:creationId xmlns:p14="http://schemas.microsoft.com/office/powerpoint/2010/main" val="1618500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p:nvPr/>
        </p:nvSpPr>
        <p:spPr>
          <a:xfrm>
            <a:off x="464024" y="1293125"/>
            <a:ext cx="10863618" cy="773930"/>
          </a:xfrm>
          <a:prstGeom prst="rect">
            <a:avLst/>
          </a:prstGeom>
          <a:solidFill>
            <a:srgbClr val="99FF33"/>
          </a:solidFill>
        </p:spPr>
        <p:txBody>
          <a:bodyPr vert="horz" wrap="square" lIns="0" tIns="34925" rIns="0" bIns="0" rtlCol="0">
            <a:spAutoFit/>
          </a:bodyPr>
          <a:lstStyle/>
          <a:p>
            <a:pPr marL="270510" marR="263525" algn="ctr">
              <a:spcBef>
                <a:spcPts val="275"/>
              </a:spcBef>
            </a:pPr>
            <a:r>
              <a:rPr sz="2400" b="1" dirty="0">
                <a:latin typeface="Arial"/>
                <a:cs typeface="Arial"/>
              </a:rPr>
              <a:t>The</a:t>
            </a:r>
            <a:r>
              <a:rPr sz="2400" b="1" spc="-40" dirty="0">
                <a:latin typeface="Arial"/>
                <a:cs typeface="Arial"/>
              </a:rPr>
              <a:t> </a:t>
            </a:r>
            <a:r>
              <a:rPr sz="2400" b="1" dirty="0">
                <a:latin typeface="Arial"/>
                <a:cs typeface="Arial"/>
              </a:rPr>
              <a:t>minimum</a:t>
            </a:r>
            <a:r>
              <a:rPr sz="2400" b="1" spc="-20" dirty="0">
                <a:latin typeface="Arial"/>
                <a:cs typeface="Arial"/>
              </a:rPr>
              <a:t> </a:t>
            </a:r>
            <a:r>
              <a:rPr sz="2400" b="1" dirty="0">
                <a:latin typeface="Arial"/>
                <a:cs typeface="Arial"/>
              </a:rPr>
              <a:t>Hamming</a:t>
            </a:r>
            <a:r>
              <a:rPr sz="2400" b="1" spc="-20" dirty="0">
                <a:latin typeface="Arial"/>
                <a:cs typeface="Arial"/>
              </a:rPr>
              <a:t> </a:t>
            </a:r>
            <a:r>
              <a:rPr sz="2400" b="1" spc="-5" dirty="0">
                <a:latin typeface="Arial"/>
                <a:cs typeface="Arial"/>
              </a:rPr>
              <a:t>distance</a:t>
            </a:r>
            <a:r>
              <a:rPr sz="2400" b="1" spc="-45" dirty="0">
                <a:latin typeface="Arial"/>
                <a:cs typeface="Arial"/>
              </a:rPr>
              <a:t> </a:t>
            </a:r>
            <a:r>
              <a:rPr sz="2400" b="1" dirty="0">
                <a:latin typeface="Arial"/>
                <a:cs typeface="Arial"/>
              </a:rPr>
              <a:t>is</a:t>
            </a:r>
            <a:r>
              <a:rPr sz="2400" b="1" spc="-20" dirty="0">
                <a:latin typeface="Arial"/>
                <a:cs typeface="Arial"/>
              </a:rPr>
              <a:t> </a:t>
            </a:r>
            <a:r>
              <a:rPr sz="2400" b="1" dirty="0">
                <a:latin typeface="Arial"/>
                <a:cs typeface="Arial"/>
              </a:rPr>
              <a:t>the </a:t>
            </a:r>
            <a:r>
              <a:rPr sz="2400" b="1" spc="-875" dirty="0">
                <a:latin typeface="Arial"/>
                <a:cs typeface="Arial"/>
              </a:rPr>
              <a:t> </a:t>
            </a:r>
            <a:r>
              <a:rPr sz="2400" b="1" spc="-5" dirty="0">
                <a:latin typeface="Arial"/>
                <a:cs typeface="Arial"/>
              </a:rPr>
              <a:t>smallest</a:t>
            </a:r>
            <a:r>
              <a:rPr sz="2400" b="1" spc="35" dirty="0">
                <a:latin typeface="Arial"/>
                <a:cs typeface="Arial"/>
              </a:rPr>
              <a:t> </a:t>
            </a:r>
            <a:r>
              <a:rPr sz="2400" b="1" dirty="0">
                <a:latin typeface="Arial"/>
                <a:cs typeface="Arial"/>
              </a:rPr>
              <a:t>Hamming</a:t>
            </a:r>
            <a:r>
              <a:rPr sz="2400" b="1" spc="20" dirty="0">
                <a:latin typeface="Arial"/>
                <a:cs typeface="Arial"/>
              </a:rPr>
              <a:t> </a:t>
            </a:r>
            <a:r>
              <a:rPr sz="2400" b="1" spc="-5" dirty="0">
                <a:latin typeface="Arial"/>
                <a:cs typeface="Arial"/>
              </a:rPr>
              <a:t>distance</a:t>
            </a:r>
            <a:r>
              <a:rPr sz="2400" b="1" dirty="0">
                <a:latin typeface="Arial"/>
                <a:cs typeface="Arial"/>
              </a:rPr>
              <a:t> </a:t>
            </a:r>
            <a:r>
              <a:rPr sz="2400" b="1" spc="-5" dirty="0">
                <a:latin typeface="Arial"/>
                <a:cs typeface="Arial"/>
              </a:rPr>
              <a:t>between </a:t>
            </a:r>
            <a:r>
              <a:rPr sz="2400" b="1" dirty="0">
                <a:latin typeface="Arial"/>
                <a:cs typeface="Arial"/>
              </a:rPr>
              <a:t> all</a:t>
            </a:r>
            <a:r>
              <a:rPr sz="2400" b="1" spc="-15" dirty="0">
                <a:latin typeface="Arial"/>
                <a:cs typeface="Arial"/>
              </a:rPr>
              <a:t> </a:t>
            </a:r>
            <a:r>
              <a:rPr sz="2400" b="1" spc="-5" dirty="0">
                <a:latin typeface="Arial"/>
                <a:cs typeface="Arial"/>
              </a:rPr>
              <a:t>possible</a:t>
            </a:r>
            <a:r>
              <a:rPr sz="2400" b="1" spc="-35" dirty="0">
                <a:latin typeface="Arial"/>
                <a:cs typeface="Arial"/>
              </a:rPr>
              <a:t> </a:t>
            </a:r>
            <a:r>
              <a:rPr sz="2400" b="1" spc="-5" dirty="0">
                <a:latin typeface="Arial"/>
                <a:cs typeface="Arial"/>
              </a:rPr>
              <a:t>pairs</a:t>
            </a:r>
            <a:r>
              <a:rPr sz="2400" b="1" spc="-20" dirty="0">
                <a:latin typeface="Arial"/>
                <a:cs typeface="Arial"/>
              </a:rPr>
              <a:t> </a:t>
            </a:r>
            <a:r>
              <a:rPr sz="2400" b="1" dirty="0">
                <a:latin typeface="Arial"/>
                <a:cs typeface="Arial"/>
              </a:rPr>
              <a:t>in a</a:t>
            </a:r>
            <a:r>
              <a:rPr sz="2400" b="1" spc="-20" dirty="0">
                <a:latin typeface="Arial"/>
                <a:cs typeface="Arial"/>
              </a:rPr>
              <a:t> </a:t>
            </a:r>
            <a:r>
              <a:rPr sz="2400" b="1" spc="-5" dirty="0">
                <a:latin typeface="Arial"/>
                <a:cs typeface="Arial"/>
              </a:rPr>
              <a:t>set</a:t>
            </a:r>
            <a:r>
              <a:rPr sz="2400" b="1" spc="-15" dirty="0">
                <a:latin typeface="Arial"/>
                <a:cs typeface="Arial"/>
              </a:rPr>
              <a:t> </a:t>
            </a:r>
            <a:r>
              <a:rPr sz="2400" b="1" dirty="0">
                <a:latin typeface="Arial"/>
                <a:cs typeface="Arial"/>
              </a:rPr>
              <a:t>of</a:t>
            </a:r>
            <a:r>
              <a:rPr sz="2400" b="1" spc="-15" dirty="0">
                <a:latin typeface="Arial"/>
                <a:cs typeface="Arial"/>
              </a:rPr>
              <a:t> </a:t>
            </a:r>
            <a:r>
              <a:rPr sz="2400" b="1" dirty="0">
                <a:latin typeface="Arial"/>
                <a:cs typeface="Arial"/>
              </a:rPr>
              <a:t>words.</a:t>
            </a:r>
            <a:r>
              <a:rPr lang="en-IN" sz="2400" b="1" dirty="0">
                <a:latin typeface="Arial"/>
                <a:cs typeface="Arial"/>
              </a:rPr>
              <a:t> </a:t>
            </a:r>
          </a:p>
        </p:txBody>
      </p:sp>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Minimum Hamming Distance</a:t>
            </a:r>
            <a:endParaRPr lang="en-US" sz="3200" dirty="0">
              <a:latin typeface="Times New Roman"/>
              <a:cs typeface="Times New Roman"/>
            </a:endParaRPr>
          </a:p>
        </p:txBody>
      </p:sp>
      <p:sp>
        <p:nvSpPr>
          <p:cNvPr id="19" name="TextBox 18"/>
          <p:cNvSpPr txBox="1"/>
          <p:nvPr/>
        </p:nvSpPr>
        <p:spPr>
          <a:xfrm>
            <a:off x="5895833" y="2802100"/>
            <a:ext cx="3935116" cy="369332"/>
          </a:xfrm>
          <a:prstGeom prst="rect">
            <a:avLst/>
          </a:prstGeom>
          <a:noFill/>
        </p:spPr>
        <p:txBody>
          <a:bodyPr wrap="none" rtlCol="0">
            <a:spAutoFit/>
          </a:bodyPr>
          <a:lstStyle/>
          <a:p>
            <a:r>
              <a:rPr lang="en-US" dirty="0"/>
              <a:t>Minimum Hamming distance = </a:t>
            </a:r>
            <a:r>
              <a:rPr lang="en-US" dirty="0" err="1"/>
              <a:t>d</a:t>
            </a:r>
            <a:r>
              <a:rPr lang="en-US" baseline="-25000" dirty="0" err="1"/>
              <a:t>min</a:t>
            </a:r>
            <a:r>
              <a:rPr lang="en-US" dirty="0"/>
              <a:t> = 1</a:t>
            </a:r>
            <a:endParaRPr lang="en-IN" dirty="0"/>
          </a:p>
        </p:txBody>
      </p:sp>
      <p:pic>
        <p:nvPicPr>
          <p:cNvPr id="6" name="Picture 5">
            <a:extLst>
              <a:ext uri="{FF2B5EF4-FFF2-40B4-BE49-F238E27FC236}">
                <a16:creationId xmlns:a16="http://schemas.microsoft.com/office/drawing/2014/main" id="{B1A72FAD-3534-3853-E828-2C7E9C9BDC45}"/>
              </a:ext>
            </a:extLst>
          </p:cNvPr>
          <p:cNvPicPr>
            <a:picLocks noChangeAspect="1"/>
          </p:cNvPicPr>
          <p:nvPr/>
        </p:nvPicPr>
        <p:blipFill>
          <a:blip r:embed="rId2"/>
          <a:stretch>
            <a:fillRect/>
          </a:stretch>
        </p:blipFill>
        <p:spPr>
          <a:xfrm>
            <a:off x="4179619" y="5051407"/>
            <a:ext cx="7787792" cy="630962"/>
          </a:xfrm>
          <a:prstGeom prst="rect">
            <a:avLst/>
          </a:prstGeom>
        </p:spPr>
      </p:pic>
      <p:sp>
        <p:nvSpPr>
          <p:cNvPr id="7" name="TextBox 6">
            <a:extLst>
              <a:ext uri="{FF2B5EF4-FFF2-40B4-BE49-F238E27FC236}">
                <a16:creationId xmlns:a16="http://schemas.microsoft.com/office/drawing/2014/main" id="{FA223CB8-7C89-CDB1-24E1-F578DB687AA4}"/>
              </a:ext>
            </a:extLst>
          </p:cNvPr>
          <p:cNvSpPr txBox="1"/>
          <p:nvPr/>
        </p:nvSpPr>
        <p:spPr>
          <a:xfrm>
            <a:off x="4179619" y="5711605"/>
            <a:ext cx="4106129" cy="646331"/>
          </a:xfrm>
          <a:prstGeom prst="rect">
            <a:avLst/>
          </a:prstGeom>
          <a:noFill/>
        </p:spPr>
        <p:txBody>
          <a:bodyPr wrap="square" rtlCol="0">
            <a:spAutoFit/>
          </a:bodyPr>
          <a:lstStyle/>
          <a:p>
            <a:r>
              <a:rPr lang="en-IN" dirty="0"/>
              <a:t>Where, n is the total number of bits</a:t>
            </a:r>
          </a:p>
          <a:p>
            <a:r>
              <a:rPr lang="en-IN" dirty="0"/>
              <a:t>k is the number bits in the data</a:t>
            </a:r>
          </a:p>
        </p:txBody>
      </p:sp>
      <p:pic>
        <p:nvPicPr>
          <p:cNvPr id="8" name="Picture 2">
            <a:extLst>
              <a:ext uri="{FF2B5EF4-FFF2-40B4-BE49-F238E27FC236}">
                <a16:creationId xmlns:a16="http://schemas.microsoft.com/office/drawing/2014/main" id="{1AF38FFC-3086-950E-B9F7-0819EB7EE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265" y="2354208"/>
            <a:ext cx="2447839" cy="4360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9799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3"/>
          <p:cNvSpPr txBox="1">
            <a:spLocks/>
          </p:cNvSpPr>
          <p:nvPr/>
        </p:nvSpPr>
        <p:spPr>
          <a:xfrm>
            <a:off x="1357953" y="500064"/>
            <a:ext cx="7890210" cy="505908"/>
          </a:xfrm>
          <a:prstGeom prst="rect">
            <a:avLst/>
          </a:prstGeom>
          <a:solidFill>
            <a:srgbClr val="FFFF00"/>
          </a:solidFill>
        </p:spPr>
        <p:txBody>
          <a:bodyPr vert="horz" wrap="square" lIns="0" tIns="1333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i="1" dirty="0">
                <a:solidFill>
                  <a:srgbClr val="FF0000"/>
                </a:solidFill>
                <a:latin typeface="Times New Roman"/>
                <a:cs typeface="Times New Roman"/>
              </a:rPr>
              <a:t>Minimum Hamming Distance</a:t>
            </a:r>
            <a:endParaRPr lang="en-US" sz="3200" dirty="0">
              <a:latin typeface="Times New Roman"/>
              <a:cs typeface="Times New Roman"/>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953" y="1132219"/>
            <a:ext cx="6170352" cy="3385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7C1A64E2-EAFA-4560-EAFE-171096B76161}"/>
              </a:ext>
            </a:extLst>
          </p:cNvPr>
          <p:cNvSpPr txBox="1"/>
          <p:nvPr/>
        </p:nvSpPr>
        <p:spPr>
          <a:xfrm>
            <a:off x="585537" y="4860758"/>
            <a:ext cx="10804358" cy="923330"/>
          </a:xfrm>
          <a:prstGeom prst="rect">
            <a:avLst/>
          </a:prstGeom>
          <a:noFill/>
        </p:spPr>
        <p:txBody>
          <a:bodyPr wrap="square" rtlCol="0">
            <a:spAutoFit/>
          </a:bodyPr>
          <a:lstStyle/>
          <a:p>
            <a:pPr marL="342900" indent="-342900">
              <a:buAutoNum type="arabicPeriod"/>
            </a:pPr>
            <a:r>
              <a:rPr lang="en-IN" dirty="0"/>
              <a:t>If the minimum hamming distance is 9 then how many errors can be detected and corrected by those codewords?</a:t>
            </a:r>
          </a:p>
          <a:p>
            <a:pPr marL="342900" indent="-342900">
              <a:buAutoNum type="arabicPeriod"/>
            </a:pPr>
            <a:r>
              <a:rPr lang="en-IN" dirty="0"/>
              <a:t>For (11,7) hamming code, how many errors can be corrected and detected?</a:t>
            </a:r>
          </a:p>
        </p:txBody>
      </p:sp>
    </p:spTree>
    <p:extLst>
      <p:ext uri="{BB962C8B-B14F-4D97-AF65-F5344CB8AC3E}">
        <p14:creationId xmlns:p14="http://schemas.microsoft.com/office/powerpoint/2010/main" val="6491221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C9466EB1-0215-4BB7-B5F0-8E028541416A}"/>
              </a:ext>
            </a:extLst>
          </p:cNvPr>
          <p:cNvSpPr>
            <a:spLocks noChangeArrowheads="1"/>
          </p:cNvSpPr>
          <p:nvPr/>
        </p:nvSpPr>
        <p:spPr bwMode="auto">
          <a:xfrm>
            <a:off x="152400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22A8CD44-90D2-403B-8FFE-F7E7230A9918}"/>
              </a:ext>
            </a:extLst>
          </p:cNvPr>
          <p:cNvSpPr txBox="1">
            <a:spLocks noChangeArrowheads="1"/>
          </p:cNvSpPr>
          <p:nvPr/>
        </p:nvSpPr>
        <p:spPr bwMode="auto">
          <a:xfrm>
            <a:off x="1752600" y="406400"/>
            <a:ext cx="16424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effectLst>
                  <a:outerShdw blurRad="38100" dist="38100" dir="2700000" algn="tl">
                    <a:srgbClr val="C0C0C0"/>
                  </a:outerShdw>
                </a:effectLst>
                <a:latin typeface="Times" panose="02020603050405020304" pitchFamily="18" charset="0"/>
              </a:rPr>
              <a:t>  PROTOCOLS</a:t>
            </a:r>
          </a:p>
        </p:txBody>
      </p:sp>
      <p:sp>
        <p:nvSpPr>
          <p:cNvPr id="860164" name="Text Box 4">
            <a:extLst>
              <a:ext uri="{FF2B5EF4-FFF2-40B4-BE49-F238E27FC236}">
                <a16:creationId xmlns:a16="http://schemas.microsoft.com/office/drawing/2014/main" id="{182A1070-8199-45A6-8B3D-4263A8667C31}"/>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860165" name="Rectangle 5">
            <a:extLst>
              <a:ext uri="{FF2B5EF4-FFF2-40B4-BE49-F238E27FC236}">
                <a16:creationId xmlns:a16="http://schemas.microsoft.com/office/drawing/2014/main" id="{CD48FBF3-173D-42E3-B4D7-37CEC7EA04F2}"/>
              </a:ext>
            </a:extLst>
          </p:cNvPr>
          <p:cNvSpPr>
            <a:spLocks noChangeArrowheads="1"/>
          </p:cNvSpPr>
          <p:nvPr/>
        </p:nvSpPr>
        <p:spPr bwMode="auto">
          <a:xfrm>
            <a:off x="1828800" y="2458353"/>
            <a:ext cx="8229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en-US" sz="2800" dirty="0">
                <a:effectLst>
                  <a:outerShdw blurRad="38100" dist="38100" dir="2700000" algn="tl">
                    <a:srgbClr val="C0C0C0"/>
                  </a:outerShdw>
                </a:effectLst>
                <a:latin typeface="Times New Roman" panose="02020603050405020304" pitchFamily="18" charset="0"/>
              </a:rPr>
              <a:t>In data link layer the flow control is achieved through the protocols. The protocols are normally the set of rules and implemented using software by using one of the common programming languages.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Line 2">
            <a:extLst>
              <a:ext uri="{FF2B5EF4-FFF2-40B4-BE49-F238E27FC236}">
                <a16:creationId xmlns:a16="http://schemas.microsoft.com/office/drawing/2014/main" id="{556678B6-DEFC-47BB-8402-CEA012D1B51F}"/>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03" name="Line 3">
            <a:extLst>
              <a:ext uri="{FF2B5EF4-FFF2-40B4-BE49-F238E27FC236}">
                <a16:creationId xmlns:a16="http://schemas.microsoft.com/office/drawing/2014/main" id="{3E0E15F6-82CE-44B2-AC79-AC7404BB942F}"/>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04" name="Text Box 4">
            <a:extLst>
              <a:ext uri="{FF2B5EF4-FFF2-40B4-BE49-F238E27FC236}">
                <a16:creationId xmlns:a16="http://schemas.microsoft.com/office/drawing/2014/main" id="{48F4F703-F734-46EA-8D6A-96C6E1FF3884}"/>
              </a:ext>
            </a:extLst>
          </p:cNvPr>
          <p:cNvSpPr txBox="1">
            <a:spLocks noChangeArrowheads="1"/>
          </p:cNvSpPr>
          <p:nvPr/>
        </p:nvSpPr>
        <p:spPr bwMode="auto">
          <a:xfrm>
            <a:off x="1828801" y="381000"/>
            <a:ext cx="2514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Taxonomy of protocols</a:t>
            </a:r>
          </a:p>
        </p:txBody>
      </p:sp>
      <p:sp>
        <p:nvSpPr>
          <p:cNvPr id="870405" name="Line 5">
            <a:extLst>
              <a:ext uri="{FF2B5EF4-FFF2-40B4-BE49-F238E27FC236}">
                <a16:creationId xmlns:a16="http://schemas.microsoft.com/office/drawing/2014/main" id="{D93DDC71-058B-4A8A-861E-B16E8D2CD98C}"/>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70406" name="Picture 6">
            <a:extLst>
              <a:ext uri="{FF2B5EF4-FFF2-40B4-BE49-F238E27FC236}">
                <a16:creationId xmlns:a16="http://schemas.microsoft.com/office/drawing/2014/main" id="{B5597E86-1AE4-4A4F-960B-93521BDFA3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755776"/>
            <a:ext cx="8528050" cy="380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029" y="473812"/>
            <a:ext cx="10972800" cy="990600"/>
          </a:xfrm>
          <a:solidFill>
            <a:srgbClr val="FFFF00"/>
          </a:solidFill>
        </p:spPr>
        <p:txBody>
          <a:bodyPr>
            <a:normAutofit fontScale="90000"/>
          </a:bodyPr>
          <a:lstStyle/>
          <a:p>
            <a:r>
              <a:rPr lang="en-US" dirty="0"/>
              <a:t>Data Link Layer Protocol - </a:t>
            </a:r>
            <a:r>
              <a:rPr lang="en-IN" dirty="0"/>
              <a:t>Stop and Wait Protocol</a:t>
            </a:r>
          </a:p>
        </p:txBody>
      </p:sp>
      <p:grpSp>
        <p:nvGrpSpPr>
          <p:cNvPr id="33" name="object 4"/>
          <p:cNvGrpSpPr/>
          <p:nvPr/>
        </p:nvGrpSpPr>
        <p:grpSpPr>
          <a:xfrm>
            <a:off x="9973641" y="2062152"/>
            <a:ext cx="1490345" cy="4286885"/>
            <a:chOff x="6822820" y="1642998"/>
            <a:chExt cx="1490345" cy="4286885"/>
          </a:xfrm>
        </p:grpSpPr>
        <p:sp>
          <p:nvSpPr>
            <p:cNvPr id="34" name="object 5"/>
            <p:cNvSpPr/>
            <p:nvPr/>
          </p:nvSpPr>
          <p:spPr>
            <a:xfrm>
              <a:off x="6887590" y="1776475"/>
              <a:ext cx="1358900" cy="264160"/>
            </a:xfrm>
            <a:custGeom>
              <a:avLst/>
              <a:gdLst/>
              <a:ahLst/>
              <a:cxnLst/>
              <a:rect l="l" t="t" r="r" b="b"/>
              <a:pathLst>
                <a:path w="1358900" h="264160">
                  <a:moveTo>
                    <a:pt x="1303855" y="224745"/>
                  </a:moveTo>
                  <a:lnTo>
                    <a:pt x="1249679" y="245872"/>
                  </a:lnTo>
                  <a:lnTo>
                    <a:pt x="1247139" y="251460"/>
                  </a:lnTo>
                  <a:lnTo>
                    <a:pt x="1249172" y="256286"/>
                  </a:lnTo>
                  <a:lnTo>
                    <a:pt x="1251077" y="261238"/>
                  </a:lnTo>
                  <a:lnTo>
                    <a:pt x="1256537" y="263651"/>
                  </a:lnTo>
                  <a:lnTo>
                    <a:pt x="1342285" y="230250"/>
                  </a:lnTo>
                  <a:lnTo>
                    <a:pt x="1338706" y="230250"/>
                  </a:lnTo>
                  <a:lnTo>
                    <a:pt x="1303855" y="224745"/>
                  </a:lnTo>
                  <a:close/>
                </a:path>
                <a:path w="1358900" h="264160">
                  <a:moveTo>
                    <a:pt x="1321470" y="217884"/>
                  </a:moveTo>
                  <a:lnTo>
                    <a:pt x="1303855" y="224745"/>
                  </a:lnTo>
                  <a:lnTo>
                    <a:pt x="1338706" y="230250"/>
                  </a:lnTo>
                  <a:lnTo>
                    <a:pt x="1339022" y="228219"/>
                  </a:lnTo>
                  <a:lnTo>
                    <a:pt x="1334134" y="228219"/>
                  </a:lnTo>
                  <a:lnTo>
                    <a:pt x="1321470" y="217884"/>
                  </a:lnTo>
                  <a:close/>
                </a:path>
                <a:path w="1358900" h="264160">
                  <a:moveTo>
                    <a:pt x="1273809" y="154304"/>
                  </a:moveTo>
                  <a:lnTo>
                    <a:pt x="1267840" y="154939"/>
                  </a:lnTo>
                  <a:lnTo>
                    <a:pt x="1264411" y="159003"/>
                  </a:lnTo>
                  <a:lnTo>
                    <a:pt x="1261109" y="163068"/>
                  </a:lnTo>
                  <a:lnTo>
                    <a:pt x="1261744" y="169037"/>
                  </a:lnTo>
                  <a:lnTo>
                    <a:pt x="1265808" y="172465"/>
                  </a:lnTo>
                  <a:lnTo>
                    <a:pt x="1306860" y="205963"/>
                  </a:lnTo>
                  <a:lnTo>
                    <a:pt x="1341627" y="211454"/>
                  </a:lnTo>
                  <a:lnTo>
                    <a:pt x="1338706" y="230250"/>
                  </a:lnTo>
                  <a:lnTo>
                    <a:pt x="1342285" y="230250"/>
                  </a:lnTo>
                  <a:lnTo>
                    <a:pt x="1358900" y="223774"/>
                  </a:lnTo>
                  <a:lnTo>
                    <a:pt x="1273809" y="154304"/>
                  </a:lnTo>
                  <a:close/>
                </a:path>
                <a:path w="1358900" h="264160">
                  <a:moveTo>
                    <a:pt x="1336675" y="211962"/>
                  </a:moveTo>
                  <a:lnTo>
                    <a:pt x="1321470" y="217884"/>
                  </a:lnTo>
                  <a:lnTo>
                    <a:pt x="1334134" y="228219"/>
                  </a:lnTo>
                  <a:lnTo>
                    <a:pt x="1336675" y="211962"/>
                  </a:lnTo>
                  <a:close/>
                </a:path>
                <a:path w="1358900" h="264160">
                  <a:moveTo>
                    <a:pt x="1341549" y="211962"/>
                  </a:moveTo>
                  <a:lnTo>
                    <a:pt x="1336675" y="211962"/>
                  </a:lnTo>
                  <a:lnTo>
                    <a:pt x="1334134" y="228219"/>
                  </a:lnTo>
                  <a:lnTo>
                    <a:pt x="1339022" y="228219"/>
                  </a:lnTo>
                  <a:lnTo>
                    <a:pt x="1341549" y="211962"/>
                  </a:lnTo>
                  <a:close/>
                </a:path>
                <a:path w="1358900" h="264160">
                  <a:moveTo>
                    <a:pt x="2920" y="0"/>
                  </a:moveTo>
                  <a:lnTo>
                    <a:pt x="0" y="18796"/>
                  </a:lnTo>
                  <a:lnTo>
                    <a:pt x="1303855" y="224745"/>
                  </a:lnTo>
                  <a:lnTo>
                    <a:pt x="1321470" y="217884"/>
                  </a:lnTo>
                  <a:lnTo>
                    <a:pt x="1306860" y="205963"/>
                  </a:lnTo>
                  <a:lnTo>
                    <a:pt x="2920" y="0"/>
                  </a:lnTo>
                  <a:close/>
                </a:path>
                <a:path w="1358900" h="264160">
                  <a:moveTo>
                    <a:pt x="1306860" y="205963"/>
                  </a:moveTo>
                  <a:lnTo>
                    <a:pt x="1321470" y="217884"/>
                  </a:lnTo>
                  <a:lnTo>
                    <a:pt x="1336675" y="211962"/>
                  </a:lnTo>
                  <a:lnTo>
                    <a:pt x="1341549" y="211962"/>
                  </a:lnTo>
                  <a:lnTo>
                    <a:pt x="1341627" y="211454"/>
                  </a:lnTo>
                  <a:lnTo>
                    <a:pt x="1306860" y="205963"/>
                  </a:lnTo>
                  <a:close/>
                </a:path>
              </a:pathLst>
            </a:custGeom>
            <a:solidFill>
              <a:srgbClr val="C00000"/>
            </a:solidFill>
          </p:spPr>
          <p:txBody>
            <a:bodyPr wrap="square" lIns="0" tIns="0" rIns="0" bIns="0" rtlCol="0"/>
            <a:lstStyle/>
            <a:p>
              <a:endParaRPr/>
            </a:p>
          </p:txBody>
        </p:sp>
        <p:sp>
          <p:nvSpPr>
            <p:cNvPr id="35" name="object 6"/>
            <p:cNvSpPr/>
            <p:nvPr/>
          </p:nvSpPr>
          <p:spPr>
            <a:xfrm>
              <a:off x="6888987" y="2062225"/>
              <a:ext cx="1358900" cy="264160"/>
            </a:xfrm>
            <a:custGeom>
              <a:avLst/>
              <a:gdLst/>
              <a:ahLst/>
              <a:cxnLst/>
              <a:rect l="l" t="t" r="r" b="b"/>
              <a:pathLst>
                <a:path w="1358900" h="264160">
                  <a:moveTo>
                    <a:pt x="85089" y="154304"/>
                  </a:moveTo>
                  <a:lnTo>
                    <a:pt x="0" y="223774"/>
                  </a:lnTo>
                  <a:lnTo>
                    <a:pt x="102361" y="263651"/>
                  </a:lnTo>
                  <a:lnTo>
                    <a:pt x="107950" y="261238"/>
                  </a:lnTo>
                  <a:lnTo>
                    <a:pt x="109854" y="256286"/>
                  </a:lnTo>
                  <a:lnTo>
                    <a:pt x="111759" y="251460"/>
                  </a:lnTo>
                  <a:lnTo>
                    <a:pt x="109346" y="245872"/>
                  </a:lnTo>
                  <a:lnTo>
                    <a:pt x="69178" y="230250"/>
                  </a:lnTo>
                  <a:lnTo>
                    <a:pt x="20192" y="230250"/>
                  </a:lnTo>
                  <a:lnTo>
                    <a:pt x="17271" y="211454"/>
                  </a:lnTo>
                  <a:lnTo>
                    <a:pt x="52039" y="205963"/>
                  </a:lnTo>
                  <a:lnTo>
                    <a:pt x="93090" y="172465"/>
                  </a:lnTo>
                  <a:lnTo>
                    <a:pt x="97154" y="169037"/>
                  </a:lnTo>
                  <a:lnTo>
                    <a:pt x="97789" y="163068"/>
                  </a:lnTo>
                  <a:lnTo>
                    <a:pt x="94487" y="159003"/>
                  </a:lnTo>
                  <a:lnTo>
                    <a:pt x="91058" y="154939"/>
                  </a:lnTo>
                  <a:lnTo>
                    <a:pt x="85089" y="154304"/>
                  </a:lnTo>
                  <a:close/>
                </a:path>
                <a:path w="1358900" h="264160">
                  <a:moveTo>
                    <a:pt x="52039" y="205963"/>
                  </a:moveTo>
                  <a:lnTo>
                    <a:pt x="17271" y="211454"/>
                  </a:lnTo>
                  <a:lnTo>
                    <a:pt x="20192" y="230250"/>
                  </a:lnTo>
                  <a:lnTo>
                    <a:pt x="33057" y="228219"/>
                  </a:lnTo>
                  <a:lnTo>
                    <a:pt x="24764" y="228219"/>
                  </a:lnTo>
                  <a:lnTo>
                    <a:pt x="22225" y="211962"/>
                  </a:lnTo>
                  <a:lnTo>
                    <a:pt x="44686" y="211962"/>
                  </a:lnTo>
                  <a:lnTo>
                    <a:pt x="52039" y="205963"/>
                  </a:lnTo>
                  <a:close/>
                </a:path>
                <a:path w="1358900" h="264160">
                  <a:moveTo>
                    <a:pt x="55044" y="224745"/>
                  </a:moveTo>
                  <a:lnTo>
                    <a:pt x="20192" y="230250"/>
                  </a:lnTo>
                  <a:lnTo>
                    <a:pt x="69178" y="230250"/>
                  </a:lnTo>
                  <a:lnTo>
                    <a:pt x="55044" y="224745"/>
                  </a:lnTo>
                  <a:close/>
                </a:path>
                <a:path w="1358900" h="264160">
                  <a:moveTo>
                    <a:pt x="22225" y="211962"/>
                  </a:moveTo>
                  <a:lnTo>
                    <a:pt x="24764" y="228219"/>
                  </a:lnTo>
                  <a:lnTo>
                    <a:pt x="37429" y="217884"/>
                  </a:lnTo>
                  <a:lnTo>
                    <a:pt x="22225" y="211962"/>
                  </a:lnTo>
                  <a:close/>
                </a:path>
                <a:path w="1358900" h="264160">
                  <a:moveTo>
                    <a:pt x="37429" y="217884"/>
                  </a:moveTo>
                  <a:lnTo>
                    <a:pt x="24764" y="228219"/>
                  </a:lnTo>
                  <a:lnTo>
                    <a:pt x="33057" y="228219"/>
                  </a:lnTo>
                  <a:lnTo>
                    <a:pt x="55044" y="224745"/>
                  </a:lnTo>
                  <a:lnTo>
                    <a:pt x="37429" y="217884"/>
                  </a:lnTo>
                  <a:close/>
                </a:path>
                <a:path w="1358900" h="264160">
                  <a:moveTo>
                    <a:pt x="1355978" y="0"/>
                  </a:moveTo>
                  <a:lnTo>
                    <a:pt x="52039" y="205963"/>
                  </a:lnTo>
                  <a:lnTo>
                    <a:pt x="37429" y="217884"/>
                  </a:lnTo>
                  <a:lnTo>
                    <a:pt x="55044" y="224745"/>
                  </a:lnTo>
                  <a:lnTo>
                    <a:pt x="1358900" y="18796"/>
                  </a:lnTo>
                  <a:lnTo>
                    <a:pt x="1355978" y="0"/>
                  </a:lnTo>
                  <a:close/>
                </a:path>
                <a:path w="1358900" h="264160">
                  <a:moveTo>
                    <a:pt x="44686" y="211962"/>
                  </a:moveTo>
                  <a:lnTo>
                    <a:pt x="22225" y="211962"/>
                  </a:lnTo>
                  <a:lnTo>
                    <a:pt x="37429" y="217884"/>
                  </a:lnTo>
                  <a:lnTo>
                    <a:pt x="44686" y="211962"/>
                  </a:lnTo>
                  <a:close/>
                </a:path>
              </a:pathLst>
            </a:custGeom>
            <a:solidFill>
              <a:srgbClr val="1A39BE"/>
            </a:solidFill>
          </p:spPr>
          <p:txBody>
            <a:bodyPr wrap="square" lIns="0" tIns="0" rIns="0" bIns="0" rtlCol="0"/>
            <a:lstStyle/>
            <a:p>
              <a:endParaRPr/>
            </a:p>
          </p:txBody>
        </p:sp>
        <p:sp>
          <p:nvSpPr>
            <p:cNvPr id="36" name="object 7"/>
            <p:cNvSpPr/>
            <p:nvPr/>
          </p:nvSpPr>
          <p:spPr>
            <a:xfrm>
              <a:off x="6887590" y="2419476"/>
              <a:ext cx="1358900" cy="263525"/>
            </a:xfrm>
            <a:custGeom>
              <a:avLst/>
              <a:gdLst/>
              <a:ahLst/>
              <a:cxnLst/>
              <a:rect l="l" t="t" r="r" b="b"/>
              <a:pathLst>
                <a:path w="1358900" h="263525">
                  <a:moveTo>
                    <a:pt x="1303941" y="224635"/>
                  </a:moveTo>
                  <a:lnTo>
                    <a:pt x="1249679" y="245872"/>
                  </a:lnTo>
                  <a:lnTo>
                    <a:pt x="1247139" y="251333"/>
                  </a:lnTo>
                  <a:lnTo>
                    <a:pt x="1249172" y="256286"/>
                  </a:lnTo>
                  <a:lnTo>
                    <a:pt x="1251077" y="261112"/>
                  </a:lnTo>
                  <a:lnTo>
                    <a:pt x="1256537" y="263525"/>
                  </a:lnTo>
                  <a:lnTo>
                    <a:pt x="1342556" y="230124"/>
                  </a:lnTo>
                  <a:lnTo>
                    <a:pt x="1338706" y="230124"/>
                  </a:lnTo>
                  <a:lnTo>
                    <a:pt x="1303941" y="224635"/>
                  </a:lnTo>
                  <a:close/>
                </a:path>
                <a:path w="1358900" h="263525">
                  <a:moveTo>
                    <a:pt x="1321487" y="217774"/>
                  </a:moveTo>
                  <a:lnTo>
                    <a:pt x="1303941" y="224635"/>
                  </a:lnTo>
                  <a:lnTo>
                    <a:pt x="1338706" y="230124"/>
                  </a:lnTo>
                  <a:lnTo>
                    <a:pt x="1339022" y="228092"/>
                  </a:lnTo>
                  <a:lnTo>
                    <a:pt x="1334134" y="228092"/>
                  </a:lnTo>
                  <a:lnTo>
                    <a:pt x="1321487" y="217774"/>
                  </a:lnTo>
                  <a:close/>
                </a:path>
                <a:path w="1358900" h="263525">
                  <a:moveTo>
                    <a:pt x="1273809" y="154305"/>
                  </a:moveTo>
                  <a:lnTo>
                    <a:pt x="1267840" y="154812"/>
                  </a:lnTo>
                  <a:lnTo>
                    <a:pt x="1261109" y="163068"/>
                  </a:lnTo>
                  <a:lnTo>
                    <a:pt x="1261744" y="169037"/>
                  </a:lnTo>
                  <a:lnTo>
                    <a:pt x="1306857" y="205839"/>
                  </a:lnTo>
                  <a:lnTo>
                    <a:pt x="1341627" y="211327"/>
                  </a:lnTo>
                  <a:lnTo>
                    <a:pt x="1338706" y="230124"/>
                  </a:lnTo>
                  <a:lnTo>
                    <a:pt x="1342556" y="230124"/>
                  </a:lnTo>
                  <a:lnTo>
                    <a:pt x="1358900" y="223774"/>
                  </a:lnTo>
                  <a:lnTo>
                    <a:pt x="1273809" y="154305"/>
                  </a:lnTo>
                  <a:close/>
                </a:path>
                <a:path w="1358900" h="263525">
                  <a:moveTo>
                    <a:pt x="1336675" y="211836"/>
                  </a:moveTo>
                  <a:lnTo>
                    <a:pt x="1321487" y="217774"/>
                  </a:lnTo>
                  <a:lnTo>
                    <a:pt x="1334134" y="228092"/>
                  </a:lnTo>
                  <a:lnTo>
                    <a:pt x="1336675" y="211836"/>
                  </a:lnTo>
                  <a:close/>
                </a:path>
                <a:path w="1358900" h="263525">
                  <a:moveTo>
                    <a:pt x="1341549" y="211836"/>
                  </a:moveTo>
                  <a:lnTo>
                    <a:pt x="1336675" y="211836"/>
                  </a:lnTo>
                  <a:lnTo>
                    <a:pt x="1334134" y="228092"/>
                  </a:lnTo>
                  <a:lnTo>
                    <a:pt x="1339022" y="228092"/>
                  </a:lnTo>
                  <a:lnTo>
                    <a:pt x="1341549" y="211836"/>
                  </a:lnTo>
                  <a:close/>
                </a:path>
                <a:path w="1358900" h="263525">
                  <a:moveTo>
                    <a:pt x="2920" y="0"/>
                  </a:moveTo>
                  <a:lnTo>
                    <a:pt x="0" y="18796"/>
                  </a:lnTo>
                  <a:lnTo>
                    <a:pt x="1303941" y="224635"/>
                  </a:lnTo>
                  <a:lnTo>
                    <a:pt x="1321487" y="217774"/>
                  </a:lnTo>
                  <a:lnTo>
                    <a:pt x="1306857" y="205839"/>
                  </a:lnTo>
                  <a:lnTo>
                    <a:pt x="2920" y="0"/>
                  </a:lnTo>
                  <a:close/>
                </a:path>
                <a:path w="1358900" h="263525">
                  <a:moveTo>
                    <a:pt x="1306857" y="205839"/>
                  </a:moveTo>
                  <a:lnTo>
                    <a:pt x="1321487" y="217774"/>
                  </a:lnTo>
                  <a:lnTo>
                    <a:pt x="1336675" y="211836"/>
                  </a:lnTo>
                  <a:lnTo>
                    <a:pt x="1341549" y="211836"/>
                  </a:lnTo>
                  <a:lnTo>
                    <a:pt x="1341627" y="211327"/>
                  </a:lnTo>
                  <a:lnTo>
                    <a:pt x="1306857" y="205839"/>
                  </a:lnTo>
                  <a:close/>
                </a:path>
              </a:pathLst>
            </a:custGeom>
            <a:solidFill>
              <a:srgbClr val="C00000"/>
            </a:solidFill>
          </p:spPr>
          <p:txBody>
            <a:bodyPr wrap="square" lIns="0" tIns="0" rIns="0" bIns="0" rtlCol="0"/>
            <a:lstStyle/>
            <a:p>
              <a:endParaRPr/>
            </a:p>
          </p:txBody>
        </p:sp>
        <p:sp>
          <p:nvSpPr>
            <p:cNvPr id="37" name="object 8"/>
            <p:cNvSpPr/>
            <p:nvPr/>
          </p:nvSpPr>
          <p:spPr>
            <a:xfrm>
              <a:off x="6888987" y="2705226"/>
              <a:ext cx="1358900" cy="263525"/>
            </a:xfrm>
            <a:custGeom>
              <a:avLst/>
              <a:gdLst/>
              <a:ahLst/>
              <a:cxnLst/>
              <a:rect l="l" t="t" r="r" b="b"/>
              <a:pathLst>
                <a:path w="1358900" h="263525">
                  <a:moveTo>
                    <a:pt x="85089" y="154305"/>
                  </a:moveTo>
                  <a:lnTo>
                    <a:pt x="0" y="223774"/>
                  </a:lnTo>
                  <a:lnTo>
                    <a:pt x="102361" y="263525"/>
                  </a:lnTo>
                  <a:lnTo>
                    <a:pt x="107950" y="261112"/>
                  </a:lnTo>
                  <a:lnTo>
                    <a:pt x="109854" y="256286"/>
                  </a:lnTo>
                  <a:lnTo>
                    <a:pt x="111759" y="251333"/>
                  </a:lnTo>
                  <a:lnTo>
                    <a:pt x="109346" y="245872"/>
                  </a:lnTo>
                  <a:lnTo>
                    <a:pt x="68993" y="230124"/>
                  </a:lnTo>
                  <a:lnTo>
                    <a:pt x="20192" y="230124"/>
                  </a:lnTo>
                  <a:lnTo>
                    <a:pt x="17271" y="211327"/>
                  </a:lnTo>
                  <a:lnTo>
                    <a:pt x="52042" y="205839"/>
                  </a:lnTo>
                  <a:lnTo>
                    <a:pt x="97154" y="169037"/>
                  </a:lnTo>
                  <a:lnTo>
                    <a:pt x="97789" y="163068"/>
                  </a:lnTo>
                  <a:lnTo>
                    <a:pt x="91058" y="154812"/>
                  </a:lnTo>
                  <a:lnTo>
                    <a:pt x="85089" y="154305"/>
                  </a:lnTo>
                  <a:close/>
                </a:path>
                <a:path w="1358900" h="263525">
                  <a:moveTo>
                    <a:pt x="52042" y="205839"/>
                  </a:moveTo>
                  <a:lnTo>
                    <a:pt x="17271" y="211327"/>
                  </a:lnTo>
                  <a:lnTo>
                    <a:pt x="20192" y="230124"/>
                  </a:lnTo>
                  <a:lnTo>
                    <a:pt x="33065" y="228092"/>
                  </a:lnTo>
                  <a:lnTo>
                    <a:pt x="24764" y="228092"/>
                  </a:lnTo>
                  <a:lnTo>
                    <a:pt x="22225" y="211836"/>
                  </a:lnTo>
                  <a:lnTo>
                    <a:pt x="44691" y="211836"/>
                  </a:lnTo>
                  <a:lnTo>
                    <a:pt x="52042" y="205839"/>
                  </a:lnTo>
                  <a:close/>
                </a:path>
                <a:path w="1358900" h="263525">
                  <a:moveTo>
                    <a:pt x="54958" y="224635"/>
                  </a:moveTo>
                  <a:lnTo>
                    <a:pt x="20192" y="230124"/>
                  </a:lnTo>
                  <a:lnTo>
                    <a:pt x="68993" y="230124"/>
                  </a:lnTo>
                  <a:lnTo>
                    <a:pt x="54958" y="224635"/>
                  </a:lnTo>
                  <a:close/>
                </a:path>
                <a:path w="1358900" h="263525">
                  <a:moveTo>
                    <a:pt x="22225" y="211836"/>
                  </a:moveTo>
                  <a:lnTo>
                    <a:pt x="24764" y="228092"/>
                  </a:lnTo>
                  <a:lnTo>
                    <a:pt x="37412" y="217774"/>
                  </a:lnTo>
                  <a:lnTo>
                    <a:pt x="22225" y="211836"/>
                  </a:lnTo>
                  <a:close/>
                </a:path>
                <a:path w="1358900" h="263525">
                  <a:moveTo>
                    <a:pt x="37412" y="217774"/>
                  </a:moveTo>
                  <a:lnTo>
                    <a:pt x="24764" y="228092"/>
                  </a:lnTo>
                  <a:lnTo>
                    <a:pt x="33065" y="228092"/>
                  </a:lnTo>
                  <a:lnTo>
                    <a:pt x="54958" y="224635"/>
                  </a:lnTo>
                  <a:lnTo>
                    <a:pt x="37412" y="217774"/>
                  </a:lnTo>
                  <a:close/>
                </a:path>
                <a:path w="1358900" h="263525">
                  <a:moveTo>
                    <a:pt x="1355978" y="0"/>
                  </a:moveTo>
                  <a:lnTo>
                    <a:pt x="52042" y="205839"/>
                  </a:lnTo>
                  <a:lnTo>
                    <a:pt x="37412" y="217774"/>
                  </a:lnTo>
                  <a:lnTo>
                    <a:pt x="54958" y="224635"/>
                  </a:lnTo>
                  <a:lnTo>
                    <a:pt x="1358900" y="18796"/>
                  </a:lnTo>
                  <a:lnTo>
                    <a:pt x="1355978" y="0"/>
                  </a:lnTo>
                  <a:close/>
                </a:path>
                <a:path w="1358900" h="263525">
                  <a:moveTo>
                    <a:pt x="44691" y="211836"/>
                  </a:moveTo>
                  <a:lnTo>
                    <a:pt x="22225" y="211836"/>
                  </a:lnTo>
                  <a:lnTo>
                    <a:pt x="37412" y="217774"/>
                  </a:lnTo>
                  <a:lnTo>
                    <a:pt x="44691" y="211836"/>
                  </a:lnTo>
                  <a:close/>
                </a:path>
              </a:pathLst>
            </a:custGeom>
            <a:solidFill>
              <a:srgbClr val="1A39BE"/>
            </a:solidFill>
          </p:spPr>
          <p:txBody>
            <a:bodyPr wrap="square" lIns="0" tIns="0" rIns="0" bIns="0" rtlCol="0"/>
            <a:lstStyle/>
            <a:p>
              <a:endParaRPr/>
            </a:p>
          </p:txBody>
        </p:sp>
        <p:sp>
          <p:nvSpPr>
            <p:cNvPr id="38" name="object 9"/>
            <p:cNvSpPr/>
            <p:nvPr/>
          </p:nvSpPr>
          <p:spPr>
            <a:xfrm>
              <a:off x="6887590" y="3133851"/>
              <a:ext cx="1358900" cy="263525"/>
            </a:xfrm>
            <a:custGeom>
              <a:avLst/>
              <a:gdLst/>
              <a:ahLst/>
              <a:cxnLst/>
              <a:rect l="l" t="t" r="r" b="b"/>
              <a:pathLst>
                <a:path w="1358900" h="263525">
                  <a:moveTo>
                    <a:pt x="1303941" y="224635"/>
                  </a:moveTo>
                  <a:lnTo>
                    <a:pt x="1249679" y="245872"/>
                  </a:lnTo>
                  <a:lnTo>
                    <a:pt x="1247139" y="251333"/>
                  </a:lnTo>
                  <a:lnTo>
                    <a:pt x="1249172" y="256286"/>
                  </a:lnTo>
                  <a:lnTo>
                    <a:pt x="1251077" y="261112"/>
                  </a:lnTo>
                  <a:lnTo>
                    <a:pt x="1256537" y="263525"/>
                  </a:lnTo>
                  <a:lnTo>
                    <a:pt x="1342556" y="230124"/>
                  </a:lnTo>
                  <a:lnTo>
                    <a:pt x="1338706" y="230124"/>
                  </a:lnTo>
                  <a:lnTo>
                    <a:pt x="1303941" y="224635"/>
                  </a:lnTo>
                  <a:close/>
                </a:path>
                <a:path w="1358900" h="263525">
                  <a:moveTo>
                    <a:pt x="1321487" y="217774"/>
                  </a:moveTo>
                  <a:lnTo>
                    <a:pt x="1303941" y="224635"/>
                  </a:lnTo>
                  <a:lnTo>
                    <a:pt x="1338706" y="230124"/>
                  </a:lnTo>
                  <a:lnTo>
                    <a:pt x="1339022" y="228092"/>
                  </a:lnTo>
                  <a:lnTo>
                    <a:pt x="1334134" y="228092"/>
                  </a:lnTo>
                  <a:lnTo>
                    <a:pt x="1321487" y="217774"/>
                  </a:lnTo>
                  <a:close/>
                </a:path>
                <a:path w="1358900" h="263525">
                  <a:moveTo>
                    <a:pt x="1273809" y="154305"/>
                  </a:moveTo>
                  <a:lnTo>
                    <a:pt x="1267840" y="154939"/>
                  </a:lnTo>
                  <a:lnTo>
                    <a:pt x="1264411" y="159003"/>
                  </a:lnTo>
                  <a:lnTo>
                    <a:pt x="1261109" y="163068"/>
                  </a:lnTo>
                  <a:lnTo>
                    <a:pt x="1261744" y="169037"/>
                  </a:lnTo>
                  <a:lnTo>
                    <a:pt x="1306857" y="205839"/>
                  </a:lnTo>
                  <a:lnTo>
                    <a:pt x="1341627" y="211327"/>
                  </a:lnTo>
                  <a:lnTo>
                    <a:pt x="1338706" y="230124"/>
                  </a:lnTo>
                  <a:lnTo>
                    <a:pt x="1342556" y="230124"/>
                  </a:lnTo>
                  <a:lnTo>
                    <a:pt x="1358900" y="223774"/>
                  </a:lnTo>
                  <a:lnTo>
                    <a:pt x="1273809" y="154305"/>
                  </a:lnTo>
                  <a:close/>
                </a:path>
                <a:path w="1358900" h="263525">
                  <a:moveTo>
                    <a:pt x="1336675" y="211836"/>
                  </a:moveTo>
                  <a:lnTo>
                    <a:pt x="1321487" y="217774"/>
                  </a:lnTo>
                  <a:lnTo>
                    <a:pt x="1334134" y="228092"/>
                  </a:lnTo>
                  <a:lnTo>
                    <a:pt x="1336675" y="211836"/>
                  </a:lnTo>
                  <a:close/>
                </a:path>
                <a:path w="1358900" h="263525">
                  <a:moveTo>
                    <a:pt x="1341549" y="211836"/>
                  </a:moveTo>
                  <a:lnTo>
                    <a:pt x="1336675" y="211836"/>
                  </a:lnTo>
                  <a:lnTo>
                    <a:pt x="1334134" y="228092"/>
                  </a:lnTo>
                  <a:lnTo>
                    <a:pt x="1339022" y="228092"/>
                  </a:lnTo>
                  <a:lnTo>
                    <a:pt x="1341549" y="211836"/>
                  </a:lnTo>
                  <a:close/>
                </a:path>
                <a:path w="1358900" h="263525">
                  <a:moveTo>
                    <a:pt x="2920" y="0"/>
                  </a:moveTo>
                  <a:lnTo>
                    <a:pt x="0" y="18796"/>
                  </a:lnTo>
                  <a:lnTo>
                    <a:pt x="1303941" y="224635"/>
                  </a:lnTo>
                  <a:lnTo>
                    <a:pt x="1321487" y="217774"/>
                  </a:lnTo>
                  <a:lnTo>
                    <a:pt x="1306857" y="205839"/>
                  </a:lnTo>
                  <a:lnTo>
                    <a:pt x="2920" y="0"/>
                  </a:lnTo>
                  <a:close/>
                </a:path>
                <a:path w="1358900" h="263525">
                  <a:moveTo>
                    <a:pt x="1306857" y="205839"/>
                  </a:moveTo>
                  <a:lnTo>
                    <a:pt x="1321487" y="217774"/>
                  </a:lnTo>
                  <a:lnTo>
                    <a:pt x="1336675" y="211836"/>
                  </a:lnTo>
                  <a:lnTo>
                    <a:pt x="1341549" y="211836"/>
                  </a:lnTo>
                  <a:lnTo>
                    <a:pt x="1341627" y="211327"/>
                  </a:lnTo>
                  <a:lnTo>
                    <a:pt x="1306857" y="205839"/>
                  </a:lnTo>
                  <a:close/>
                </a:path>
              </a:pathLst>
            </a:custGeom>
            <a:solidFill>
              <a:srgbClr val="C00000"/>
            </a:solidFill>
          </p:spPr>
          <p:txBody>
            <a:bodyPr wrap="square" lIns="0" tIns="0" rIns="0" bIns="0" rtlCol="0"/>
            <a:lstStyle/>
            <a:p>
              <a:endParaRPr/>
            </a:p>
          </p:txBody>
        </p:sp>
        <p:sp>
          <p:nvSpPr>
            <p:cNvPr id="39" name="object 10"/>
            <p:cNvSpPr/>
            <p:nvPr/>
          </p:nvSpPr>
          <p:spPr>
            <a:xfrm>
              <a:off x="6888987" y="3419601"/>
              <a:ext cx="1358900" cy="263525"/>
            </a:xfrm>
            <a:custGeom>
              <a:avLst/>
              <a:gdLst/>
              <a:ahLst/>
              <a:cxnLst/>
              <a:rect l="l" t="t" r="r" b="b"/>
              <a:pathLst>
                <a:path w="1358900" h="263525">
                  <a:moveTo>
                    <a:pt x="85089" y="154305"/>
                  </a:moveTo>
                  <a:lnTo>
                    <a:pt x="0" y="223774"/>
                  </a:lnTo>
                  <a:lnTo>
                    <a:pt x="102361" y="263525"/>
                  </a:lnTo>
                  <a:lnTo>
                    <a:pt x="107950" y="261112"/>
                  </a:lnTo>
                  <a:lnTo>
                    <a:pt x="109854" y="256286"/>
                  </a:lnTo>
                  <a:lnTo>
                    <a:pt x="111759" y="251333"/>
                  </a:lnTo>
                  <a:lnTo>
                    <a:pt x="109346" y="245872"/>
                  </a:lnTo>
                  <a:lnTo>
                    <a:pt x="68993" y="230124"/>
                  </a:lnTo>
                  <a:lnTo>
                    <a:pt x="20192" y="230124"/>
                  </a:lnTo>
                  <a:lnTo>
                    <a:pt x="17271" y="211328"/>
                  </a:lnTo>
                  <a:lnTo>
                    <a:pt x="52042" y="205839"/>
                  </a:lnTo>
                  <a:lnTo>
                    <a:pt x="97154" y="169037"/>
                  </a:lnTo>
                  <a:lnTo>
                    <a:pt x="97789" y="163068"/>
                  </a:lnTo>
                  <a:lnTo>
                    <a:pt x="94487" y="159003"/>
                  </a:lnTo>
                  <a:lnTo>
                    <a:pt x="91058" y="154939"/>
                  </a:lnTo>
                  <a:lnTo>
                    <a:pt x="85089" y="154305"/>
                  </a:lnTo>
                  <a:close/>
                </a:path>
                <a:path w="1358900" h="263525">
                  <a:moveTo>
                    <a:pt x="52042" y="205839"/>
                  </a:moveTo>
                  <a:lnTo>
                    <a:pt x="17271" y="211328"/>
                  </a:lnTo>
                  <a:lnTo>
                    <a:pt x="20192" y="230124"/>
                  </a:lnTo>
                  <a:lnTo>
                    <a:pt x="33065" y="228092"/>
                  </a:lnTo>
                  <a:lnTo>
                    <a:pt x="24764" y="228092"/>
                  </a:lnTo>
                  <a:lnTo>
                    <a:pt x="22225" y="211836"/>
                  </a:lnTo>
                  <a:lnTo>
                    <a:pt x="44691" y="211836"/>
                  </a:lnTo>
                  <a:lnTo>
                    <a:pt x="52042" y="205839"/>
                  </a:lnTo>
                  <a:close/>
                </a:path>
                <a:path w="1358900" h="263525">
                  <a:moveTo>
                    <a:pt x="54958" y="224635"/>
                  </a:moveTo>
                  <a:lnTo>
                    <a:pt x="20192" y="230124"/>
                  </a:lnTo>
                  <a:lnTo>
                    <a:pt x="68993" y="230124"/>
                  </a:lnTo>
                  <a:lnTo>
                    <a:pt x="54958" y="224635"/>
                  </a:lnTo>
                  <a:close/>
                </a:path>
                <a:path w="1358900" h="263525">
                  <a:moveTo>
                    <a:pt x="22225" y="211836"/>
                  </a:moveTo>
                  <a:lnTo>
                    <a:pt x="24764" y="228092"/>
                  </a:lnTo>
                  <a:lnTo>
                    <a:pt x="37412" y="217774"/>
                  </a:lnTo>
                  <a:lnTo>
                    <a:pt x="22225" y="211836"/>
                  </a:lnTo>
                  <a:close/>
                </a:path>
                <a:path w="1358900" h="263525">
                  <a:moveTo>
                    <a:pt x="37412" y="217774"/>
                  </a:moveTo>
                  <a:lnTo>
                    <a:pt x="24764" y="228092"/>
                  </a:lnTo>
                  <a:lnTo>
                    <a:pt x="33065" y="228092"/>
                  </a:lnTo>
                  <a:lnTo>
                    <a:pt x="54958" y="224635"/>
                  </a:lnTo>
                  <a:lnTo>
                    <a:pt x="37412" y="217774"/>
                  </a:lnTo>
                  <a:close/>
                </a:path>
                <a:path w="1358900" h="263525">
                  <a:moveTo>
                    <a:pt x="1355978" y="0"/>
                  </a:moveTo>
                  <a:lnTo>
                    <a:pt x="52042" y="205839"/>
                  </a:lnTo>
                  <a:lnTo>
                    <a:pt x="37412" y="217774"/>
                  </a:lnTo>
                  <a:lnTo>
                    <a:pt x="54958" y="224635"/>
                  </a:lnTo>
                  <a:lnTo>
                    <a:pt x="1358900" y="18796"/>
                  </a:lnTo>
                  <a:lnTo>
                    <a:pt x="1355978" y="0"/>
                  </a:lnTo>
                  <a:close/>
                </a:path>
                <a:path w="1358900" h="263525">
                  <a:moveTo>
                    <a:pt x="44691" y="211836"/>
                  </a:moveTo>
                  <a:lnTo>
                    <a:pt x="22225" y="211836"/>
                  </a:lnTo>
                  <a:lnTo>
                    <a:pt x="37412" y="217774"/>
                  </a:lnTo>
                  <a:lnTo>
                    <a:pt x="44691" y="211836"/>
                  </a:lnTo>
                  <a:close/>
                </a:path>
              </a:pathLst>
            </a:custGeom>
            <a:solidFill>
              <a:srgbClr val="1A39BE"/>
            </a:solidFill>
          </p:spPr>
          <p:txBody>
            <a:bodyPr wrap="square" lIns="0" tIns="0" rIns="0" bIns="0" rtlCol="0"/>
            <a:lstStyle/>
            <a:p>
              <a:endParaRPr/>
            </a:p>
          </p:txBody>
        </p:sp>
        <p:sp>
          <p:nvSpPr>
            <p:cNvPr id="40" name="object 11"/>
            <p:cNvSpPr/>
            <p:nvPr/>
          </p:nvSpPr>
          <p:spPr>
            <a:xfrm>
              <a:off x="6887590" y="3919600"/>
              <a:ext cx="1358900" cy="264160"/>
            </a:xfrm>
            <a:custGeom>
              <a:avLst/>
              <a:gdLst/>
              <a:ahLst/>
              <a:cxnLst/>
              <a:rect l="l" t="t" r="r" b="b"/>
              <a:pathLst>
                <a:path w="1358900" h="264160">
                  <a:moveTo>
                    <a:pt x="1303849" y="224748"/>
                  </a:moveTo>
                  <a:lnTo>
                    <a:pt x="1249679" y="245872"/>
                  </a:lnTo>
                  <a:lnTo>
                    <a:pt x="1247139" y="251460"/>
                  </a:lnTo>
                  <a:lnTo>
                    <a:pt x="1249172" y="256286"/>
                  </a:lnTo>
                  <a:lnTo>
                    <a:pt x="1251077" y="261238"/>
                  </a:lnTo>
                  <a:lnTo>
                    <a:pt x="1256537" y="263651"/>
                  </a:lnTo>
                  <a:lnTo>
                    <a:pt x="1342285" y="230250"/>
                  </a:lnTo>
                  <a:lnTo>
                    <a:pt x="1338706" y="230250"/>
                  </a:lnTo>
                  <a:lnTo>
                    <a:pt x="1303849" y="224748"/>
                  </a:lnTo>
                  <a:close/>
                </a:path>
                <a:path w="1358900" h="264160">
                  <a:moveTo>
                    <a:pt x="1321470" y="217884"/>
                  </a:moveTo>
                  <a:lnTo>
                    <a:pt x="1303849" y="224748"/>
                  </a:lnTo>
                  <a:lnTo>
                    <a:pt x="1338706" y="230250"/>
                  </a:lnTo>
                  <a:lnTo>
                    <a:pt x="1339022" y="228219"/>
                  </a:lnTo>
                  <a:lnTo>
                    <a:pt x="1334134" y="228219"/>
                  </a:lnTo>
                  <a:lnTo>
                    <a:pt x="1321470" y="217884"/>
                  </a:lnTo>
                  <a:close/>
                </a:path>
                <a:path w="1358900" h="264160">
                  <a:moveTo>
                    <a:pt x="1273809" y="154305"/>
                  </a:moveTo>
                  <a:lnTo>
                    <a:pt x="1267840" y="154940"/>
                  </a:lnTo>
                  <a:lnTo>
                    <a:pt x="1264411" y="159004"/>
                  </a:lnTo>
                  <a:lnTo>
                    <a:pt x="1261109" y="163068"/>
                  </a:lnTo>
                  <a:lnTo>
                    <a:pt x="1261744" y="169037"/>
                  </a:lnTo>
                  <a:lnTo>
                    <a:pt x="1265808" y="172466"/>
                  </a:lnTo>
                  <a:lnTo>
                    <a:pt x="1306860" y="205963"/>
                  </a:lnTo>
                  <a:lnTo>
                    <a:pt x="1341627" y="211455"/>
                  </a:lnTo>
                  <a:lnTo>
                    <a:pt x="1338706" y="230250"/>
                  </a:lnTo>
                  <a:lnTo>
                    <a:pt x="1342285" y="230250"/>
                  </a:lnTo>
                  <a:lnTo>
                    <a:pt x="1358900" y="223774"/>
                  </a:lnTo>
                  <a:lnTo>
                    <a:pt x="1273809" y="154305"/>
                  </a:lnTo>
                  <a:close/>
                </a:path>
                <a:path w="1358900" h="264160">
                  <a:moveTo>
                    <a:pt x="1336675" y="211962"/>
                  </a:moveTo>
                  <a:lnTo>
                    <a:pt x="1321470" y="217884"/>
                  </a:lnTo>
                  <a:lnTo>
                    <a:pt x="1334134" y="228219"/>
                  </a:lnTo>
                  <a:lnTo>
                    <a:pt x="1336675" y="211962"/>
                  </a:lnTo>
                  <a:close/>
                </a:path>
                <a:path w="1358900" h="264160">
                  <a:moveTo>
                    <a:pt x="1341549" y="211962"/>
                  </a:moveTo>
                  <a:lnTo>
                    <a:pt x="1336675" y="211962"/>
                  </a:lnTo>
                  <a:lnTo>
                    <a:pt x="1334134" y="228219"/>
                  </a:lnTo>
                  <a:lnTo>
                    <a:pt x="1339022" y="228219"/>
                  </a:lnTo>
                  <a:lnTo>
                    <a:pt x="1341549" y="211962"/>
                  </a:lnTo>
                  <a:close/>
                </a:path>
                <a:path w="1358900" h="264160">
                  <a:moveTo>
                    <a:pt x="2920" y="0"/>
                  </a:moveTo>
                  <a:lnTo>
                    <a:pt x="0" y="18923"/>
                  </a:lnTo>
                  <a:lnTo>
                    <a:pt x="1303849" y="224748"/>
                  </a:lnTo>
                  <a:lnTo>
                    <a:pt x="1321470" y="217884"/>
                  </a:lnTo>
                  <a:lnTo>
                    <a:pt x="1306860" y="205963"/>
                  </a:lnTo>
                  <a:lnTo>
                    <a:pt x="2920" y="0"/>
                  </a:lnTo>
                  <a:close/>
                </a:path>
                <a:path w="1358900" h="264160">
                  <a:moveTo>
                    <a:pt x="1306860" y="205963"/>
                  </a:moveTo>
                  <a:lnTo>
                    <a:pt x="1321470" y="217884"/>
                  </a:lnTo>
                  <a:lnTo>
                    <a:pt x="1336675" y="211962"/>
                  </a:lnTo>
                  <a:lnTo>
                    <a:pt x="1341549" y="211962"/>
                  </a:lnTo>
                  <a:lnTo>
                    <a:pt x="1341627" y="211455"/>
                  </a:lnTo>
                  <a:lnTo>
                    <a:pt x="1306860" y="205963"/>
                  </a:lnTo>
                  <a:close/>
                </a:path>
              </a:pathLst>
            </a:custGeom>
            <a:solidFill>
              <a:srgbClr val="C00000"/>
            </a:solidFill>
          </p:spPr>
          <p:txBody>
            <a:bodyPr wrap="square" lIns="0" tIns="0" rIns="0" bIns="0" rtlCol="0"/>
            <a:lstStyle/>
            <a:p>
              <a:endParaRPr/>
            </a:p>
          </p:txBody>
        </p:sp>
        <p:sp>
          <p:nvSpPr>
            <p:cNvPr id="41" name="object 12"/>
            <p:cNvSpPr/>
            <p:nvPr/>
          </p:nvSpPr>
          <p:spPr>
            <a:xfrm>
              <a:off x="6888987" y="4205350"/>
              <a:ext cx="1358900" cy="264160"/>
            </a:xfrm>
            <a:custGeom>
              <a:avLst/>
              <a:gdLst/>
              <a:ahLst/>
              <a:cxnLst/>
              <a:rect l="l" t="t" r="r" b="b"/>
              <a:pathLst>
                <a:path w="1358900" h="264160">
                  <a:moveTo>
                    <a:pt x="85089" y="154305"/>
                  </a:moveTo>
                  <a:lnTo>
                    <a:pt x="0" y="223774"/>
                  </a:lnTo>
                  <a:lnTo>
                    <a:pt x="102361" y="263651"/>
                  </a:lnTo>
                  <a:lnTo>
                    <a:pt x="107950" y="261238"/>
                  </a:lnTo>
                  <a:lnTo>
                    <a:pt x="109854" y="256286"/>
                  </a:lnTo>
                  <a:lnTo>
                    <a:pt x="111759" y="251460"/>
                  </a:lnTo>
                  <a:lnTo>
                    <a:pt x="109346" y="245872"/>
                  </a:lnTo>
                  <a:lnTo>
                    <a:pt x="69178" y="230250"/>
                  </a:lnTo>
                  <a:lnTo>
                    <a:pt x="20192" y="230250"/>
                  </a:lnTo>
                  <a:lnTo>
                    <a:pt x="17271" y="211455"/>
                  </a:lnTo>
                  <a:lnTo>
                    <a:pt x="52039" y="205963"/>
                  </a:lnTo>
                  <a:lnTo>
                    <a:pt x="93090" y="172466"/>
                  </a:lnTo>
                  <a:lnTo>
                    <a:pt x="97154" y="169037"/>
                  </a:lnTo>
                  <a:lnTo>
                    <a:pt x="97789" y="163068"/>
                  </a:lnTo>
                  <a:lnTo>
                    <a:pt x="94487" y="159004"/>
                  </a:lnTo>
                  <a:lnTo>
                    <a:pt x="91058" y="154940"/>
                  </a:lnTo>
                  <a:lnTo>
                    <a:pt x="85089" y="154305"/>
                  </a:lnTo>
                  <a:close/>
                </a:path>
                <a:path w="1358900" h="264160">
                  <a:moveTo>
                    <a:pt x="52039" y="205963"/>
                  </a:moveTo>
                  <a:lnTo>
                    <a:pt x="17271" y="211455"/>
                  </a:lnTo>
                  <a:lnTo>
                    <a:pt x="20192" y="230250"/>
                  </a:lnTo>
                  <a:lnTo>
                    <a:pt x="33065" y="228219"/>
                  </a:lnTo>
                  <a:lnTo>
                    <a:pt x="24764" y="228219"/>
                  </a:lnTo>
                  <a:lnTo>
                    <a:pt x="22225" y="211962"/>
                  </a:lnTo>
                  <a:lnTo>
                    <a:pt x="44686" y="211962"/>
                  </a:lnTo>
                  <a:lnTo>
                    <a:pt x="52039" y="205963"/>
                  </a:lnTo>
                  <a:close/>
                </a:path>
                <a:path w="1358900" h="264160">
                  <a:moveTo>
                    <a:pt x="55050" y="224748"/>
                  </a:moveTo>
                  <a:lnTo>
                    <a:pt x="20192" y="230250"/>
                  </a:lnTo>
                  <a:lnTo>
                    <a:pt x="69178" y="230250"/>
                  </a:lnTo>
                  <a:lnTo>
                    <a:pt x="55050" y="224748"/>
                  </a:lnTo>
                  <a:close/>
                </a:path>
                <a:path w="1358900" h="264160">
                  <a:moveTo>
                    <a:pt x="22225" y="211962"/>
                  </a:moveTo>
                  <a:lnTo>
                    <a:pt x="24764" y="228219"/>
                  </a:lnTo>
                  <a:lnTo>
                    <a:pt x="37429" y="217884"/>
                  </a:lnTo>
                  <a:lnTo>
                    <a:pt x="22225" y="211962"/>
                  </a:lnTo>
                  <a:close/>
                </a:path>
                <a:path w="1358900" h="264160">
                  <a:moveTo>
                    <a:pt x="37429" y="217884"/>
                  </a:moveTo>
                  <a:lnTo>
                    <a:pt x="24764" y="228219"/>
                  </a:lnTo>
                  <a:lnTo>
                    <a:pt x="33065" y="228219"/>
                  </a:lnTo>
                  <a:lnTo>
                    <a:pt x="55050" y="224748"/>
                  </a:lnTo>
                  <a:lnTo>
                    <a:pt x="37429" y="217884"/>
                  </a:lnTo>
                  <a:close/>
                </a:path>
                <a:path w="1358900" h="264160">
                  <a:moveTo>
                    <a:pt x="1355978" y="0"/>
                  </a:moveTo>
                  <a:lnTo>
                    <a:pt x="52039" y="205963"/>
                  </a:lnTo>
                  <a:lnTo>
                    <a:pt x="37429" y="217884"/>
                  </a:lnTo>
                  <a:lnTo>
                    <a:pt x="55050" y="224748"/>
                  </a:lnTo>
                  <a:lnTo>
                    <a:pt x="1358900" y="18923"/>
                  </a:lnTo>
                  <a:lnTo>
                    <a:pt x="1355978" y="0"/>
                  </a:lnTo>
                  <a:close/>
                </a:path>
                <a:path w="1358900" h="264160">
                  <a:moveTo>
                    <a:pt x="44686" y="211962"/>
                  </a:moveTo>
                  <a:lnTo>
                    <a:pt x="22225" y="211962"/>
                  </a:lnTo>
                  <a:lnTo>
                    <a:pt x="37429" y="217884"/>
                  </a:lnTo>
                  <a:lnTo>
                    <a:pt x="44686" y="211962"/>
                  </a:lnTo>
                  <a:close/>
                </a:path>
              </a:pathLst>
            </a:custGeom>
            <a:solidFill>
              <a:srgbClr val="1A39BE"/>
            </a:solidFill>
          </p:spPr>
          <p:txBody>
            <a:bodyPr wrap="square" lIns="0" tIns="0" rIns="0" bIns="0" rtlCol="0"/>
            <a:lstStyle/>
            <a:p>
              <a:endParaRPr/>
            </a:p>
          </p:txBody>
        </p:sp>
        <p:sp>
          <p:nvSpPr>
            <p:cNvPr id="42" name="object 13"/>
            <p:cNvSpPr/>
            <p:nvPr/>
          </p:nvSpPr>
          <p:spPr>
            <a:xfrm>
              <a:off x="6887590" y="4633975"/>
              <a:ext cx="1358900" cy="264160"/>
            </a:xfrm>
            <a:custGeom>
              <a:avLst/>
              <a:gdLst/>
              <a:ahLst/>
              <a:cxnLst/>
              <a:rect l="l" t="t" r="r" b="b"/>
              <a:pathLst>
                <a:path w="1358900" h="264160">
                  <a:moveTo>
                    <a:pt x="1303849" y="224748"/>
                  </a:moveTo>
                  <a:lnTo>
                    <a:pt x="1249679" y="245872"/>
                  </a:lnTo>
                  <a:lnTo>
                    <a:pt x="1247139" y="251460"/>
                  </a:lnTo>
                  <a:lnTo>
                    <a:pt x="1249172" y="256286"/>
                  </a:lnTo>
                  <a:lnTo>
                    <a:pt x="1251077" y="261238"/>
                  </a:lnTo>
                  <a:lnTo>
                    <a:pt x="1256537" y="263651"/>
                  </a:lnTo>
                  <a:lnTo>
                    <a:pt x="1342285" y="230250"/>
                  </a:lnTo>
                  <a:lnTo>
                    <a:pt x="1338706" y="230250"/>
                  </a:lnTo>
                  <a:lnTo>
                    <a:pt x="1303849" y="224748"/>
                  </a:lnTo>
                  <a:close/>
                </a:path>
                <a:path w="1358900" h="264160">
                  <a:moveTo>
                    <a:pt x="1321468" y="217885"/>
                  </a:moveTo>
                  <a:lnTo>
                    <a:pt x="1303849" y="224748"/>
                  </a:lnTo>
                  <a:lnTo>
                    <a:pt x="1338706" y="230250"/>
                  </a:lnTo>
                  <a:lnTo>
                    <a:pt x="1339022" y="228219"/>
                  </a:lnTo>
                  <a:lnTo>
                    <a:pt x="1334134" y="228219"/>
                  </a:lnTo>
                  <a:lnTo>
                    <a:pt x="1321468" y="217885"/>
                  </a:lnTo>
                  <a:close/>
                </a:path>
                <a:path w="1358900" h="264160">
                  <a:moveTo>
                    <a:pt x="1273809" y="154305"/>
                  </a:moveTo>
                  <a:lnTo>
                    <a:pt x="1267840" y="154940"/>
                  </a:lnTo>
                  <a:lnTo>
                    <a:pt x="1264411" y="159004"/>
                  </a:lnTo>
                  <a:lnTo>
                    <a:pt x="1261109" y="163068"/>
                  </a:lnTo>
                  <a:lnTo>
                    <a:pt x="1261744" y="169163"/>
                  </a:lnTo>
                  <a:lnTo>
                    <a:pt x="1306852" y="205962"/>
                  </a:lnTo>
                  <a:lnTo>
                    <a:pt x="1341627" y="211455"/>
                  </a:lnTo>
                  <a:lnTo>
                    <a:pt x="1338706" y="230250"/>
                  </a:lnTo>
                  <a:lnTo>
                    <a:pt x="1342285" y="230250"/>
                  </a:lnTo>
                  <a:lnTo>
                    <a:pt x="1358900" y="223774"/>
                  </a:lnTo>
                  <a:lnTo>
                    <a:pt x="1277874" y="157734"/>
                  </a:lnTo>
                  <a:lnTo>
                    <a:pt x="1273809" y="154305"/>
                  </a:lnTo>
                  <a:close/>
                </a:path>
                <a:path w="1358900" h="264160">
                  <a:moveTo>
                    <a:pt x="1336675" y="211962"/>
                  </a:moveTo>
                  <a:lnTo>
                    <a:pt x="1321468" y="217885"/>
                  </a:lnTo>
                  <a:lnTo>
                    <a:pt x="1334134" y="228219"/>
                  </a:lnTo>
                  <a:lnTo>
                    <a:pt x="1336675" y="211962"/>
                  </a:lnTo>
                  <a:close/>
                </a:path>
                <a:path w="1358900" h="264160">
                  <a:moveTo>
                    <a:pt x="1341549" y="211962"/>
                  </a:moveTo>
                  <a:lnTo>
                    <a:pt x="1336675" y="211962"/>
                  </a:lnTo>
                  <a:lnTo>
                    <a:pt x="1334134" y="228219"/>
                  </a:lnTo>
                  <a:lnTo>
                    <a:pt x="1339022" y="228219"/>
                  </a:lnTo>
                  <a:lnTo>
                    <a:pt x="1341549" y="211962"/>
                  </a:lnTo>
                  <a:close/>
                </a:path>
                <a:path w="1358900" h="264160">
                  <a:moveTo>
                    <a:pt x="2920" y="0"/>
                  </a:moveTo>
                  <a:lnTo>
                    <a:pt x="0" y="18923"/>
                  </a:lnTo>
                  <a:lnTo>
                    <a:pt x="1303849" y="224748"/>
                  </a:lnTo>
                  <a:lnTo>
                    <a:pt x="1321468" y="217885"/>
                  </a:lnTo>
                  <a:lnTo>
                    <a:pt x="1306852" y="205962"/>
                  </a:lnTo>
                  <a:lnTo>
                    <a:pt x="2920" y="0"/>
                  </a:lnTo>
                  <a:close/>
                </a:path>
                <a:path w="1358900" h="264160">
                  <a:moveTo>
                    <a:pt x="1306852" y="205962"/>
                  </a:moveTo>
                  <a:lnTo>
                    <a:pt x="1321468" y="217885"/>
                  </a:lnTo>
                  <a:lnTo>
                    <a:pt x="1336675" y="211962"/>
                  </a:lnTo>
                  <a:lnTo>
                    <a:pt x="1341549" y="211962"/>
                  </a:lnTo>
                  <a:lnTo>
                    <a:pt x="1341627" y="211455"/>
                  </a:lnTo>
                  <a:lnTo>
                    <a:pt x="1306852" y="205962"/>
                  </a:lnTo>
                  <a:close/>
                </a:path>
              </a:pathLst>
            </a:custGeom>
            <a:solidFill>
              <a:srgbClr val="C00000"/>
            </a:solidFill>
          </p:spPr>
          <p:txBody>
            <a:bodyPr wrap="square" lIns="0" tIns="0" rIns="0" bIns="0" rtlCol="0"/>
            <a:lstStyle/>
            <a:p>
              <a:endParaRPr/>
            </a:p>
          </p:txBody>
        </p:sp>
        <p:sp>
          <p:nvSpPr>
            <p:cNvPr id="43" name="object 14"/>
            <p:cNvSpPr/>
            <p:nvPr/>
          </p:nvSpPr>
          <p:spPr>
            <a:xfrm>
              <a:off x="6888987" y="4919726"/>
              <a:ext cx="1358900" cy="264160"/>
            </a:xfrm>
            <a:custGeom>
              <a:avLst/>
              <a:gdLst/>
              <a:ahLst/>
              <a:cxnLst/>
              <a:rect l="l" t="t" r="r" b="b"/>
              <a:pathLst>
                <a:path w="1358900" h="264160">
                  <a:moveTo>
                    <a:pt x="85089" y="154305"/>
                  </a:moveTo>
                  <a:lnTo>
                    <a:pt x="81025" y="157734"/>
                  </a:lnTo>
                  <a:lnTo>
                    <a:pt x="0" y="223774"/>
                  </a:lnTo>
                  <a:lnTo>
                    <a:pt x="102361" y="263651"/>
                  </a:lnTo>
                  <a:lnTo>
                    <a:pt x="107950" y="261238"/>
                  </a:lnTo>
                  <a:lnTo>
                    <a:pt x="109854" y="256286"/>
                  </a:lnTo>
                  <a:lnTo>
                    <a:pt x="111759" y="251460"/>
                  </a:lnTo>
                  <a:lnTo>
                    <a:pt x="109346" y="245872"/>
                  </a:lnTo>
                  <a:lnTo>
                    <a:pt x="69178" y="230250"/>
                  </a:lnTo>
                  <a:lnTo>
                    <a:pt x="20192" y="230250"/>
                  </a:lnTo>
                  <a:lnTo>
                    <a:pt x="17271" y="211455"/>
                  </a:lnTo>
                  <a:lnTo>
                    <a:pt x="52047" y="205962"/>
                  </a:lnTo>
                  <a:lnTo>
                    <a:pt x="97154" y="169163"/>
                  </a:lnTo>
                  <a:lnTo>
                    <a:pt x="97789" y="163068"/>
                  </a:lnTo>
                  <a:lnTo>
                    <a:pt x="94487" y="159004"/>
                  </a:lnTo>
                  <a:lnTo>
                    <a:pt x="91058" y="154940"/>
                  </a:lnTo>
                  <a:lnTo>
                    <a:pt x="85089" y="154305"/>
                  </a:lnTo>
                  <a:close/>
                </a:path>
                <a:path w="1358900" h="264160">
                  <a:moveTo>
                    <a:pt x="52047" y="205962"/>
                  </a:moveTo>
                  <a:lnTo>
                    <a:pt x="17271" y="211455"/>
                  </a:lnTo>
                  <a:lnTo>
                    <a:pt x="20192" y="230250"/>
                  </a:lnTo>
                  <a:lnTo>
                    <a:pt x="33065" y="228219"/>
                  </a:lnTo>
                  <a:lnTo>
                    <a:pt x="24764" y="228219"/>
                  </a:lnTo>
                  <a:lnTo>
                    <a:pt x="22225" y="211962"/>
                  </a:lnTo>
                  <a:lnTo>
                    <a:pt x="44691" y="211962"/>
                  </a:lnTo>
                  <a:lnTo>
                    <a:pt x="52047" y="205962"/>
                  </a:lnTo>
                  <a:close/>
                </a:path>
                <a:path w="1358900" h="264160">
                  <a:moveTo>
                    <a:pt x="55050" y="224748"/>
                  </a:moveTo>
                  <a:lnTo>
                    <a:pt x="20192" y="230250"/>
                  </a:lnTo>
                  <a:lnTo>
                    <a:pt x="69178" y="230250"/>
                  </a:lnTo>
                  <a:lnTo>
                    <a:pt x="55050" y="224748"/>
                  </a:lnTo>
                  <a:close/>
                </a:path>
                <a:path w="1358900" h="264160">
                  <a:moveTo>
                    <a:pt x="22225" y="211962"/>
                  </a:moveTo>
                  <a:lnTo>
                    <a:pt x="24764" y="228219"/>
                  </a:lnTo>
                  <a:lnTo>
                    <a:pt x="37431" y="217885"/>
                  </a:lnTo>
                  <a:lnTo>
                    <a:pt x="22225" y="211962"/>
                  </a:lnTo>
                  <a:close/>
                </a:path>
                <a:path w="1358900" h="264160">
                  <a:moveTo>
                    <a:pt x="37431" y="217885"/>
                  </a:moveTo>
                  <a:lnTo>
                    <a:pt x="24764" y="228219"/>
                  </a:lnTo>
                  <a:lnTo>
                    <a:pt x="33065" y="228219"/>
                  </a:lnTo>
                  <a:lnTo>
                    <a:pt x="55050" y="224748"/>
                  </a:lnTo>
                  <a:lnTo>
                    <a:pt x="37431" y="217885"/>
                  </a:lnTo>
                  <a:close/>
                </a:path>
                <a:path w="1358900" h="264160">
                  <a:moveTo>
                    <a:pt x="1355978" y="0"/>
                  </a:moveTo>
                  <a:lnTo>
                    <a:pt x="52047" y="205962"/>
                  </a:lnTo>
                  <a:lnTo>
                    <a:pt x="37431" y="217885"/>
                  </a:lnTo>
                  <a:lnTo>
                    <a:pt x="55050" y="224748"/>
                  </a:lnTo>
                  <a:lnTo>
                    <a:pt x="1358900" y="18923"/>
                  </a:lnTo>
                  <a:lnTo>
                    <a:pt x="1355978" y="0"/>
                  </a:lnTo>
                  <a:close/>
                </a:path>
                <a:path w="1358900" h="264160">
                  <a:moveTo>
                    <a:pt x="44691" y="211962"/>
                  </a:moveTo>
                  <a:lnTo>
                    <a:pt x="22225" y="211962"/>
                  </a:lnTo>
                  <a:lnTo>
                    <a:pt x="37431" y="217885"/>
                  </a:lnTo>
                  <a:lnTo>
                    <a:pt x="44691" y="211962"/>
                  </a:lnTo>
                  <a:close/>
                </a:path>
              </a:pathLst>
            </a:custGeom>
            <a:solidFill>
              <a:srgbClr val="1A39BE"/>
            </a:solidFill>
          </p:spPr>
          <p:txBody>
            <a:bodyPr wrap="square" lIns="0" tIns="0" rIns="0" bIns="0" rtlCol="0"/>
            <a:lstStyle/>
            <a:p>
              <a:endParaRPr/>
            </a:p>
          </p:txBody>
        </p:sp>
        <p:sp>
          <p:nvSpPr>
            <p:cNvPr id="44" name="object 15"/>
            <p:cNvSpPr/>
            <p:nvPr/>
          </p:nvSpPr>
          <p:spPr>
            <a:xfrm>
              <a:off x="6822821" y="1642998"/>
              <a:ext cx="1490345" cy="4286885"/>
            </a:xfrm>
            <a:custGeom>
              <a:avLst/>
              <a:gdLst/>
              <a:ahLst/>
              <a:cxnLst/>
              <a:rect l="l" t="t" r="r" b="b"/>
              <a:pathLst>
                <a:path w="1490345" h="4286885">
                  <a:moveTo>
                    <a:pt x="132588" y="4172712"/>
                  </a:moveTo>
                  <a:lnTo>
                    <a:pt x="130302" y="4163961"/>
                  </a:lnTo>
                  <a:lnTo>
                    <a:pt x="123393" y="4159961"/>
                  </a:lnTo>
                  <a:lnTo>
                    <a:pt x="116713" y="4156011"/>
                  </a:lnTo>
                  <a:lnTo>
                    <a:pt x="107950" y="4158310"/>
                  </a:lnTo>
                  <a:lnTo>
                    <a:pt x="104013" y="4165117"/>
                  </a:lnTo>
                  <a:lnTo>
                    <a:pt x="80632" y="4205173"/>
                  </a:lnTo>
                  <a:lnTo>
                    <a:pt x="80518" y="4258107"/>
                  </a:lnTo>
                  <a:lnTo>
                    <a:pt x="80518" y="4250842"/>
                  </a:lnTo>
                  <a:lnTo>
                    <a:pt x="80518" y="4205351"/>
                  </a:lnTo>
                  <a:lnTo>
                    <a:pt x="81407" y="889"/>
                  </a:lnTo>
                  <a:lnTo>
                    <a:pt x="52832" y="889"/>
                  </a:lnTo>
                  <a:lnTo>
                    <a:pt x="51955" y="4155986"/>
                  </a:lnTo>
                  <a:lnTo>
                    <a:pt x="52057" y="4205351"/>
                  </a:lnTo>
                  <a:lnTo>
                    <a:pt x="66294" y="4229747"/>
                  </a:lnTo>
                  <a:lnTo>
                    <a:pt x="51943" y="4205173"/>
                  </a:lnTo>
                  <a:lnTo>
                    <a:pt x="27889" y="4163936"/>
                  </a:lnTo>
                  <a:lnTo>
                    <a:pt x="24638" y="4158297"/>
                  </a:lnTo>
                  <a:lnTo>
                    <a:pt x="15875" y="4155986"/>
                  </a:lnTo>
                  <a:lnTo>
                    <a:pt x="8966" y="4159986"/>
                  </a:lnTo>
                  <a:lnTo>
                    <a:pt x="2286" y="4163936"/>
                  </a:lnTo>
                  <a:lnTo>
                    <a:pt x="0" y="4172686"/>
                  </a:lnTo>
                  <a:lnTo>
                    <a:pt x="3937" y="4179519"/>
                  </a:lnTo>
                  <a:lnTo>
                    <a:pt x="66294" y="4286389"/>
                  </a:lnTo>
                  <a:lnTo>
                    <a:pt x="82791" y="4258107"/>
                  </a:lnTo>
                  <a:lnTo>
                    <a:pt x="128651" y="4179506"/>
                  </a:lnTo>
                  <a:lnTo>
                    <a:pt x="132588" y="4172712"/>
                  </a:lnTo>
                  <a:close/>
                </a:path>
                <a:path w="1490345" h="4286885">
                  <a:moveTo>
                    <a:pt x="1489964" y="4172724"/>
                  </a:moveTo>
                  <a:lnTo>
                    <a:pt x="1487678" y="4163974"/>
                  </a:lnTo>
                  <a:lnTo>
                    <a:pt x="1473962" y="4156011"/>
                  </a:lnTo>
                  <a:lnTo>
                    <a:pt x="1465326" y="4158310"/>
                  </a:lnTo>
                  <a:lnTo>
                    <a:pt x="1461262" y="4165130"/>
                  </a:lnTo>
                  <a:lnTo>
                    <a:pt x="1437906" y="4205135"/>
                  </a:lnTo>
                  <a:lnTo>
                    <a:pt x="1437919" y="4155973"/>
                  </a:lnTo>
                  <a:lnTo>
                    <a:pt x="1439418" y="0"/>
                  </a:lnTo>
                  <a:lnTo>
                    <a:pt x="1410843" y="0"/>
                  </a:lnTo>
                  <a:lnTo>
                    <a:pt x="1409331" y="4205186"/>
                  </a:lnTo>
                  <a:lnTo>
                    <a:pt x="1409319" y="4258068"/>
                  </a:lnTo>
                  <a:lnTo>
                    <a:pt x="1409306" y="4205135"/>
                  </a:lnTo>
                  <a:lnTo>
                    <a:pt x="1385265" y="4163923"/>
                  </a:lnTo>
                  <a:lnTo>
                    <a:pt x="1382014" y="4158284"/>
                  </a:lnTo>
                  <a:lnTo>
                    <a:pt x="1373251" y="4155973"/>
                  </a:lnTo>
                  <a:lnTo>
                    <a:pt x="1366393" y="4159948"/>
                  </a:lnTo>
                  <a:lnTo>
                    <a:pt x="1359662" y="4163923"/>
                  </a:lnTo>
                  <a:lnTo>
                    <a:pt x="1357249" y="4172674"/>
                  </a:lnTo>
                  <a:lnTo>
                    <a:pt x="1361325" y="4179532"/>
                  </a:lnTo>
                  <a:lnTo>
                    <a:pt x="1423543" y="4286389"/>
                  </a:lnTo>
                  <a:lnTo>
                    <a:pt x="1440091" y="4258081"/>
                  </a:lnTo>
                  <a:lnTo>
                    <a:pt x="1438033" y="4258081"/>
                  </a:lnTo>
                  <a:lnTo>
                    <a:pt x="1440091" y="4258068"/>
                  </a:lnTo>
                  <a:lnTo>
                    <a:pt x="1486039" y="4179493"/>
                  </a:lnTo>
                  <a:lnTo>
                    <a:pt x="1489964" y="4172724"/>
                  </a:lnTo>
                  <a:close/>
                </a:path>
              </a:pathLst>
            </a:custGeom>
            <a:solidFill>
              <a:srgbClr val="333333"/>
            </a:solidFill>
          </p:spPr>
          <p:txBody>
            <a:bodyPr wrap="square" lIns="0" tIns="0" rIns="0" bIns="0" rtlCol="0"/>
            <a:lstStyle/>
            <a:p>
              <a:endParaRPr/>
            </a:p>
          </p:txBody>
        </p:sp>
      </p:grpSp>
      <p:sp>
        <p:nvSpPr>
          <p:cNvPr id="45" name="object 16"/>
          <p:cNvSpPr txBox="1"/>
          <p:nvPr/>
        </p:nvSpPr>
        <p:spPr>
          <a:xfrm>
            <a:off x="9977578" y="1738429"/>
            <a:ext cx="14732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A</a:t>
            </a:r>
            <a:endParaRPr sz="1600">
              <a:latin typeface="Tahoma"/>
              <a:cs typeface="Tahoma"/>
            </a:endParaRPr>
          </a:p>
        </p:txBody>
      </p:sp>
      <p:sp>
        <p:nvSpPr>
          <p:cNvPr id="46" name="object 17"/>
          <p:cNvSpPr txBox="1"/>
          <p:nvPr/>
        </p:nvSpPr>
        <p:spPr>
          <a:xfrm>
            <a:off x="11349432" y="1738429"/>
            <a:ext cx="14541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B</a:t>
            </a:r>
            <a:endParaRPr sz="1600">
              <a:latin typeface="Tahoma"/>
              <a:cs typeface="Tahoma"/>
            </a:endParaRPr>
          </a:p>
        </p:txBody>
      </p:sp>
      <p:sp>
        <p:nvSpPr>
          <p:cNvPr id="47" name="object 18"/>
          <p:cNvSpPr txBox="1"/>
          <p:nvPr/>
        </p:nvSpPr>
        <p:spPr>
          <a:xfrm>
            <a:off x="9159699" y="2062406"/>
            <a:ext cx="7581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333333"/>
                </a:solidFill>
                <a:latin typeface="Tahoma"/>
                <a:cs typeface="Tahoma"/>
              </a:rPr>
              <a:t>Frame</a:t>
            </a:r>
            <a:r>
              <a:rPr sz="1600" spc="-90" dirty="0">
                <a:solidFill>
                  <a:srgbClr val="333333"/>
                </a:solidFill>
                <a:latin typeface="Tahoma"/>
                <a:cs typeface="Tahoma"/>
              </a:rPr>
              <a:t> </a:t>
            </a:r>
            <a:r>
              <a:rPr sz="1600" spc="-5" dirty="0">
                <a:solidFill>
                  <a:srgbClr val="333333"/>
                </a:solidFill>
                <a:latin typeface="Tahoma"/>
                <a:cs typeface="Tahoma"/>
              </a:rPr>
              <a:t>0</a:t>
            </a:r>
            <a:endParaRPr sz="1600">
              <a:latin typeface="Tahoma"/>
              <a:cs typeface="Tahoma"/>
            </a:endParaRPr>
          </a:p>
        </p:txBody>
      </p:sp>
      <p:sp>
        <p:nvSpPr>
          <p:cNvPr id="48" name="object 19"/>
          <p:cNvSpPr txBox="1"/>
          <p:nvPr/>
        </p:nvSpPr>
        <p:spPr>
          <a:xfrm>
            <a:off x="9159699" y="2714374"/>
            <a:ext cx="7581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333333"/>
                </a:solidFill>
                <a:latin typeface="Tahoma"/>
                <a:cs typeface="Tahoma"/>
              </a:rPr>
              <a:t>Frame</a:t>
            </a:r>
            <a:r>
              <a:rPr sz="1600" spc="-80" dirty="0">
                <a:solidFill>
                  <a:srgbClr val="333333"/>
                </a:solidFill>
                <a:latin typeface="Tahoma"/>
                <a:cs typeface="Tahoma"/>
              </a:rPr>
              <a:t> </a:t>
            </a:r>
            <a:r>
              <a:rPr sz="1600" spc="-5" dirty="0">
                <a:solidFill>
                  <a:srgbClr val="333333"/>
                </a:solidFill>
                <a:latin typeface="Tahoma"/>
                <a:cs typeface="Tahoma"/>
              </a:rPr>
              <a:t>1</a:t>
            </a:r>
            <a:endParaRPr sz="1600">
              <a:latin typeface="Tahoma"/>
              <a:cs typeface="Tahoma"/>
            </a:endParaRPr>
          </a:p>
        </p:txBody>
      </p:sp>
      <p:sp>
        <p:nvSpPr>
          <p:cNvPr id="49" name="object 20"/>
          <p:cNvSpPr txBox="1"/>
          <p:nvPr/>
        </p:nvSpPr>
        <p:spPr>
          <a:xfrm>
            <a:off x="9159699" y="3419351"/>
            <a:ext cx="7581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333333"/>
                </a:solidFill>
                <a:latin typeface="Tahoma"/>
                <a:cs typeface="Tahoma"/>
              </a:rPr>
              <a:t>Frame</a:t>
            </a:r>
            <a:r>
              <a:rPr sz="1600" spc="-80" dirty="0">
                <a:solidFill>
                  <a:srgbClr val="333333"/>
                </a:solidFill>
                <a:latin typeface="Tahoma"/>
                <a:cs typeface="Tahoma"/>
              </a:rPr>
              <a:t> </a:t>
            </a:r>
            <a:r>
              <a:rPr sz="1600" spc="-5" dirty="0">
                <a:solidFill>
                  <a:srgbClr val="333333"/>
                </a:solidFill>
                <a:latin typeface="Tahoma"/>
                <a:cs typeface="Tahoma"/>
              </a:rPr>
              <a:t>2</a:t>
            </a:r>
            <a:endParaRPr sz="1600">
              <a:latin typeface="Tahoma"/>
              <a:cs typeface="Tahoma"/>
            </a:endParaRPr>
          </a:p>
        </p:txBody>
      </p:sp>
      <p:sp>
        <p:nvSpPr>
          <p:cNvPr id="50" name="object 21"/>
          <p:cNvSpPr txBox="1"/>
          <p:nvPr/>
        </p:nvSpPr>
        <p:spPr>
          <a:xfrm>
            <a:off x="11515549" y="2343458"/>
            <a:ext cx="3422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Ack</a:t>
            </a:r>
            <a:endParaRPr sz="1600">
              <a:latin typeface="Tahoma"/>
              <a:cs typeface="Tahoma"/>
            </a:endParaRPr>
          </a:p>
        </p:txBody>
      </p:sp>
      <p:sp>
        <p:nvSpPr>
          <p:cNvPr id="51" name="object 22"/>
          <p:cNvSpPr txBox="1"/>
          <p:nvPr/>
        </p:nvSpPr>
        <p:spPr>
          <a:xfrm>
            <a:off x="11515549" y="2971599"/>
            <a:ext cx="3422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Ack</a:t>
            </a:r>
            <a:endParaRPr sz="1600">
              <a:latin typeface="Tahoma"/>
              <a:cs typeface="Tahoma"/>
            </a:endParaRPr>
          </a:p>
        </p:txBody>
      </p:sp>
      <p:sp>
        <p:nvSpPr>
          <p:cNvPr id="52" name="object 23"/>
          <p:cNvSpPr txBox="1"/>
          <p:nvPr/>
        </p:nvSpPr>
        <p:spPr>
          <a:xfrm>
            <a:off x="11515549" y="3667814"/>
            <a:ext cx="3422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Ack</a:t>
            </a:r>
            <a:endParaRPr sz="1600">
              <a:latin typeface="Tahoma"/>
              <a:cs typeface="Tahoma"/>
            </a:endParaRPr>
          </a:p>
        </p:txBody>
      </p:sp>
      <p:sp>
        <p:nvSpPr>
          <p:cNvPr id="3" name="Rectangle 2"/>
          <p:cNvSpPr/>
          <p:nvPr/>
        </p:nvSpPr>
        <p:spPr>
          <a:xfrm>
            <a:off x="697153" y="1807129"/>
            <a:ext cx="8051955" cy="3365024"/>
          </a:xfrm>
          <a:prstGeom prst="rect">
            <a:avLst/>
          </a:prstGeom>
        </p:spPr>
        <p:txBody>
          <a:bodyPr wrap="square">
            <a:spAutoFit/>
          </a:bodyPr>
          <a:lstStyle/>
          <a:p>
            <a:pPr marL="460375" marR="5080" lvl="1" indent="-181610" algn="just">
              <a:spcBef>
                <a:spcPts val="1019"/>
              </a:spcBef>
              <a:buClr>
                <a:srgbClr val="0000FF"/>
              </a:buClr>
              <a:buChar char="●"/>
              <a:tabLst>
                <a:tab pos="461009" algn="l"/>
              </a:tabLst>
            </a:pPr>
            <a:r>
              <a:rPr lang="en-US" sz="2800" spc="-5" dirty="0">
                <a:latin typeface="Tahoma"/>
                <a:cs typeface="Tahoma"/>
              </a:rPr>
              <a:t>Stop-and-wait protocol provides data transmission with flow control facilities but without error control facilities.</a:t>
            </a:r>
          </a:p>
          <a:p>
            <a:pPr marL="460375" marR="5080" lvl="1" indent="-181610" algn="just">
              <a:spcBef>
                <a:spcPts val="1019"/>
              </a:spcBef>
              <a:buClr>
                <a:srgbClr val="0000FF"/>
              </a:buClr>
              <a:buChar char="●"/>
              <a:tabLst>
                <a:tab pos="461009" algn="l"/>
              </a:tabLst>
            </a:pPr>
            <a:endParaRPr lang="en-US" sz="2800" spc="-5" dirty="0">
              <a:latin typeface="Tahoma"/>
              <a:cs typeface="Tahoma"/>
            </a:endParaRPr>
          </a:p>
          <a:p>
            <a:pPr marL="460375" marR="5080" lvl="1" indent="-181610" algn="just">
              <a:spcBef>
                <a:spcPts val="1019"/>
              </a:spcBef>
              <a:buClr>
                <a:srgbClr val="0000FF"/>
              </a:buClr>
              <a:buChar char="●"/>
              <a:tabLst>
                <a:tab pos="461009" algn="l"/>
              </a:tabLst>
            </a:pPr>
            <a:r>
              <a:rPr lang="en-US" sz="2800" dirty="0">
                <a:latin typeface="Tahoma"/>
                <a:cs typeface="Tahoma"/>
              </a:rPr>
              <a:t>The</a:t>
            </a:r>
            <a:r>
              <a:rPr lang="en-US" sz="2800" spc="10" dirty="0">
                <a:latin typeface="Tahoma"/>
                <a:cs typeface="Tahoma"/>
              </a:rPr>
              <a:t> </a:t>
            </a:r>
            <a:r>
              <a:rPr lang="en-US" sz="2800" spc="-5" dirty="0">
                <a:latin typeface="Tahoma"/>
                <a:cs typeface="Tahoma"/>
              </a:rPr>
              <a:t>sender</a:t>
            </a:r>
            <a:r>
              <a:rPr lang="en-US" sz="2800" dirty="0">
                <a:latin typeface="Tahoma"/>
                <a:cs typeface="Tahoma"/>
              </a:rPr>
              <a:t> </a:t>
            </a:r>
            <a:r>
              <a:rPr lang="en-US" sz="2800" spc="-5" dirty="0">
                <a:latin typeface="Tahoma"/>
                <a:cs typeface="Tahoma"/>
              </a:rPr>
              <a:t>sends</a:t>
            </a:r>
            <a:r>
              <a:rPr lang="en-US" sz="2800" spc="25" dirty="0">
                <a:latin typeface="Tahoma"/>
                <a:cs typeface="Tahoma"/>
              </a:rPr>
              <a:t> </a:t>
            </a:r>
            <a:r>
              <a:rPr lang="en-US" sz="2800" dirty="0">
                <a:latin typeface="Tahoma"/>
                <a:cs typeface="Tahoma"/>
              </a:rPr>
              <a:t>a</a:t>
            </a:r>
            <a:r>
              <a:rPr lang="en-US" sz="2800" spc="-20" dirty="0">
                <a:latin typeface="Tahoma"/>
                <a:cs typeface="Tahoma"/>
              </a:rPr>
              <a:t> one </a:t>
            </a:r>
            <a:r>
              <a:rPr lang="en-US" sz="2800" spc="-5" dirty="0">
                <a:latin typeface="Tahoma"/>
                <a:cs typeface="Tahoma"/>
              </a:rPr>
              <a:t>data frame</a:t>
            </a:r>
            <a:r>
              <a:rPr lang="en-US" sz="2800" dirty="0">
                <a:latin typeface="Tahoma"/>
                <a:cs typeface="Tahoma"/>
              </a:rPr>
              <a:t> at a time and</a:t>
            </a:r>
            <a:r>
              <a:rPr lang="en-US" sz="2800" spc="-10" dirty="0">
                <a:latin typeface="Tahoma"/>
                <a:cs typeface="Tahoma"/>
              </a:rPr>
              <a:t> </a:t>
            </a:r>
            <a:r>
              <a:rPr lang="en-US" sz="2800" b="1" dirty="0">
                <a:latin typeface="Tahoma"/>
                <a:cs typeface="Tahoma"/>
              </a:rPr>
              <a:t>waits</a:t>
            </a:r>
            <a:r>
              <a:rPr lang="en-US" sz="2800" dirty="0">
                <a:latin typeface="Tahoma"/>
                <a:cs typeface="Tahoma"/>
              </a:rPr>
              <a:t>, </a:t>
            </a:r>
            <a:r>
              <a:rPr lang="en-US" sz="2800" spc="-5" dirty="0">
                <a:latin typeface="Tahoma"/>
                <a:cs typeface="Tahoma"/>
              </a:rPr>
              <a:t>until</a:t>
            </a:r>
            <a:r>
              <a:rPr lang="en-US" sz="2800" spc="5" dirty="0">
                <a:latin typeface="Tahoma"/>
                <a:cs typeface="Tahoma"/>
              </a:rPr>
              <a:t> receiving </a:t>
            </a:r>
            <a:r>
              <a:rPr lang="en-US" sz="2800" dirty="0">
                <a:latin typeface="Tahoma"/>
                <a:cs typeface="Tahoma"/>
              </a:rPr>
              <a:t>an </a:t>
            </a:r>
            <a:r>
              <a:rPr lang="en-US" sz="2800" b="1" spc="-5" dirty="0">
                <a:latin typeface="Tahoma"/>
                <a:cs typeface="Tahoma"/>
              </a:rPr>
              <a:t>acknowledgement </a:t>
            </a:r>
            <a:r>
              <a:rPr lang="en-US" sz="2800" b="1" spc="-484" dirty="0">
                <a:latin typeface="Tahoma"/>
                <a:cs typeface="Tahoma"/>
              </a:rPr>
              <a:t> </a:t>
            </a:r>
            <a:r>
              <a:rPr lang="en-US" sz="2800" spc="-5" dirty="0">
                <a:latin typeface="Tahoma"/>
                <a:cs typeface="Tahoma"/>
              </a:rPr>
              <a:t>from</a:t>
            </a:r>
            <a:r>
              <a:rPr lang="en-US" sz="2800" spc="-30" dirty="0">
                <a:latin typeface="Tahoma"/>
                <a:cs typeface="Tahoma"/>
              </a:rPr>
              <a:t> </a:t>
            </a:r>
            <a:r>
              <a:rPr lang="en-US" sz="2800" spc="-5" dirty="0">
                <a:latin typeface="Tahoma"/>
                <a:cs typeface="Tahoma"/>
              </a:rPr>
              <a:t>the</a:t>
            </a:r>
            <a:r>
              <a:rPr lang="en-US" sz="2800" spc="5" dirty="0">
                <a:latin typeface="Tahoma"/>
                <a:cs typeface="Tahoma"/>
              </a:rPr>
              <a:t> </a:t>
            </a:r>
            <a:r>
              <a:rPr lang="en-US" sz="2800" spc="-5" dirty="0">
                <a:latin typeface="Tahoma"/>
                <a:cs typeface="Tahoma"/>
              </a:rPr>
              <a:t>receiver</a:t>
            </a:r>
            <a:r>
              <a:rPr lang="en-US" sz="2800" dirty="0">
                <a:latin typeface="Tahoma"/>
                <a:cs typeface="Tahoma"/>
              </a:rPr>
              <a:t>.</a:t>
            </a:r>
          </a:p>
        </p:txBody>
      </p:sp>
    </p:spTree>
    <p:extLst>
      <p:ext uri="{BB962C8B-B14F-4D97-AF65-F5344CB8AC3E}">
        <p14:creationId xmlns:p14="http://schemas.microsoft.com/office/powerpoint/2010/main" val="9377029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ct 4"/>
          <p:cNvSpPr txBox="1"/>
          <p:nvPr/>
        </p:nvSpPr>
        <p:spPr>
          <a:xfrm>
            <a:off x="541029" y="1334052"/>
            <a:ext cx="6874260" cy="5523948"/>
          </a:xfrm>
          <a:prstGeom prst="rect">
            <a:avLst/>
          </a:prstGeom>
        </p:spPr>
        <p:txBody>
          <a:bodyPr vert="horz" wrap="square" lIns="0" tIns="93345" rIns="0" bIns="0" rtlCol="0">
            <a:spAutoFit/>
          </a:bodyPr>
          <a:lstStyle/>
          <a:p>
            <a:pPr marL="12065">
              <a:lnSpc>
                <a:spcPct val="100000"/>
              </a:lnSpc>
              <a:spcBef>
                <a:spcPts val="735"/>
              </a:spcBef>
              <a:buClr>
                <a:srgbClr val="0000FF"/>
              </a:buClr>
              <a:tabLst>
                <a:tab pos="194310" algn="l"/>
              </a:tabLst>
            </a:pPr>
            <a:r>
              <a:rPr lang="en-IN" sz="2400" b="1" spc="-5" dirty="0">
                <a:latin typeface="Tahoma"/>
                <a:cs typeface="Tahoma"/>
              </a:rPr>
              <a:t>Problems of stop-and-wait protocol</a:t>
            </a:r>
          </a:p>
          <a:p>
            <a:pPr marL="354965" indent="-342900">
              <a:lnSpc>
                <a:spcPct val="100000"/>
              </a:lnSpc>
              <a:spcBef>
                <a:spcPts val="735"/>
              </a:spcBef>
              <a:buClr>
                <a:srgbClr val="0000FF"/>
              </a:buClr>
              <a:buFont typeface="+mj-lt"/>
              <a:buAutoNum type="arabicPeriod"/>
              <a:tabLst>
                <a:tab pos="194310" algn="l"/>
              </a:tabLst>
            </a:pPr>
            <a:r>
              <a:rPr lang="en-IN" sz="2400" spc="-5" dirty="0">
                <a:latin typeface="Tahoma"/>
                <a:cs typeface="Tahoma"/>
              </a:rPr>
              <a:t>Problem due to lost data</a:t>
            </a:r>
          </a:p>
          <a:p>
            <a:pPr marL="755015" lvl="1" indent="-285750">
              <a:spcBef>
                <a:spcPts val="735"/>
              </a:spcBef>
              <a:buClr>
                <a:srgbClr val="0000FF"/>
              </a:buClr>
              <a:buFont typeface="Arial" panose="020B0604020202020204" pitchFamily="34" charset="0"/>
              <a:buChar char="•"/>
              <a:tabLst>
                <a:tab pos="194310" algn="l"/>
              </a:tabLst>
            </a:pPr>
            <a:r>
              <a:rPr lang="en-IN" sz="2400" spc="-5" dirty="0">
                <a:latin typeface="Tahoma"/>
                <a:cs typeface="Tahoma"/>
              </a:rPr>
              <a:t>Sender waits for ack for an infinite amount of time</a:t>
            </a:r>
          </a:p>
          <a:p>
            <a:pPr marL="755015" lvl="1" indent="-285750">
              <a:spcBef>
                <a:spcPts val="735"/>
              </a:spcBef>
              <a:buClr>
                <a:srgbClr val="0000FF"/>
              </a:buClr>
              <a:buFont typeface="Arial" panose="020B0604020202020204" pitchFamily="34" charset="0"/>
              <a:buChar char="•"/>
              <a:tabLst>
                <a:tab pos="194310" algn="l"/>
              </a:tabLst>
            </a:pPr>
            <a:r>
              <a:rPr lang="en-IN" sz="2400" spc="-5" dirty="0">
                <a:latin typeface="Tahoma"/>
                <a:cs typeface="Tahoma"/>
              </a:rPr>
              <a:t>Receiver waits for data an infinite amount of time</a:t>
            </a:r>
          </a:p>
          <a:p>
            <a:pPr marL="354965" indent="-342900">
              <a:spcBef>
                <a:spcPts val="735"/>
              </a:spcBef>
              <a:buClr>
                <a:srgbClr val="0000FF"/>
              </a:buClr>
              <a:buFont typeface="+mj-lt"/>
              <a:buAutoNum type="arabicPeriod"/>
              <a:tabLst>
                <a:tab pos="194310" algn="l"/>
              </a:tabLst>
            </a:pPr>
            <a:r>
              <a:rPr lang="en-IN" sz="2400" dirty="0">
                <a:latin typeface="Tahoma"/>
                <a:cs typeface="Tahoma"/>
              </a:rPr>
              <a:t>Problems due to lost ACK</a:t>
            </a:r>
          </a:p>
          <a:p>
            <a:pPr marL="755015" lvl="1" indent="-285750">
              <a:spcBef>
                <a:spcPts val="735"/>
              </a:spcBef>
              <a:buClr>
                <a:srgbClr val="0000FF"/>
              </a:buClr>
              <a:buFont typeface="Arial" panose="020B0604020202020204" pitchFamily="34" charset="0"/>
              <a:buChar char="•"/>
              <a:tabLst>
                <a:tab pos="194310" algn="l"/>
              </a:tabLst>
            </a:pPr>
            <a:r>
              <a:rPr lang="en-IN" sz="2400" dirty="0">
                <a:latin typeface="Tahoma"/>
                <a:cs typeface="Tahoma"/>
              </a:rPr>
              <a:t>Sender waits for an infinite amount of time for the ACK</a:t>
            </a:r>
          </a:p>
          <a:p>
            <a:pPr marL="354965" indent="-342900">
              <a:spcBef>
                <a:spcPts val="735"/>
              </a:spcBef>
              <a:buClr>
                <a:srgbClr val="0000FF"/>
              </a:buClr>
              <a:buFont typeface="+mj-lt"/>
              <a:buAutoNum type="arabicPeriod"/>
              <a:tabLst>
                <a:tab pos="194310" algn="l"/>
              </a:tabLst>
            </a:pPr>
            <a:r>
              <a:rPr lang="en-IN" sz="2400" dirty="0">
                <a:latin typeface="Tahoma"/>
                <a:cs typeface="Tahoma"/>
              </a:rPr>
              <a:t>Problems due to delayed ACK/data</a:t>
            </a:r>
          </a:p>
          <a:p>
            <a:pPr marL="755015" lvl="1" indent="-285750">
              <a:spcBef>
                <a:spcPts val="735"/>
              </a:spcBef>
              <a:buClr>
                <a:srgbClr val="0000FF"/>
              </a:buClr>
              <a:buFont typeface="Arial" panose="020B0604020202020204" pitchFamily="34" charset="0"/>
              <a:buChar char="•"/>
              <a:tabLst>
                <a:tab pos="194310" algn="l"/>
              </a:tabLst>
            </a:pPr>
            <a:r>
              <a:rPr lang="en-IN" sz="2400" dirty="0">
                <a:latin typeface="Tahoma"/>
                <a:cs typeface="Tahoma"/>
              </a:rPr>
              <a:t>After timeout on sender side, a delayed ack might be wrongly considered as ack of some other data packet</a:t>
            </a:r>
            <a:endParaRPr sz="2400" dirty="0">
              <a:latin typeface="Tahoma"/>
              <a:cs typeface="Tahoma"/>
            </a:endParaRPr>
          </a:p>
        </p:txBody>
      </p:sp>
      <p:grpSp>
        <p:nvGrpSpPr>
          <p:cNvPr id="36" name="object 6"/>
          <p:cNvGrpSpPr/>
          <p:nvPr/>
        </p:nvGrpSpPr>
        <p:grpSpPr>
          <a:xfrm>
            <a:off x="8007773" y="1772817"/>
            <a:ext cx="1987127" cy="4286885"/>
            <a:chOff x="6005829" y="1642998"/>
            <a:chExt cx="1490345" cy="4286885"/>
          </a:xfrm>
        </p:grpSpPr>
        <p:sp>
          <p:nvSpPr>
            <p:cNvPr id="37" name="object 7"/>
            <p:cNvSpPr/>
            <p:nvPr/>
          </p:nvSpPr>
          <p:spPr>
            <a:xfrm>
              <a:off x="6005830" y="1642998"/>
              <a:ext cx="1490345" cy="4286885"/>
            </a:xfrm>
            <a:custGeom>
              <a:avLst/>
              <a:gdLst/>
              <a:ahLst/>
              <a:cxnLst/>
              <a:rect l="l" t="t" r="r" b="b"/>
              <a:pathLst>
                <a:path w="1490345" h="4286885">
                  <a:moveTo>
                    <a:pt x="132715" y="4172712"/>
                  </a:moveTo>
                  <a:lnTo>
                    <a:pt x="130429" y="4163961"/>
                  </a:lnTo>
                  <a:lnTo>
                    <a:pt x="123520" y="4159961"/>
                  </a:lnTo>
                  <a:lnTo>
                    <a:pt x="116840" y="4156011"/>
                  </a:lnTo>
                  <a:lnTo>
                    <a:pt x="108077" y="4158310"/>
                  </a:lnTo>
                  <a:lnTo>
                    <a:pt x="104013" y="4165117"/>
                  </a:lnTo>
                  <a:lnTo>
                    <a:pt x="80645" y="4205147"/>
                  </a:lnTo>
                  <a:lnTo>
                    <a:pt x="80657" y="4155986"/>
                  </a:lnTo>
                  <a:lnTo>
                    <a:pt x="81407" y="889"/>
                  </a:lnTo>
                  <a:lnTo>
                    <a:pt x="52832" y="889"/>
                  </a:lnTo>
                  <a:lnTo>
                    <a:pt x="52070" y="4205173"/>
                  </a:lnTo>
                  <a:lnTo>
                    <a:pt x="52070" y="4258107"/>
                  </a:lnTo>
                  <a:lnTo>
                    <a:pt x="52057" y="4205147"/>
                  </a:lnTo>
                  <a:lnTo>
                    <a:pt x="28016" y="4163936"/>
                  </a:lnTo>
                  <a:lnTo>
                    <a:pt x="24765" y="4158297"/>
                  </a:lnTo>
                  <a:lnTo>
                    <a:pt x="16002" y="4155986"/>
                  </a:lnTo>
                  <a:lnTo>
                    <a:pt x="9093" y="4159986"/>
                  </a:lnTo>
                  <a:lnTo>
                    <a:pt x="2413" y="4163936"/>
                  </a:lnTo>
                  <a:lnTo>
                    <a:pt x="0" y="4172686"/>
                  </a:lnTo>
                  <a:lnTo>
                    <a:pt x="4064" y="4179519"/>
                  </a:lnTo>
                  <a:lnTo>
                    <a:pt x="66421" y="4286389"/>
                  </a:lnTo>
                  <a:lnTo>
                    <a:pt x="82918" y="4258107"/>
                  </a:lnTo>
                  <a:lnTo>
                    <a:pt x="128778" y="4179506"/>
                  </a:lnTo>
                  <a:lnTo>
                    <a:pt x="132715" y="4172712"/>
                  </a:lnTo>
                  <a:close/>
                </a:path>
                <a:path w="1490345" h="4286885">
                  <a:moveTo>
                    <a:pt x="1490091" y="4172724"/>
                  </a:moveTo>
                  <a:lnTo>
                    <a:pt x="1487805" y="4163974"/>
                  </a:lnTo>
                  <a:lnTo>
                    <a:pt x="1474089" y="4156011"/>
                  </a:lnTo>
                  <a:lnTo>
                    <a:pt x="1465326" y="4158310"/>
                  </a:lnTo>
                  <a:lnTo>
                    <a:pt x="1461389" y="4165130"/>
                  </a:lnTo>
                  <a:lnTo>
                    <a:pt x="1438033" y="4205135"/>
                  </a:lnTo>
                  <a:lnTo>
                    <a:pt x="1437944" y="4205287"/>
                  </a:lnTo>
                  <a:lnTo>
                    <a:pt x="1438046" y="4155986"/>
                  </a:lnTo>
                  <a:lnTo>
                    <a:pt x="1439545" y="0"/>
                  </a:lnTo>
                  <a:lnTo>
                    <a:pt x="1410970" y="0"/>
                  </a:lnTo>
                  <a:lnTo>
                    <a:pt x="1409458" y="4205287"/>
                  </a:lnTo>
                  <a:lnTo>
                    <a:pt x="1409446" y="4258068"/>
                  </a:lnTo>
                  <a:lnTo>
                    <a:pt x="1409369" y="4205135"/>
                  </a:lnTo>
                  <a:lnTo>
                    <a:pt x="1385392" y="4163923"/>
                  </a:lnTo>
                  <a:lnTo>
                    <a:pt x="1382141" y="4158284"/>
                  </a:lnTo>
                  <a:lnTo>
                    <a:pt x="1373378" y="4155973"/>
                  </a:lnTo>
                  <a:lnTo>
                    <a:pt x="1359662" y="4163923"/>
                  </a:lnTo>
                  <a:lnTo>
                    <a:pt x="1357376" y="4172674"/>
                  </a:lnTo>
                  <a:lnTo>
                    <a:pt x="1361452" y="4179532"/>
                  </a:lnTo>
                  <a:lnTo>
                    <a:pt x="1423670" y="4286389"/>
                  </a:lnTo>
                  <a:lnTo>
                    <a:pt x="1440180" y="4258081"/>
                  </a:lnTo>
                  <a:lnTo>
                    <a:pt x="1486039" y="4179493"/>
                  </a:lnTo>
                  <a:lnTo>
                    <a:pt x="1490091" y="4172724"/>
                  </a:lnTo>
                  <a:close/>
                </a:path>
              </a:pathLst>
            </a:custGeom>
            <a:solidFill>
              <a:srgbClr val="333333"/>
            </a:solidFill>
          </p:spPr>
          <p:txBody>
            <a:bodyPr wrap="square" lIns="0" tIns="0" rIns="0" bIns="0" rtlCol="0"/>
            <a:lstStyle/>
            <a:p>
              <a:endParaRPr/>
            </a:p>
          </p:txBody>
        </p:sp>
        <p:sp>
          <p:nvSpPr>
            <p:cNvPr id="38" name="object 8"/>
            <p:cNvSpPr/>
            <p:nvPr/>
          </p:nvSpPr>
          <p:spPr>
            <a:xfrm>
              <a:off x="6070726" y="1776475"/>
              <a:ext cx="1358900" cy="264160"/>
            </a:xfrm>
            <a:custGeom>
              <a:avLst/>
              <a:gdLst/>
              <a:ahLst/>
              <a:cxnLst/>
              <a:rect l="l" t="t" r="r" b="b"/>
              <a:pathLst>
                <a:path w="1358900" h="264160">
                  <a:moveTo>
                    <a:pt x="1303855" y="224745"/>
                  </a:moveTo>
                  <a:lnTo>
                    <a:pt x="1249552" y="245872"/>
                  </a:lnTo>
                  <a:lnTo>
                    <a:pt x="1247140" y="251460"/>
                  </a:lnTo>
                  <a:lnTo>
                    <a:pt x="1249045" y="256286"/>
                  </a:lnTo>
                  <a:lnTo>
                    <a:pt x="1250950" y="261238"/>
                  </a:lnTo>
                  <a:lnTo>
                    <a:pt x="1256538" y="263651"/>
                  </a:lnTo>
                  <a:lnTo>
                    <a:pt x="1342158" y="230250"/>
                  </a:lnTo>
                  <a:lnTo>
                    <a:pt x="1338706" y="230250"/>
                  </a:lnTo>
                  <a:lnTo>
                    <a:pt x="1303855" y="224745"/>
                  </a:lnTo>
                  <a:close/>
                </a:path>
                <a:path w="1358900" h="264160">
                  <a:moveTo>
                    <a:pt x="1321470" y="217884"/>
                  </a:moveTo>
                  <a:lnTo>
                    <a:pt x="1303855" y="224745"/>
                  </a:lnTo>
                  <a:lnTo>
                    <a:pt x="1338706" y="230250"/>
                  </a:lnTo>
                  <a:lnTo>
                    <a:pt x="1339022" y="228219"/>
                  </a:lnTo>
                  <a:lnTo>
                    <a:pt x="1334134" y="228219"/>
                  </a:lnTo>
                  <a:lnTo>
                    <a:pt x="1321470" y="217884"/>
                  </a:lnTo>
                  <a:close/>
                </a:path>
                <a:path w="1358900" h="264160">
                  <a:moveTo>
                    <a:pt x="1273809" y="154304"/>
                  </a:moveTo>
                  <a:lnTo>
                    <a:pt x="1267714" y="154939"/>
                  </a:lnTo>
                  <a:lnTo>
                    <a:pt x="1261109" y="163068"/>
                  </a:lnTo>
                  <a:lnTo>
                    <a:pt x="1261745" y="169037"/>
                  </a:lnTo>
                  <a:lnTo>
                    <a:pt x="1265808" y="172465"/>
                  </a:lnTo>
                  <a:lnTo>
                    <a:pt x="1306860" y="205963"/>
                  </a:lnTo>
                  <a:lnTo>
                    <a:pt x="1341627" y="211454"/>
                  </a:lnTo>
                  <a:lnTo>
                    <a:pt x="1338706" y="230250"/>
                  </a:lnTo>
                  <a:lnTo>
                    <a:pt x="1342158" y="230250"/>
                  </a:lnTo>
                  <a:lnTo>
                    <a:pt x="1358773" y="223774"/>
                  </a:lnTo>
                  <a:lnTo>
                    <a:pt x="1273809" y="154304"/>
                  </a:lnTo>
                  <a:close/>
                </a:path>
                <a:path w="1358900" h="264160">
                  <a:moveTo>
                    <a:pt x="1336675" y="211962"/>
                  </a:moveTo>
                  <a:lnTo>
                    <a:pt x="1321470" y="217884"/>
                  </a:lnTo>
                  <a:lnTo>
                    <a:pt x="1334134" y="228219"/>
                  </a:lnTo>
                  <a:lnTo>
                    <a:pt x="1336675" y="211962"/>
                  </a:lnTo>
                  <a:close/>
                </a:path>
                <a:path w="1358900" h="264160">
                  <a:moveTo>
                    <a:pt x="1341549" y="211962"/>
                  </a:moveTo>
                  <a:lnTo>
                    <a:pt x="1336675" y="211962"/>
                  </a:lnTo>
                  <a:lnTo>
                    <a:pt x="1334134" y="228219"/>
                  </a:lnTo>
                  <a:lnTo>
                    <a:pt x="1339022" y="228219"/>
                  </a:lnTo>
                  <a:lnTo>
                    <a:pt x="1341549" y="211962"/>
                  </a:lnTo>
                  <a:close/>
                </a:path>
                <a:path w="1358900" h="264160">
                  <a:moveTo>
                    <a:pt x="2921" y="0"/>
                  </a:moveTo>
                  <a:lnTo>
                    <a:pt x="0" y="18796"/>
                  </a:lnTo>
                  <a:lnTo>
                    <a:pt x="1303855" y="224745"/>
                  </a:lnTo>
                  <a:lnTo>
                    <a:pt x="1321470" y="217884"/>
                  </a:lnTo>
                  <a:lnTo>
                    <a:pt x="1306860" y="205963"/>
                  </a:lnTo>
                  <a:lnTo>
                    <a:pt x="2921" y="0"/>
                  </a:lnTo>
                  <a:close/>
                </a:path>
                <a:path w="1358900" h="264160">
                  <a:moveTo>
                    <a:pt x="1306860" y="205963"/>
                  </a:moveTo>
                  <a:lnTo>
                    <a:pt x="1321470" y="217884"/>
                  </a:lnTo>
                  <a:lnTo>
                    <a:pt x="1336675" y="211962"/>
                  </a:lnTo>
                  <a:lnTo>
                    <a:pt x="1341549" y="211962"/>
                  </a:lnTo>
                  <a:lnTo>
                    <a:pt x="1341627" y="211454"/>
                  </a:lnTo>
                  <a:lnTo>
                    <a:pt x="1306860" y="205963"/>
                  </a:lnTo>
                  <a:close/>
                </a:path>
              </a:pathLst>
            </a:custGeom>
            <a:solidFill>
              <a:srgbClr val="C00000"/>
            </a:solidFill>
          </p:spPr>
          <p:txBody>
            <a:bodyPr wrap="square" lIns="0" tIns="0" rIns="0" bIns="0" rtlCol="0"/>
            <a:lstStyle/>
            <a:p>
              <a:endParaRPr/>
            </a:p>
          </p:txBody>
        </p:sp>
        <p:sp>
          <p:nvSpPr>
            <p:cNvPr id="39" name="object 9"/>
            <p:cNvSpPr/>
            <p:nvPr/>
          </p:nvSpPr>
          <p:spPr>
            <a:xfrm>
              <a:off x="6072123" y="2062225"/>
              <a:ext cx="1358900" cy="264160"/>
            </a:xfrm>
            <a:custGeom>
              <a:avLst/>
              <a:gdLst/>
              <a:ahLst/>
              <a:cxnLst/>
              <a:rect l="l" t="t" r="r" b="b"/>
              <a:pathLst>
                <a:path w="1358900" h="264160">
                  <a:moveTo>
                    <a:pt x="85089" y="154304"/>
                  </a:moveTo>
                  <a:lnTo>
                    <a:pt x="0" y="223774"/>
                  </a:lnTo>
                  <a:lnTo>
                    <a:pt x="102362" y="263651"/>
                  </a:lnTo>
                  <a:lnTo>
                    <a:pt x="107823" y="261238"/>
                  </a:lnTo>
                  <a:lnTo>
                    <a:pt x="109727" y="256286"/>
                  </a:lnTo>
                  <a:lnTo>
                    <a:pt x="111633" y="251460"/>
                  </a:lnTo>
                  <a:lnTo>
                    <a:pt x="109220" y="245872"/>
                  </a:lnTo>
                  <a:lnTo>
                    <a:pt x="69124" y="230250"/>
                  </a:lnTo>
                  <a:lnTo>
                    <a:pt x="20192" y="230250"/>
                  </a:lnTo>
                  <a:lnTo>
                    <a:pt x="17272" y="211454"/>
                  </a:lnTo>
                  <a:lnTo>
                    <a:pt x="52040" y="205962"/>
                  </a:lnTo>
                  <a:lnTo>
                    <a:pt x="93090" y="172465"/>
                  </a:lnTo>
                  <a:lnTo>
                    <a:pt x="97154" y="169037"/>
                  </a:lnTo>
                  <a:lnTo>
                    <a:pt x="97789" y="163068"/>
                  </a:lnTo>
                  <a:lnTo>
                    <a:pt x="94361" y="159003"/>
                  </a:lnTo>
                  <a:lnTo>
                    <a:pt x="91059" y="154939"/>
                  </a:lnTo>
                  <a:lnTo>
                    <a:pt x="85089" y="154304"/>
                  </a:lnTo>
                  <a:close/>
                </a:path>
                <a:path w="1358900" h="264160">
                  <a:moveTo>
                    <a:pt x="52040" y="205962"/>
                  </a:moveTo>
                  <a:lnTo>
                    <a:pt x="17272" y="211454"/>
                  </a:lnTo>
                  <a:lnTo>
                    <a:pt x="20192" y="230250"/>
                  </a:lnTo>
                  <a:lnTo>
                    <a:pt x="33057" y="228219"/>
                  </a:lnTo>
                  <a:lnTo>
                    <a:pt x="24764" y="228219"/>
                  </a:lnTo>
                  <a:lnTo>
                    <a:pt x="22098" y="211962"/>
                  </a:lnTo>
                  <a:lnTo>
                    <a:pt x="44686" y="211962"/>
                  </a:lnTo>
                  <a:lnTo>
                    <a:pt x="52040" y="205962"/>
                  </a:lnTo>
                  <a:close/>
                </a:path>
                <a:path w="1358900" h="264160">
                  <a:moveTo>
                    <a:pt x="54990" y="224754"/>
                  </a:moveTo>
                  <a:lnTo>
                    <a:pt x="20192" y="230250"/>
                  </a:lnTo>
                  <a:lnTo>
                    <a:pt x="69124" y="230250"/>
                  </a:lnTo>
                  <a:lnTo>
                    <a:pt x="54990" y="224754"/>
                  </a:lnTo>
                  <a:close/>
                </a:path>
                <a:path w="1358900" h="264160">
                  <a:moveTo>
                    <a:pt x="22098" y="211962"/>
                  </a:moveTo>
                  <a:lnTo>
                    <a:pt x="24764" y="228219"/>
                  </a:lnTo>
                  <a:lnTo>
                    <a:pt x="37396" y="217912"/>
                  </a:lnTo>
                  <a:lnTo>
                    <a:pt x="22098" y="211962"/>
                  </a:lnTo>
                  <a:close/>
                </a:path>
                <a:path w="1358900" h="264160">
                  <a:moveTo>
                    <a:pt x="37396" y="217912"/>
                  </a:moveTo>
                  <a:lnTo>
                    <a:pt x="24764" y="228219"/>
                  </a:lnTo>
                  <a:lnTo>
                    <a:pt x="33057" y="228219"/>
                  </a:lnTo>
                  <a:lnTo>
                    <a:pt x="54990" y="224754"/>
                  </a:lnTo>
                  <a:lnTo>
                    <a:pt x="37396" y="217912"/>
                  </a:lnTo>
                  <a:close/>
                </a:path>
                <a:path w="1358900" h="264160">
                  <a:moveTo>
                    <a:pt x="1355852" y="0"/>
                  </a:moveTo>
                  <a:lnTo>
                    <a:pt x="52040" y="205962"/>
                  </a:lnTo>
                  <a:lnTo>
                    <a:pt x="37396" y="217912"/>
                  </a:lnTo>
                  <a:lnTo>
                    <a:pt x="54990" y="224754"/>
                  </a:lnTo>
                  <a:lnTo>
                    <a:pt x="1358900" y="18796"/>
                  </a:lnTo>
                  <a:lnTo>
                    <a:pt x="1355852" y="0"/>
                  </a:lnTo>
                  <a:close/>
                </a:path>
                <a:path w="1358900" h="264160">
                  <a:moveTo>
                    <a:pt x="44686" y="211962"/>
                  </a:moveTo>
                  <a:lnTo>
                    <a:pt x="22098" y="211962"/>
                  </a:lnTo>
                  <a:lnTo>
                    <a:pt x="37396" y="217912"/>
                  </a:lnTo>
                  <a:lnTo>
                    <a:pt x="44686" y="211962"/>
                  </a:lnTo>
                  <a:close/>
                </a:path>
              </a:pathLst>
            </a:custGeom>
            <a:solidFill>
              <a:srgbClr val="1A39BE"/>
            </a:solidFill>
          </p:spPr>
          <p:txBody>
            <a:bodyPr wrap="square" lIns="0" tIns="0" rIns="0" bIns="0" rtlCol="0"/>
            <a:lstStyle/>
            <a:p>
              <a:endParaRPr/>
            </a:p>
          </p:txBody>
        </p:sp>
        <p:sp>
          <p:nvSpPr>
            <p:cNvPr id="40" name="object 10"/>
            <p:cNvSpPr/>
            <p:nvPr/>
          </p:nvSpPr>
          <p:spPr>
            <a:xfrm>
              <a:off x="6070726" y="2419476"/>
              <a:ext cx="1358900" cy="263525"/>
            </a:xfrm>
            <a:custGeom>
              <a:avLst/>
              <a:gdLst/>
              <a:ahLst/>
              <a:cxnLst/>
              <a:rect l="l" t="t" r="r" b="b"/>
              <a:pathLst>
                <a:path w="1358900" h="263525">
                  <a:moveTo>
                    <a:pt x="1303941" y="224635"/>
                  </a:moveTo>
                  <a:lnTo>
                    <a:pt x="1249552" y="245872"/>
                  </a:lnTo>
                  <a:lnTo>
                    <a:pt x="1247140" y="251333"/>
                  </a:lnTo>
                  <a:lnTo>
                    <a:pt x="1249045" y="256286"/>
                  </a:lnTo>
                  <a:lnTo>
                    <a:pt x="1250950" y="261112"/>
                  </a:lnTo>
                  <a:lnTo>
                    <a:pt x="1256538" y="263525"/>
                  </a:lnTo>
                  <a:lnTo>
                    <a:pt x="1342158" y="230124"/>
                  </a:lnTo>
                  <a:lnTo>
                    <a:pt x="1338706" y="230124"/>
                  </a:lnTo>
                  <a:lnTo>
                    <a:pt x="1303941" y="224635"/>
                  </a:lnTo>
                  <a:close/>
                </a:path>
                <a:path w="1358900" h="263525">
                  <a:moveTo>
                    <a:pt x="1321487" y="217774"/>
                  </a:moveTo>
                  <a:lnTo>
                    <a:pt x="1303941" y="224635"/>
                  </a:lnTo>
                  <a:lnTo>
                    <a:pt x="1338706" y="230124"/>
                  </a:lnTo>
                  <a:lnTo>
                    <a:pt x="1339022" y="228092"/>
                  </a:lnTo>
                  <a:lnTo>
                    <a:pt x="1334134" y="228092"/>
                  </a:lnTo>
                  <a:lnTo>
                    <a:pt x="1321487" y="217774"/>
                  </a:lnTo>
                  <a:close/>
                </a:path>
                <a:path w="1358900" h="263525">
                  <a:moveTo>
                    <a:pt x="1273809" y="154305"/>
                  </a:moveTo>
                  <a:lnTo>
                    <a:pt x="1267714" y="154812"/>
                  </a:lnTo>
                  <a:lnTo>
                    <a:pt x="1264412" y="159003"/>
                  </a:lnTo>
                  <a:lnTo>
                    <a:pt x="1261109" y="163068"/>
                  </a:lnTo>
                  <a:lnTo>
                    <a:pt x="1261745" y="169037"/>
                  </a:lnTo>
                  <a:lnTo>
                    <a:pt x="1306857" y="205839"/>
                  </a:lnTo>
                  <a:lnTo>
                    <a:pt x="1341627" y="211327"/>
                  </a:lnTo>
                  <a:lnTo>
                    <a:pt x="1338706" y="230124"/>
                  </a:lnTo>
                  <a:lnTo>
                    <a:pt x="1342158" y="230124"/>
                  </a:lnTo>
                  <a:lnTo>
                    <a:pt x="1358773" y="223647"/>
                  </a:lnTo>
                  <a:lnTo>
                    <a:pt x="1273809" y="154305"/>
                  </a:lnTo>
                  <a:close/>
                </a:path>
                <a:path w="1358900" h="263525">
                  <a:moveTo>
                    <a:pt x="1336675" y="211836"/>
                  </a:moveTo>
                  <a:lnTo>
                    <a:pt x="1321487" y="217774"/>
                  </a:lnTo>
                  <a:lnTo>
                    <a:pt x="1334134" y="228092"/>
                  </a:lnTo>
                  <a:lnTo>
                    <a:pt x="1336675" y="211836"/>
                  </a:lnTo>
                  <a:close/>
                </a:path>
                <a:path w="1358900" h="263525">
                  <a:moveTo>
                    <a:pt x="1341549" y="211836"/>
                  </a:moveTo>
                  <a:lnTo>
                    <a:pt x="1336675" y="211836"/>
                  </a:lnTo>
                  <a:lnTo>
                    <a:pt x="1334134" y="228092"/>
                  </a:lnTo>
                  <a:lnTo>
                    <a:pt x="1339022" y="228092"/>
                  </a:lnTo>
                  <a:lnTo>
                    <a:pt x="1341549" y="211836"/>
                  </a:lnTo>
                  <a:close/>
                </a:path>
                <a:path w="1358900" h="263525">
                  <a:moveTo>
                    <a:pt x="2921" y="0"/>
                  </a:moveTo>
                  <a:lnTo>
                    <a:pt x="0" y="18796"/>
                  </a:lnTo>
                  <a:lnTo>
                    <a:pt x="1303941" y="224635"/>
                  </a:lnTo>
                  <a:lnTo>
                    <a:pt x="1321487" y="217774"/>
                  </a:lnTo>
                  <a:lnTo>
                    <a:pt x="1306857" y="205839"/>
                  </a:lnTo>
                  <a:lnTo>
                    <a:pt x="2921" y="0"/>
                  </a:lnTo>
                  <a:close/>
                </a:path>
                <a:path w="1358900" h="263525">
                  <a:moveTo>
                    <a:pt x="1306857" y="205839"/>
                  </a:moveTo>
                  <a:lnTo>
                    <a:pt x="1321487" y="217774"/>
                  </a:lnTo>
                  <a:lnTo>
                    <a:pt x="1336675" y="211836"/>
                  </a:lnTo>
                  <a:lnTo>
                    <a:pt x="1341549" y="211836"/>
                  </a:lnTo>
                  <a:lnTo>
                    <a:pt x="1341627" y="211327"/>
                  </a:lnTo>
                  <a:lnTo>
                    <a:pt x="1306857" y="205839"/>
                  </a:lnTo>
                  <a:close/>
                </a:path>
              </a:pathLst>
            </a:custGeom>
            <a:solidFill>
              <a:srgbClr val="C00000"/>
            </a:solidFill>
          </p:spPr>
          <p:txBody>
            <a:bodyPr wrap="square" lIns="0" tIns="0" rIns="0" bIns="0" rtlCol="0"/>
            <a:lstStyle/>
            <a:p>
              <a:endParaRPr/>
            </a:p>
          </p:txBody>
        </p:sp>
        <p:sp>
          <p:nvSpPr>
            <p:cNvPr id="41" name="object 11"/>
            <p:cNvSpPr/>
            <p:nvPr/>
          </p:nvSpPr>
          <p:spPr>
            <a:xfrm>
              <a:off x="6072123" y="2705226"/>
              <a:ext cx="1358900" cy="263525"/>
            </a:xfrm>
            <a:custGeom>
              <a:avLst/>
              <a:gdLst/>
              <a:ahLst/>
              <a:cxnLst/>
              <a:rect l="l" t="t" r="r" b="b"/>
              <a:pathLst>
                <a:path w="1358900" h="263525">
                  <a:moveTo>
                    <a:pt x="85089" y="154305"/>
                  </a:moveTo>
                  <a:lnTo>
                    <a:pt x="0" y="223774"/>
                  </a:lnTo>
                  <a:lnTo>
                    <a:pt x="102362" y="263525"/>
                  </a:lnTo>
                  <a:lnTo>
                    <a:pt x="107823" y="261112"/>
                  </a:lnTo>
                  <a:lnTo>
                    <a:pt x="109727" y="256286"/>
                  </a:lnTo>
                  <a:lnTo>
                    <a:pt x="111633" y="251333"/>
                  </a:lnTo>
                  <a:lnTo>
                    <a:pt x="109220" y="245872"/>
                  </a:lnTo>
                  <a:lnTo>
                    <a:pt x="68938" y="230124"/>
                  </a:lnTo>
                  <a:lnTo>
                    <a:pt x="20192" y="230124"/>
                  </a:lnTo>
                  <a:lnTo>
                    <a:pt x="17272" y="211327"/>
                  </a:lnTo>
                  <a:lnTo>
                    <a:pt x="52043" y="205838"/>
                  </a:lnTo>
                  <a:lnTo>
                    <a:pt x="97154" y="169037"/>
                  </a:lnTo>
                  <a:lnTo>
                    <a:pt x="97789" y="163068"/>
                  </a:lnTo>
                  <a:lnTo>
                    <a:pt x="94361" y="159003"/>
                  </a:lnTo>
                  <a:lnTo>
                    <a:pt x="91059" y="154812"/>
                  </a:lnTo>
                  <a:lnTo>
                    <a:pt x="85089" y="154305"/>
                  </a:lnTo>
                  <a:close/>
                </a:path>
                <a:path w="1358900" h="263525">
                  <a:moveTo>
                    <a:pt x="52043" y="205838"/>
                  </a:moveTo>
                  <a:lnTo>
                    <a:pt x="17272" y="211327"/>
                  </a:lnTo>
                  <a:lnTo>
                    <a:pt x="20192" y="230124"/>
                  </a:lnTo>
                  <a:lnTo>
                    <a:pt x="33065" y="228092"/>
                  </a:lnTo>
                  <a:lnTo>
                    <a:pt x="24764" y="228092"/>
                  </a:lnTo>
                  <a:lnTo>
                    <a:pt x="22098" y="211836"/>
                  </a:lnTo>
                  <a:lnTo>
                    <a:pt x="44691" y="211836"/>
                  </a:lnTo>
                  <a:lnTo>
                    <a:pt x="52043" y="205838"/>
                  </a:lnTo>
                  <a:close/>
                </a:path>
                <a:path w="1358900" h="263525">
                  <a:moveTo>
                    <a:pt x="54904" y="224644"/>
                  </a:moveTo>
                  <a:lnTo>
                    <a:pt x="20192" y="230124"/>
                  </a:lnTo>
                  <a:lnTo>
                    <a:pt x="68938" y="230124"/>
                  </a:lnTo>
                  <a:lnTo>
                    <a:pt x="54904" y="224644"/>
                  </a:lnTo>
                  <a:close/>
                </a:path>
                <a:path w="1358900" h="263525">
                  <a:moveTo>
                    <a:pt x="22098" y="211836"/>
                  </a:moveTo>
                  <a:lnTo>
                    <a:pt x="24764" y="228092"/>
                  </a:lnTo>
                  <a:lnTo>
                    <a:pt x="37378" y="217802"/>
                  </a:lnTo>
                  <a:lnTo>
                    <a:pt x="22098" y="211836"/>
                  </a:lnTo>
                  <a:close/>
                </a:path>
                <a:path w="1358900" h="263525">
                  <a:moveTo>
                    <a:pt x="37378" y="217802"/>
                  </a:moveTo>
                  <a:lnTo>
                    <a:pt x="24764" y="228092"/>
                  </a:lnTo>
                  <a:lnTo>
                    <a:pt x="33065" y="228092"/>
                  </a:lnTo>
                  <a:lnTo>
                    <a:pt x="54904" y="224644"/>
                  </a:lnTo>
                  <a:lnTo>
                    <a:pt x="37378" y="217802"/>
                  </a:lnTo>
                  <a:close/>
                </a:path>
                <a:path w="1358900" h="263525">
                  <a:moveTo>
                    <a:pt x="1355852" y="0"/>
                  </a:moveTo>
                  <a:lnTo>
                    <a:pt x="52043" y="205838"/>
                  </a:lnTo>
                  <a:lnTo>
                    <a:pt x="37378" y="217802"/>
                  </a:lnTo>
                  <a:lnTo>
                    <a:pt x="54904" y="224644"/>
                  </a:lnTo>
                  <a:lnTo>
                    <a:pt x="1358900" y="18796"/>
                  </a:lnTo>
                  <a:lnTo>
                    <a:pt x="1355852" y="0"/>
                  </a:lnTo>
                  <a:close/>
                </a:path>
                <a:path w="1358900" h="263525">
                  <a:moveTo>
                    <a:pt x="44691" y="211836"/>
                  </a:moveTo>
                  <a:lnTo>
                    <a:pt x="22098" y="211836"/>
                  </a:lnTo>
                  <a:lnTo>
                    <a:pt x="37378" y="217802"/>
                  </a:lnTo>
                  <a:lnTo>
                    <a:pt x="44691" y="211836"/>
                  </a:lnTo>
                  <a:close/>
                </a:path>
              </a:pathLst>
            </a:custGeom>
            <a:solidFill>
              <a:srgbClr val="1A39BE"/>
            </a:solidFill>
          </p:spPr>
          <p:txBody>
            <a:bodyPr wrap="square" lIns="0" tIns="0" rIns="0" bIns="0" rtlCol="0"/>
            <a:lstStyle/>
            <a:p>
              <a:endParaRPr/>
            </a:p>
          </p:txBody>
        </p:sp>
        <p:sp>
          <p:nvSpPr>
            <p:cNvPr id="42" name="object 12"/>
            <p:cNvSpPr/>
            <p:nvPr/>
          </p:nvSpPr>
          <p:spPr>
            <a:xfrm>
              <a:off x="6070473" y="3276726"/>
              <a:ext cx="1359535" cy="906780"/>
            </a:xfrm>
            <a:custGeom>
              <a:avLst/>
              <a:gdLst/>
              <a:ahLst/>
              <a:cxnLst/>
              <a:rect l="l" t="t" r="r" b="b"/>
              <a:pathLst>
                <a:path w="1359534" h="906779">
                  <a:moveTo>
                    <a:pt x="787527" y="152273"/>
                  </a:moveTo>
                  <a:lnTo>
                    <a:pt x="708152" y="84328"/>
                  </a:lnTo>
                  <a:lnTo>
                    <a:pt x="704215" y="80899"/>
                  </a:lnTo>
                  <a:lnTo>
                    <a:pt x="698119" y="81407"/>
                  </a:lnTo>
                  <a:lnTo>
                    <a:pt x="691261" y="89281"/>
                  </a:lnTo>
                  <a:lnTo>
                    <a:pt x="691769" y="95377"/>
                  </a:lnTo>
                  <a:lnTo>
                    <a:pt x="695833" y="98806"/>
                  </a:lnTo>
                  <a:lnTo>
                    <a:pt x="736130" y="133299"/>
                  </a:lnTo>
                  <a:lnTo>
                    <a:pt x="3429" y="0"/>
                  </a:lnTo>
                  <a:lnTo>
                    <a:pt x="0" y="18796"/>
                  </a:lnTo>
                  <a:lnTo>
                    <a:pt x="732650" y="151942"/>
                  </a:lnTo>
                  <a:lnTo>
                    <a:pt x="677926" y="171831"/>
                  </a:lnTo>
                  <a:lnTo>
                    <a:pt x="675259" y="177292"/>
                  </a:lnTo>
                  <a:lnTo>
                    <a:pt x="677164" y="182245"/>
                  </a:lnTo>
                  <a:lnTo>
                    <a:pt x="678942" y="187198"/>
                  </a:lnTo>
                  <a:lnTo>
                    <a:pt x="684403" y="189738"/>
                  </a:lnTo>
                  <a:lnTo>
                    <a:pt x="771105" y="158242"/>
                  </a:lnTo>
                  <a:lnTo>
                    <a:pt x="787527" y="152273"/>
                  </a:lnTo>
                  <a:close/>
                </a:path>
                <a:path w="1359534" h="906779">
                  <a:moveTo>
                    <a:pt x="1359027" y="866648"/>
                  </a:moveTo>
                  <a:lnTo>
                    <a:pt x="1274064" y="797179"/>
                  </a:lnTo>
                  <a:lnTo>
                    <a:pt x="1267968" y="797814"/>
                  </a:lnTo>
                  <a:lnTo>
                    <a:pt x="1261364" y="805942"/>
                  </a:lnTo>
                  <a:lnTo>
                    <a:pt x="1261999" y="811911"/>
                  </a:lnTo>
                  <a:lnTo>
                    <a:pt x="1266063" y="815340"/>
                  </a:lnTo>
                  <a:lnTo>
                    <a:pt x="1307109" y="848842"/>
                  </a:lnTo>
                  <a:lnTo>
                    <a:pt x="3175" y="642874"/>
                  </a:lnTo>
                  <a:lnTo>
                    <a:pt x="254" y="661797"/>
                  </a:lnTo>
                  <a:lnTo>
                    <a:pt x="1304099" y="867625"/>
                  </a:lnTo>
                  <a:lnTo>
                    <a:pt x="1249807" y="888746"/>
                  </a:lnTo>
                  <a:lnTo>
                    <a:pt x="1247394" y="894334"/>
                  </a:lnTo>
                  <a:lnTo>
                    <a:pt x="1249299" y="899160"/>
                  </a:lnTo>
                  <a:lnTo>
                    <a:pt x="1251204" y="904113"/>
                  </a:lnTo>
                  <a:lnTo>
                    <a:pt x="1256792" y="906526"/>
                  </a:lnTo>
                  <a:lnTo>
                    <a:pt x="1342402" y="873125"/>
                  </a:lnTo>
                  <a:lnTo>
                    <a:pt x="1359027" y="866648"/>
                  </a:lnTo>
                  <a:close/>
                </a:path>
              </a:pathLst>
            </a:custGeom>
            <a:solidFill>
              <a:srgbClr val="C00000"/>
            </a:solidFill>
          </p:spPr>
          <p:txBody>
            <a:bodyPr wrap="square" lIns="0" tIns="0" rIns="0" bIns="0" rtlCol="0"/>
            <a:lstStyle/>
            <a:p>
              <a:endParaRPr/>
            </a:p>
          </p:txBody>
        </p:sp>
        <p:sp>
          <p:nvSpPr>
            <p:cNvPr id="43" name="object 13"/>
            <p:cNvSpPr/>
            <p:nvPr/>
          </p:nvSpPr>
          <p:spPr>
            <a:xfrm>
              <a:off x="6572249" y="4205477"/>
              <a:ext cx="859155" cy="191770"/>
            </a:xfrm>
            <a:custGeom>
              <a:avLst/>
              <a:gdLst/>
              <a:ahLst/>
              <a:cxnLst/>
              <a:rect l="l" t="t" r="r" b="b"/>
              <a:pathLst>
                <a:path w="859154" h="191770">
                  <a:moveTo>
                    <a:pt x="84454" y="82042"/>
                  </a:moveTo>
                  <a:lnTo>
                    <a:pt x="80391" y="85471"/>
                  </a:lnTo>
                  <a:lnTo>
                    <a:pt x="0" y="152273"/>
                  </a:lnTo>
                  <a:lnTo>
                    <a:pt x="102616" y="191262"/>
                  </a:lnTo>
                  <a:lnTo>
                    <a:pt x="108076" y="188722"/>
                  </a:lnTo>
                  <a:lnTo>
                    <a:pt x="109981" y="183769"/>
                  </a:lnTo>
                  <a:lnTo>
                    <a:pt x="111886" y="178943"/>
                  </a:lnTo>
                  <a:lnTo>
                    <a:pt x="109347" y="173355"/>
                  </a:lnTo>
                  <a:lnTo>
                    <a:pt x="104521" y="171577"/>
                  </a:lnTo>
                  <a:lnTo>
                    <a:pt x="70097" y="158496"/>
                  </a:lnTo>
                  <a:lnTo>
                    <a:pt x="20193" y="158496"/>
                  </a:lnTo>
                  <a:lnTo>
                    <a:pt x="17018" y="139700"/>
                  </a:lnTo>
                  <a:lnTo>
                    <a:pt x="51823" y="133902"/>
                  </a:lnTo>
                  <a:lnTo>
                    <a:pt x="92582" y="100076"/>
                  </a:lnTo>
                  <a:lnTo>
                    <a:pt x="96647" y="96647"/>
                  </a:lnTo>
                  <a:lnTo>
                    <a:pt x="97154" y="90678"/>
                  </a:lnTo>
                  <a:lnTo>
                    <a:pt x="93852" y="86614"/>
                  </a:lnTo>
                  <a:lnTo>
                    <a:pt x="90424" y="82550"/>
                  </a:lnTo>
                  <a:lnTo>
                    <a:pt x="84454" y="82042"/>
                  </a:lnTo>
                  <a:close/>
                </a:path>
                <a:path w="859154" h="191770">
                  <a:moveTo>
                    <a:pt x="51823" y="133902"/>
                  </a:moveTo>
                  <a:lnTo>
                    <a:pt x="17018" y="139700"/>
                  </a:lnTo>
                  <a:lnTo>
                    <a:pt x="20193" y="158496"/>
                  </a:lnTo>
                  <a:lnTo>
                    <a:pt x="32390" y="156464"/>
                  </a:lnTo>
                  <a:lnTo>
                    <a:pt x="24638" y="156464"/>
                  </a:lnTo>
                  <a:lnTo>
                    <a:pt x="21971" y="140208"/>
                  </a:lnTo>
                  <a:lnTo>
                    <a:pt x="44225" y="140208"/>
                  </a:lnTo>
                  <a:lnTo>
                    <a:pt x="51823" y="133902"/>
                  </a:lnTo>
                  <a:close/>
                </a:path>
                <a:path w="859154" h="191770">
                  <a:moveTo>
                    <a:pt x="54887" y="152716"/>
                  </a:moveTo>
                  <a:lnTo>
                    <a:pt x="20193" y="158496"/>
                  </a:lnTo>
                  <a:lnTo>
                    <a:pt x="70097" y="158496"/>
                  </a:lnTo>
                  <a:lnTo>
                    <a:pt x="54887" y="152716"/>
                  </a:lnTo>
                  <a:close/>
                </a:path>
                <a:path w="859154" h="191770">
                  <a:moveTo>
                    <a:pt x="21971" y="140208"/>
                  </a:moveTo>
                  <a:lnTo>
                    <a:pt x="24638" y="156464"/>
                  </a:lnTo>
                  <a:lnTo>
                    <a:pt x="37236" y="146008"/>
                  </a:lnTo>
                  <a:lnTo>
                    <a:pt x="21971" y="140208"/>
                  </a:lnTo>
                  <a:close/>
                </a:path>
                <a:path w="859154" h="191770">
                  <a:moveTo>
                    <a:pt x="37236" y="146008"/>
                  </a:moveTo>
                  <a:lnTo>
                    <a:pt x="24638" y="156464"/>
                  </a:lnTo>
                  <a:lnTo>
                    <a:pt x="32390" y="156464"/>
                  </a:lnTo>
                  <a:lnTo>
                    <a:pt x="54887" y="152716"/>
                  </a:lnTo>
                  <a:lnTo>
                    <a:pt x="37236" y="146008"/>
                  </a:lnTo>
                  <a:close/>
                </a:path>
                <a:path w="859154" h="191770">
                  <a:moveTo>
                    <a:pt x="855726" y="0"/>
                  </a:moveTo>
                  <a:lnTo>
                    <a:pt x="51823" y="133902"/>
                  </a:lnTo>
                  <a:lnTo>
                    <a:pt x="37236" y="146008"/>
                  </a:lnTo>
                  <a:lnTo>
                    <a:pt x="54887" y="152716"/>
                  </a:lnTo>
                  <a:lnTo>
                    <a:pt x="858774" y="18796"/>
                  </a:lnTo>
                  <a:lnTo>
                    <a:pt x="855726" y="0"/>
                  </a:lnTo>
                  <a:close/>
                </a:path>
                <a:path w="859154" h="191770">
                  <a:moveTo>
                    <a:pt x="44225" y="140208"/>
                  </a:moveTo>
                  <a:lnTo>
                    <a:pt x="21971" y="140208"/>
                  </a:lnTo>
                  <a:lnTo>
                    <a:pt x="37236" y="146008"/>
                  </a:lnTo>
                  <a:lnTo>
                    <a:pt x="44225" y="140208"/>
                  </a:lnTo>
                  <a:close/>
                </a:path>
              </a:pathLst>
            </a:custGeom>
            <a:solidFill>
              <a:srgbClr val="1A39BE"/>
            </a:solidFill>
          </p:spPr>
          <p:txBody>
            <a:bodyPr wrap="square" lIns="0" tIns="0" rIns="0" bIns="0" rtlCol="0"/>
            <a:lstStyle/>
            <a:p>
              <a:endParaRPr/>
            </a:p>
          </p:txBody>
        </p:sp>
      </p:grpSp>
      <p:sp>
        <p:nvSpPr>
          <p:cNvPr id="44" name="object 14"/>
          <p:cNvSpPr txBox="1"/>
          <p:nvPr/>
        </p:nvSpPr>
        <p:spPr>
          <a:xfrm>
            <a:off x="9155175" y="3416578"/>
            <a:ext cx="381847"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0000"/>
                </a:solidFill>
                <a:latin typeface="Tahoma"/>
                <a:cs typeface="Tahoma"/>
              </a:rPr>
              <a:t>E</a:t>
            </a:r>
            <a:r>
              <a:rPr sz="1600" spc="-5" dirty="0">
                <a:solidFill>
                  <a:srgbClr val="FF0000"/>
                </a:solidFill>
                <a:latin typeface="Tahoma"/>
                <a:cs typeface="Tahoma"/>
              </a:rPr>
              <a:t>rr</a:t>
            </a:r>
            <a:endParaRPr sz="1600">
              <a:latin typeface="Tahoma"/>
              <a:cs typeface="Tahoma"/>
            </a:endParaRPr>
          </a:p>
        </p:txBody>
      </p:sp>
      <p:sp>
        <p:nvSpPr>
          <p:cNvPr id="45" name="object 15"/>
          <p:cNvSpPr txBox="1"/>
          <p:nvPr/>
        </p:nvSpPr>
        <p:spPr>
          <a:xfrm>
            <a:off x="8329677" y="4325771"/>
            <a:ext cx="381847"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1A39BE"/>
                </a:solidFill>
                <a:latin typeface="Tahoma"/>
                <a:cs typeface="Tahoma"/>
              </a:rPr>
              <a:t>E</a:t>
            </a:r>
            <a:r>
              <a:rPr sz="1600" spc="-5" dirty="0">
                <a:solidFill>
                  <a:srgbClr val="1A39BE"/>
                </a:solidFill>
                <a:latin typeface="Tahoma"/>
                <a:cs typeface="Tahoma"/>
              </a:rPr>
              <a:t>rr</a:t>
            </a:r>
            <a:endParaRPr sz="1600">
              <a:latin typeface="Tahoma"/>
              <a:cs typeface="Tahoma"/>
            </a:endParaRPr>
          </a:p>
        </p:txBody>
      </p:sp>
      <p:sp>
        <p:nvSpPr>
          <p:cNvPr id="46" name="object 16"/>
          <p:cNvSpPr/>
          <p:nvPr/>
        </p:nvSpPr>
        <p:spPr>
          <a:xfrm>
            <a:off x="10096501" y="1844318"/>
            <a:ext cx="286172" cy="1071880"/>
          </a:xfrm>
          <a:custGeom>
            <a:avLst/>
            <a:gdLst/>
            <a:ahLst/>
            <a:cxnLst/>
            <a:rect l="l" t="t" r="r" b="b"/>
            <a:pathLst>
              <a:path w="214629" h="1071880">
                <a:moveTo>
                  <a:pt x="0" y="0"/>
                </a:moveTo>
                <a:lnTo>
                  <a:pt x="41715" y="1404"/>
                </a:lnTo>
                <a:lnTo>
                  <a:pt x="75787" y="5238"/>
                </a:lnTo>
                <a:lnTo>
                  <a:pt x="98762" y="10929"/>
                </a:lnTo>
                <a:lnTo>
                  <a:pt x="107188" y="17907"/>
                </a:lnTo>
                <a:lnTo>
                  <a:pt x="107188" y="517905"/>
                </a:lnTo>
                <a:lnTo>
                  <a:pt x="115613" y="524883"/>
                </a:lnTo>
                <a:lnTo>
                  <a:pt x="138588" y="530574"/>
                </a:lnTo>
                <a:lnTo>
                  <a:pt x="172660" y="534408"/>
                </a:lnTo>
                <a:lnTo>
                  <a:pt x="214375" y="535813"/>
                </a:lnTo>
                <a:lnTo>
                  <a:pt x="172660" y="537215"/>
                </a:lnTo>
                <a:lnTo>
                  <a:pt x="138588" y="541035"/>
                </a:lnTo>
                <a:lnTo>
                  <a:pt x="115613" y="546689"/>
                </a:lnTo>
                <a:lnTo>
                  <a:pt x="107188" y="553592"/>
                </a:lnTo>
                <a:lnTo>
                  <a:pt x="107188" y="1053719"/>
                </a:lnTo>
                <a:lnTo>
                  <a:pt x="98762" y="1060676"/>
                </a:lnTo>
                <a:lnTo>
                  <a:pt x="75787" y="1066323"/>
                </a:lnTo>
                <a:lnTo>
                  <a:pt x="41715" y="1070113"/>
                </a:lnTo>
                <a:lnTo>
                  <a:pt x="0" y="1071499"/>
                </a:lnTo>
              </a:path>
            </a:pathLst>
          </a:custGeom>
          <a:ln w="9525">
            <a:solidFill>
              <a:srgbClr val="333333"/>
            </a:solidFill>
          </a:ln>
        </p:spPr>
        <p:txBody>
          <a:bodyPr wrap="square" lIns="0" tIns="0" rIns="0" bIns="0" rtlCol="0"/>
          <a:lstStyle/>
          <a:p>
            <a:endParaRPr/>
          </a:p>
        </p:txBody>
      </p:sp>
      <p:sp>
        <p:nvSpPr>
          <p:cNvPr id="47" name="object 17"/>
          <p:cNvSpPr/>
          <p:nvPr/>
        </p:nvSpPr>
        <p:spPr>
          <a:xfrm>
            <a:off x="10096501" y="3130193"/>
            <a:ext cx="286172" cy="714375"/>
          </a:xfrm>
          <a:custGeom>
            <a:avLst/>
            <a:gdLst/>
            <a:ahLst/>
            <a:cxnLst/>
            <a:rect l="l" t="t" r="r" b="b"/>
            <a:pathLst>
              <a:path w="214629" h="714375">
                <a:moveTo>
                  <a:pt x="0" y="0"/>
                </a:moveTo>
                <a:lnTo>
                  <a:pt x="41715" y="1404"/>
                </a:lnTo>
                <a:lnTo>
                  <a:pt x="75787" y="5238"/>
                </a:lnTo>
                <a:lnTo>
                  <a:pt x="98762" y="10929"/>
                </a:lnTo>
                <a:lnTo>
                  <a:pt x="107188" y="17907"/>
                </a:lnTo>
                <a:lnTo>
                  <a:pt x="107188" y="339344"/>
                </a:lnTo>
                <a:lnTo>
                  <a:pt x="115613" y="346301"/>
                </a:lnTo>
                <a:lnTo>
                  <a:pt x="138588" y="351948"/>
                </a:lnTo>
                <a:lnTo>
                  <a:pt x="172660" y="355738"/>
                </a:lnTo>
                <a:lnTo>
                  <a:pt x="214375" y="357124"/>
                </a:lnTo>
                <a:lnTo>
                  <a:pt x="172660" y="358528"/>
                </a:lnTo>
                <a:lnTo>
                  <a:pt x="138588" y="362362"/>
                </a:lnTo>
                <a:lnTo>
                  <a:pt x="115613" y="368053"/>
                </a:lnTo>
                <a:lnTo>
                  <a:pt x="107188" y="375030"/>
                </a:lnTo>
                <a:lnTo>
                  <a:pt x="107188" y="696468"/>
                </a:lnTo>
                <a:lnTo>
                  <a:pt x="98762" y="703445"/>
                </a:lnTo>
                <a:lnTo>
                  <a:pt x="75787" y="709136"/>
                </a:lnTo>
                <a:lnTo>
                  <a:pt x="41715" y="712970"/>
                </a:lnTo>
                <a:lnTo>
                  <a:pt x="0" y="714375"/>
                </a:lnTo>
              </a:path>
            </a:pathLst>
          </a:custGeom>
          <a:ln w="9524">
            <a:solidFill>
              <a:srgbClr val="333333"/>
            </a:solidFill>
          </a:ln>
        </p:spPr>
        <p:txBody>
          <a:bodyPr wrap="square" lIns="0" tIns="0" rIns="0" bIns="0" rtlCol="0"/>
          <a:lstStyle/>
          <a:p>
            <a:endParaRPr/>
          </a:p>
        </p:txBody>
      </p:sp>
      <p:sp>
        <p:nvSpPr>
          <p:cNvPr id="48" name="object 18"/>
          <p:cNvSpPr/>
          <p:nvPr/>
        </p:nvSpPr>
        <p:spPr>
          <a:xfrm>
            <a:off x="10096501" y="3987444"/>
            <a:ext cx="286172" cy="714375"/>
          </a:xfrm>
          <a:custGeom>
            <a:avLst/>
            <a:gdLst/>
            <a:ahLst/>
            <a:cxnLst/>
            <a:rect l="l" t="t" r="r" b="b"/>
            <a:pathLst>
              <a:path w="214629" h="714375">
                <a:moveTo>
                  <a:pt x="0" y="0"/>
                </a:moveTo>
                <a:lnTo>
                  <a:pt x="41715" y="1404"/>
                </a:lnTo>
                <a:lnTo>
                  <a:pt x="75787" y="5238"/>
                </a:lnTo>
                <a:lnTo>
                  <a:pt x="98762" y="10929"/>
                </a:lnTo>
                <a:lnTo>
                  <a:pt x="107188" y="17906"/>
                </a:lnTo>
                <a:lnTo>
                  <a:pt x="107188" y="339344"/>
                </a:lnTo>
                <a:lnTo>
                  <a:pt x="115613" y="346321"/>
                </a:lnTo>
                <a:lnTo>
                  <a:pt x="138588" y="352012"/>
                </a:lnTo>
                <a:lnTo>
                  <a:pt x="172660" y="355846"/>
                </a:lnTo>
                <a:lnTo>
                  <a:pt x="214375" y="357250"/>
                </a:lnTo>
                <a:lnTo>
                  <a:pt x="172660" y="358636"/>
                </a:lnTo>
                <a:lnTo>
                  <a:pt x="138588" y="362426"/>
                </a:lnTo>
                <a:lnTo>
                  <a:pt x="115613" y="368073"/>
                </a:lnTo>
                <a:lnTo>
                  <a:pt x="107188" y="375031"/>
                </a:lnTo>
                <a:lnTo>
                  <a:pt x="107188" y="696468"/>
                </a:lnTo>
                <a:lnTo>
                  <a:pt x="98762" y="703445"/>
                </a:lnTo>
                <a:lnTo>
                  <a:pt x="75787" y="709136"/>
                </a:lnTo>
                <a:lnTo>
                  <a:pt x="41715" y="712970"/>
                </a:lnTo>
                <a:lnTo>
                  <a:pt x="0" y="714375"/>
                </a:lnTo>
              </a:path>
            </a:pathLst>
          </a:custGeom>
          <a:ln w="9524">
            <a:solidFill>
              <a:srgbClr val="333333"/>
            </a:solidFill>
          </a:ln>
        </p:spPr>
        <p:txBody>
          <a:bodyPr wrap="square" lIns="0" tIns="0" rIns="0" bIns="0" rtlCol="0"/>
          <a:lstStyle/>
          <a:p>
            <a:endParaRPr/>
          </a:p>
        </p:txBody>
      </p:sp>
      <p:sp>
        <p:nvSpPr>
          <p:cNvPr id="49" name="object 19"/>
          <p:cNvSpPr txBox="1"/>
          <p:nvPr/>
        </p:nvSpPr>
        <p:spPr>
          <a:xfrm>
            <a:off x="10488845" y="2121812"/>
            <a:ext cx="889847" cy="513080"/>
          </a:xfrm>
          <a:prstGeom prst="rect">
            <a:avLst/>
          </a:prstGeom>
        </p:spPr>
        <p:txBody>
          <a:bodyPr vert="horz" wrap="square" lIns="0" tIns="12065" rIns="0" bIns="0" rtlCol="0">
            <a:spAutoFit/>
          </a:bodyPr>
          <a:lstStyle/>
          <a:p>
            <a:pPr marL="12700" marR="5080">
              <a:lnSpc>
                <a:spcPct val="100000"/>
              </a:lnSpc>
              <a:spcBef>
                <a:spcPts val="95"/>
              </a:spcBef>
            </a:pPr>
            <a:r>
              <a:rPr sz="1600" spc="-10" dirty="0">
                <a:solidFill>
                  <a:srgbClr val="333333"/>
                </a:solidFill>
                <a:latin typeface="Tahoma"/>
                <a:cs typeface="Tahoma"/>
              </a:rPr>
              <a:t>Nor</a:t>
            </a:r>
            <a:r>
              <a:rPr sz="1600" spc="-5" dirty="0">
                <a:solidFill>
                  <a:srgbClr val="333333"/>
                </a:solidFill>
                <a:latin typeface="Tahoma"/>
                <a:cs typeface="Tahoma"/>
              </a:rPr>
              <a:t>mal  </a:t>
            </a:r>
            <a:r>
              <a:rPr sz="1600" spc="-10" dirty="0">
                <a:solidFill>
                  <a:srgbClr val="333333"/>
                </a:solidFill>
                <a:latin typeface="Tahoma"/>
                <a:cs typeface="Tahoma"/>
              </a:rPr>
              <a:t>case</a:t>
            </a:r>
            <a:endParaRPr sz="1600">
              <a:latin typeface="Tahoma"/>
              <a:cs typeface="Tahoma"/>
            </a:endParaRPr>
          </a:p>
        </p:txBody>
      </p:sp>
      <p:sp>
        <p:nvSpPr>
          <p:cNvPr id="50" name="object 20"/>
          <p:cNvSpPr txBox="1"/>
          <p:nvPr/>
        </p:nvSpPr>
        <p:spPr>
          <a:xfrm>
            <a:off x="10488845" y="3359300"/>
            <a:ext cx="1311487"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333333"/>
                </a:solidFill>
                <a:latin typeface="Tahoma"/>
                <a:cs typeface="Tahoma"/>
              </a:rPr>
              <a:t>Frame</a:t>
            </a:r>
            <a:r>
              <a:rPr sz="1600" spc="-70" dirty="0">
                <a:solidFill>
                  <a:srgbClr val="333333"/>
                </a:solidFill>
                <a:latin typeface="Tahoma"/>
                <a:cs typeface="Tahoma"/>
              </a:rPr>
              <a:t> </a:t>
            </a:r>
            <a:r>
              <a:rPr sz="1600" spc="-10" dirty="0">
                <a:solidFill>
                  <a:srgbClr val="333333"/>
                </a:solidFill>
                <a:latin typeface="Tahoma"/>
                <a:cs typeface="Tahoma"/>
              </a:rPr>
              <a:t>loss</a:t>
            </a:r>
            <a:endParaRPr sz="1600">
              <a:latin typeface="Tahoma"/>
              <a:cs typeface="Tahoma"/>
            </a:endParaRPr>
          </a:p>
        </p:txBody>
      </p:sp>
      <p:sp>
        <p:nvSpPr>
          <p:cNvPr id="51" name="object 21"/>
          <p:cNvSpPr txBox="1"/>
          <p:nvPr/>
        </p:nvSpPr>
        <p:spPr>
          <a:xfrm>
            <a:off x="10488845" y="4235854"/>
            <a:ext cx="988060"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333333"/>
                </a:solidFill>
                <a:latin typeface="Tahoma"/>
                <a:cs typeface="Tahoma"/>
              </a:rPr>
              <a:t>Ack</a:t>
            </a:r>
            <a:r>
              <a:rPr sz="1600" spc="-65" dirty="0">
                <a:solidFill>
                  <a:srgbClr val="333333"/>
                </a:solidFill>
                <a:latin typeface="Tahoma"/>
                <a:cs typeface="Tahoma"/>
              </a:rPr>
              <a:t> </a:t>
            </a:r>
            <a:r>
              <a:rPr sz="1600" spc="-10" dirty="0">
                <a:solidFill>
                  <a:srgbClr val="333333"/>
                </a:solidFill>
                <a:latin typeface="Tahoma"/>
                <a:cs typeface="Tahoma"/>
              </a:rPr>
              <a:t>loss</a:t>
            </a:r>
            <a:endParaRPr sz="1600">
              <a:latin typeface="Tahoma"/>
              <a:cs typeface="Tahoma"/>
            </a:endParaRPr>
          </a:p>
        </p:txBody>
      </p:sp>
      <p:sp>
        <p:nvSpPr>
          <p:cNvPr id="23" name="Title 1"/>
          <p:cNvSpPr txBox="1">
            <a:spLocks/>
          </p:cNvSpPr>
          <p:nvPr/>
        </p:nvSpPr>
        <p:spPr>
          <a:xfrm>
            <a:off x="541029" y="473812"/>
            <a:ext cx="10972800" cy="990600"/>
          </a:xfrm>
          <a:prstGeom prst="rect">
            <a:avLst/>
          </a:prstGeom>
          <a:solidFill>
            <a:srgbClr val="FFFF00"/>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 Link Layer Protocol - </a:t>
            </a:r>
            <a:r>
              <a:rPr lang="en-IN"/>
              <a:t>Stop and Wait Protocol</a:t>
            </a:r>
            <a:endParaRPr lang="en-IN" dirty="0"/>
          </a:p>
        </p:txBody>
      </p:sp>
      <p:sp>
        <p:nvSpPr>
          <p:cNvPr id="2" name="object 8">
            <a:extLst>
              <a:ext uri="{FF2B5EF4-FFF2-40B4-BE49-F238E27FC236}">
                <a16:creationId xmlns:a16="http://schemas.microsoft.com/office/drawing/2014/main" id="{D9FBFD13-0842-22FC-228A-D70F91A760FB}"/>
              </a:ext>
            </a:extLst>
          </p:cNvPr>
          <p:cNvSpPr/>
          <p:nvPr/>
        </p:nvSpPr>
        <p:spPr>
          <a:xfrm>
            <a:off x="8094302" y="4999252"/>
            <a:ext cx="1811867" cy="264160"/>
          </a:xfrm>
          <a:custGeom>
            <a:avLst/>
            <a:gdLst/>
            <a:ahLst/>
            <a:cxnLst/>
            <a:rect l="l" t="t" r="r" b="b"/>
            <a:pathLst>
              <a:path w="1358900" h="264160">
                <a:moveTo>
                  <a:pt x="1303855" y="224745"/>
                </a:moveTo>
                <a:lnTo>
                  <a:pt x="1249552" y="245872"/>
                </a:lnTo>
                <a:lnTo>
                  <a:pt x="1247140" y="251460"/>
                </a:lnTo>
                <a:lnTo>
                  <a:pt x="1249045" y="256286"/>
                </a:lnTo>
                <a:lnTo>
                  <a:pt x="1250950" y="261238"/>
                </a:lnTo>
                <a:lnTo>
                  <a:pt x="1256538" y="263651"/>
                </a:lnTo>
                <a:lnTo>
                  <a:pt x="1342158" y="230250"/>
                </a:lnTo>
                <a:lnTo>
                  <a:pt x="1338706" y="230250"/>
                </a:lnTo>
                <a:lnTo>
                  <a:pt x="1303855" y="224745"/>
                </a:lnTo>
                <a:close/>
              </a:path>
              <a:path w="1358900" h="264160">
                <a:moveTo>
                  <a:pt x="1321470" y="217884"/>
                </a:moveTo>
                <a:lnTo>
                  <a:pt x="1303855" y="224745"/>
                </a:lnTo>
                <a:lnTo>
                  <a:pt x="1338706" y="230250"/>
                </a:lnTo>
                <a:lnTo>
                  <a:pt x="1339022" y="228219"/>
                </a:lnTo>
                <a:lnTo>
                  <a:pt x="1334134" y="228219"/>
                </a:lnTo>
                <a:lnTo>
                  <a:pt x="1321470" y="217884"/>
                </a:lnTo>
                <a:close/>
              </a:path>
              <a:path w="1358900" h="264160">
                <a:moveTo>
                  <a:pt x="1273809" y="154304"/>
                </a:moveTo>
                <a:lnTo>
                  <a:pt x="1267714" y="154939"/>
                </a:lnTo>
                <a:lnTo>
                  <a:pt x="1261109" y="163068"/>
                </a:lnTo>
                <a:lnTo>
                  <a:pt x="1261745" y="169037"/>
                </a:lnTo>
                <a:lnTo>
                  <a:pt x="1265808" y="172465"/>
                </a:lnTo>
                <a:lnTo>
                  <a:pt x="1306860" y="205963"/>
                </a:lnTo>
                <a:lnTo>
                  <a:pt x="1341627" y="211454"/>
                </a:lnTo>
                <a:lnTo>
                  <a:pt x="1338706" y="230250"/>
                </a:lnTo>
                <a:lnTo>
                  <a:pt x="1342158" y="230250"/>
                </a:lnTo>
                <a:lnTo>
                  <a:pt x="1358773" y="223774"/>
                </a:lnTo>
                <a:lnTo>
                  <a:pt x="1273809" y="154304"/>
                </a:lnTo>
                <a:close/>
              </a:path>
              <a:path w="1358900" h="264160">
                <a:moveTo>
                  <a:pt x="1336675" y="211962"/>
                </a:moveTo>
                <a:lnTo>
                  <a:pt x="1321470" y="217884"/>
                </a:lnTo>
                <a:lnTo>
                  <a:pt x="1334134" y="228219"/>
                </a:lnTo>
                <a:lnTo>
                  <a:pt x="1336675" y="211962"/>
                </a:lnTo>
                <a:close/>
              </a:path>
              <a:path w="1358900" h="264160">
                <a:moveTo>
                  <a:pt x="1341549" y="211962"/>
                </a:moveTo>
                <a:lnTo>
                  <a:pt x="1336675" y="211962"/>
                </a:lnTo>
                <a:lnTo>
                  <a:pt x="1334134" y="228219"/>
                </a:lnTo>
                <a:lnTo>
                  <a:pt x="1339022" y="228219"/>
                </a:lnTo>
                <a:lnTo>
                  <a:pt x="1341549" y="211962"/>
                </a:lnTo>
                <a:close/>
              </a:path>
              <a:path w="1358900" h="264160">
                <a:moveTo>
                  <a:pt x="2921" y="0"/>
                </a:moveTo>
                <a:lnTo>
                  <a:pt x="0" y="18796"/>
                </a:lnTo>
                <a:lnTo>
                  <a:pt x="1303855" y="224745"/>
                </a:lnTo>
                <a:lnTo>
                  <a:pt x="1321470" y="217884"/>
                </a:lnTo>
                <a:lnTo>
                  <a:pt x="1306860" y="205963"/>
                </a:lnTo>
                <a:lnTo>
                  <a:pt x="2921" y="0"/>
                </a:lnTo>
                <a:close/>
              </a:path>
              <a:path w="1358900" h="264160">
                <a:moveTo>
                  <a:pt x="1306860" y="205963"/>
                </a:moveTo>
                <a:lnTo>
                  <a:pt x="1321470" y="217884"/>
                </a:lnTo>
                <a:lnTo>
                  <a:pt x="1336675" y="211962"/>
                </a:lnTo>
                <a:lnTo>
                  <a:pt x="1341549" y="211962"/>
                </a:lnTo>
                <a:lnTo>
                  <a:pt x="1341627" y="211454"/>
                </a:lnTo>
                <a:lnTo>
                  <a:pt x="1306860" y="205963"/>
                </a:lnTo>
                <a:close/>
              </a:path>
            </a:pathLst>
          </a:custGeom>
          <a:solidFill>
            <a:srgbClr val="C00000"/>
          </a:solidFill>
        </p:spPr>
        <p:txBody>
          <a:bodyPr wrap="square" lIns="0" tIns="0" rIns="0" bIns="0" rtlCol="0"/>
          <a:lstStyle/>
          <a:p>
            <a:endParaRPr/>
          </a:p>
        </p:txBody>
      </p:sp>
      <p:sp>
        <p:nvSpPr>
          <p:cNvPr id="3" name="object 9">
            <a:extLst>
              <a:ext uri="{FF2B5EF4-FFF2-40B4-BE49-F238E27FC236}">
                <a16:creationId xmlns:a16="http://schemas.microsoft.com/office/drawing/2014/main" id="{2AA101D2-4554-35DA-FD9A-1B88E13623FB}"/>
              </a:ext>
            </a:extLst>
          </p:cNvPr>
          <p:cNvSpPr/>
          <p:nvPr/>
        </p:nvSpPr>
        <p:spPr>
          <a:xfrm>
            <a:off x="8093965" y="5285001"/>
            <a:ext cx="1814067" cy="550799"/>
          </a:xfrm>
          <a:custGeom>
            <a:avLst/>
            <a:gdLst/>
            <a:ahLst/>
            <a:cxnLst/>
            <a:rect l="l" t="t" r="r" b="b"/>
            <a:pathLst>
              <a:path w="1358900" h="264160">
                <a:moveTo>
                  <a:pt x="85089" y="154304"/>
                </a:moveTo>
                <a:lnTo>
                  <a:pt x="0" y="223774"/>
                </a:lnTo>
                <a:lnTo>
                  <a:pt x="102362" y="263651"/>
                </a:lnTo>
                <a:lnTo>
                  <a:pt x="107823" y="261238"/>
                </a:lnTo>
                <a:lnTo>
                  <a:pt x="109727" y="256286"/>
                </a:lnTo>
                <a:lnTo>
                  <a:pt x="111633" y="251460"/>
                </a:lnTo>
                <a:lnTo>
                  <a:pt x="109220" y="245872"/>
                </a:lnTo>
                <a:lnTo>
                  <a:pt x="69124" y="230250"/>
                </a:lnTo>
                <a:lnTo>
                  <a:pt x="20192" y="230250"/>
                </a:lnTo>
                <a:lnTo>
                  <a:pt x="17272" y="211454"/>
                </a:lnTo>
                <a:lnTo>
                  <a:pt x="52040" y="205962"/>
                </a:lnTo>
                <a:lnTo>
                  <a:pt x="93090" y="172465"/>
                </a:lnTo>
                <a:lnTo>
                  <a:pt x="97154" y="169037"/>
                </a:lnTo>
                <a:lnTo>
                  <a:pt x="97789" y="163068"/>
                </a:lnTo>
                <a:lnTo>
                  <a:pt x="94361" y="159003"/>
                </a:lnTo>
                <a:lnTo>
                  <a:pt x="91059" y="154939"/>
                </a:lnTo>
                <a:lnTo>
                  <a:pt x="85089" y="154304"/>
                </a:lnTo>
                <a:close/>
              </a:path>
              <a:path w="1358900" h="264160">
                <a:moveTo>
                  <a:pt x="52040" y="205962"/>
                </a:moveTo>
                <a:lnTo>
                  <a:pt x="17272" y="211454"/>
                </a:lnTo>
                <a:lnTo>
                  <a:pt x="20192" y="230250"/>
                </a:lnTo>
                <a:lnTo>
                  <a:pt x="33057" y="228219"/>
                </a:lnTo>
                <a:lnTo>
                  <a:pt x="24764" y="228219"/>
                </a:lnTo>
                <a:lnTo>
                  <a:pt x="22098" y="211962"/>
                </a:lnTo>
                <a:lnTo>
                  <a:pt x="44686" y="211962"/>
                </a:lnTo>
                <a:lnTo>
                  <a:pt x="52040" y="205962"/>
                </a:lnTo>
                <a:close/>
              </a:path>
              <a:path w="1358900" h="264160">
                <a:moveTo>
                  <a:pt x="54990" y="224754"/>
                </a:moveTo>
                <a:lnTo>
                  <a:pt x="20192" y="230250"/>
                </a:lnTo>
                <a:lnTo>
                  <a:pt x="69124" y="230250"/>
                </a:lnTo>
                <a:lnTo>
                  <a:pt x="54990" y="224754"/>
                </a:lnTo>
                <a:close/>
              </a:path>
              <a:path w="1358900" h="264160">
                <a:moveTo>
                  <a:pt x="22098" y="211962"/>
                </a:moveTo>
                <a:lnTo>
                  <a:pt x="24764" y="228219"/>
                </a:lnTo>
                <a:lnTo>
                  <a:pt x="37396" y="217912"/>
                </a:lnTo>
                <a:lnTo>
                  <a:pt x="22098" y="211962"/>
                </a:lnTo>
                <a:close/>
              </a:path>
              <a:path w="1358900" h="264160">
                <a:moveTo>
                  <a:pt x="37396" y="217912"/>
                </a:moveTo>
                <a:lnTo>
                  <a:pt x="24764" y="228219"/>
                </a:lnTo>
                <a:lnTo>
                  <a:pt x="33057" y="228219"/>
                </a:lnTo>
                <a:lnTo>
                  <a:pt x="54990" y="224754"/>
                </a:lnTo>
                <a:lnTo>
                  <a:pt x="37396" y="217912"/>
                </a:lnTo>
                <a:close/>
              </a:path>
              <a:path w="1358900" h="264160">
                <a:moveTo>
                  <a:pt x="1355852" y="0"/>
                </a:moveTo>
                <a:lnTo>
                  <a:pt x="52040" y="205962"/>
                </a:lnTo>
                <a:lnTo>
                  <a:pt x="37396" y="217912"/>
                </a:lnTo>
                <a:lnTo>
                  <a:pt x="54990" y="224754"/>
                </a:lnTo>
                <a:lnTo>
                  <a:pt x="1358900" y="18796"/>
                </a:lnTo>
                <a:lnTo>
                  <a:pt x="1355852" y="0"/>
                </a:lnTo>
                <a:close/>
              </a:path>
              <a:path w="1358900" h="264160">
                <a:moveTo>
                  <a:pt x="44686" y="211962"/>
                </a:moveTo>
                <a:lnTo>
                  <a:pt x="22098" y="211962"/>
                </a:lnTo>
                <a:lnTo>
                  <a:pt x="37396" y="217912"/>
                </a:lnTo>
                <a:lnTo>
                  <a:pt x="44686" y="211962"/>
                </a:lnTo>
                <a:close/>
              </a:path>
            </a:pathLst>
          </a:custGeom>
          <a:solidFill>
            <a:srgbClr val="1A39BE"/>
          </a:solidFill>
        </p:spPr>
        <p:txBody>
          <a:bodyPr wrap="square" lIns="0" tIns="0" rIns="0" bIns="0" rtlCol="0"/>
          <a:lstStyle/>
          <a:p>
            <a:endParaRPr/>
          </a:p>
        </p:txBody>
      </p:sp>
      <p:sp>
        <p:nvSpPr>
          <p:cNvPr id="4" name="Oval 3">
            <a:extLst>
              <a:ext uri="{FF2B5EF4-FFF2-40B4-BE49-F238E27FC236}">
                <a16:creationId xmlns:a16="http://schemas.microsoft.com/office/drawing/2014/main" id="{7C8705E4-7F0E-5A84-2B9E-5332071D1DB3}"/>
              </a:ext>
            </a:extLst>
          </p:cNvPr>
          <p:cNvSpPr/>
          <p:nvPr/>
        </p:nvSpPr>
        <p:spPr>
          <a:xfrm>
            <a:off x="8032148" y="5386192"/>
            <a:ext cx="124447" cy="120916"/>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131108B-DC34-9D45-1105-1A5ADB77DAA7}"/>
              </a:ext>
            </a:extLst>
          </p:cNvPr>
          <p:cNvSpPr txBox="1"/>
          <p:nvPr/>
        </p:nvSpPr>
        <p:spPr>
          <a:xfrm>
            <a:off x="7699887" y="3167771"/>
            <a:ext cx="741306" cy="230832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a:t>
            </a:r>
          </a:p>
        </p:txBody>
      </p:sp>
      <p:sp>
        <p:nvSpPr>
          <p:cNvPr id="6" name="object 18">
            <a:extLst>
              <a:ext uri="{FF2B5EF4-FFF2-40B4-BE49-F238E27FC236}">
                <a16:creationId xmlns:a16="http://schemas.microsoft.com/office/drawing/2014/main" id="{AD73EA38-9DEE-89D4-F1B3-E6C3E4FCB55D}"/>
              </a:ext>
            </a:extLst>
          </p:cNvPr>
          <p:cNvSpPr/>
          <p:nvPr/>
        </p:nvSpPr>
        <p:spPr>
          <a:xfrm>
            <a:off x="10114086" y="4988793"/>
            <a:ext cx="286172" cy="714375"/>
          </a:xfrm>
          <a:custGeom>
            <a:avLst/>
            <a:gdLst/>
            <a:ahLst/>
            <a:cxnLst/>
            <a:rect l="l" t="t" r="r" b="b"/>
            <a:pathLst>
              <a:path w="214629" h="714375">
                <a:moveTo>
                  <a:pt x="0" y="0"/>
                </a:moveTo>
                <a:lnTo>
                  <a:pt x="41715" y="1404"/>
                </a:lnTo>
                <a:lnTo>
                  <a:pt x="75787" y="5238"/>
                </a:lnTo>
                <a:lnTo>
                  <a:pt x="98762" y="10929"/>
                </a:lnTo>
                <a:lnTo>
                  <a:pt x="107188" y="17906"/>
                </a:lnTo>
                <a:lnTo>
                  <a:pt x="107188" y="339344"/>
                </a:lnTo>
                <a:lnTo>
                  <a:pt x="115613" y="346321"/>
                </a:lnTo>
                <a:lnTo>
                  <a:pt x="138588" y="352012"/>
                </a:lnTo>
                <a:lnTo>
                  <a:pt x="172660" y="355846"/>
                </a:lnTo>
                <a:lnTo>
                  <a:pt x="214375" y="357250"/>
                </a:lnTo>
                <a:lnTo>
                  <a:pt x="172660" y="358636"/>
                </a:lnTo>
                <a:lnTo>
                  <a:pt x="138588" y="362426"/>
                </a:lnTo>
                <a:lnTo>
                  <a:pt x="115613" y="368073"/>
                </a:lnTo>
                <a:lnTo>
                  <a:pt x="107188" y="375031"/>
                </a:lnTo>
                <a:lnTo>
                  <a:pt x="107188" y="696468"/>
                </a:lnTo>
                <a:lnTo>
                  <a:pt x="98762" y="703445"/>
                </a:lnTo>
                <a:lnTo>
                  <a:pt x="75787" y="709136"/>
                </a:lnTo>
                <a:lnTo>
                  <a:pt x="41715" y="712970"/>
                </a:lnTo>
                <a:lnTo>
                  <a:pt x="0" y="714375"/>
                </a:lnTo>
              </a:path>
            </a:pathLst>
          </a:custGeom>
          <a:ln w="9524">
            <a:solidFill>
              <a:srgbClr val="333333"/>
            </a:solidFill>
          </a:ln>
        </p:spPr>
        <p:txBody>
          <a:bodyPr wrap="square" lIns="0" tIns="0" rIns="0" bIns="0" rtlCol="0"/>
          <a:lstStyle/>
          <a:p>
            <a:endParaRPr/>
          </a:p>
        </p:txBody>
      </p:sp>
      <p:sp>
        <p:nvSpPr>
          <p:cNvPr id="7" name="object 21">
            <a:extLst>
              <a:ext uri="{FF2B5EF4-FFF2-40B4-BE49-F238E27FC236}">
                <a16:creationId xmlns:a16="http://schemas.microsoft.com/office/drawing/2014/main" id="{DC4009D7-46F7-2FFF-D9E1-4508B96838C7}"/>
              </a:ext>
            </a:extLst>
          </p:cNvPr>
          <p:cNvSpPr txBox="1"/>
          <p:nvPr/>
        </p:nvSpPr>
        <p:spPr>
          <a:xfrm>
            <a:off x="10514285" y="5139004"/>
            <a:ext cx="1311487" cy="258404"/>
          </a:xfrm>
          <a:prstGeom prst="rect">
            <a:avLst/>
          </a:prstGeom>
        </p:spPr>
        <p:txBody>
          <a:bodyPr vert="horz" wrap="square" lIns="0" tIns="12065" rIns="0" bIns="0" rtlCol="0">
            <a:spAutoFit/>
          </a:bodyPr>
          <a:lstStyle/>
          <a:p>
            <a:pPr marL="12700">
              <a:lnSpc>
                <a:spcPct val="100000"/>
              </a:lnSpc>
              <a:spcBef>
                <a:spcPts val="95"/>
              </a:spcBef>
            </a:pPr>
            <a:r>
              <a:rPr lang="en-IN" sz="1600" spc="-5" dirty="0">
                <a:solidFill>
                  <a:srgbClr val="333333"/>
                </a:solidFill>
                <a:latin typeface="Tahoma"/>
                <a:cs typeface="Tahoma"/>
              </a:rPr>
              <a:t>delayed Ack</a:t>
            </a:r>
            <a:endParaRPr sz="1600" dirty="0">
              <a:latin typeface="Tahoma"/>
              <a:cs typeface="Tahoma"/>
            </a:endParaRPr>
          </a:p>
        </p:txBody>
      </p:sp>
    </p:spTree>
    <p:extLst>
      <p:ext uri="{BB962C8B-B14F-4D97-AF65-F5344CB8AC3E}">
        <p14:creationId xmlns:p14="http://schemas.microsoft.com/office/powerpoint/2010/main" val="25054239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Line 2">
            <a:extLst>
              <a:ext uri="{FF2B5EF4-FFF2-40B4-BE49-F238E27FC236}">
                <a16:creationId xmlns:a16="http://schemas.microsoft.com/office/drawing/2014/main" id="{FAB9C1DA-A203-4E77-935D-3B1C7022D057}"/>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3475" name="Line 3">
            <a:extLst>
              <a:ext uri="{FF2B5EF4-FFF2-40B4-BE49-F238E27FC236}">
                <a16:creationId xmlns:a16="http://schemas.microsoft.com/office/drawing/2014/main" id="{18117D07-6343-4777-854E-75528B3D1F95}"/>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3476" name="Text Box 4">
            <a:extLst>
              <a:ext uri="{FF2B5EF4-FFF2-40B4-BE49-F238E27FC236}">
                <a16:creationId xmlns:a16="http://schemas.microsoft.com/office/drawing/2014/main" id="{5ADA59A6-BD84-49C7-9DE8-9C016C5E5DFB}"/>
              </a:ext>
            </a:extLst>
          </p:cNvPr>
          <p:cNvSpPr txBox="1">
            <a:spLocks noChangeArrowheads="1"/>
          </p:cNvSpPr>
          <p:nvPr/>
        </p:nvSpPr>
        <p:spPr bwMode="auto">
          <a:xfrm>
            <a:off x="1828801" y="381000"/>
            <a:ext cx="5351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11.8  </a:t>
            </a:r>
            <a:r>
              <a:rPr lang="en-US" altLang="en-US" sz="2000" i="1" dirty="0">
                <a:latin typeface="Times New Roman" panose="02020603050405020304" pitchFamily="18" charset="0"/>
              </a:rPr>
              <a:t>Design of Stop-and-Wait Protocol</a:t>
            </a:r>
          </a:p>
        </p:txBody>
      </p:sp>
      <p:sp>
        <p:nvSpPr>
          <p:cNvPr id="873477" name="Line 5">
            <a:extLst>
              <a:ext uri="{FF2B5EF4-FFF2-40B4-BE49-F238E27FC236}">
                <a16:creationId xmlns:a16="http://schemas.microsoft.com/office/drawing/2014/main" id="{A1E0E168-7B68-4C35-BEB4-8DFFC6AF2A16}"/>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73478" name="Picture 6">
            <a:extLst>
              <a:ext uri="{FF2B5EF4-FFF2-40B4-BE49-F238E27FC236}">
                <a16:creationId xmlns:a16="http://schemas.microsoft.com/office/drawing/2014/main" id="{FBE312BC-8E60-4C01-AD5B-873A64F8D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1127126"/>
            <a:ext cx="702945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7044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Text Box 2">
            <a:extLst>
              <a:ext uri="{FF2B5EF4-FFF2-40B4-BE49-F238E27FC236}">
                <a16:creationId xmlns:a16="http://schemas.microsoft.com/office/drawing/2014/main" id="{8641EA02-AB18-4035-9541-270A96392199}"/>
              </a:ext>
            </a:extLst>
          </p:cNvPr>
          <p:cNvSpPr txBox="1">
            <a:spLocks noChangeArrowheads="1"/>
          </p:cNvSpPr>
          <p:nvPr/>
        </p:nvSpPr>
        <p:spPr bwMode="auto">
          <a:xfrm>
            <a:off x="1828800" y="381000"/>
            <a:ext cx="61898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Sender-algorithm for Stop-and-Wait Protocol</a:t>
            </a:r>
          </a:p>
        </p:txBody>
      </p:sp>
      <p:pic>
        <p:nvPicPr>
          <p:cNvPr id="931843" name="Picture 3">
            <a:extLst>
              <a:ext uri="{FF2B5EF4-FFF2-40B4-BE49-F238E27FC236}">
                <a16:creationId xmlns:a16="http://schemas.microsoft.com/office/drawing/2014/main" id="{D54625D6-5031-4F52-B016-6C26C1AE52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0838" y="811214"/>
            <a:ext cx="8894762" cy="528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02715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Text Box 2">
            <a:extLst>
              <a:ext uri="{FF2B5EF4-FFF2-40B4-BE49-F238E27FC236}">
                <a16:creationId xmlns:a16="http://schemas.microsoft.com/office/drawing/2014/main" id="{0E18AE13-E344-4B3C-BC77-63662AE84E11}"/>
              </a:ext>
            </a:extLst>
          </p:cNvPr>
          <p:cNvSpPr txBox="1">
            <a:spLocks noChangeArrowheads="1"/>
          </p:cNvSpPr>
          <p:nvPr/>
        </p:nvSpPr>
        <p:spPr bwMode="auto">
          <a:xfrm>
            <a:off x="1812926" y="304800"/>
            <a:ext cx="65232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Receiver- algorithm for Stop-and-Wait Protocol</a:t>
            </a:r>
          </a:p>
        </p:txBody>
      </p:sp>
      <p:pic>
        <p:nvPicPr>
          <p:cNvPr id="932867" name="Picture 3">
            <a:extLst>
              <a:ext uri="{FF2B5EF4-FFF2-40B4-BE49-F238E27FC236}">
                <a16:creationId xmlns:a16="http://schemas.microsoft.com/office/drawing/2014/main" id="{CC2EEDF5-9CAD-4BBD-A1E9-5BA4D2A98C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7338" y="725488"/>
            <a:ext cx="8958262" cy="323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42904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a:grpSpLocks/>
          </p:cNvGrpSpPr>
          <p:nvPr/>
        </p:nvGrpSpPr>
        <p:grpSpPr bwMode="auto">
          <a:xfrm>
            <a:off x="488951" y="107951"/>
            <a:ext cx="584200" cy="474663"/>
            <a:chOff x="0" y="0"/>
            <a:chExt cx="276" cy="299"/>
          </a:xfrm>
        </p:grpSpPr>
        <p:sp>
          <p:nvSpPr>
            <p:cNvPr id="514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3" name="Group 5"/>
          <p:cNvGrpSpPr>
            <a:grpSpLocks/>
          </p:cNvGrpSpPr>
          <p:nvPr/>
        </p:nvGrpSpPr>
        <p:grpSpPr bwMode="auto">
          <a:xfrm>
            <a:off x="999067" y="107951"/>
            <a:ext cx="438151" cy="474663"/>
            <a:chOff x="0" y="0"/>
            <a:chExt cx="207" cy="299"/>
          </a:xfrm>
        </p:grpSpPr>
        <p:sp>
          <p:nvSpPr>
            <p:cNvPr id="514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4" name="Group 8"/>
          <p:cNvGrpSpPr>
            <a:grpSpLocks/>
          </p:cNvGrpSpPr>
          <p:nvPr/>
        </p:nvGrpSpPr>
        <p:grpSpPr bwMode="auto">
          <a:xfrm>
            <a:off x="654052" y="530226"/>
            <a:ext cx="563033" cy="474663"/>
            <a:chOff x="0" y="0"/>
            <a:chExt cx="266" cy="299"/>
          </a:xfrm>
        </p:grpSpPr>
        <p:sp>
          <p:nvSpPr>
            <p:cNvPr id="514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5" name="Group 11"/>
          <p:cNvGrpSpPr>
            <a:grpSpLocks/>
          </p:cNvGrpSpPr>
          <p:nvPr/>
        </p:nvGrpSpPr>
        <p:grpSpPr bwMode="auto">
          <a:xfrm>
            <a:off x="1147233" y="530226"/>
            <a:ext cx="491067" cy="474663"/>
            <a:chOff x="0" y="0"/>
            <a:chExt cx="232" cy="299"/>
          </a:xfrm>
        </p:grpSpPr>
        <p:sp>
          <p:nvSpPr>
            <p:cNvPr id="513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6" name="Group 14"/>
          <p:cNvGrpSpPr>
            <a:grpSpLocks/>
          </p:cNvGrpSpPr>
          <p:nvPr/>
        </p:nvGrpSpPr>
        <p:grpSpPr bwMode="auto">
          <a:xfrm>
            <a:off x="99485" y="457201"/>
            <a:ext cx="749300" cy="422275"/>
            <a:chOff x="0" y="0"/>
            <a:chExt cx="353" cy="266"/>
          </a:xfrm>
        </p:grpSpPr>
        <p:sp>
          <p:nvSpPr>
            <p:cNvPr id="513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7" name="Group 17"/>
          <p:cNvGrpSpPr>
            <a:grpSpLocks/>
          </p:cNvGrpSpPr>
          <p:nvPr/>
        </p:nvGrpSpPr>
        <p:grpSpPr bwMode="auto">
          <a:xfrm>
            <a:off x="948267" y="1"/>
            <a:ext cx="42333" cy="1052513"/>
            <a:chOff x="0" y="0"/>
            <a:chExt cx="20" cy="663"/>
          </a:xfrm>
        </p:grpSpPr>
        <p:sp>
          <p:nvSpPr>
            <p:cNvPr id="513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8" name="Group 20"/>
          <p:cNvGrpSpPr>
            <a:grpSpLocks/>
          </p:cNvGrpSpPr>
          <p:nvPr/>
        </p:nvGrpSpPr>
        <p:grpSpPr bwMode="auto">
          <a:xfrm>
            <a:off x="590551" y="533400"/>
            <a:ext cx="10968567" cy="276225"/>
            <a:chOff x="0" y="0"/>
            <a:chExt cx="5182" cy="174"/>
          </a:xfrm>
        </p:grpSpPr>
        <p:sp>
          <p:nvSpPr>
            <p:cNvPr id="513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6" name="Title 1"/>
          <p:cNvSpPr>
            <a:spLocks noGrp="1"/>
          </p:cNvSpPr>
          <p:nvPr>
            <p:ph type="title"/>
          </p:nvPr>
        </p:nvSpPr>
        <p:spPr>
          <a:xfrm>
            <a:off x="1017334" y="106372"/>
            <a:ext cx="11174666" cy="701657"/>
          </a:xfrm>
          <a:solidFill>
            <a:srgbClr val="FFFF00"/>
          </a:solidFill>
        </p:spPr>
        <p:txBody>
          <a:bodyPr>
            <a:normAutofit fontScale="90000"/>
          </a:bodyPr>
          <a:lstStyle/>
          <a:p>
            <a:r>
              <a:rPr lang="en-US" dirty="0"/>
              <a:t>Data Link Layer Protocol - </a:t>
            </a:r>
            <a:r>
              <a:rPr lang="en-IN" dirty="0"/>
              <a:t>Stop and Wait ARQ Protocol</a:t>
            </a:r>
          </a:p>
        </p:txBody>
      </p:sp>
      <p:sp>
        <p:nvSpPr>
          <p:cNvPr id="2" name="object 4">
            <a:extLst>
              <a:ext uri="{FF2B5EF4-FFF2-40B4-BE49-F238E27FC236}">
                <a16:creationId xmlns:a16="http://schemas.microsoft.com/office/drawing/2014/main" id="{09EED741-BFA7-9D51-1A93-C1DDC406A0D8}"/>
              </a:ext>
            </a:extLst>
          </p:cNvPr>
          <p:cNvSpPr txBox="1"/>
          <p:nvPr/>
        </p:nvSpPr>
        <p:spPr>
          <a:xfrm>
            <a:off x="823379" y="1334052"/>
            <a:ext cx="10693407" cy="3810659"/>
          </a:xfrm>
          <a:prstGeom prst="rect">
            <a:avLst/>
          </a:prstGeom>
        </p:spPr>
        <p:txBody>
          <a:bodyPr vert="horz" wrap="square" lIns="0" tIns="93345" rIns="0" bIns="0" rtlCol="0">
            <a:spAutoFit/>
          </a:bodyPr>
          <a:lstStyle/>
          <a:p>
            <a:pPr marL="354965" indent="-342900">
              <a:lnSpc>
                <a:spcPct val="100000"/>
              </a:lnSpc>
              <a:spcBef>
                <a:spcPts val="735"/>
              </a:spcBef>
              <a:buClr>
                <a:srgbClr val="0000FF"/>
              </a:buClr>
              <a:buFont typeface="Wingdings" panose="05000000000000000000" pitchFamily="2" charset="2"/>
              <a:buChar char="v"/>
              <a:tabLst>
                <a:tab pos="194310" algn="l"/>
              </a:tabLst>
            </a:pPr>
            <a:r>
              <a:rPr lang="en-IN" sz="2800" spc="-5" dirty="0">
                <a:latin typeface="Tahoma"/>
                <a:cs typeface="Tahoma"/>
              </a:rPr>
              <a:t>In stop-and-wait protocol, after transmitting one frame, the sender waits for an acknowledgement before transmitting the next frame</a:t>
            </a:r>
          </a:p>
          <a:p>
            <a:pPr marL="354965" indent="-342900">
              <a:lnSpc>
                <a:spcPct val="100000"/>
              </a:lnSpc>
              <a:spcBef>
                <a:spcPts val="735"/>
              </a:spcBef>
              <a:buClr>
                <a:srgbClr val="0000FF"/>
              </a:buClr>
              <a:buFont typeface="Wingdings" panose="05000000000000000000" pitchFamily="2" charset="2"/>
              <a:buChar char="v"/>
              <a:tabLst>
                <a:tab pos="194310" algn="l"/>
              </a:tabLst>
            </a:pPr>
            <a:r>
              <a:rPr lang="en-IN" sz="2800" dirty="0">
                <a:latin typeface="Tahoma"/>
                <a:cs typeface="Tahoma"/>
              </a:rPr>
              <a:t>If the acknowledgement does not arrive after a certain period of time, the sender times out and retransmits the original frame</a:t>
            </a:r>
          </a:p>
          <a:p>
            <a:pPr marL="354965" indent="-342900">
              <a:lnSpc>
                <a:spcPct val="100000"/>
              </a:lnSpc>
              <a:spcBef>
                <a:spcPts val="735"/>
              </a:spcBef>
              <a:buClr>
                <a:srgbClr val="0000FF"/>
              </a:buClr>
              <a:buFont typeface="Wingdings" panose="05000000000000000000" pitchFamily="2" charset="2"/>
              <a:buChar char="v"/>
              <a:tabLst>
                <a:tab pos="194310" algn="l"/>
              </a:tabLst>
            </a:pPr>
            <a:endParaRPr lang="en-IN" sz="2800" dirty="0">
              <a:latin typeface="Tahoma"/>
              <a:cs typeface="Tahoma"/>
            </a:endParaRPr>
          </a:p>
          <a:p>
            <a:pPr marL="354965" indent="-342900">
              <a:spcBef>
                <a:spcPts val="735"/>
              </a:spcBef>
              <a:buClr>
                <a:srgbClr val="0000FF"/>
              </a:buClr>
              <a:buFont typeface="Wingdings" panose="05000000000000000000" pitchFamily="2" charset="2"/>
              <a:buChar char="v"/>
              <a:tabLst>
                <a:tab pos="194310" algn="l"/>
              </a:tabLst>
            </a:pPr>
            <a:r>
              <a:rPr lang="en-IN" sz="2800" dirty="0">
                <a:latin typeface="Tahoma"/>
                <a:cs typeface="Tahoma"/>
              </a:rPr>
              <a:t>Stop-and-wait ARQ protocol = stop-and-wait protocol + timeout timer+ sequence number</a:t>
            </a:r>
            <a:endParaRPr sz="2800" dirty="0">
              <a:latin typeface="Tahoma"/>
              <a:cs typeface="Tahoma"/>
            </a:endParaRPr>
          </a:p>
        </p:txBody>
      </p:sp>
    </p:spTree>
    <p:extLst>
      <p:ext uri="{BB962C8B-B14F-4D97-AF65-F5344CB8AC3E}">
        <p14:creationId xmlns:p14="http://schemas.microsoft.com/office/powerpoint/2010/main" val="2172743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a:grpSpLocks/>
          </p:cNvGrpSpPr>
          <p:nvPr/>
        </p:nvGrpSpPr>
        <p:grpSpPr bwMode="auto">
          <a:xfrm>
            <a:off x="488951" y="107951"/>
            <a:ext cx="584200" cy="474663"/>
            <a:chOff x="0" y="0"/>
            <a:chExt cx="276" cy="299"/>
          </a:xfrm>
        </p:grpSpPr>
        <p:sp>
          <p:nvSpPr>
            <p:cNvPr id="514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3" name="Group 5"/>
          <p:cNvGrpSpPr>
            <a:grpSpLocks/>
          </p:cNvGrpSpPr>
          <p:nvPr/>
        </p:nvGrpSpPr>
        <p:grpSpPr bwMode="auto">
          <a:xfrm>
            <a:off x="999067" y="107951"/>
            <a:ext cx="438151" cy="474663"/>
            <a:chOff x="0" y="0"/>
            <a:chExt cx="207" cy="299"/>
          </a:xfrm>
        </p:grpSpPr>
        <p:sp>
          <p:nvSpPr>
            <p:cNvPr id="514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4" name="Group 8"/>
          <p:cNvGrpSpPr>
            <a:grpSpLocks/>
          </p:cNvGrpSpPr>
          <p:nvPr/>
        </p:nvGrpSpPr>
        <p:grpSpPr bwMode="auto">
          <a:xfrm>
            <a:off x="654052" y="530226"/>
            <a:ext cx="563033" cy="474663"/>
            <a:chOff x="0" y="0"/>
            <a:chExt cx="266" cy="299"/>
          </a:xfrm>
        </p:grpSpPr>
        <p:sp>
          <p:nvSpPr>
            <p:cNvPr id="514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5" name="Group 11"/>
          <p:cNvGrpSpPr>
            <a:grpSpLocks/>
          </p:cNvGrpSpPr>
          <p:nvPr/>
        </p:nvGrpSpPr>
        <p:grpSpPr bwMode="auto">
          <a:xfrm>
            <a:off x="1147233" y="530226"/>
            <a:ext cx="491067" cy="474663"/>
            <a:chOff x="0" y="0"/>
            <a:chExt cx="232" cy="299"/>
          </a:xfrm>
        </p:grpSpPr>
        <p:sp>
          <p:nvSpPr>
            <p:cNvPr id="513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6" name="Group 14"/>
          <p:cNvGrpSpPr>
            <a:grpSpLocks/>
          </p:cNvGrpSpPr>
          <p:nvPr/>
        </p:nvGrpSpPr>
        <p:grpSpPr bwMode="auto">
          <a:xfrm>
            <a:off x="99485" y="457201"/>
            <a:ext cx="749300" cy="422275"/>
            <a:chOff x="0" y="0"/>
            <a:chExt cx="353" cy="266"/>
          </a:xfrm>
        </p:grpSpPr>
        <p:sp>
          <p:nvSpPr>
            <p:cNvPr id="513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7" name="Group 17"/>
          <p:cNvGrpSpPr>
            <a:grpSpLocks/>
          </p:cNvGrpSpPr>
          <p:nvPr/>
        </p:nvGrpSpPr>
        <p:grpSpPr bwMode="auto">
          <a:xfrm>
            <a:off x="948267" y="1"/>
            <a:ext cx="42333" cy="1052513"/>
            <a:chOff x="0" y="0"/>
            <a:chExt cx="20" cy="663"/>
          </a:xfrm>
        </p:grpSpPr>
        <p:sp>
          <p:nvSpPr>
            <p:cNvPr id="513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8" name="Group 20"/>
          <p:cNvGrpSpPr>
            <a:grpSpLocks/>
          </p:cNvGrpSpPr>
          <p:nvPr/>
        </p:nvGrpSpPr>
        <p:grpSpPr bwMode="auto">
          <a:xfrm>
            <a:off x="590551" y="533400"/>
            <a:ext cx="10968567" cy="276225"/>
            <a:chOff x="0" y="0"/>
            <a:chExt cx="5182" cy="174"/>
          </a:xfrm>
        </p:grpSpPr>
        <p:sp>
          <p:nvSpPr>
            <p:cNvPr id="513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6" name="Title 1"/>
          <p:cNvSpPr>
            <a:spLocks noGrp="1"/>
          </p:cNvSpPr>
          <p:nvPr>
            <p:ph type="title"/>
          </p:nvPr>
        </p:nvSpPr>
        <p:spPr>
          <a:xfrm>
            <a:off x="1017334" y="94008"/>
            <a:ext cx="11174666" cy="701657"/>
          </a:xfrm>
          <a:solidFill>
            <a:srgbClr val="FFFF00"/>
          </a:solidFill>
        </p:spPr>
        <p:txBody>
          <a:bodyPr>
            <a:normAutofit fontScale="90000"/>
          </a:bodyPr>
          <a:lstStyle/>
          <a:p>
            <a:r>
              <a:rPr lang="en-US" dirty="0"/>
              <a:t>Data Link Layer Protocol - </a:t>
            </a:r>
            <a:r>
              <a:rPr lang="en-IN" dirty="0"/>
              <a:t>Stop and Wait ARQ Protocol</a:t>
            </a:r>
          </a:p>
        </p:txBody>
      </p:sp>
      <p:pic>
        <p:nvPicPr>
          <p:cNvPr id="4" name="Picture 3">
            <a:extLst>
              <a:ext uri="{FF2B5EF4-FFF2-40B4-BE49-F238E27FC236}">
                <a16:creationId xmlns:a16="http://schemas.microsoft.com/office/drawing/2014/main" id="{1B112602-0009-F5AC-7F8A-D1427B7A3330}"/>
              </a:ext>
            </a:extLst>
          </p:cNvPr>
          <p:cNvPicPr>
            <a:picLocks noChangeAspect="1"/>
          </p:cNvPicPr>
          <p:nvPr/>
        </p:nvPicPr>
        <p:blipFill>
          <a:blip r:embed="rId2"/>
          <a:stretch>
            <a:fillRect/>
          </a:stretch>
        </p:blipFill>
        <p:spPr>
          <a:xfrm>
            <a:off x="948267" y="1653465"/>
            <a:ext cx="3960793" cy="3118951"/>
          </a:xfrm>
          <a:prstGeom prst="rect">
            <a:avLst/>
          </a:prstGeom>
        </p:spPr>
      </p:pic>
      <p:sp>
        <p:nvSpPr>
          <p:cNvPr id="5" name="TextBox 4">
            <a:extLst>
              <a:ext uri="{FF2B5EF4-FFF2-40B4-BE49-F238E27FC236}">
                <a16:creationId xmlns:a16="http://schemas.microsoft.com/office/drawing/2014/main" id="{81DFA61B-33BE-88EB-84C5-F028E1F10342}"/>
              </a:ext>
            </a:extLst>
          </p:cNvPr>
          <p:cNvSpPr txBox="1"/>
          <p:nvPr/>
        </p:nvSpPr>
        <p:spPr>
          <a:xfrm>
            <a:off x="1184135" y="4896313"/>
            <a:ext cx="3724925"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The Ack is received before the timer expires</a:t>
            </a:r>
          </a:p>
        </p:txBody>
      </p:sp>
      <p:sp>
        <p:nvSpPr>
          <p:cNvPr id="8" name="TextBox 7">
            <a:extLst>
              <a:ext uri="{FF2B5EF4-FFF2-40B4-BE49-F238E27FC236}">
                <a16:creationId xmlns:a16="http://schemas.microsoft.com/office/drawing/2014/main" id="{616918D9-4BD7-9492-9D7C-F90FDBCF5619}"/>
              </a:ext>
            </a:extLst>
          </p:cNvPr>
          <p:cNvSpPr txBox="1"/>
          <p:nvPr/>
        </p:nvSpPr>
        <p:spPr>
          <a:xfrm>
            <a:off x="7419513" y="5111756"/>
            <a:ext cx="3999298"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The original frame is lost</a:t>
            </a:r>
          </a:p>
        </p:txBody>
      </p:sp>
      <p:pic>
        <p:nvPicPr>
          <p:cNvPr id="10" name="Picture 9">
            <a:extLst>
              <a:ext uri="{FF2B5EF4-FFF2-40B4-BE49-F238E27FC236}">
                <a16:creationId xmlns:a16="http://schemas.microsoft.com/office/drawing/2014/main" id="{73F77386-E853-24AB-EC4A-ADB9B0DFA4CD}"/>
              </a:ext>
            </a:extLst>
          </p:cNvPr>
          <p:cNvPicPr>
            <a:picLocks noChangeAspect="1"/>
          </p:cNvPicPr>
          <p:nvPr/>
        </p:nvPicPr>
        <p:blipFill>
          <a:blip r:embed="rId3"/>
          <a:stretch>
            <a:fillRect/>
          </a:stretch>
        </p:blipFill>
        <p:spPr>
          <a:xfrm>
            <a:off x="7718568" y="1653465"/>
            <a:ext cx="3401189" cy="3426476"/>
          </a:xfrm>
          <a:prstGeom prst="rect">
            <a:avLst/>
          </a:prstGeom>
        </p:spPr>
      </p:pic>
    </p:spTree>
    <p:extLst>
      <p:ext uri="{BB962C8B-B14F-4D97-AF65-F5344CB8AC3E}">
        <p14:creationId xmlns:p14="http://schemas.microsoft.com/office/powerpoint/2010/main" val="37331700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a:grpSpLocks/>
          </p:cNvGrpSpPr>
          <p:nvPr/>
        </p:nvGrpSpPr>
        <p:grpSpPr bwMode="auto">
          <a:xfrm>
            <a:off x="488951" y="107951"/>
            <a:ext cx="584200" cy="474663"/>
            <a:chOff x="0" y="0"/>
            <a:chExt cx="276" cy="299"/>
          </a:xfrm>
        </p:grpSpPr>
        <p:sp>
          <p:nvSpPr>
            <p:cNvPr id="514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3" name="Group 5"/>
          <p:cNvGrpSpPr>
            <a:grpSpLocks/>
          </p:cNvGrpSpPr>
          <p:nvPr/>
        </p:nvGrpSpPr>
        <p:grpSpPr bwMode="auto">
          <a:xfrm>
            <a:off x="999067" y="107951"/>
            <a:ext cx="438151" cy="474663"/>
            <a:chOff x="0" y="0"/>
            <a:chExt cx="207" cy="299"/>
          </a:xfrm>
        </p:grpSpPr>
        <p:sp>
          <p:nvSpPr>
            <p:cNvPr id="514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4" name="Group 8"/>
          <p:cNvGrpSpPr>
            <a:grpSpLocks/>
          </p:cNvGrpSpPr>
          <p:nvPr/>
        </p:nvGrpSpPr>
        <p:grpSpPr bwMode="auto">
          <a:xfrm>
            <a:off x="654052" y="530226"/>
            <a:ext cx="563033" cy="474663"/>
            <a:chOff x="0" y="0"/>
            <a:chExt cx="266" cy="299"/>
          </a:xfrm>
        </p:grpSpPr>
        <p:sp>
          <p:nvSpPr>
            <p:cNvPr id="514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5" name="Group 11"/>
          <p:cNvGrpSpPr>
            <a:grpSpLocks/>
          </p:cNvGrpSpPr>
          <p:nvPr/>
        </p:nvGrpSpPr>
        <p:grpSpPr bwMode="auto">
          <a:xfrm>
            <a:off x="1147233" y="530226"/>
            <a:ext cx="491067" cy="474663"/>
            <a:chOff x="0" y="0"/>
            <a:chExt cx="232" cy="299"/>
          </a:xfrm>
        </p:grpSpPr>
        <p:sp>
          <p:nvSpPr>
            <p:cNvPr id="513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6" name="Group 14"/>
          <p:cNvGrpSpPr>
            <a:grpSpLocks/>
          </p:cNvGrpSpPr>
          <p:nvPr/>
        </p:nvGrpSpPr>
        <p:grpSpPr bwMode="auto">
          <a:xfrm>
            <a:off x="99485" y="457201"/>
            <a:ext cx="749300" cy="422275"/>
            <a:chOff x="0" y="0"/>
            <a:chExt cx="353" cy="266"/>
          </a:xfrm>
        </p:grpSpPr>
        <p:sp>
          <p:nvSpPr>
            <p:cNvPr id="513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7" name="Group 17"/>
          <p:cNvGrpSpPr>
            <a:grpSpLocks/>
          </p:cNvGrpSpPr>
          <p:nvPr/>
        </p:nvGrpSpPr>
        <p:grpSpPr bwMode="auto">
          <a:xfrm>
            <a:off x="948267" y="1"/>
            <a:ext cx="42333" cy="1052513"/>
            <a:chOff x="0" y="0"/>
            <a:chExt cx="20" cy="663"/>
          </a:xfrm>
        </p:grpSpPr>
        <p:sp>
          <p:nvSpPr>
            <p:cNvPr id="513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8" name="Group 20"/>
          <p:cNvGrpSpPr>
            <a:grpSpLocks/>
          </p:cNvGrpSpPr>
          <p:nvPr/>
        </p:nvGrpSpPr>
        <p:grpSpPr bwMode="auto">
          <a:xfrm>
            <a:off x="590551" y="533400"/>
            <a:ext cx="10968567" cy="276225"/>
            <a:chOff x="0" y="0"/>
            <a:chExt cx="5182" cy="174"/>
          </a:xfrm>
        </p:grpSpPr>
        <p:sp>
          <p:nvSpPr>
            <p:cNvPr id="513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6" name="Title 1"/>
          <p:cNvSpPr>
            <a:spLocks noGrp="1"/>
          </p:cNvSpPr>
          <p:nvPr>
            <p:ph type="title"/>
          </p:nvPr>
        </p:nvSpPr>
        <p:spPr>
          <a:xfrm>
            <a:off x="1007535" y="138113"/>
            <a:ext cx="11174666" cy="701657"/>
          </a:xfrm>
          <a:solidFill>
            <a:srgbClr val="FFFF00"/>
          </a:solidFill>
        </p:spPr>
        <p:txBody>
          <a:bodyPr>
            <a:normAutofit fontScale="90000"/>
          </a:bodyPr>
          <a:lstStyle/>
          <a:p>
            <a:r>
              <a:rPr lang="en-US" dirty="0"/>
              <a:t>Data Link Layer Protocol - </a:t>
            </a:r>
            <a:r>
              <a:rPr lang="en-IN" dirty="0"/>
              <a:t>Stop and Wait ARQ Protocol</a:t>
            </a:r>
          </a:p>
        </p:txBody>
      </p:sp>
      <p:sp>
        <p:nvSpPr>
          <p:cNvPr id="5" name="TextBox 4">
            <a:extLst>
              <a:ext uri="{FF2B5EF4-FFF2-40B4-BE49-F238E27FC236}">
                <a16:creationId xmlns:a16="http://schemas.microsoft.com/office/drawing/2014/main" id="{81DFA61B-33BE-88EB-84C5-F028E1F10342}"/>
              </a:ext>
            </a:extLst>
          </p:cNvPr>
          <p:cNvSpPr txBox="1"/>
          <p:nvPr/>
        </p:nvSpPr>
        <p:spPr>
          <a:xfrm>
            <a:off x="1719631" y="4964181"/>
            <a:ext cx="288253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The Ack is lost</a:t>
            </a:r>
          </a:p>
        </p:txBody>
      </p:sp>
      <p:pic>
        <p:nvPicPr>
          <p:cNvPr id="7" name="Picture 6">
            <a:extLst>
              <a:ext uri="{FF2B5EF4-FFF2-40B4-BE49-F238E27FC236}">
                <a16:creationId xmlns:a16="http://schemas.microsoft.com/office/drawing/2014/main" id="{5930E7DB-C12D-702C-33B0-8F936655DB19}"/>
              </a:ext>
            </a:extLst>
          </p:cNvPr>
          <p:cNvPicPr>
            <a:picLocks noChangeAspect="1"/>
          </p:cNvPicPr>
          <p:nvPr/>
        </p:nvPicPr>
        <p:blipFill>
          <a:blip r:embed="rId2"/>
          <a:stretch>
            <a:fillRect/>
          </a:stretch>
        </p:blipFill>
        <p:spPr>
          <a:xfrm>
            <a:off x="1276470" y="1231883"/>
            <a:ext cx="3768855" cy="3636909"/>
          </a:xfrm>
          <a:prstGeom prst="rect">
            <a:avLst/>
          </a:prstGeom>
        </p:spPr>
      </p:pic>
      <p:sp>
        <p:nvSpPr>
          <p:cNvPr id="8" name="TextBox 7">
            <a:extLst>
              <a:ext uri="{FF2B5EF4-FFF2-40B4-BE49-F238E27FC236}">
                <a16:creationId xmlns:a16="http://schemas.microsoft.com/office/drawing/2014/main" id="{616918D9-4BD7-9492-9D7C-F90FDBCF5619}"/>
              </a:ext>
            </a:extLst>
          </p:cNvPr>
          <p:cNvSpPr txBox="1"/>
          <p:nvPr/>
        </p:nvSpPr>
        <p:spPr>
          <a:xfrm>
            <a:off x="7595771" y="5040077"/>
            <a:ext cx="396546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The timeout fires too soon</a:t>
            </a:r>
          </a:p>
        </p:txBody>
      </p:sp>
      <p:pic>
        <p:nvPicPr>
          <p:cNvPr id="3" name="Picture 2">
            <a:extLst>
              <a:ext uri="{FF2B5EF4-FFF2-40B4-BE49-F238E27FC236}">
                <a16:creationId xmlns:a16="http://schemas.microsoft.com/office/drawing/2014/main" id="{B8FC01C2-4B21-CF76-C8B8-1C3D8927FACD}"/>
              </a:ext>
            </a:extLst>
          </p:cNvPr>
          <p:cNvPicPr>
            <a:picLocks noChangeAspect="1"/>
          </p:cNvPicPr>
          <p:nvPr/>
        </p:nvPicPr>
        <p:blipFill>
          <a:blip r:embed="rId3"/>
          <a:stretch>
            <a:fillRect/>
          </a:stretch>
        </p:blipFill>
        <p:spPr>
          <a:xfrm>
            <a:off x="7825662" y="1297528"/>
            <a:ext cx="3277766" cy="3666653"/>
          </a:xfrm>
          <a:prstGeom prst="rect">
            <a:avLst/>
          </a:prstGeom>
        </p:spPr>
      </p:pic>
    </p:spTree>
    <p:extLst>
      <p:ext uri="{BB962C8B-B14F-4D97-AF65-F5344CB8AC3E}">
        <p14:creationId xmlns:p14="http://schemas.microsoft.com/office/powerpoint/2010/main" val="33897557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a:grpSpLocks/>
          </p:cNvGrpSpPr>
          <p:nvPr/>
        </p:nvGrpSpPr>
        <p:grpSpPr bwMode="auto">
          <a:xfrm>
            <a:off x="488951" y="107951"/>
            <a:ext cx="584200" cy="474663"/>
            <a:chOff x="0" y="0"/>
            <a:chExt cx="276" cy="299"/>
          </a:xfrm>
        </p:grpSpPr>
        <p:sp>
          <p:nvSpPr>
            <p:cNvPr id="6167"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8"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7" name="Group 5"/>
          <p:cNvGrpSpPr>
            <a:grpSpLocks/>
          </p:cNvGrpSpPr>
          <p:nvPr/>
        </p:nvGrpSpPr>
        <p:grpSpPr bwMode="auto">
          <a:xfrm>
            <a:off x="999067" y="107951"/>
            <a:ext cx="438151" cy="474663"/>
            <a:chOff x="0" y="0"/>
            <a:chExt cx="207" cy="299"/>
          </a:xfrm>
        </p:grpSpPr>
        <p:sp>
          <p:nvSpPr>
            <p:cNvPr id="6165"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6"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8" name="Group 8"/>
          <p:cNvGrpSpPr>
            <a:grpSpLocks/>
          </p:cNvGrpSpPr>
          <p:nvPr/>
        </p:nvGrpSpPr>
        <p:grpSpPr bwMode="auto">
          <a:xfrm>
            <a:off x="654052" y="530226"/>
            <a:ext cx="563033" cy="474663"/>
            <a:chOff x="0" y="0"/>
            <a:chExt cx="266" cy="299"/>
          </a:xfrm>
        </p:grpSpPr>
        <p:sp>
          <p:nvSpPr>
            <p:cNvPr id="6163"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4"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9" name="Group 11"/>
          <p:cNvGrpSpPr>
            <a:grpSpLocks/>
          </p:cNvGrpSpPr>
          <p:nvPr/>
        </p:nvGrpSpPr>
        <p:grpSpPr bwMode="auto">
          <a:xfrm>
            <a:off x="1147233" y="530226"/>
            <a:ext cx="491067" cy="474663"/>
            <a:chOff x="0" y="0"/>
            <a:chExt cx="232" cy="299"/>
          </a:xfrm>
        </p:grpSpPr>
        <p:sp>
          <p:nvSpPr>
            <p:cNvPr id="6161"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2"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0" name="Group 14"/>
          <p:cNvGrpSpPr>
            <a:grpSpLocks/>
          </p:cNvGrpSpPr>
          <p:nvPr/>
        </p:nvGrpSpPr>
        <p:grpSpPr bwMode="auto">
          <a:xfrm>
            <a:off x="31751" y="533401"/>
            <a:ext cx="749300" cy="422275"/>
            <a:chOff x="0" y="0"/>
            <a:chExt cx="353" cy="266"/>
          </a:xfrm>
        </p:grpSpPr>
        <p:sp>
          <p:nvSpPr>
            <p:cNvPr id="6159"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0"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1" name="Group 17"/>
          <p:cNvGrpSpPr>
            <a:grpSpLocks/>
          </p:cNvGrpSpPr>
          <p:nvPr/>
        </p:nvGrpSpPr>
        <p:grpSpPr bwMode="auto">
          <a:xfrm>
            <a:off x="948267" y="1"/>
            <a:ext cx="42333" cy="1052513"/>
            <a:chOff x="0" y="0"/>
            <a:chExt cx="20" cy="663"/>
          </a:xfrm>
        </p:grpSpPr>
        <p:sp>
          <p:nvSpPr>
            <p:cNvPr id="6157"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58"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2" name="Group 20"/>
          <p:cNvGrpSpPr>
            <a:grpSpLocks/>
          </p:cNvGrpSpPr>
          <p:nvPr/>
        </p:nvGrpSpPr>
        <p:grpSpPr bwMode="auto">
          <a:xfrm>
            <a:off x="590551" y="533400"/>
            <a:ext cx="10968567" cy="276225"/>
            <a:chOff x="0" y="0"/>
            <a:chExt cx="5182" cy="174"/>
          </a:xfrm>
        </p:grpSpPr>
        <p:sp>
          <p:nvSpPr>
            <p:cNvPr id="6155"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56"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6153" name="Rectangle 1"/>
          <p:cNvSpPr>
            <a:spLocks noChangeArrowheads="1"/>
          </p:cNvSpPr>
          <p:nvPr/>
        </p:nvSpPr>
        <p:spPr bwMode="auto">
          <a:xfrm>
            <a:off x="2438401" y="166688"/>
            <a:ext cx="11272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b="1"/>
              <a:t>Pipelining</a:t>
            </a:r>
            <a:endParaRPr lang="ar-SA" altLang="ar-SA"/>
          </a:p>
        </p:txBody>
      </p:sp>
      <p:sp>
        <p:nvSpPr>
          <p:cNvPr id="4" name="Rectangle 3"/>
          <p:cNvSpPr/>
          <p:nvPr/>
        </p:nvSpPr>
        <p:spPr>
          <a:xfrm>
            <a:off x="654051" y="1720850"/>
            <a:ext cx="10725149" cy="2677656"/>
          </a:xfrm>
          <a:prstGeom prst="rect">
            <a:avLst/>
          </a:prstGeom>
        </p:spPr>
        <p:txBody>
          <a:bodyPr>
            <a:spAutoFit/>
          </a:bodyPr>
          <a:lstStyle/>
          <a:p>
            <a:pPr>
              <a:defRPr/>
            </a:pPr>
            <a:r>
              <a:rPr lang="en-US" sz="2800" i="1" dirty="0">
                <a:solidFill>
                  <a:srgbClr val="7E0000"/>
                </a:solidFill>
              </a:rPr>
              <a:t>Pipelining</a:t>
            </a:r>
            <a:r>
              <a:rPr lang="en-US" sz="2800" i="1" dirty="0"/>
              <a:t>: A task is begun before the previous task has ended</a:t>
            </a:r>
          </a:p>
          <a:p>
            <a:pPr>
              <a:defRPr/>
            </a:pPr>
            <a:endParaRPr lang="en-US" sz="2800" i="1" dirty="0"/>
          </a:p>
          <a:p>
            <a:pPr marL="457200" indent="-457200">
              <a:buFont typeface="Wingdings" panose="05000000000000000000" pitchFamily="2" charset="2"/>
              <a:buChar char="v"/>
              <a:defRPr/>
            </a:pPr>
            <a:r>
              <a:rPr lang="en-US" sz="2800" i="1" dirty="0">
                <a:solidFill>
                  <a:srgbClr val="002060"/>
                </a:solidFill>
              </a:rPr>
              <a:t>There is no pipelining in stop and wait ARQ </a:t>
            </a:r>
            <a:r>
              <a:rPr lang="en-US" sz="2800" i="1" dirty="0"/>
              <a:t>because we need to wait for a frame to reach the destination and be acknowledged before the next frame can be sent</a:t>
            </a:r>
          </a:p>
          <a:p>
            <a:pPr marL="457200" indent="-457200">
              <a:buFont typeface="Wingdings" panose="05000000000000000000" pitchFamily="2" charset="2"/>
              <a:buChar char="v"/>
              <a:defRPr/>
            </a:pPr>
            <a:r>
              <a:rPr lang="en-US" sz="2800" i="1" dirty="0"/>
              <a:t>Pipelining improves the efficiency of the transmission</a:t>
            </a:r>
          </a:p>
        </p:txBody>
      </p:sp>
    </p:spTree>
    <p:extLst>
      <p:ext uri="{BB962C8B-B14F-4D97-AF65-F5344CB8AC3E}">
        <p14:creationId xmlns:p14="http://schemas.microsoft.com/office/powerpoint/2010/main" val="343876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2"/>
          <p:cNvGrpSpPr>
            <a:grpSpLocks/>
          </p:cNvGrpSpPr>
          <p:nvPr/>
        </p:nvGrpSpPr>
        <p:grpSpPr bwMode="auto">
          <a:xfrm>
            <a:off x="488951" y="107951"/>
            <a:ext cx="584200" cy="474663"/>
            <a:chOff x="0" y="0"/>
            <a:chExt cx="276" cy="299"/>
          </a:xfrm>
        </p:grpSpPr>
        <p:sp>
          <p:nvSpPr>
            <p:cNvPr id="7191"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92"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1" name="Group 5"/>
          <p:cNvGrpSpPr>
            <a:grpSpLocks/>
          </p:cNvGrpSpPr>
          <p:nvPr/>
        </p:nvGrpSpPr>
        <p:grpSpPr bwMode="auto">
          <a:xfrm>
            <a:off x="999067" y="107951"/>
            <a:ext cx="438151" cy="474663"/>
            <a:chOff x="0" y="0"/>
            <a:chExt cx="207" cy="299"/>
          </a:xfrm>
        </p:grpSpPr>
        <p:sp>
          <p:nvSpPr>
            <p:cNvPr id="7189"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90"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2" name="Group 8"/>
          <p:cNvGrpSpPr>
            <a:grpSpLocks/>
          </p:cNvGrpSpPr>
          <p:nvPr/>
        </p:nvGrpSpPr>
        <p:grpSpPr bwMode="auto">
          <a:xfrm>
            <a:off x="654052" y="530226"/>
            <a:ext cx="563033" cy="474663"/>
            <a:chOff x="0" y="0"/>
            <a:chExt cx="266" cy="299"/>
          </a:xfrm>
        </p:grpSpPr>
        <p:sp>
          <p:nvSpPr>
            <p:cNvPr id="7187"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8"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3" name="Group 11"/>
          <p:cNvGrpSpPr>
            <a:grpSpLocks/>
          </p:cNvGrpSpPr>
          <p:nvPr/>
        </p:nvGrpSpPr>
        <p:grpSpPr bwMode="auto">
          <a:xfrm>
            <a:off x="1147233" y="530226"/>
            <a:ext cx="491067" cy="474663"/>
            <a:chOff x="0" y="0"/>
            <a:chExt cx="232" cy="299"/>
          </a:xfrm>
        </p:grpSpPr>
        <p:sp>
          <p:nvSpPr>
            <p:cNvPr id="7185"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6"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4" name="Group 14"/>
          <p:cNvGrpSpPr>
            <a:grpSpLocks/>
          </p:cNvGrpSpPr>
          <p:nvPr/>
        </p:nvGrpSpPr>
        <p:grpSpPr bwMode="auto">
          <a:xfrm>
            <a:off x="31751" y="533401"/>
            <a:ext cx="749300" cy="422275"/>
            <a:chOff x="0" y="0"/>
            <a:chExt cx="353" cy="266"/>
          </a:xfrm>
        </p:grpSpPr>
        <p:sp>
          <p:nvSpPr>
            <p:cNvPr id="7183"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4"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5" name="Group 17"/>
          <p:cNvGrpSpPr>
            <a:grpSpLocks/>
          </p:cNvGrpSpPr>
          <p:nvPr/>
        </p:nvGrpSpPr>
        <p:grpSpPr bwMode="auto">
          <a:xfrm>
            <a:off x="948267" y="1"/>
            <a:ext cx="42333" cy="1052513"/>
            <a:chOff x="0" y="0"/>
            <a:chExt cx="20" cy="663"/>
          </a:xfrm>
        </p:grpSpPr>
        <p:sp>
          <p:nvSpPr>
            <p:cNvPr id="7181"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2"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6" name="Group 20"/>
          <p:cNvGrpSpPr>
            <a:grpSpLocks/>
          </p:cNvGrpSpPr>
          <p:nvPr/>
        </p:nvGrpSpPr>
        <p:grpSpPr bwMode="auto">
          <a:xfrm>
            <a:off x="590551" y="533400"/>
            <a:ext cx="10968567" cy="276225"/>
            <a:chOff x="0" y="0"/>
            <a:chExt cx="5182" cy="174"/>
          </a:xfrm>
        </p:grpSpPr>
        <p:sp>
          <p:nvSpPr>
            <p:cNvPr id="7179"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0"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7177" name="Rectangle 1"/>
          <p:cNvSpPr>
            <a:spLocks noChangeArrowheads="1"/>
          </p:cNvSpPr>
          <p:nvPr/>
        </p:nvSpPr>
        <p:spPr bwMode="auto">
          <a:xfrm>
            <a:off x="3103034" y="-22225"/>
            <a:ext cx="54332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sz="4000" b="1" i="1"/>
              <a:t>Sliding window protocol </a:t>
            </a:r>
            <a:endParaRPr lang="ar-SA" altLang="ar-SA" sz="4000" i="1"/>
          </a:p>
        </p:txBody>
      </p:sp>
      <p:pic>
        <p:nvPicPr>
          <p:cNvPr id="1332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9915" y="862176"/>
            <a:ext cx="8772359" cy="3346284"/>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2A18830D-E546-4DA2-00AC-C5C452FA515B}"/>
              </a:ext>
            </a:extLst>
          </p:cNvPr>
          <p:cNvSpPr txBox="1"/>
          <p:nvPr/>
        </p:nvSpPr>
        <p:spPr>
          <a:xfrm>
            <a:off x="1147233" y="4475747"/>
            <a:ext cx="9075041" cy="1384995"/>
          </a:xfrm>
          <a:prstGeom prst="rect">
            <a:avLst/>
          </a:prstGeom>
          <a:noFill/>
        </p:spPr>
        <p:txBody>
          <a:bodyPr wrap="square" rtlCol="0">
            <a:spAutoFit/>
          </a:bodyPr>
          <a:lstStyle/>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Send multiple frames at a time</a:t>
            </a:r>
          </a:p>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Number of frames to be sent is based on the </a:t>
            </a:r>
            <a:r>
              <a:rPr lang="en-IN" sz="2800" dirty="0">
                <a:solidFill>
                  <a:srgbClr val="FF0000"/>
                </a:solidFill>
                <a:latin typeface="Times New Roman" panose="02020603050405020304" pitchFamily="18" charset="0"/>
                <a:cs typeface="Times New Roman" panose="02020603050405020304" pitchFamily="18" charset="0"/>
              </a:rPr>
              <a:t>Window size</a:t>
            </a:r>
          </a:p>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Each frame is numbered </a:t>
            </a:r>
            <a:r>
              <a:rPr lang="en-IN" sz="2800" dirty="0">
                <a:latin typeface="Times New Roman" panose="02020603050405020304" pitchFamily="18" charset="0"/>
                <a:cs typeface="Times New Roman" panose="02020603050405020304" pitchFamily="18" charset="0"/>
                <a:sym typeface="Wingdings" panose="05000000000000000000" pitchFamily="2" charset="2"/>
              </a:rPr>
              <a:t> sequence number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3795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a:grpSpLocks/>
          </p:cNvGrpSpPr>
          <p:nvPr/>
        </p:nvGrpSpPr>
        <p:grpSpPr bwMode="auto">
          <a:xfrm>
            <a:off x="488951" y="107951"/>
            <a:ext cx="584200" cy="474663"/>
            <a:chOff x="0" y="0"/>
            <a:chExt cx="276" cy="299"/>
          </a:xfrm>
        </p:grpSpPr>
        <p:sp>
          <p:nvSpPr>
            <p:cNvPr id="8215"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6"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5" name="Group 5"/>
          <p:cNvGrpSpPr>
            <a:grpSpLocks/>
          </p:cNvGrpSpPr>
          <p:nvPr/>
        </p:nvGrpSpPr>
        <p:grpSpPr bwMode="auto">
          <a:xfrm>
            <a:off x="999067" y="107951"/>
            <a:ext cx="438151" cy="474663"/>
            <a:chOff x="0" y="0"/>
            <a:chExt cx="207" cy="299"/>
          </a:xfrm>
        </p:grpSpPr>
        <p:sp>
          <p:nvSpPr>
            <p:cNvPr id="8213"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4"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6" name="Group 8"/>
          <p:cNvGrpSpPr>
            <a:grpSpLocks/>
          </p:cNvGrpSpPr>
          <p:nvPr/>
        </p:nvGrpSpPr>
        <p:grpSpPr bwMode="auto">
          <a:xfrm>
            <a:off x="654052" y="530226"/>
            <a:ext cx="563033" cy="474663"/>
            <a:chOff x="0" y="0"/>
            <a:chExt cx="266" cy="299"/>
          </a:xfrm>
        </p:grpSpPr>
        <p:sp>
          <p:nvSpPr>
            <p:cNvPr id="8211"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2"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7" name="Group 11"/>
          <p:cNvGrpSpPr>
            <a:grpSpLocks/>
          </p:cNvGrpSpPr>
          <p:nvPr/>
        </p:nvGrpSpPr>
        <p:grpSpPr bwMode="auto">
          <a:xfrm>
            <a:off x="1147233" y="530226"/>
            <a:ext cx="491067" cy="474663"/>
            <a:chOff x="0" y="0"/>
            <a:chExt cx="232" cy="299"/>
          </a:xfrm>
        </p:grpSpPr>
        <p:sp>
          <p:nvSpPr>
            <p:cNvPr id="8209"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0"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8" name="Group 14"/>
          <p:cNvGrpSpPr>
            <a:grpSpLocks/>
          </p:cNvGrpSpPr>
          <p:nvPr/>
        </p:nvGrpSpPr>
        <p:grpSpPr bwMode="auto">
          <a:xfrm>
            <a:off x="31751" y="533401"/>
            <a:ext cx="749300" cy="422275"/>
            <a:chOff x="0" y="0"/>
            <a:chExt cx="353" cy="266"/>
          </a:xfrm>
        </p:grpSpPr>
        <p:sp>
          <p:nvSpPr>
            <p:cNvPr id="8207"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8"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9" name="Group 17"/>
          <p:cNvGrpSpPr>
            <a:grpSpLocks/>
          </p:cNvGrpSpPr>
          <p:nvPr/>
        </p:nvGrpSpPr>
        <p:grpSpPr bwMode="auto">
          <a:xfrm>
            <a:off x="948267" y="1"/>
            <a:ext cx="42333" cy="1052513"/>
            <a:chOff x="0" y="0"/>
            <a:chExt cx="20" cy="663"/>
          </a:xfrm>
        </p:grpSpPr>
        <p:sp>
          <p:nvSpPr>
            <p:cNvPr id="8205"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6"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200" name="Group 20"/>
          <p:cNvGrpSpPr>
            <a:grpSpLocks/>
          </p:cNvGrpSpPr>
          <p:nvPr/>
        </p:nvGrpSpPr>
        <p:grpSpPr bwMode="auto">
          <a:xfrm>
            <a:off x="590551" y="533400"/>
            <a:ext cx="10968567" cy="276225"/>
            <a:chOff x="0" y="0"/>
            <a:chExt cx="5182" cy="174"/>
          </a:xfrm>
        </p:grpSpPr>
        <p:sp>
          <p:nvSpPr>
            <p:cNvPr id="8203"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4"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8201" name="Rectangle 1"/>
          <p:cNvSpPr>
            <a:spLocks noChangeArrowheads="1"/>
          </p:cNvSpPr>
          <p:nvPr/>
        </p:nvSpPr>
        <p:spPr bwMode="auto">
          <a:xfrm>
            <a:off x="3103034" y="-22225"/>
            <a:ext cx="54332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sz="4000" b="1" i="1"/>
              <a:t>Sliding window protocol </a:t>
            </a:r>
            <a:endParaRPr lang="ar-SA" altLang="ar-SA" sz="4000" i="1"/>
          </a:p>
        </p:txBody>
      </p:sp>
      <p:pic>
        <p:nvPicPr>
          <p:cNvPr id="820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951" y="1295400"/>
            <a:ext cx="11324167" cy="507365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08289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488951" y="107951"/>
            <a:ext cx="584200" cy="474663"/>
            <a:chOff x="0" y="0"/>
            <a:chExt cx="276" cy="299"/>
          </a:xfrm>
        </p:grpSpPr>
        <p:sp>
          <p:nvSpPr>
            <p:cNvPr id="9239"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40"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19" name="Group 5"/>
          <p:cNvGrpSpPr>
            <a:grpSpLocks/>
          </p:cNvGrpSpPr>
          <p:nvPr/>
        </p:nvGrpSpPr>
        <p:grpSpPr bwMode="auto">
          <a:xfrm>
            <a:off x="999067" y="107951"/>
            <a:ext cx="438151" cy="474663"/>
            <a:chOff x="0" y="0"/>
            <a:chExt cx="207" cy="299"/>
          </a:xfrm>
        </p:grpSpPr>
        <p:sp>
          <p:nvSpPr>
            <p:cNvPr id="9237"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8"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0" name="Group 8"/>
          <p:cNvGrpSpPr>
            <a:grpSpLocks/>
          </p:cNvGrpSpPr>
          <p:nvPr/>
        </p:nvGrpSpPr>
        <p:grpSpPr bwMode="auto">
          <a:xfrm>
            <a:off x="654052" y="530226"/>
            <a:ext cx="563033" cy="474663"/>
            <a:chOff x="0" y="0"/>
            <a:chExt cx="266" cy="299"/>
          </a:xfrm>
        </p:grpSpPr>
        <p:sp>
          <p:nvSpPr>
            <p:cNvPr id="9235"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6"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1" name="Group 11"/>
          <p:cNvGrpSpPr>
            <a:grpSpLocks/>
          </p:cNvGrpSpPr>
          <p:nvPr/>
        </p:nvGrpSpPr>
        <p:grpSpPr bwMode="auto">
          <a:xfrm>
            <a:off x="1147233" y="530226"/>
            <a:ext cx="491067" cy="474663"/>
            <a:chOff x="0" y="0"/>
            <a:chExt cx="232" cy="299"/>
          </a:xfrm>
        </p:grpSpPr>
        <p:sp>
          <p:nvSpPr>
            <p:cNvPr id="9233"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4"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2" name="Group 14"/>
          <p:cNvGrpSpPr>
            <a:grpSpLocks/>
          </p:cNvGrpSpPr>
          <p:nvPr/>
        </p:nvGrpSpPr>
        <p:grpSpPr bwMode="auto">
          <a:xfrm>
            <a:off x="31751" y="533401"/>
            <a:ext cx="749300" cy="422275"/>
            <a:chOff x="0" y="0"/>
            <a:chExt cx="353" cy="266"/>
          </a:xfrm>
        </p:grpSpPr>
        <p:sp>
          <p:nvSpPr>
            <p:cNvPr id="9231"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2"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3" name="Group 17"/>
          <p:cNvGrpSpPr>
            <a:grpSpLocks/>
          </p:cNvGrpSpPr>
          <p:nvPr/>
        </p:nvGrpSpPr>
        <p:grpSpPr bwMode="auto">
          <a:xfrm>
            <a:off x="948267" y="1"/>
            <a:ext cx="42333" cy="1052513"/>
            <a:chOff x="0" y="0"/>
            <a:chExt cx="20" cy="663"/>
          </a:xfrm>
        </p:grpSpPr>
        <p:sp>
          <p:nvSpPr>
            <p:cNvPr id="9229"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0"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4" name="Group 20"/>
          <p:cNvGrpSpPr>
            <a:grpSpLocks/>
          </p:cNvGrpSpPr>
          <p:nvPr/>
        </p:nvGrpSpPr>
        <p:grpSpPr bwMode="auto">
          <a:xfrm>
            <a:off x="590551" y="533400"/>
            <a:ext cx="10968567" cy="276225"/>
            <a:chOff x="0" y="0"/>
            <a:chExt cx="5182" cy="174"/>
          </a:xfrm>
        </p:grpSpPr>
        <p:sp>
          <p:nvSpPr>
            <p:cNvPr id="9227"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28"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9225" name="Rectangle 1"/>
          <p:cNvSpPr>
            <a:spLocks noChangeArrowheads="1"/>
          </p:cNvSpPr>
          <p:nvPr/>
        </p:nvSpPr>
        <p:spPr bwMode="auto">
          <a:xfrm>
            <a:off x="3103034" y="-22225"/>
            <a:ext cx="54332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sz="4000" b="1" i="1"/>
              <a:t>Sliding</a:t>
            </a:r>
            <a:r>
              <a:rPr lang="en-US" altLang="ar-SA" sz="4000" b="1"/>
              <a:t> </a:t>
            </a:r>
            <a:r>
              <a:rPr lang="en-US" altLang="ar-SA" sz="4000" b="1" i="1"/>
              <a:t>window protocol </a:t>
            </a:r>
            <a:endParaRPr lang="ar-SA" altLang="ar-SA" sz="4000" b="1" i="1"/>
          </a:p>
        </p:txBody>
      </p:sp>
      <p:pic>
        <p:nvPicPr>
          <p:cNvPr id="922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167" y="1328738"/>
            <a:ext cx="11853333" cy="520842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21218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a:grpSpLocks/>
          </p:cNvGrpSpPr>
          <p:nvPr/>
        </p:nvGrpSpPr>
        <p:grpSpPr bwMode="auto">
          <a:xfrm>
            <a:off x="488951" y="107951"/>
            <a:ext cx="584200" cy="474663"/>
            <a:chOff x="0" y="0"/>
            <a:chExt cx="276" cy="299"/>
          </a:xfrm>
        </p:grpSpPr>
        <p:sp>
          <p:nvSpPr>
            <p:cNvPr id="10263"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4"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3" name="Group 5"/>
          <p:cNvGrpSpPr>
            <a:grpSpLocks/>
          </p:cNvGrpSpPr>
          <p:nvPr/>
        </p:nvGrpSpPr>
        <p:grpSpPr bwMode="auto">
          <a:xfrm>
            <a:off x="999067" y="107951"/>
            <a:ext cx="438151" cy="474663"/>
            <a:chOff x="0" y="0"/>
            <a:chExt cx="207" cy="299"/>
          </a:xfrm>
        </p:grpSpPr>
        <p:sp>
          <p:nvSpPr>
            <p:cNvPr id="10261"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2"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4" name="Group 8"/>
          <p:cNvGrpSpPr>
            <a:grpSpLocks/>
          </p:cNvGrpSpPr>
          <p:nvPr/>
        </p:nvGrpSpPr>
        <p:grpSpPr bwMode="auto">
          <a:xfrm>
            <a:off x="654052" y="530226"/>
            <a:ext cx="563033" cy="474663"/>
            <a:chOff x="0" y="0"/>
            <a:chExt cx="266" cy="299"/>
          </a:xfrm>
        </p:grpSpPr>
        <p:sp>
          <p:nvSpPr>
            <p:cNvPr id="10259"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0"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5" name="Group 11"/>
          <p:cNvGrpSpPr>
            <a:grpSpLocks/>
          </p:cNvGrpSpPr>
          <p:nvPr/>
        </p:nvGrpSpPr>
        <p:grpSpPr bwMode="auto">
          <a:xfrm>
            <a:off x="1147233" y="530226"/>
            <a:ext cx="491067" cy="474663"/>
            <a:chOff x="0" y="0"/>
            <a:chExt cx="232" cy="299"/>
          </a:xfrm>
        </p:grpSpPr>
        <p:sp>
          <p:nvSpPr>
            <p:cNvPr id="10257"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8"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6" name="Group 14"/>
          <p:cNvGrpSpPr>
            <a:grpSpLocks/>
          </p:cNvGrpSpPr>
          <p:nvPr/>
        </p:nvGrpSpPr>
        <p:grpSpPr bwMode="auto">
          <a:xfrm>
            <a:off x="31751" y="533401"/>
            <a:ext cx="749300" cy="422275"/>
            <a:chOff x="0" y="0"/>
            <a:chExt cx="353" cy="266"/>
          </a:xfrm>
        </p:grpSpPr>
        <p:sp>
          <p:nvSpPr>
            <p:cNvPr id="10255"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6"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7" name="Group 17"/>
          <p:cNvGrpSpPr>
            <a:grpSpLocks/>
          </p:cNvGrpSpPr>
          <p:nvPr/>
        </p:nvGrpSpPr>
        <p:grpSpPr bwMode="auto">
          <a:xfrm>
            <a:off x="948267" y="1"/>
            <a:ext cx="42333" cy="1052513"/>
            <a:chOff x="0" y="0"/>
            <a:chExt cx="20" cy="663"/>
          </a:xfrm>
        </p:grpSpPr>
        <p:sp>
          <p:nvSpPr>
            <p:cNvPr id="10253"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4"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8" name="Group 20"/>
          <p:cNvGrpSpPr>
            <a:grpSpLocks/>
          </p:cNvGrpSpPr>
          <p:nvPr/>
        </p:nvGrpSpPr>
        <p:grpSpPr bwMode="auto">
          <a:xfrm>
            <a:off x="590551" y="533400"/>
            <a:ext cx="10968567" cy="276225"/>
            <a:chOff x="0" y="0"/>
            <a:chExt cx="5182" cy="174"/>
          </a:xfrm>
        </p:grpSpPr>
        <p:sp>
          <p:nvSpPr>
            <p:cNvPr id="10251"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2"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0249" name="Rectangle 1"/>
          <p:cNvSpPr>
            <a:spLocks noChangeArrowheads="1"/>
          </p:cNvSpPr>
          <p:nvPr/>
        </p:nvSpPr>
        <p:spPr bwMode="auto">
          <a:xfrm>
            <a:off x="3103034" y="-22225"/>
            <a:ext cx="54332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sz="4000" b="1" i="1"/>
              <a:t>Sliding window protocol </a:t>
            </a:r>
            <a:endParaRPr lang="ar-SA" altLang="ar-SA" sz="4000" b="1" i="1"/>
          </a:p>
        </p:txBody>
      </p:sp>
      <p:pic>
        <p:nvPicPr>
          <p:cNvPr id="1025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952" y="1600200"/>
            <a:ext cx="11474449" cy="478455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7569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488951" y="107951"/>
            <a:ext cx="584200" cy="474663"/>
            <a:chOff x="0" y="0"/>
            <a:chExt cx="276" cy="299"/>
          </a:xfrm>
        </p:grpSpPr>
        <p:sp>
          <p:nvSpPr>
            <p:cNvPr id="11287"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8"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7" name="Group 5"/>
          <p:cNvGrpSpPr>
            <a:grpSpLocks/>
          </p:cNvGrpSpPr>
          <p:nvPr/>
        </p:nvGrpSpPr>
        <p:grpSpPr bwMode="auto">
          <a:xfrm>
            <a:off x="999067" y="107951"/>
            <a:ext cx="438151" cy="474663"/>
            <a:chOff x="0" y="0"/>
            <a:chExt cx="207" cy="299"/>
          </a:xfrm>
        </p:grpSpPr>
        <p:sp>
          <p:nvSpPr>
            <p:cNvPr id="11285"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6"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8" name="Group 8"/>
          <p:cNvGrpSpPr>
            <a:grpSpLocks/>
          </p:cNvGrpSpPr>
          <p:nvPr/>
        </p:nvGrpSpPr>
        <p:grpSpPr bwMode="auto">
          <a:xfrm>
            <a:off x="654052" y="530226"/>
            <a:ext cx="563033" cy="474663"/>
            <a:chOff x="0" y="0"/>
            <a:chExt cx="266" cy="299"/>
          </a:xfrm>
        </p:grpSpPr>
        <p:sp>
          <p:nvSpPr>
            <p:cNvPr id="11283"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4"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9" name="Group 11"/>
          <p:cNvGrpSpPr>
            <a:grpSpLocks/>
          </p:cNvGrpSpPr>
          <p:nvPr/>
        </p:nvGrpSpPr>
        <p:grpSpPr bwMode="auto">
          <a:xfrm>
            <a:off x="1147233" y="530226"/>
            <a:ext cx="491067" cy="474663"/>
            <a:chOff x="0" y="0"/>
            <a:chExt cx="232" cy="299"/>
          </a:xfrm>
        </p:grpSpPr>
        <p:sp>
          <p:nvSpPr>
            <p:cNvPr id="11281"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2"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0" name="Group 14"/>
          <p:cNvGrpSpPr>
            <a:grpSpLocks/>
          </p:cNvGrpSpPr>
          <p:nvPr/>
        </p:nvGrpSpPr>
        <p:grpSpPr bwMode="auto">
          <a:xfrm>
            <a:off x="31751" y="533401"/>
            <a:ext cx="749300" cy="422275"/>
            <a:chOff x="0" y="0"/>
            <a:chExt cx="353" cy="266"/>
          </a:xfrm>
        </p:grpSpPr>
        <p:sp>
          <p:nvSpPr>
            <p:cNvPr id="11279"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0"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1" name="Group 17"/>
          <p:cNvGrpSpPr>
            <a:grpSpLocks/>
          </p:cNvGrpSpPr>
          <p:nvPr/>
        </p:nvGrpSpPr>
        <p:grpSpPr bwMode="auto">
          <a:xfrm>
            <a:off x="948267" y="1"/>
            <a:ext cx="42333" cy="1052513"/>
            <a:chOff x="0" y="0"/>
            <a:chExt cx="20" cy="663"/>
          </a:xfrm>
        </p:grpSpPr>
        <p:sp>
          <p:nvSpPr>
            <p:cNvPr id="11277"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78"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2" name="Group 20"/>
          <p:cNvGrpSpPr>
            <a:grpSpLocks/>
          </p:cNvGrpSpPr>
          <p:nvPr/>
        </p:nvGrpSpPr>
        <p:grpSpPr bwMode="auto">
          <a:xfrm>
            <a:off x="590551" y="533400"/>
            <a:ext cx="10968567" cy="276225"/>
            <a:chOff x="0" y="0"/>
            <a:chExt cx="5182" cy="174"/>
          </a:xfrm>
        </p:grpSpPr>
        <p:sp>
          <p:nvSpPr>
            <p:cNvPr id="11275"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76"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1273" name="Rectangle 1"/>
          <p:cNvSpPr>
            <a:spLocks noChangeArrowheads="1"/>
          </p:cNvSpPr>
          <p:nvPr/>
        </p:nvSpPr>
        <p:spPr bwMode="auto">
          <a:xfrm>
            <a:off x="3103034" y="-22225"/>
            <a:ext cx="54332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sz="4000" b="1" i="1"/>
              <a:t>Sliding window protocol </a:t>
            </a:r>
            <a:endParaRPr lang="ar-SA" altLang="ar-SA" sz="4000" b="1" i="1"/>
          </a:p>
        </p:txBody>
      </p:sp>
      <p:pic>
        <p:nvPicPr>
          <p:cNvPr id="1127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951" y="1562100"/>
            <a:ext cx="10981267" cy="4975392"/>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15879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p:cNvGrpSpPr>
            <a:grpSpLocks/>
          </p:cNvGrpSpPr>
          <p:nvPr/>
        </p:nvGrpSpPr>
        <p:grpSpPr bwMode="auto">
          <a:xfrm>
            <a:off x="488951" y="107951"/>
            <a:ext cx="584200" cy="474663"/>
            <a:chOff x="0" y="0"/>
            <a:chExt cx="276" cy="299"/>
          </a:xfrm>
        </p:grpSpPr>
        <p:sp>
          <p:nvSpPr>
            <p:cNvPr id="14359"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60"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39" name="Group 5"/>
          <p:cNvGrpSpPr>
            <a:grpSpLocks/>
          </p:cNvGrpSpPr>
          <p:nvPr/>
        </p:nvGrpSpPr>
        <p:grpSpPr bwMode="auto">
          <a:xfrm>
            <a:off x="999067" y="107951"/>
            <a:ext cx="438151" cy="474663"/>
            <a:chOff x="0" y="0"/>
            <a:chExt cx="207" cy="299"/>
          </a:xfrm>
        </p:grpSpPr>
        <p:sp>
          <p:nvSpPr>
            <p:cNvPr id="14357"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58"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40" name="Group 8"/>
          <p:cNvGrpSpPr>
            <a:grpSpLocks/>
          </p:cNvGrpSpPr>
          <p:nvPr/>
        </p:nvGrpSpPr>
        <p:grpSpPr bwMode="auto">
          <a:xfrm>
            <a:off x="654052" y="530226"/>
            <a:ext cx="563033" cy="474663"/>
            <a:chOff x="0" y="0"/>
            <a:chExt cx="266" cy="299"/>
          </a:xfrm>
        </p:grpSpPr>
        <p:sp>
          <p:nvSpPr>
            <p:cNvPr id="14355"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56"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41" name="Group 11"/>
          <p:cNvGrpSpPr>
            <a:grpSpLocks/>
          </p:cNvGrpSpPr>
          <p:nvPr/>
        </p:nvGrpSpPr>
        <p:grpSpPr bwMode="auto">
          <a:xfrm>
            <a:off x="1147233" y="530226"/>
            <a:ext cx="491067" cy="474663"/>
            <a:chOff x="0" y="0"/>
            <a:chExt cx="232" cy="299"/>
          </a:xfrm>
        </p:grpSpPr>
        <p:sp>
          <p:nvSpPr>
            <p:cNvPr id="14353"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54"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42" name="Group 14"/>
          <p:cNvGrpSpPr>
            <a:grpSpLocks/>
          </p:cNvGrpSpPr>
          <p:nvPr/>
        </p:nvGrpSpPr>
        <p:grpSpPr bwMode="auto">
          <a:xfrm>
            <a:off x="31751" y="533401"/>
            <a:ext cx="749300" cy="422275"/>
            <a:chOff x="0" y="0"/>
            <a:chExt cx="353" cy="266"/>
          </a:xfrm>
        </p:grpSpPr>
        <p:sp>
          <p:nvSpPr>
            <p:cNvPr id="14351"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52"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43" name="Group 17"/>
          <p:cNvGrpSpPr>
            <a:grpSpLocks/>
          </p:cNvGrpSpPr>
          <p:nvPr/>
        </p:nvGrpSpPr>
        <p:grpSpPr bwMode="auto">
          <a:xfrm>
            <a:off x="948267" y="1"/>
            <a:ext cx="42333" cy="1052513"/>
            <a:chOff x="0" y="0"/>
            <a:chExt cx="20" cy="663"/>
          </a:xfrm>
        </p:grpSpPr>
        <p:sp>
          <p:nvSpPr>
            <p:cNvPr id="14349"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50"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4344" name="Group 20"/>
          <p:cNvGrpSpPr>
            <a:grpSpLocks/>
          </p:cNvGrpSpPr>
          <p:nvPr/>
        </p:nvGrpSpPr>
        <p:grpSpPr bwMode="auto">
          <a:xfrm>
            <a:off x="590551" y="533400"/>
            <a:ext cx="10968567" cy="276225"/>
            <a:chOff x="0" y="0"/>
            <a:chExt cx="5182" cy="174"/>
          </a:xfrm>
        </p:grpSpPr>
        <p:sp>
          <p:nvSpPr>
            <p:cNvPr id="14347"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4348"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4345"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pic>
        <p:nvPicPr>
          <p:cNvPr id="14346" name="Picture 2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9915" y="744538"/>
            <a:ext cx="7213600" cy="226695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DF60C79-19EF-3B6A-CB71-EF04B4F5FB36}"/>
              </a:ext>
            </a:extLst>
          </p:cNvPr>
          <p:cNvSpPr txBox="1"/>
          <p:nvPr/>
        </p:nvSpPr>
        <p:spPr>
          <a:xfrm>
            <a:off x="488951" y="3166086"/>
            <a:ext cx="11580952" cy="3539430"/>
          </a:xfrm>
          <a:prstGeom prst="rect">
            <a:avLst/>
          </a:prstGeom>
          <a:noFill/>
        </p:spPr>
        <p:txBody>
          <a:bodyPr wrap="square" rtlCol="0">
            <a:spAutoFit/>
          </a:bodyPr>
          <a:lstStyle/>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It uses the concept of protocol pipelining (i.e.)  the sender can send multiple frames before receiving the acknowledgement for the first frame</a:t>
            </a:r>
          </a:p>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There are finite number of frames and frames are numbered in a sequential manner</a:t>
            </a:r>
          </a:p>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The number of frames that can be sent depends on the window size of the sender</a:t>
            </a:r>
          </a:p>
          <a:p>
            <a:pPr marL="285750" indent="-28575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If the acknowledgment of the frame is not received within an agreed upon time period, all the frames in the current window are transmitted.</a:t>
            </a:r>
          </a:p>
        </p:txBody>
      </p:sp>
    </p:spTree>
    <p:extLst>
      <p:ext uri="{BB962C8B-B14F-4D97-AF65-F5344CB8AC3E}">
        <p14:creationId xmlns:p14="http://schemas.microsoft.com/office/powerpoint/2010/main" val="29654627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488951" y="107951"/>
            <a:ext cx="584200" cy="474663"/>
            <a:chOff x="0" y="0"/>
            <a:chExt cx="276" cy="299"/>
          </a:xfrm>
        </p:grpSpPr>
        <p:sp>
          <p:nvSpPr>
            <p:cNvPr id="1640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40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87" name="Group 5"/>
          <p:cNvGrpSpPr>
            <a:grpSpLocks/>
          </p:cNvGrpSpPr>
          <p:nvPr/>
        </p:nvGrpSpPr>
        <p:grpSpPr bwMode="auto">
          <a:xfrm>
            <a:off x="999067" y="107951"/>
            <a:ext cx="438151" cy="474663"/>
            <a:chOff x="0" y="0"/>
            <a:chExt cx="207" cy="299"/>
          </a:xfrm>
        </p:grpSpPr>
        <p:sp>
          <p:nvSpPr>
            <p:cNvPr id="1640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40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88" name="Group 8"/>
          <p:cNvGrpSpPr>
            <a:grpSpLocks/>
          </p:cNvGrpSpPr>
          <p:nvPr/>
        </p:nvGrpSpPr>
        <p:grpSpPr bwMode="auto">
          <a:xfrm>
            <a:off x="654052" y="530226"/>
            <a:ext cx="563033" cy="474663"/>
            <a:chOff x="0" y="0"/>
            <a:chExt cx="266" cy="299"/>
          </a:xfrm>
        </p:grpSpPr>
        <p:sp>
          <p:nvSpPr>
            <p:cNvPr id="1640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40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89" name="Group 11"/>
          <p:cNvGrpSpPr>
            <a:grpSpLocks/>
          </p:cNvGrpSpPr>
          <p:nvPr/>
        </p:nvGrpSpPr>
        <p:grpSpPr bwMode="auto">
          <a:xfrm>
            <a:off x="1147233" y="530226"/>
            <a:ext cx="491067" cy="474663"/>
            <a:chOff x="0" y="0"/>
            <a:chExt cx="232" cy="299"/>
          </a:xfrm>
        </p:grpSpPr>
        <p:sp>
          <p:nvSpPr>
            <p:cNvPr id="1640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40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90" name="Group 14"/>
          <p:cNvGrpSpPr>
            <a:grpSpLocks/>
          </p:cNvGrpSpPr>
          <p:nvPr/>
        </p:nvGrpSpPr>
        <p:grpSpPr bwMode="auto">
          <a:xfrm>
            <a:off x="31751" y="533401"/>
            <a:ext cx="749300" cy="422275"/>
            <a:chOff x="0" y="0"/>
            <a:chExt cx="353" cy="266"/>
          </a:xfrm>
        </p:grpSpPr>
        <p:sp>
          <p:nvSpPr>
            <p:cNvPr id="1640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40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91" name="Group 17"/>
          <p:cNvGrpSpPr>
            <a:grpSpLocks/>
          </p:cNvGrpSpPr>
          <p:nvPr/>
        </p:nvGrpSpPr>
        <p:grpSpPr bwMode="auto">
          <a:xfrm>
            <a:off x="948267" y="1"/>
            <a:ext cx="42333" cy="1052513"/>
            <a:chOff x="0" y="0"/>
            <a:chExt cx="20" cy="663"/>
          </a:xfrm>
        </p:grpSpPr>
        <p:sp>
          <p:nvSpPr>
            <p:cNvPr id="1639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39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6392" name="Group 20"/>
          <p:cNvGrpSpPr>
            <a:grpSpLocks/>
          </p:cNvGrpSpPr>
          <p:nvPr/>
        </p:nvGrpSpPr>
        <p:grpSpPr bwMode="auto">
          <a:xfrm>
            <a:off x="590551" y="533400"/>
            <a:ext cx="10968567" cy="276225"/>
            <a:chOff x="0" y="0"/>
            <a:chExt cx="5182" cy="174"/>
          </a:xfrm>
        </p:grpSpPr>
        <p:sp>
          <p:nvSpPr>
            <p:cNvPr id="1639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639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6393"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sp>
        <p:nvSpPr>
          <p:cNvPr id="16394"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1639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400" y="1778000"/>
            <a:ext cx="11614151" cy="47752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33299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p:cNvGrpSpPr>
            <a:grpSpLocks/>
          </p:cNvGrpSpPr>
          <p:nvPr/>
        </p:nvGrpSpPr>
        <p:grpSpPr bwMode="auto">
          <a:xfrm>
            <a:off x="488951" y="107951"/>
            <a:ext cx="584200" cy="474663"/>
            <a:chOff x="0" y="0"/>
            <a:chExt cx="276" cy="299"/>
          </a:xfrm>
        </p:grpSpPr>
        <p:sp>
          <p:nvSpPr>
            <p:cNvPr id="17432"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33"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1" name="Group 5"/>
          <p:cNvGrpSpPr>
            <a:grpSpLocks/>
          </p:cNvGrpSpPr>
          <p:nvPr/>
        </p:nvGrpSpPr>
        <p:grpSpPr bwMode="auto">
          <a:xfrm>
            <a:off x="999067" y="107951"/>
            <a:ext cx="438151" cy="474663"/>
            <a:chOff x="0" y="0"/>
            <a:chExt cx="207" cy="299"/>
          </a:xfrm>
        </p:grpSpPr>
        <p:sp>
          <p:nvSpPr>
            <p:cNvPr id="17430"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31"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2" name="Group 8"/>
          <p:cNvGrpSpPr>
            <a:grpSpLocks/>
          </p:cNvGrpSpPr>
          <p:nvPr/>
        </p:nvGrpSpPr>
        <p:grpSpPr bwMode="auto">
          <a:xfrm>
            <a:off x="654052" y="530226"/>
            <a:ext cx="563033" cy="474663"/>
            <a:chOff x="0" y="0"/>
            <a:chExt cx="266" cy="299"/>
          </a:xfrm>
        </p:grpSpPr>
        <p:sp>
          <p:nvSpPr>
            <p:cNvPr id="17428"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29"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3" name="Group 11"/>
          <p:cNvGrpSpPr>
            <a:grpSpLocks/>
          </p:cNvGrpSpPr>
          <p:nvPr/>
        </p:nvGrpSpPr>
        <p:grpSpPr bwMode="auto">
          <a:xfrm>
            <a:off x="1147233" y="530226"/>
            <a:ext cx="491067" cy="474663"/>
            <a:chOff x="0" y="0"/>
            <a:chExt cx="232" cy="299"/>
          </a:xfrm>
        </p:grpSpPr>
        <p:sp>
          <p:nvSpPr>
            <p:cNvPr id="17426"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27"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4" name="Group 14"/>
          <p:cNvGrpSpPr>
            <a:grpSpLocks/>
          </p:cNvGrpSpPr>
          <p:nvPr/>
        </p:nvGrpSpPr>
        <p:grpSpPr bwMode="auto">
          <a:xfrm>
            <a:off x="31751" y="533401"/>
            <a:ext cx="749300" cy="422275"/>
            <a:chOff x="0" y="0"/>
            <a:chExt cx="353" cy="266"/>
          </a:xfrm>
        </p:grpSpPr>
        <p:sp>
          <p:nvSpPr>
            <p:cNvPr id="17424"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25"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5" name="Group 17"/>
          <p:cNvGrpSpPr>
            <a:grpSpLocks/>
          </p:cNvGrpSpPr>
          <p:nvPr/>
        </p:nvGrpSpPr>
        <p:grpSpPr bwMode="auto">
          <a:xfrm>
            <a:off x="948267" y="1"/>
            <a:ext cx="42333" cy="1052513"/>
            <a:chOff x="0" y="0"/>
            <a:chExt cx="20" cy="663"/>
          </a:xfrm>
        </p:grpSpPr>
        <p:sp>
          <p:nvSpPr>
            <p:cNvPr id="17422"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23"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7416" name="Group 20"/>
          <p:cNvGrpSpPr>
            <a:grpSpLocks/>
          </p:cNvGrpSpPr>
          <p:nvPr/>
        </p:nvGrpSpPr>
        <p:grpSpPr bwMode="auto">
          <a:xfrm>
            <a:off x="590551" y="533400"/>
            <a:ext cx="10968567" cy="276225"/>
            <a:chOff x="0" y="0"/>
            <a:chExt cx="5182" cy="174"/>
          </a:xfrm>
        </p:grpSpPr>
        <p:sp>
          <p:nvSpPr>
            <p:cNvPr id="17420"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7421"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7417"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sp>
        <p:nvSpPr>
          <p:cNvPr id="17418"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1741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401" y="1770063"/>
            <a:ext cx="11436351" cy="357187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26992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p:cNvGrpSpPr>
            <a:grpSpLocks/>
          </p:cNvGrpSpPr>
          <p:nvPr/>
        </p:nvGrpSpPr>
        <p:grpSpPr bwMode="auto">
          <a:xfrm>
            <a:off x="488951" y="107951"/>
            <a:ext cx="584200" cy="474663"/>
            <a:chOff x="0" y="0"/>
            <a:chExt cx="276" cy="299"/>
          </a:xfrm>
        </p:grpSpPr>
        <p:sp>
          <p:nvSpPr>
            <p:cNvPr id="18456"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57"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35" name="Group 5"/>
          <p:cNvGrpSpPr>
            <a:grpSpLocks/>
          </p:cNvGrpSpPr>
          <p:nvPr/>
        </p:nvGrpSpPr>
        <p:grpSpPr bwMode="auto">
          <a:xfrm>
            <a:off x="999067" y="107951"/>
            <a:ext cx="438151" cy="474663"/>
            <a:chOff x="0" y="0"/>
            <a:chExt cx="207" cy="299"/>
          </a:xfrm>
        </p:grpSpPr>
        <p:sp>
          <p:nvSpPr>
            <p:cNvPr id="18454"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55"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36" name="Group 8"/>
          <p:cNvGrpSpPr>
            <a:grpSpLocks/>
          </p:cNvGrpSpPr>
          <p:nvPr/>
        </p:nvGrpSpPr>
        <p:grpSpPr bwMode="auto">
          <a:xfrm>
            <a:off x="654052" y="530226"/>
            <a:ext cx="563033" cy="474663"/>
            <a:chOff x="0" y="0"/>
            <a:chExt cx="266" cy="299"/>
          </a:xfrm>
        </p:grpSpPr>
        <p:sp>
          <p:nvSpPr>
            <p:cNvPr id="18452"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53"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37" name="Group 11"/>
          <p:cNvGrpSpPr>
            <a:grpSpLocks/>
          </p:cNvGrpSpPr>
          <p:nvPr/>
        </p:nvGrpSpPr>
        <p:grpSpPr bwMode="auto">
          <a:xfrm>
            <a:off x="1147233" y="530226"/>
            <a:ext cx="491067" cy="474663"/>
            <a:chOff x="0" y="0"/>
            <a:chExt cx="232" cy="299"/>
          </a:xfrm>
        </p:grpSpPr>
        <p:sp>
          <p:nvSpPr>
            <p:cNvPr id="18450"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51"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38" name="Group 14"/>
          <p:cNvGrpSpPr>
            <a:grpSpLocks/>
          </p:cNvGrpSpPr>
          <p:nvPr/>
        </p:nvGrpSpPr>
        <p:grpSpPr bwMode="auto">
          <a:xfrm>
            <a:off x="31751" y="533401"/>
            <a:ext cx="749300" cy="422275"/>
            <a:chOff x="0" y="0"/>
            <a:chExt cx="353" cy="266"/>
          </a:xfrm>
        </p:grpSpPr>
        <p:sp>
          <p:nvSpPr>
            <p:cNvPr id="18448"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49"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39" name="Group 17"/>
          <p:cNvGrpSpPr>
            <a:grpSpLocks/>
          </p:cNvGrpSpPr>
          <p:nvPr/>
        </p:nvGrpSpPr>
        <p:grpSpPr bwMode="auto">
          <a:xfrm>
            <a:off x="948267" y="1"/>
            <a:ext cx="42333" cy="1052513"/>
            <a:chOff x="0" y="0"/>
            <a:chExt cx="20" cy="663"/>
          </a:xfrm>
        </p:grpSpPr>
        <p:sp>
          <p:nvSpPr>
            <p:cNvPr id="18446"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47"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8440" name="Group 20"/>
          <p:cNvGrpSpPr>
            <a:grpSpLocks/>
          </p:cNvGrpSpPr>
          <p:nvPr/>
        </p:nvGrpSpPr>
        <p:grpSpPr bwMode="auto">
          <a:xfrm>
            <a:off x="590551" y="533400"/>
            <a:ext cx="10968567" cy="276225"/>
            <a:chOff x="0" y="0"/>
            <a:chExt cx="5182" cy="174"/>
          </a:xfrm>
        </p:grpSpPr>
        <p:sp>
          <p:nvSpPr>
            <p:cNvPr id="18444"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8445"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8441"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sp>
        <p:nvSpPr>
          <p:cNvPr id="18442"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1844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401" y="1828800"/>
            <a:ext cx="11247967" cy="386715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5885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488951" y="107951"/>
            <a:ext cx="584200" cy="474663"/>
            <a:chOff x="0" y="0"/>
            <a:chExt cx="276" cy="299"/>
          </a:xfrm>
        </p:grpSpPr>
        <p:sp>
          <p:nvSpPr>
            <p:cNvPr id="1948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8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59" name="Group 5"/>
          <p:cNvGrpSpPr>
            <a:grpSpLocks/>
          </p:cNvGrpSpPr>
          <p:nvPr/>
        </p:nvGrpSpPr>
        <p:grpSpPr bwMode="auto">
          <a:xfrm>
            <a:off x="999067" y="107951"/>
            <a:ext cx="438151" cy="474663"/>
            <a:chOff x="0" y="0"/>
            <a:chExt cx="207" cy="299"/>
          </a:xfrm>
        </p:grpSpPr>
        <p:sp>
          <p:nvSpPr>
            <p:cNvPr id="1947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7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60" name="Group 8"/>
          <p:cNvGrpSpPr>
            <a:grpSpLocks/>
          </p:cNvGrpSpPr>
          <p:nvPr/>
        </p:nvGrpSpPr>
        <p:grpSpPr bwMode="auto">
          <a:xfrm>
            <a:off x="654052" y="530226"/>
            <a:ext cx="563033" cy="474663"/>
            <a:chOff x="0" y="0"/>
            <a:chExt cx="266" cy="299"/>
          </a:xfrm>
        </p:grpSpPr>
        <p:sp>
          <p:nvSpPr>
            <p:cNvPr id="1947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7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61" name="Group 11"/>
          <p:cNvGrpSpPr>
            <a:grpSpLocks/>
          </p:cNvGrpSpPr>
          <p:nvPr/>
        </p:nvGrpSpPr>
        <p:grpSpPr bwMode="auto">
          <a:xfrm>
            <a:off x="1147233" y="530226"/>
            <a:ext cx="491067" cy="474663"/>
            <a:chOff x="0" y="0"/>
            <a:chExt cx="232" cy="299"/>
          </a:xfrm>
        </p:grpSpPr>
        <p:sp>
          <p:nvSpPr>
            <p:cNvPr id="1947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7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62" name="Group 14"/>
          <p:cNvGrpSpPr>
            <a:grpSpLocks/>
          </p:cNvGrpSpPr>
          <p:nvPr/>
        </p:nvGrpSpPr>
        <p:grpSpPr bwMode="auto">
          <a:xfrm>
            <a:off x="31751" y="533401"/>
            <a:ext cx="749300" cy="422275"/>
            <a:chOff x="0" y="0"/>
            <a:chExt cx="353" cy="266"/>
          </a:xfrm>
        </p:grpSpPr>
        <p:sp>
          <p:nvSpPr>
            <p:cNvPr id="1947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7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63" name="Group 17"/>
          <p:cNvGrpSpPr>
            <a:grpSpLocks/>
          </p:cNvGrpSpPr>
          <p:nvPr/>
        </p:nvGrpSpPr>
        <p:grpSpPr bwMode="auto">
          <a:xfrm>
            <a:off x="948267" y="1"/>
            <a:ext cx="42333" cy="1052513"/>
            <a:chOff x="0" y="0"/>
            <a:chExt cx="20" cy="663"/>
          </a:xfrm>
        </p:grpSpPr>
        <p:sp>
          <p:nvSpPr>
            <p:cNvPr id="1947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7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9464" name="Group 20"/>
          <p:cNvGrpSpPr>
            <a:grpSpLocks/>
          </p:cNvGrpSpPr>
          <p:nvPr/>
        </p:nvGrpSpPr>
        <p:grpSpPr bwMode="auto">
          <a:xfrm>
            <a:off x="590551" y="533400"/>
            <a:ext cx="10968567" cy="276225"/>
            <a:chOff x="0" y="0"/>
            <a:chExt cx="5182" cy="174"/>
          </a:xfrm>
        </p:grpSpPr>
        <p:sp>
          <p:nvSpPr>
            <p:cNvPr id="1946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946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9465"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sp>
        <p:nvSpPr>
          <p:cNvPr id="19466"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1946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901" y="1828801"/>
            <a:ext cx="11010900" cy="3948113"/>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53741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a:grpSpLocks/>
          </p:cNvGrpSpPr>
          <p:nvPr/>
        </p:nvGrpSpPr>
        <p:grpSpPr bwMode="auto">
          <a:xfrm>
            <a:off x="488951" y="107951"/>
            <a:ext cx="584200" cy="474663"/>
            <a:chOff x="0" y="0"/>
            <a:chExt cx="276" cy="299"/>
          </a:xfrm>
        </p:grpSpPr>
        <p:sp>
          <p:nvSpPr>
            <p:cNvPr id="2050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50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3" name="Group 5"/>
          <p:cNvGrpSpPr>
            <a:grpSpLocks/>
          </p:cNvGrpSpPr>
          <p:nvPr/>
        </p:nvGrpSpPr>
        <p:grpSpPr bwMode="auto">
          <a:xfrm>
            <a:off x="999067" y="107951"/>
            <a:ext cx="438151" cy="474663"/>
            <a:chOff x="0" y="0"/>
            <a:chExt cx="207" cy="299"/>
          </a:xfrm>
        </p:grpSpPr>
        <p:sp>
          <p:nvSpPr>
            <p:cNvPr id="2050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50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4" name="Group 8"/>
          <p:cNvGrpSpPr>
            <a:grpSpLocks/>
          </p:cNvGrpSpPr>
          <p:nvPr/>
        </p:nvGrpSpPr>
        <p:grpSpPr bwMode="auto">
          <a:xfrm>
            <a:off x="654052" y="530226"/>
            <a:ext cx="563033" cy="474663"/>
            <a:chOff x="0" y="0"/>
            <a:chExt cx="266" cy="299"/>
          </a:xfrm>
        </p:grpSpPr>
        <p:sp>
          <p:nvSpPr>
            <p:cNvPr id="2050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50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5" name="Group 11"/>
          <p:cNvGrpSpPr>
            <a:grpSpLocks/>
          </p:cNvGrpSpPr>
          <p:nvPr/>
        </p:nvGrpSpPr>
        <p:grpSpPr bwMode="auto">
          <a:xfrm>
            <a:off x="1147233" y="530226"/>
            <a:ext cx="491067" cy="474663"/>
            <a:chOff x="0" y="0"/>
            <a:chExt cx="232" cy="299"/>
          </a:xfrm>
        </p:grpSpPr>
        <p:sp>
          <p:nvSpPr>
            <p:cNvPr id="2049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49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6" name="Group 14"/>
          <p:cNvGrpSpPr>
            <a:grpSpLocks/>
          </p:cNvGrpSpPr>
          <p:nvPr/>
        </p:nvGrpSpPr>
        <p:grpSpPr bwMode="auto">
          <a:xfrm>
            <a:off x="31751" y="533401"/>
            <a:ext cx="749300" cy="422275"/>
            <a:chOff x="0" y="0"/>
            <a:chExt cx="353" cy="266"/>
          </a:xfrm>
        </p:grpSpPr>
        <p:sp>
          <p:nvSpPr>
            <p:cNvPr id="2049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49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7" name="Group 17"/>
          <p:cNvGrpSpPr>
            <a:grpSpLocks/>
          </p:cNvGrpSpPr>
          <p:nvPr/>
        </p:nvGrpSpPr>
        <p:grpSpPr bwMode="auto">
          <a:xfrm>
            <a:off x="948267" y="1"/>
            <a:ext cx="42333" cy="1052513"/>
            <a:chOff x="0" y="0"/>
            <a:chExt cx="20" cy="663"/>
          </a:xfrm>
        </p:grpSpPr>
        <p:sp>
          <p:nvSpPr>
            <p:cNvPr id="2049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49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488" name="Group 20"/>
          <p:cNvGrpSpPr>
            <a:grpSpLocks/>
          </p:cNvGrpSpPr>
          <p:nvPr/>
        </p:nvGrpSpPr>
        <p:grpSpPr bwMode="auto">
          <a:xfrm>
            <a:off x="590551" y="533400"/>
            <a:ext cx="10968567" cy="276225"/>
            <a:chOff x="0" y="0"/>
            <a:chExt cx="5182" cy="174"/>
          </a:xfrm>
        </p:grpSpPr>
        <p:sp>
          <p:nvSpPr>
            <p:cNvPr id="2049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49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0489" name="Rectangle 24"/>
          <p:cNvSpPr>
            <a:spLocks noChangeArrowheads="1"/>
          </p:cNvSpPr>
          <p:nvPr/>
        </p:nvSpPr>
        <p:spPr bwMode="auto">
          <a:xfrm>
            <a:off x="2860677" y="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dirty="0" err="1"/>
              <a:t>Go_Back</a:t>
            </a:r>
            <a:r>
              <a:rPr lang="en-US" altLang="ar-SA" sz="3200" b="1" i="1" dirty="0"/>
              <a:t> _N ARQ </a:t>
            </a:r>
          </a:p>
        </p:txBody>
      </p:sp>
      <p:sp>
        <p:nvSpPr>
          <p:cNvPr id="20490"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0491"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0552" y="1751013"/>
            <a:ext cx="10799233" cy="3871912"/>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5003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488951" y="107951"/>
            <a:ext cx="584200" cy="474663"/>
            <a:chOff x="0" y="0"/>
            <a:chExt cx="276" cy="299"/>
          </a:xfrm>
        </p:grpSpPr>
        <p:sp>
          <p:nvSpPr>
            <p:cNvPr id="2152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2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07" name="Group 5"/>
          <p:cNvGrpSpPr>
            <a:grpSpLocks/>
          </p:cNvGrpSpPr>
          <p:nvPr/>
        </p:nvGrpSpPr>
        <p:grpSpPr bwMode="auto">
          <a:xfrm>
            <a:off x="999067" y="107951"/>
            <a:ext cx="438151" cy="474663"/>
            <a:chOff x="0" y="0"/>
            <a:chExt cx="207" cy="299"/>
          </a:xfrm>
        </p:grpSpPr>
        <p:sp>
          <p:nvSpPr>
            <p:cNvPr id="2152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2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08" name="Group 8"/>
          <p:cNvGrpSpPr>
            <a:grpSpLocks/>
          </p:cNvGrpSpPr>
          <p:nvPr/>
        </p:nvGrpSpPr>
        <p:grpSpPr bwMode="auto">
          <a:xfrm>
            <a:off x="654052" y="530226"/>
            <a:ext cx="563033" cy="474663"/>
            <a:chOff x="0" y="0"/>
            <a:chExt cx="266" cy="299"/>
          </a:xfrm>
        </p:grpSpPr>
        <p:sp>
          <p:nvSpPr>
            <p:cNvPr id="2152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2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09" name="Group 11"/>
          <p:cNvGrpSpPr>
            <a:grpSpLocks/>
          </p:cNvGrpSpPr>
          <p:nvPr/>
        </p:nvGrpSpPr>
        <p:grpSpPr bwMode="auto">
          <a:xfrm>
            <a:off x="1147233" y="530226"/>
            <a:ext cx="491067" cy="474663"/>
            <a:chOff x="0" y="0"/>
            <a:chExt cx="232" cy="299"/>
          </a:xfrm>
        </p:grpSpPr>
        <p:sp>
          <p:nvSpPr>
            <p:cNvPr id="2152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2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10" name="Group 14"/>
          <p:cNvGrpSpPr>
            <a:grpSpLocks/>
          </p:cNvGrpSpPr>
          <p:nvPr/>
        </p:nvGrpSpPr>
        <p:grpSpPr bwMode="auto">
          <a:xfrm>
            <a:off x="31751" y="533401"/>
            <a:ext cx="749300" cy="422275"/>
            <a:chOff x="0" y="0"/>
            <a:chExt cx="353" cy="266"/>
          </a:xfrm>
        </p:grpSpPr>
        <p:sp>
          <p:nvSpPr>
            <p:cNvPr id="2152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2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11" name="Group 17"/>
          <p:cNvGrpSpPr>
            <a:grpSpLocks/>
          </p:cNvGrpSpPr>
          <p:nvPr/>
        </p:nvGrpSpPr>
        <p:grpSpPr bwMode="auto">
          <a:xfrm>
            <a:off x="948267" y="1"/>
            <a:ext cx="42333" cy="1052513"/>
            <a:chOff x="0" y="0"/>
            <a:chExt cx="20" cy="663"/>
          </a:xfrm>
        </p:grpSpPr>
        <p:sp>
          <p:nvSpPr>
            <p:cNvPr id="2151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1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1512" name="Group 20"/>
          <p:cNvGrpSpPr>
            <a:grpSpLocks/>
          </p:cNvGrpSpPr>
          <p:nvPr/>
        </p:nvGrpSpPr>
        <p:grpSpPr bwMode="auto">
          <a:xfrm>
            <a:off x="590551" y="533400"/>
            <a:ext cx="10968567" cy="276225"/>
            <a:chOff x="0" y="0"/>
            <a:chExt cx="5182" cy="174"/>
          </a:xfrm>
        </p:grpSpPr>
        <p:sp>
          <p:nvSpPr>
            <p:cNvPr id="2151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151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1513" name="Rectangle 24"/>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Go_Back _N ARQ </a:t>
            </a:r>
          </a:p>
        </p:txBody>
      </p:sp>
      <p:sp>
        <p:nvSpPr>
          <p:cNvPr id="21514" name="TextBox 1"/>
          <p:cNvSpPr txBox="1">
            <a:spLocks noChangeArrowheads="1"/>
          </p:cNvSpPr>
          <p:nvPr/>
        </p:nvSpPr>
        <p:spPr bwMode="auto">
          <a:xfrm>
            <a:off x="488951" y="1219201"/>
            <a:ext cx="179493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151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2167" y="1709738"/>
            <a:ext cx="11118851" cy="42291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72153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Line 2">
            <a:extLst>
              <a:ext uri="{FF2B5EF4-FFF2-40B4-BE49-F238E27FC236}">
                <a16:creationId xmlns:a16="http://schemas.microsoft.com/office/drawing/2014/main" id="{C585A455-104B-4A17-837B-FA5F3A7A30DE}"/>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9619" name="Line 3">
            <a:extLst>
              <a:ext uri="{FF2B5EF4-FFF2-40B4-BE49-F238E27FC236}">
                <a16:creationId xmlns:a16="http://schemas.microsoft.com/office/drawing/2014/main" id="{ABF34CEC-C7BD-48B1-B6C3-58A9E04E10F5}"/>
              </a:ext>
            </a:extLst>
          </p:cNvPr>
          <p:cNvSpPr>
            <a:spLocks noChangeShapeType="1"/>
          </p:cNvSpPr>
          <p:nvPr/>
        </p:nvSpPr>
        <p:spPr bwMode="auto">
          <a:xfrm>
            <a:off x="1676400" y="762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9620" name="Text Box 4">
            <a:extLst>
              <a:ext uri="{FF2B5EF4-FFF2-40B4-BE49-F238E27FC236}">
                <a16:creationId xmlns:a16="http://schemas.microsoft.com/office/drawing/2014/main" id="{7409DB17-F9A2-4137-B211-BA207F08513E}"/>
              </a:ext>
            </a:extLst>
          </p:cNvPr>
          <p:cNvSpPr txBox="1">
            <a:spLocks noChangeArrowheads="1"/>
          </p:cNvSpPr>
          <p:nvPr/>
        </p:nvSpPr>
        <p:spPr bwMode="auto">
          <a:xfrm>
            <a:off x="1828800" y="228600"/>
            <a:ext cx="38461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Design of Go-Back-N ARQ</a:t>
            </a:r>
          </a:p>
        </p:txBody>
      </p:sp>
      <p:sp>
        <p:nvSpPr>
          <p:cNvPr id="879621" name="Line 5">
            <a:extLst>
              <a:ext uri="{FF2B5EF4-FFF2-40B4-BE49-F238E27FC236}">
                <a16:creationId xmlns:a16="http://schemas.microsoft.com/office/drawing/2014/main" id="{ED064027-A03E-4F1D-B11B-548524B4881C}"/>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79622" name="Picture 6">
            <a:extLst>
              <a:ext uri="{FF2B5EF4-FFF2-40B4-BE49-F238E27FC236}">
                <a16:creationId xmlns:a16="http://schemas.microsoft.com/office/drawing/2014/main" id="{2E3B77CF-863C-4D20-9AF9-1CDAD19657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0200" y="914401"/>
            <a:ext cx="6197600" cy="524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9367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Line 2">
            <a:extLst>
              <a:ext uri="{FF2B5EF4-FFF2-40B4-BE49-F238E27FC236}">
                <a16:creationId xmlns:a16="http://schemas.microsoft.com/office/drawing/2014/main" id="{C167D5FF-BDC2-4193-8FFA-ED4161FAB49C}"/>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8595" name="Line 3">
            <a:extLst>
              <a:ext uri="{FF2B5EF4-FFF2-40B4-BE49-F238E27FC236}">
                <a16:creationId xmlns:a16="http://schemas.microsoft.com/office/drawing/2014/main" id="{05F8515D-48BB-480C-A097-73976711F969}"/>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8596" name="Text Box 4">
            <a:extLst>
              <a:ext uri="{FF2B5EF4-FFF2-40B4-BE49-F238E27FC236}">
                <a16:creationId xmlns:a16="http://schemas.microsoft.com/office/drawing/2014/main" id="{E4A834F7-CDD1-45E2-ABAD-B45C40E71E14}"/>
              </a:ext>
            </a:extLst>
          </p:cNvPr>
          <p:cNvSpPr txBox="1">
            <a:spLocks noChangeArrowheads="1"/>
          </p:cNvSpPr>
          <p:nvPr/>
        </p:nvSpPr>
        <p:spPr bwMode="auto">
          <a:xfrm>
            <a:off x="1828800" y="381000"/>
            <a:ext cx="59749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Send</a:t>
            </a:r>
            <a:r>
              <a:rPr lang="en-US" altLang="en-US" sz="2400" dirty="0">
                <a:solidFill>
                  <a:schemeClr val="folHlink"/>
                </a:solidFill>
                <a:latin typeface="Times New Roman" panose="02020603050405020304" pitchFamily="18" charset="0"/>
              </a:rPr>
              <a:t> </a:t>
            </a:r>
            <a:r>
              <a:rPr lang="en-US" altLang="en-US" sz="2000" i="1" dirty="0">
                <a:latin typeface="Times New Roman" panose="02020603050405020304" pitchFamily="18" charset="0"/>
              </a:rPr>
              <a:t>and Receive window for Go-Back-N ARQ</a:t>
            </a:r>
          </a:p>
        </p:txBody>
      </p:sp>
      <p:sp>
        <p:nvSpPr>
          <p:cNvPr id="878597" name="Line 5">
            <a:extLst>
              <a:ext uri="{FF2B5EF4-FFF2-40B4-BE49-F238E27FC236}">
                <a16:creationId xmlns:a16="http://schemas.microsoft.com/office/drawing/2014/main" id="{F1A8B099-0976-4DAA-93C4-148680B588A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3" name="Picture 2">
            <a:extLst>
              <a:ext uri="{FF2B5EF4-FFF2-40B4-BE49-F238E27FC236}">
                <a16:creationId xmlns:a16="http://schemas.microsoft.com/office/drawing/2014/main" id="{B3437722-2E58-676A-A68E-F32B183554B3}"/>
              </a:ext>
            </a:extLst>
          </p:cNvPr>
          <p:cNvPicPr>
            <a:picLocks noChangeAspect="1"/>
          </p:cNvPicPr>
          <p:nvPr/>
        </p:nvPicPr>
        <p:blipFill>
          <a:blip r:embed="rId3"/>
          <a:stretch>
            <a:fillRect/>
          </a:stretch>
        </p:blipFill>
        <p:spPr>
          <a:xfrm>
            <a:off x="1676400" y="1268940"/>
            <a:ext cx="8763000" cy="1820152"/>
          </a:xfrm>
          <a:prstGeom prst="rect">
            <a:avLst/>
          </a:prstGeom>
        </p:spPr>
      </p:pic>
      <p:pic>
        <p:nvPicPr>
          <p:cNvPr id="5" name="Picture 4">
            <a:extLst>
              <a:ext uri="{FF2B5EF4-FFF2-40B4-BE49-F238E27FC236}">
                <a16:creationId xmlns:a16="http://schemas.microsoft.com/office/drawing/2014/main" id="{1A0194FE-F57C-BF48-C56F-FA46EEE174E0}"/>
              </a:ext>
            </a:extLst>
          </p:cNvPr>
          <p:cNvPicPr>
            <a:picLocks noChangeAspect="1"/>
          </p:cNvPicPr>
          <p:nvPr/>
        </p:nvPicPr>
        <p:blipFill>
          <a:blip r:embed="rId4"/>
          <a:stretch>
            <a:fillRect/>
          </a:stretch>
        </p:blipFill>
        <p:spPr>
          <a:xfrm>
            <a:off x="1676400" y="3429000"/>
            <a:ext cx="8763000" cy="2044470"/>
          </a:xfrm>
          <a:prstGeom prst="rect">
            <a:avLst/>
          </a:prstGeom>
        </p:spPr>
      </p:pic>
    </p:spTree>
    <p:extLst>
      <p:ext uri="{BB962C8B-B14F-4D97-AF65-F5344CB8AC3E}">
        <p14:creationId xmlns:p14="http://schemas.microsoft.com/office/powerpoint/2010/main" val="3870104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a:extLst>
              <a:ext uri="{FF2B5EF4-FFF2-40B4-BE49-F238E27FC236}">
                <a16:creationId xmlns:a16="http://schemas.microsoft.com/office/drawing/2014/main" id="{802BCCAD-9EE1-4602-B464-E9B7BD17F8C2}"/>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1" name="Rectangle 3">
            <a:extLst>
              <a:ext uri="{FF2B5EF4-FFF2-40B4-BE49-F238E27FC236}">
                <a16:creationId xmlns:a16="http://schemas.microsoft.com/office/drawing/2014/main" id="{BEA9EE21-B459-4A67-83E2-7CC7865ABEC3}"/>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2" name="Rectangle 4">
            <a:extLst>
              <a:ext uri="{FF2B5EF4-FFF2-40B4-BE49-F238E27FC236}">
                <a16:creationId xmlns:a16="http://schemas.microsoft.com/office/drawing/2014/main" id="{89B25F63-2F03-4A35-935A-051DBA465E02}"/>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3" name="Rectangle 5">
            <a:extLst>
              <a:ext uri="{FF2B5EF4-FFF2-40B4-BE49-F238E27FC236}">
                <a16:creationId xmlns:a16="http://schemas.microsoft.com/office/drawing/2014/main" id="{70B29D0A-8A72-44B1-968C-F38536EA7D4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4" name="Rectangle 6">
            <a:extLst>
              <a:ext uri="{FF2B5EF4-FFF2-40B4-BE49-F238E27FC236}">
                <a16:creationId xmlns:a16="http://schemas.microsoft.com/office/drawing/2014/main" id="{32243059-E0A5-47BE-B183-42D7FC0F3191}"/>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5" name="Rectangle 7">
            <a:extLst>
              <a:ext uri="{FF2B5EF4-FFF2-40B4-BE49-F238E27FC236}">
                <a16:creationId xmlns:a16="http://schemas.microsoft.com/office/drawing/2014/main" id="{224649E6-C345-495F-BE66-1BEA714F6054}"/>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6" name="Rectangle 8">
            <a:extLst>
              <a:ext uri="{FF2B5EF4-FFF2-40B4-BE49-F238E27FC236}">
                <a16:creationId xmlns:a16="http://schemas.microsoft.com/office/drawing/2014/main" id="{8006AFBF-A8CD-4FC7-BB91-D27F250542A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pic>
        <p:nvPicPr>
          <p:cNvPr id="3" name="Picture 2">
            <a:extLst>
              <a:ext uri="{FF2B5EF4-FFF2-40B4-BE49-F238E27FC236}">
                <a16:creationId xmlns:a16="http://schemas.microsoft.com/office/drawing/2014/main" id="{03E3729D-4BE3-9871-5900-092491E8AA72}"/>
              </a:ext>
            </a:extLst>
          </p:cNvPr>
          <p:cNvPicPr>
            <a:picLocks noChangeAspect="1"/>
          </p:cNvPicPr>
          <p:nvPr/>
        </p:nvPicPr>
        <p:blipFill>
          <a:blip r:embed="rId3"/>
          <a:srcRect b="80992"/>
          <a:stretch>
            <a:fillRect/>
          </a:stretch>
        </p:blipFill>
        <p:spPr>
          <a:xfrm>
            <a:off x="0" y="615922"/>
            <a:ext cx="5893980" cy="893763"/>
          </a:xfrm>
          <a:prstGeom prst="rect">
            <a:avLst/>
          </a:prstGeom>
        </p:spPr>
      </p:pic>
      <p:pic>
        <p:nvPicPr>
          <p:cNvPr id="5" name="Picture 4">
            <a:extLst>
              <a:ext uri="{FF2B5EF4-FFF2-40B4-BE49-F238E27FC236}">
                <a16:creationId xmlns:a16="http://schemas.microsoft.com/office/drawing/2014/main" id="{C718AB31-3540-C1A8-8DE0-5909AFFF561F}"/>
              </a:ext>
            </a:extLst>
          </p:cNvPr>
          <p:cNvPicPr>
            <a:picLocks noChangeAspect="1"/>
          </p:cNvPicPr>
          <p:nvPr/>
        </p:nvPicPr>
        <p:blipFill>
          <a:blip r:embed="rId4"/>
          <a:srcRect b="79575"/>
          <a:stretch>
            <a:fillRect/>
          </a:stretch>
        </p:blipFill>
        <p:spPr>
          <a:xfrm>
            <a:off x="5853710" y="565150"/>
            <a:ext cx="6354168" cy="960380"/>
          </a:xfrm>
          <a:prstGeom prst="rect">
            <a:avLst/>
          </a:prstGeom>
        </p:spPr>
      </p:pic>
      <p:sp>
        <p:nvSpPr>
          <p:cNvPr id="2" name="Rectangle 24">
            <a:extLst>
              <a:ext uri="{FF2B5EF4-FFF2-40B4-BE49-F238E27FC236}">
                <a16:creationId xmlns:a16="http://schemas.microsoft.com/office/drawing/2014/main" id="{873FCE52-3349-49E5-3622-10EF19B90575}"/>
              </a:ext>
            </a:extLst>
          </p:cNvPr>
          <p:cNvSpPr>
            <a:spLocks noChangeArrowheads="1"/>
          </p:cNvSpPr>
          <p:nvPr/>
        </p:nvSpPr>
        <p:spPr bwMode="auto">
          <a:xfrm>
            <a:off x="3149600" y="39688"/>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dirty="0" err="1"/>
              <a:t>Go_Back</a:t>
            </a:r>
            <a:r>
              <a:rPr lang="en-US" altLang="ar-SA" sz="3200" b="1" i="1" dirty="0"/>
              <a:t> _N ARQ </a:t>
            </a:r>
          </a:p>
        </p:txBody>
      </p:sp>
      <p:pic>
        <p:nvPicPr>
          <p:cNvPr id="6" name="Picture 5">
            <a:extLst>
              <a:ext uri="{FF2B5EF4-FFF2-40B4-BE49-F238E27FC236}">
                <a16:creationId xmlns:a16="http://schemas.microsoft.com/office/drawing/2014/main" id="{EC2281FA-15CD-637F-43E2-EFEEF2AA7B18}"/>
              </a:ext>
            </a:extLst>
          </p:cNvPr>
          <p:cNvPicPr>
            <a:picLocks noChangeAspect="1"/>
          </p:cNvPicPr>
          <p:nvPr/>
        </p:nvPicPr>
        <p:blipFill>
          <a:blip r:embed="rId5"/>
          <a:stretch>
            <a:fillRect/>
          </a:stretch>
        </p:blipFill>
        <p:spPr>
          <a:xfrm>
            <a:off x="1427747" y="1415761"/>
            <a:ext cx="9336505" cy="5442238"/>
          </a:xfrm>
          <a:prstGeom prst="rect">
            <a:avLst/>
          </a:prstGeom>
        </p:spPr>
      </p:pic>
    </p:spTree>
    <p:extLst>
      <p:ext uri="{BB962C8B-B14F-4D97-AF65-F5344CB8AC3E}">
        <p14:creationId xmlns:p14="http://schemas.microsoft.com/office/powerpoint/2010/main" val="9887554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a:extLst>
              <a:ext uri="{FF2B5EF4-FFF2-40B4-BE49-F238E27FC236}">
                <a16:creationId xmlns:a16="http://schemas.microsoft.com/office/drawing/2014/main" id="{802BCCAD-9EE1-4602-B464-E9B7BD17F8C2}"/>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1" name="Rectangle 3">
            <a:extLst>
              <a:ext uri="{FF2B5EF4-FFF2-40B4-BE49-F238E27FC236}">
                <a16:creationId xmlns:a16="http://schemas.microsoft.com/office/drawing/2014/main" id="{BEA9EE21-B459-4A67-83E2-7CC7865ABEC3}"/>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2" name="Rectangle 4">
            <a:extLst>
              <a:ext uri="{FF2B5EF4-FFF2-40B4-BE49-F238E27FC236}">
                <a16:creationId xmlns:a16="http://schemas.microsoft.com/office/drawing/2014/main" id="{89B25F63-2F03-4A35-935A-051DBA465E02}"/>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3" name="Rectangle 5">
            <a:extLst>
              <a:ext uri="{FF2B5EF4-FFF2-40B4-BE49-F238E27FC236}">
                <a16:creationId xmlns:a16="http://schemas.microsoft.com/office/drawing/2014/main" id="{70B29D0A-8A72-44B1-968C-F38536EA7D4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4" name="Rectangle 6">
            <a:extLst>
              <a:ext uri="{FF2B5EF4-FFF2-40B4-BE49-F238E27FC236}">
                <a16:creationId xmlns:a16="http://schemas.microsoft.com/office/drawing/2014/main" id="{32243059-E0A5-47BE-B183-42D7FC0F3191}"/>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5" name="Rectangle 7">
            <a:extLst>
              <a:ext uri="{FF2B5EF4-FFF2-40B4-BE49-F238E27FC236}">
                <a16:creationId xmlns:a16="http://schemas.microsoft.com/office/drawing/2014/main" id="{224649E6-C345-495F-BE66-1BEA714F6054}"/>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6" name="Rectangle 8">
            <a:extLst>
              <a:ext uri="{FF2B5EF4-FFF2-40B4-BE49-F238E27FC236}">
                <a16:creationId xmlns:a16="http://schemas.microsoft.com/office/drawing/2014/main" id="{8006AFBF-A8CD-4FC7-BB91-D27F250542A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18537" name="Line 9">
            <a:extLst>
              <a:ext uri="{FF2B5EF4-FFF2-40B4-BE49-F238E27FC236}">
                <a16:creationId xmlns:a16="http://schemas.microsoft.com/office/drawing/2014/main" id="{C8D8DF9F-6FFE-4873-B9E1-DBFD665E38C1}"/>
              </a:ext>
            </a:extLst>
          </p:cNvPr>
          <p:cNvSpPr>
            <a:spLocks noChangeShapeType="1"/>
          </p:cNvSpPr>
          <p:nvPr/>
        </p:nvSpPr>
        <p:spPr bwMode="auto">
          <a:xfrm>
            <a:off x="2563814" y="1903163"/>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8538" name="Line 10">
            <a:extLst>
              <a:ext uri="{FF2B5EF4-FFF2-40B4-BE49-F238E27FC236}">
                <a16:creationId xmlns:a16="http://schemas.microsoft.com/office/drawing/2014/main" id="{FEFB1299-3382-448B-AF2C-00F9F417B3A0}"/>
              </a:ext>
            </a:extLst>
          </p:cNvPr>
          <p:cNvSpPr>
            <a:spLocks noChangeShapeType="1"/>
          </p:cNvSpPr>
          <p:nvPr/>
        </p:nvSpPr>
        <p:spPr bwMode="auto">
          <a:xfrm>
            <a:off x="2597153" y="5134413"/>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8539" name="Rectangle 11">
            <a:extLst>
              <a:ext uri="{FF2B5EF4-FFF2-40B4-BE49-F238E27FC236}">
                <a16:creationId xmlns:a16="http://schemas.microsoft.com/office/drawing/2014/main" id="{91EF6F60-22BF-4833-B566-65657E222792}"/>
              </a:ext>
            </a:extLst>
          </p:cNvPr>
          <p:cNvSpPr>
            <a:spLocks noChangeArrowheads="1"/>
          </p:cNvSpPr>
          <p:nvPr/>
        </p:nvSpPr>
        <p:spPr bwMode="auto">
          <a:xfrm>
            <a:off x="2601914" y="1995239"/>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dirty="0"/>
              <a:t>In the </a:t>
            </a:r>
            <a:r>
              <a:rPr lang="en-US" altLang="en-US" b="1" dirty="0"/>
              <a:t>Go-Back-N Protocol</a:t>
            </a:r>
            <a:r>
              <a:rPr lang="en-US" altLang="en-US" dirty="0"/>
              <a:t>, the sequence numbers are modulo </a:t>
            </a:r>
            <a:r>
              <a:rPr lang="en-US" altLang="en-US" b="1" dirty="0"/>
              <a:t>2</a:t>
            </a:r>
            <a:r>
              <a:rPr lang="en-US" altLang="en-US" b="1" i="1" baseline="30000" dirty="0"/>
              <a:t>m</a:t>
            </a:r>
            <a:r>
              <a:rPr lang="en-US" altLang="en-US" dirty="0"/>
              <a:t>,</a:t>
            </a:r>
          </a:p>
          <a:p>
            <a:pPr algn="ctr"/>
            <a:r>
              <a:rPr lang="en-US" altLang="en-US" dirty="0"/>
              <a:t>where m is the size of the sequence number field in bits.</a:t>
            </a:r>
          </a:p>
        </p:txBody>
      </p:sp>
      <p:sp>
        <p:nvSpPr>
          <p:cNvPr id="16" name="Rectangle 11">
            <a:extLst>
              <a:ext uri="{FF2B5EF4-FFF2-40B4-BE49-F238E27FC236}">
                <a16:creationId xmlns:a16="http://schemas.microsoft.com/office/drawing/2014/main" id="{7BDDC538-2069-496E-8E9D-BE1C81AA83C7}"/>
              </a:ext>
            </a:extLst>
          </p:cNvPr>
          <p:cNvSpPr>
            <a:spLocks noChangeArrowheads="1"/>
          </p:cNvSpPr>
          <p:nvPr/>
        </p:nvSpPr>
        <p:spPr bwMode="auto">
          <a:xfrm>
            <a:off x="2628924" y="2764056"/>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dirty="0"/>
              <a:t>The send window is an abstract concept defining an imaginary box of size 2</a:t>
            </a:r>
            <a:r>
              <a:rPr lang="en-US" altLang="en-US" i="1" baseline="30000" dirty="0"/>
              <a:t>m</a:t>
            </a:r>
            <a:r>
              <a:rPr lang="en-US" altLang="en-US" dirty="0"/>
              <a:t> − 1 with three variables: </a:t>
            </a:r>
            <a:r>
              <a:rPr lang="en-US" altLang="en-US" dirty="0" err="1"/>
              <a:t>S</a:t>
            </a:r>
            <a:r>
              <a:rPr lang="en-US" altLang="en-US" baseline="-25000" dirty="0" err="1"/>
              <a:t>f</a:t>
            </a:r>
            <a:r>
              <a:rPr lang="en-US" altLang="en-US" dirty="0"/>
              <a:t>, </a:t>
            </a:r>
            <a:r>
              <a:rPr lang="en-US" altLang="en-US" dirty="0" err="1"/>
              <a:t>S</a:t>
            </a:r>
            <a:r>
              <a:rPr lang="en-US" altLang="en-US" baseline="-25000" dirty="0" err="1"/>
              <a:t>n</a:t>
            </a:r>
            <a:r>
              <a:rPr lang="en-US" altLang="en-US" dirty="0"/>
              <a:t>, and </a:t>
            </a:r>
            <a:r>
              <a:rPr lang="en-US" altLang="en-US" dirty="0" err="1"/>
              <a:t>S</a:t>
            </a:r>
            <a:r>
              <a:rPr lang="en-US" altLang="en-US" baseline="-16000" dirty="0" err="1"/>
              <a:t>size</a:t>
            </a:r>
            <a:r>
              <a:rPr lang="en-US" altLang="en-US" dirty="0"/>
              <a:t>.</a:t>
            </a:r>
          </a:p>
        </p:txBody>
      </p:sp>
      <p:sp>
        <p:nvSpPr>
          <p:cNvPr id="17" name="Rectangle 11">
            <a:extLst>
              <a:ext uri="{FF2B5EF4-FFF2-40B4-BE49-F238E27FC236}">
                <a16:creationId xmlns:a16="http://schemas.microsoft.com/office/drawing/2014/main" id="{402A8173-3133-4C61-BEDB-EF75355D24F2}"/>
              </a:ext>
            </a:extLst>
          </p:cNvPr>
          <p:cNvSpPr>
            <a:spLocks noChangeArrowheads="1"/>
          </p:cNvSpPr>
          <p:nvPr/>
        </p:nvSpPr>
        <p:spPr bwMode="auto">
          <a:xfrm>
            <a:off x="2624163" y="3562787"/>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dirty="0"/>
              <a:t>The send window can slide one</a:t>
            </a:r>
            <a:br>
              <a:rPr lang="en-US" altLang="en-US" dirty="0"/>
            </a:br>
            <a:r>
              <a:rPr lang="en-US" altLang="en-US" dirty="0"/>
              <a:t>slot when a valid acknowledgment arrives.</a:t>
            </a:r>
          </a:p>
        </p:txBody>
      </p:sp>
      <p:sp>
        <p:nvSpPr>
          <p:cNvPr id="18" name="Rectangle 11">
            <a:extLst>
              <a:ext uri="{FF2B5EF4-FFF2-40B4-BE49-F238E27FC236}">
                <a16:creationId xmlns:a16="http://schemas.microsoft.com/office/drawing/2014/main" id="{680FB7DC-99AF-4502-88C8-EBE68E31308A}"/>
              </a:ext>
            </a:extLst>
          </p:cNvPr>
          <p:cNvSpPr>
            <a:spLocks noChangeArrowheads="1"/>
          </p:cNvSpPr>
          <p:nvPr/>
        </p:nvSpPr>
        <p:spPr bwMode="auto">
          <a:xfrm>
            <a:off x="2601914" y="4348382"/>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dirty="0"/>
              <a:t>In Go-Back-N ARQ, the size of the send window must be less than 2</a:t>
            </a:r>
            <a:r>
              <a:rPr lang="en-US" altLang="en-US" i="1" baseline="30000" dirty="0"/>
              <a:t>m</a:t>
            </a:r>
            <a:r>
              <a:rPr lang="en-US" altLang="en-US" dirty="0"/>
              <a:t>;</a:t>
            </a:r>
          </a:p>
          <a:p>
            <a:pPr algn="ctr"/>
            <a:r>
              <a:rPr lang="en-US" altLang="en-US" dirty="0"/>
              <a:t>the size of the receiver window is always 1.</a:t>
            </a:r>
          </a:p>
        </p:txBody>
      </p:sp>
    </p:spTree>
    <p:extLst>
      <p:ext uri="{BB962C8B-B14F-4D97-AF65-F5344CB8AC3E}">
        <p14:creationId xmlns:p14="http://schemas.microsoft.com/office/powerpoint/2010/main" val="27566596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Text Box 2">
            <a:extLst>
              <a:ext uri="{FF2B5EF4-FFF2-40B4-BE49-F238E27FC236}">
                <a16:creationId xmlns:a16="http://schemas.microsoft.com/office/drawing/2014/main" id="{6A81811A-3C2C-4157-89FA-8288CA6EB361}"/>
              </a:ext>
            </a:extLst>
          </p:cNvPr>
          <p:cNvSpPr txBox="1">
            <a:spLocks noChangeArrowheads="1"/>
          </p:cNvSpPr>
          <p:nvPr/>
        </p:nvSpPr>
        <p:spPr bwMode="auto">
          <a:xfrm>
            <a:off x="1828801" y="152400"/>
            <a:ext cx="45320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Go-Back-N sender algorithm</a:t>
            </a:r>
          </a:p>
        </p:txBody>
      </p:sp>
      <p:pic>
        <p:nvPicPr>
          <p:cNvPr id="935939" name="Picture 3">
            <a:extLst>
              <a:ext uri="{FF2B5EF4-FFF2-40B4-BE49-F238E27FC236}">
                <a16:creationId xmlns:a16="http://schemas.microsoft.com/office/drawing/2014/main" id="{D9B74788-11B7-4E19-B5DC-89CE373F4E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7976" y="590550"/>
            <a:ext cx="9013825"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5940" name="Rectangle 4">
            <a:extLst>
              <a:ext uri="{FF2B5EF4-FFF2-40B4-BE49-F238E27FC236}">
                <a16:creationId xmlns:a16="http://schemas.microsoft.com/office/drawing/2014/main" id="{E27AE7B1-D664-4379-8830-FBBBC474A6D7}"/>
              </a:ext>
            </a:extLst>
          </p:cNvPr>
          <p:cNvSpPr>
            <a:spLocks noChangeArrowheads="1"/>
          </p:cNvSpPr>
          <p:nvPr/>
        </p:nvSpPr>
        <p:spPr bwMode="auto">
          <a:xfrm>
            <a:off x="8839201" y="591185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Tree>
    <p:extLst>
      <p:ext uri="{BB962C8B-B14F-4D97-AF65-F5344CB8AC3E}">
        <p14:creationId xmlns:p14="http://schemas.microsoft.com/office/powerpoint/2010/main" val="30709614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2" name="Text Box 2">
            <a:extLst>
              <a:ext uri="{FF2B5EF4-FFF2-40B4-BE49-F238E27FC236}">
                <a16:creationId xmlns:a16="http://schemas.microsoft.com/office/drawing/2014/main" id="{E441A741-3C9B-4E7F-97F2-8D375AC6641D}"/>
              </a:ext>
            </a:extLst>
          </p:cNvPr>
          <p:cNvSpPr txBox="1">
            <a:spLocks noChangeArrowheads="1"/>
          </p:cNvSpPr>
          <p:nvPr/>
        </p:nvSpPr>
        <p:spPr bwMode="auto">
          <a:xfrm>
            <a:off x="1819276" y="0"/>
            <a:ext cx="45961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Go-Back-N sender algorithm </a:t>
            </a:r>
          </a:p>
        </p:txBody>
      </p:sp>
      <p:pic>
        <p:nvPicPr>
          <p:cNvPr id="957444" name="Picture 4">
            <a:extLst>
              <a:ext uri="{FF2B5EF4-FFF2-40B4-BE49-F238E27FC236}">
                <a16:creationId xmlns:a16="http://schemas.microsoft.com/office/drawing/2014/main" id="{5EB3BCD8-9B88-4E31-8D8F-7061DB866A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76" y="533400"/>
            <a:ext cx="884872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7445" name="Rectangle 5">
            <a:extLst>
              <a:ext uri="{FF2B5EF4-FFF2-40B4-BE49-F238E27FC236}">
                <a16:creationId xmlns:a16="http://schemas.microsoft.com/office/drawing/2014/main" id="{8C9F565D-BE26-4B83-BD8B-15027DAEA40B}"/>
              </a:ext>
            </a:extLst>
          </p:cNvPr>
          <p:cNvSpPr>
            <a:spLocks noChangeArrowheads="1"/>
          </p:cNvSpPr>
          <p:nvPr/>
        </p:nvSpPr>
        <p:spPr bwMode="auto">
          <a:xfrm>
            <a:off x="8801101" y="-7620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Tree>
    <p:extLst>
      <p:ext uri="{BB962C8B-B14F-4D97-AF65-F5344CB8AC3E}">
        <p14:creationId xmlns:p14="http://schemas.microsoft.com/office/powerpoint/2010/main" val="16651503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Text Box 2">
            <a:extLst>
              <a:ext uri="{FF2B5EF4-FFF2-40B4-BE49-F238E27FC236}">
                <a16:creationId xmlns:a16="http://schemas.microsoft.com/office/drawing/2014/main" id="{CA587D84-CC91-4464-BC8E-ACB02B77D717}"/>
              </a:ext>
            </a:extLst>
          </p:cNvPr>
          <p:cNvSpPr txBox="1">
            <a:spLocks noChangeArrowheads="1"/>
          </p:cNvSpPr>
          <p:nvPr/>
        </p:nvSpPr>
        <p:spPr bwMode="auto">
          <a:xfrm>
            <a:off x="1752601" y="152400"/>
            <a:ext cx="46780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Go-Back-N receiver algorithm</a:t>
            </a:r>
          </a:p>
        </p:txBody>
      </p:sp>
      <p:pic>
        <p:nvPicPr>
          <p:cNvPr id="936963" name="Picture 3">
            <a:extLst>
              <a:ext uri="{FF2B5EF4-FFF2-40B4-BE49-F238E27FC236}">
                <a16:creationId xmlns:a16="http://schemas.microsoft.com/office/drawing/2014/main" id="{6C23905F-02DA-46E6-B0FB-F73E431747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1" y="685800"/>
            <a:ext cx="9104313"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9842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
          <p:cNvGrpSpPr>
            <a:grpSpLocks/>
          </p:cNvGrpSpPr>
          <p:nvPr/>
        </p:nvGrpSpPr>
        <p:grpSpPr bwMode="auto">
          <a:xfrm>
            <a:off x="488951" y="107951"/>
            <a:ext cx="584200" cy="474663"/>
            <a:chOff x="0" y="0"/>
            <a:chExt cx="276" cy="299"/>
          </a:xfrm>
        </p:grpSpPr>
        <p:sp>
          <p:nvSpPr>
            <p:cNvPr id="23575"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76"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55" name="Group 5"/>
          <p:cNvGrpSpPr>
            <a:grpSpLocks/>
          </p:cNvGrpSpPr>
          <p:nvPr/>
        </p:nvGrpSpPr>
        <p:grpSpPr bwMode="auto">
          <a:xfrm>
            <a:off x="999067" y="107951"/>
            <a:ext cx="438151" cy="474663"/>
            <a:chOff x="0" y="0"/>
            <a:chExt cx="207" cy="299"/>
          </a:xfrm>
        </p:grpSpPr>
        <p:sp>
          <p:nvSpPr>
            <p:cNvPr id="23573"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74"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56" name="Group 8"/>
          <p:cNvGrpSpPr>
            <a:grpSpLocks/>
          </p:cNvGrpSpPr>
          <p:nvPr/>
        </p:nvGrpSpPr>
        <p:grpSpPr bwMode="auto">
          <a:xfrm>
            <a:off x="654052" y="530226"/>
            <a:ext cx="563033" cy="474663"/>
            <a:chOff x="0" y="0"/>
            <a:chExt cx="266" cy="299"/>
          </a:xfrm>
        </p:grpSpPr>
        <p:sp>
          <p:nvSpPr>
            <p:cNvPr id="23571"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72"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57" name="Group 11"/>
          <p:cNvGrpSpPr>
            <a:grpSpLocks/>
          </p:cNvGrpSpPr>
          <p:nvPr/>
        </p:nvGrpSpPr>
        <p:grpSpPr bwMode="auto">
          <a:xfrm>
            <a:off x="1147233" y="530226"/>
            <a:ext cx="491067" cy="474663"/>
            <a:chOff x="0" y="0"/>
            <a:chExt cx="232" cy="299"/>
          </a:xfrm>
        </p:grpSpPr>
        <p:sp>
          <p:nvSpPr>
            <p:cNvPr id="23569"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70"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58" name="Group 14"/>
          <p:cNvGrpSpPr>
            <a:grpSpLocks/>
          </p:cNvGrpSpPr>
          <p:nvPr/>
        </p:nvGrpSpPr>
        <p:grpSpPr bwMode="auto">
          <a:xfrm>
            <a:off x="31751" y="533401"/>
            <a:ext cx="749300" cy="422275"/>
            <a:chOff x="0" y="0"/>
            <a:chExt cx="353" cy="266"/>
          </a:xfrm>
        </p:grpSpPr>
        <p:sp>
          <p:nvSpPr>
            <p:cNvPr id="23567"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68"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59" name="Group 17"/>
          <p:cNvGrpSpPr>
            <a:grpSpLocks/>
          </p:cNvGrpSpPr>
          <p:nvPr/>
        </p:nvGrpSpPr>
        <p:grpSpPr bwMode="auto">
          <a:xfrm>
            <a:off x="948267" y="1"/>
            <a:ext cx="42333" cy="1052513"/>
            <a:chOff x="0" y="0"/>
            <a:chExt cx="20" cy="663"/>
          </a:xfrm>
        </p:grpSpPr>
        <p:sp>
          <p:nvSpPr>
            <p:cNvPr id="23565"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66"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3560" name="Group 20"/>
          <p:cNvGrpSpPr>
            <a:grpSpLocks/>
          </p:cNvGrpSpPr>
          <p:nvPr/>
        </p:nvGrpSpPr>
        <p:grpSpPr bwMode="auto">
          <a:xfrm>
            <a:off x="590551" y="533400"/>
            <a:ext cx="10968567" cy="276225"/>
            <a:chOff x="0" y="0"/>
            <a:chExt cx="5182" cy="174"/>
          </a:xfrm>
        </p:grpSpPr>
        <p:sp>
          <p:nvSpPr>
            <p:cNvPr id="23563"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3564"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3561" name="Rectangle 2"/>
          <p:cNvSpPr>
            <a:spLocks noChangeArrowheads="1"/>
          </p:cNvSpPr>
          <p:nvPr/>
        </p:nvSpPr>
        <p:spPr bwMode="auto">
          <a:xfrm>
            <a:off x="3378200" y="-58738"/>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sp>
        <p:nvSpPr>
          <p:cNvPr id="4" name="Rectangle 3"/>
          <p:cNvSpPr/>
          <p:nvPr/>
        </p:nvSpPr>
        <p:spPr>
          <a:xfrm>
            <a:off x="488951" y="1219200"/>
            <a:ext cx="11343658" cy="5262979"/>
          </a:xfrm>
          <a:prstGeom prst="rect">
            <a:avLst/>
          </a:prstGeom>
        </p:spPr>
        <p:txBody>
          <a:bodyPr wrap="square">
            <a:spAutoFit/>
          </a:bodyPr>
          <a:lstStyle/>
          <a:p>
            <a:pPr>
              <a:defRPr/>
            </a:pPr>
            <a:r>
              <a:rPr lang="en-US" sz="2800" i="1" dirty="0"/>
              <a:t>Go-Back-N ARQ is inefficient of a </a:t>
            </a:r>
            <a:r>
              <a:rPr lang="en-US" sz="2800" b="1" i="1" dirty="0">
                <a:solidFill>
                  <a:srgbClr val="002060"/>
                </a:solidFill>
              </a:rPr>
              <a:t>noisy</a:t>
            </a:r>
            <a:r>
              <a:rPr lang="en-US" sz="2800" i="1" dirty="0">
                <a:solidFill>
                  <a:srgbClr val="002060"/>
                </a:solidFill>
              </a:rPr>
              <a:t> </a:t>
            </a:r>
            <a:r>
              <a:rPr lang="en-US" sz="2800" i="1" dirty="0"/>
              <a:t>link.</a:t>
            </a:r>
          </a:p>
          <a:p>
            <a:pPr>
              <a:defRPr/>
            </a:pPr>
            <a:endParaRPr lang="en-US" sz="2800" i="1" dirty="0"/>
          </a:p>
          <a:p>
            <a:pPr marL="342900" indent="-342900">
              <a:buFont typeface="Wingdings" panose="05000000000000000000" pitchFamily="2" charset="2"/>
              <a:buChar char="Ø"/>
              <a:defRPr/>
            </a:pPr>
            <a:r>
              <a:rPr lang="en-US" sz="2800" i="1" dirty="0"/>
              <a:t>In a noisy link frames have higher probability of damage , which means the resending of multiple frames.</a:t>
            </a:r>
          </a:p>
          <a:p>
            <a:pPr marL="342900" indent="-342900">
              <a:buFont typeface="Wingdings" panose="05000000000000000000" pitchFamily="2" charset="2"/>
              <a:buChar char="Ø"/>
              <a:defRPr/>
            </a:pPr>
            <a:r>
              <a:rPr lang="en-US" sz="2800" i="1" dirty="0"/>
              <a:t>this resending consumes the bandwidth and slow down the transmission .</a:t>
            </a:r>
          </a:p>
          <a:p>
            <a:pPr>
              <a:defRPr/>
            </a:pPr>
            <a:r>
              <a:rPr lang="en-US" sz="2800" b="1" i="1" dirty="0">
                <a:solidFill>
                  <a:srgbClr val="002060"/>
                </a:solidFill>
              </a:rPr>
              <a:t>Solution</a:t>
            </a:r>
            <a:r>
              <a:rPr lang="en-US" sz="2800" i="1" dirty="0"/>
              <a:t>:</a:t>
            </a:r>
          </a:p>
          <a:p>
            <a:pPr marL="342900" indent="-342900">
              <a:buFont typeface="Wingdings" panose="05000000000000000000" pitchFamily="2" charset="2"/>
              <a:buChar char="Ø"/>
              <a:defRPr/>
            </a:pPr>
            <a:r>
              <a:rPr lang="en-US" sz="2800" i="1" dirty="0"/>
              <a:t>Selective Repeat ARQ protocol : resent only the damage frame</a:t>
            </a:r>
          </a:p>
          <a:p>
            <a:pPr marL="342900" indent="-342900">
              <a:buFont typeface="Wingdings" panose="05000000000000000000" pitchFamily="2" charset="2"/>
              <a:buChar char="Ø"/>
              <a:defRPr/>
            </a:pPr>
            <a:r>
              <a:rPr lang="en-US" sz="2800" i="1" dirty="0"/>
              <a:t>It defines a negative Acknowledgement (NAK) that report the sequence number of a damaged frame before the timer expires</a:t>
            </a:r>
          </a:p>
          <a:p>
            <a:pPr marL="342900" indent="-342900">
              <a:buFont typeface="Wingdings" panose="05000000000000000000" pitchFamily="2" charset="2"/>
              <a:buChar char="Ø"/>
              <a:defRPr/>
            </a:pPr>
            <a:r>
              <a:rPr lang="en-US" sz="2800" i="1" dirty="0"/>
              <a:t>Correct frames are received and buffered</a:t>
            </a:r>
          </a:p>
          <a:p>
            <a:pPr marL="342900" indent="-342900">
              <a:buFont typeface="Wingdings" panose="05000000000000000000" pitchFamily="2" charset="2"/>
              <a:buChar char="Ø"/>
              <a:defRPr/>
            </a:pPr>
            <a:r>
              <a:rPr lang="en-US" sz="2800" i="1" dirty="0"/>
              <a:t>It is more efficient for noisy link, but the processing at the receiver is more complex</a:t>
            </a:r>
          </a:p>
        </p:txBody>
      </p:sp>
    </p:spTree>
    <p:extLst>
      <p:ext uri="{BB962C8B-B14F-4D97-AF65-F5344CB8AC3E}">
        <p14:creationId xmlns:p14="http://schemas.microsoft.com/office/powerpoint/2010/main" val="442763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p:cNvGrpSpPr>
            <a:grpSpLocks/>
          </p:cNvGrpSpPr>
          <p:nvPr/>
        </p:nvGrpSpPr>
        <p:grpSpPr bwMode="auto">
          <a:xfrm>
            <a:off x="488951" y="107951"/>
            <a:ext cx="584200" cy="474663"/>
            <a:chOff x="0" y="0"/>
            <a:chExt cx="276" cy="299"/>
          </a:xfrm>
        </p:grpSpPr>
        <p:sp>
          <p:nvSpPr>
            <p:cNvPr id="2460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60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79" name="Group 5"/>
          <p:cNvGrpSpPr>
            <a:grpSpLocks/>
          </p:cNvGrpSpPr>
          <p:nvPr/>
        </p:nvGrpSpPr>
        <p:grpSpPr bwMode="auto">
          <a:xfrm>
            <a:off x="999067" y="107951"/>
            <a:ext cx="438151" cy="474663"/>
            <a:chOff x="0" y="0"/>
            <a:chExt cx="207" cy="299"/>
          </a:xfrm>
        </p:grpSpPr>
        <p:sp>
          <p:nvSpPr>
            <p:cNvPr id="2459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9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80" name="Group 8"/>
          <p:cNvGrpSpPr>
            <a:grpSpLocks/>
          </p:cNvGrpSpPr>
          <p:nvPr/>
        </p:nvGrpSpPr>
        <p:grpSpPr bwMode="auto">
          <a:xfrm>
            <a:off x="654052" y="530226"/>
            <a:ext cx="563033" cy="474663"/>
            <a:chOff x="0" y="0"/>
            <a:chExt cx="266" cy="299"/>
          </a:xfrm>
        </p:grpSpPr>
        <p:sp>
          <p:nvSpPr>
            <p:cNvPr id="2459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9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81" name="Group 11"/>
          <p:cNvGrpSpPr>
            <a:grpSpLocks/>
          </p:cNvGrpSpPr>
          <p:nvPr/>
        </p:nvGrpSpPr>
        <p:grpSpPr bwMode="auto">
          <a:xfrm>
            <a:off x="1147233" y="530226"/>
            <a:ext cx="491067" cy="474663"/>
            <a:chOff x="0" y="0"/>
            <a:chExt cx="232" cy="299"/>
          </a:xfrm>
        </p:grpSpPr>
        <p:sp>
          <p:nvSpPr>
            <p:cNvPr id="2459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9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82" name="Group 14"/>
          <p:cNvGrpSpPr>
            <a:grpSpLocks/>
          </p:cNvGrpSpPr>
          <p:nvPr/>
        </p:nvGrpSpPr>
        <p:grpSpPr bwMode="auto">
          <a:xfrm>
            <a:off x="31751" y="533401"/>
            <a:ext cx="749300" cy="422275"/>
            <a:chOff x="0" y="0"/>
            <a:chExt cx="353" cy="266"/>
          </a:xfrm>
        </p:grpSpPr>
        <p:sp>
          <p:nvSpPr>
            <p:cNvPr id="2459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9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83" name="Group 17"/>
          <p:cNvGrpSpPr>
            <a:grpSpLocks/>
          </p:cNvGrpSpPr>
          <p:nvPr/>
        </p:nvGrpSpPr>
        <p:grpSpPr bwMode="auto">
          <a:xfrm>
            <a:off x="948267" y="1"/>
            <a:ext cx="42333" cy="1052513"/>
            <a:chOff x="0" y="0"/>
            <a:chExt cx="20" cy="663"/>
          </a:xfrm>
        </p:grpSpPr>
        <p:sp>
          <p:nvSpPr>
            <p:cNvPr id="2459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9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4584" name="Group 20"/>
          <p:cNvGrpSpPr>
            <a:grpSpLocks/>
          </p:cNvGrpSpPr>
          <p:nvPr/>
        </p:nvGrpSpPr>
        <p:grpSpPr bwMode="auto">
          <a:xfrm>
            <a:off x="590551" y="533400"/>
            <a:ext cx="10968567" cy="276225"/>
            <a:chOff x="0" y="0"/>
            <a:chExt cx="5182" cy="174"/>
          </a:xfrm>
        </p:grpSpPr>
        <p:sp>
          <p:nvSpPr>
            <p:cNvPr id="2458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458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4585" name="Rectangle 2"/>
          <p:cNvSpPr>
            <a:spLocks noChangeArrowheads="1"/>
          </p:cNvSpPr>
          <p:nvPr/>
        </p:nvSpPr>
        <p:spPr bwMode="auto">
          <a:xfrm>
            <a:off x="3048000" y="-19050"/>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pic>
        <p:nvPicPr>
          <p:cNvPr id="2458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9400" y="1752600"/>
            <a:ext cx="11590867" cy="369093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7" name="TextBox 1"/>
          <p:cNvSpPr txBox="1">
            <a:spLocks noChangeArrowheads="1"/>
          </p:cNvSpPr>
          <p:nvPr/>
        </p:nvSpPr>
        <p:spPr bwMode="auto">
          <a:xfrm>
            <a:off x="279400" y="1282701"/>
            <a:ext cx="337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spTree>
    <p:extLst>
      <p:ext uri="{BB962C8B-B14F-4D97-AF65-F5344CB8AC3E}">
        <p14:creationId xmlns:p14="http://schemas.microsoft.com/office/powerpoint/2010/main" val="28347671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2"/>
          <p:cNvGrpSpPr>
            <a:grpSpLocks/>
          </p:cNvGrpSpPr>
          <p:nvPr/>
        </p:nvGrpSpPr>
        <p:grpSpPr bwMode="auto">
          <a:xfrm>
            <a:off x="488951" y="107951"/>
            <a:ext cx="584200" cy="474663"/>
            <a:chOff x="0" y="0"/>
            <a:chExt cx="276" cy="299"/>
          </a:xfrm>
        </p:grpSpPr>
        <p:sp>
          <p:nvSpPr>
            <p:cNvPr id="2562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2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3" name="Group 5"/>
          <p:cNvGrpSpPr>
            <a:grpSpLocks/>
          </p:cNvGrpSpPr>
          <p:nvPr/>
        </p:nvGrpSpPr>
        <p:grpSpPr bwMode="auto">
          <a:xfrm>
            <a:off x="999067" y="107951"/>
            <a:ext cx="438151" cy="474663"/>
            <a:chOff x="0" y="0"/>
            <a:chExt cx="207" cy="299"/>
          </a:xfrm>
        </p:grpSpPr>
        <p:sp>
          <p:nvSpPr>
            <p:cNvPr id="2562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2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4" name="Group 8"/>
          <p:cNvGrpSpPr>
            <a:grpSpLocks/>
          </p:cNvGrpSpPr>
          <p:nvPr/>
        </p:nvGrpSpPr>
        <p:grpSpPr bwMode="auto">
          <a:xfrm>
            <a:off x="654052" y="530226"/>
            <a:ext cx="563033" cy="474663"/>
            <a:chOff x="0" y="0"/>
            <a:chExt cx="266" cy="299"/>
          </a:xfrm>
        </p:grpSpPr>
        <p:sp>
          <p:nvSpPr>
            <p:cNvPr id="2562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2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5" name="Group 11"/>
          <p:cNvGrpSpPr>
            <a:grpSpLocks/>
          </p:cNvGrpSpPr>
          <p:nvPr/>
        </p:nvGrpSpPr>
        <p:grpSpPr bwMode="auto">
          <a:xfrm>
            <a:off x="1147233" y="530226"/>
            <a:ext cx="491067" cy="474663"/>
            <a:chOff x="0" y="0"/>
            <a:chExt cx="232" cy="299"/>
          </a:xfrm>
        </p:grpSpPr>
        <p:sp>
          <p:nvSpPr>
            <p:cNvPr id="2561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1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6" name="Group 14"/>
          <p:cNvGrpSpPr>
            <a:grpSpLocks/>
          </p:cNvGrpSpPr>
          <p:nvPr/>
        </p:nvGrpSpPr>
        <p:grpSpPr bwMode="auto">
          <a:xfrm>
            <a:off x="31751" y="533401"/>
            <a:ext cx="749300" cy="422275"/>
            <a:chOff x="0" y="0"/>
            <a:chExt cx="353" cy="266"/>
          </a:xfrm>
        </p:grpSpPr>
        <p:sp>
          <p:nvSpPr>
            <p:cNvPr id="2561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1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7" name="Group 17"/>
          <p:cNvGrpSpPr>
            <a:grpSpLocks/>
          </p:cNvGrpSpPr>
          <p:nvPr/>
        </p:nvGrpSpPr>
        <p:grpSpPr bwMode="auto">
          <a:xfrm>
            <a:off x="948267" y="1"/>
            <a:ext cx="42333" cy="1052513"/>
            <a:chOff x="0" y="0"/>
            <a:chExt cx="20" cy="663"/>
          </a:xfrm>
        </p:grpSpPr>
        <p:sp>
          <p:nvSpPr>
            <p:cNvPr id="2561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1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5608" name="Group 20"/>
          <p:cNvGrpSpPr>
            <a:grpSpLocks/>
          </p:cNvGrpSpPr>
          <p:nvPr/>
        </p:nvGrpSpPr>
        <p:grpSpPr bwMode="auto">
          <a:xfrm>
            <a:off x="590551" y="533400"/>
            <a:ext cx="10968567" cy="276225"/>
            <a:chOff x="0" y="0"/>
            <a:chExt cx="5182" cy="174"/>
          </a:xfrm>
        </p:grpSpPr>
        <p:sp>
          <p:nvSpPr>
            <p:cNvPr id="2561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561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5609" name="Rectangle 2"/>
          <p:cNvSpPr>
            <a:spLocks noChangeArrowheads="1"/>
          </p:cNvSpPr>
          <p:nvPr/>
        </p:nvSpPr>
        <p:spPr bwMode="auto">
          <a:xfrm>
            <a:off x="3048000" y="-19050"/>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sp>
        <p:nvSpPr>
          <p:cNvPr id="25610" name="TextBox 1"/>
          <p:cNvSpPr txBox="1">
            <a:spLocks noChangeArrowheads="1"/>
          </p:cNvSpPr>
          <p:nvPr/>
        </p:nvSpPr>
        <p:spPr bwMode="auto">
          <a:xfrm>
            <a:off x="279400" y="1282701"/>
            <a:ext cx="337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561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767" y="1747838"/>
            <a:ext cx="11904133" cy="3509962"/>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95129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488951" y="107951"/>
            <a:ext cx="584200" cy="474663"/>
            <a:chOff x="0" y="0"/>
            <a:chExt cx="276" cy="299"/>
          </a:xfrm>
        </p:grpSpPr>
        <p:sp>
          <p:nvSpPr>
            <p:cNvPr id="2664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4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27" name="Group 5"/>
          <p:cNvGrpSpPr>
            <a:grpSpLocks/>
          </p:cNvGrpSpPr>
          <p:nvPr/>
        </p:nvGrpSpPr>
        <p:grpSpPr bwMode="auto">
          <a:xfrm>
            <a:off x="999067" y="107951"/>
            <a:ext cx="438151" cy="474663"/>
            <a:chOff x="0" y="0"/>
            <a:chExt cx="207" cy="299"/>
          </a:xfrm>
        </p:grpSpPr>
        <p:sp>
          <p:nvSpPr>
            <p:cNvPr id="2664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4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28" name="Group 8"/>
          <p:cNvGrpSpPr>
            <a:grpSpLocks/>
          </p:cNvGrpSpPr>
          <p:nvPr/>
        </p:nvGrpSpPr>
        <p:grpSpPr bwMode="auto">
          <a:xfrm>
            <a:off x="654052" y="530226"/>
            <a:ext cx="563033" cy="474663"/>
            <a:chOff x="0" y="0"/>
            <a:chExt cx="266" cy="299"/>
          </a:xfrm>
        </p:grpSpPr>
        <p:sp>
          <p:nvSpPr>
            <p:cNvPr id="2664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4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29" name="Group 11"/>
          <p:cNvGrpSpPr>
            <a:grpSpLocks/>
          </p:cNvGrpSpPr>
          <p:nvPr/>
        </p:nvGrpSpPr>
        <p:grpSpPr bwMode="auto">
          <a:xfrm>
            <a:off x="1147233" y="530226"/>
            <a:ext cx="491067" cy="474663"/>
            <a:chOff x="0" y="0"/>
            <a:chExt cx="232" cy="299"/>
          </a:xfrm>
        </p:grpSpPr>
        <p:sp>
          <p:nvSpPr>
            <p:cNvPr id="2664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4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30" name="Group 14"/>
          <p:cNvGrpSpPr>
            <a:grpSpLocks/>
          </p:cNvGrpSpPr>
          <p:nvPr/>
        </p:nvGrpSpPr>
        <p:grpSpPr bwMode="auto">
          <a:xfrm>
            <a:off x="31751" y="533401"/>
            <a:ext cx="749300" cy="422275"/>
            <a:chOff x="0" y="0"/>
            <a:chExt cx="353" cy="266"/>
          </a:xfrm>
        </p:grpSpPr>
        <p:sp>
          <p:nvSpPr>
            <p:cNvPr id="2664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4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31" name="Group 17"/>
          <p:cNvGrpSpPr>
            <a:grpSpLocks/>
          </p:cNvGrpSpPr>
          <p:nvPr/>
        </p:nvGrpSpPr>
        <p:grpSpPr bwMode="auto">
          <a:xfrm>
            <a:off x="948267" y="1"/>
            <a:ext cx="42333" cy="1052513"/>
            <a:chOff x="0" y="0"/>
            <a:chExt cx="20" cy="663"/>
          </a:xfrm>
        </p:grpSpPr>
        <p:sp>
          <p:nvSpPr>
            <p:cNvPr id="2663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3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6632" name="Group 20"/>
          <p:cNvGrpSpPr>
            <a:grpSpLocks/>
          </p:cNvGrpSpPr>
          <p:nvPr/>
        </p:nvGrpSpPr>
        <p:grpSpPr bwMode="auto">
          <a:xfrm>
            <a:off x="590551" y="533400"/>
            <a:ext cx="10968567" cy="276225"/>
            <a:chOff x="0" y="0"/>
            <a:chExt cx="5182" cy="174"/>
          </a:xfrm>
        </p:grpSpPr>
        <p:sp>
          <p:nvSpPr>
            <p:cNvPr id="2663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663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6633" name="Rectangle 2"/>
          <p:cNvSpPr>
            <a:spLocks noChangeArrowheads="1"/>
          </p:cNvSpPr>
          <p:nvPr/>
        </p:nvSpPr>
        <p:spPr bwMode="auto">
          <a:xfrm>
            <a:off x="3048000" y="-19050"/>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sp>
        <p:nvSpPr>
          <p:cNvPr id="26634" name="TextBox 1"/>
          <p:cNvSpPr txBox="1">
            <a:spLocks noChangeArrowheads="1"/>
          </p:cNvSpPr>
          <p:nvPr/>
        </p:nvSpPr>
        <p:spPr bwMode="auto">
          <a:xfrm>
            <a:off x="279400" y="1282701"/>
            <a:ext cx="337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663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8018" y="1857376"/>
            <a:ext cx="11713633" cy="355282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76425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488951" y="107951"/>
            <a:ext cx="584200" cy="474663"/>
            <a:chOff x="0" y="0"/>
            <a:chExt cx="276" cy="299"/>
          </a:xfrm>
        </p:grpSpPr>
        <p:sp>
          <p:nvSpPr>
            <p:cNvPr id="27672"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73"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1" name="Group 5"/>
          <p:cNvGrpSpPr>
            <a:grpSpLocks/>
          </p:cNvGrpSpPr>
          <p:nvPr/>
        </p:nvGrpSpPr>
        <p:grpSpPr bwMode="auto">
          <a:xfrm>
            <a:off x="999067" y="107951"/>
            <a:ext cx="438151" cy="474663"/>
            <a:chOff x="0" y="0"/>
            <a:chExt cx="207" cy="299"/>
          </a:xfrm>
        </p:grpSpPr>
        <p:sp>
          <p:nvSpPr>
            <p:cNvPr id="27670"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71"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2" name="Group 8"/>
          <p:cNvGrpSpPr>
            <a:grpSpLocks/>
          </p:cNvGrpSpPr>
          <p:nvPr/>
        </p:nvGrpSpPr>
        <p:grpSpPr bwMode="auto">
          <a:xfrm>
            <a:off x="654052" y="530226"/>
            <a:ext cx="563033" cy="474663"/>
            <a:chOff x="0" y="0"/>
            <a:chExt cx="266" cy="299"/>
          </a:xfrm>
        </p:grpSpPr>
        <p:sp>
          <p:nvSpPr>
            <p:cNvPr id="27668"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69"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3" name="Group 11"/>
          <p:cNvGrpSpPr>
            <a:grpSpLocks/>
          </p:cNvGrpSpPr>
          <p:nvPr/>
        </p:nvGrpSpPr>
        <p:grpSpPr bwMode="auto">
          <a:xfrm>
            <a:off x="1147233" y="530226"/>
            <a:ext cx="491067" cy="474663"/>
            <a:chOff x="0" y="0"/>
            <a:chExt cx="232" cy="299"/>
          </a:xfrm>
        </p:grpSpPr>
        <p:sp>
          <p:nvSpPr>
            <p:cNvPr id="27666"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67"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4" name="Group 14"/>
          <p:cNvGrpSpPr>
            <a:grpSpLocks/>
          </p:cNvGrpSpPr>
          <p:nvPr/>
        </p:nvGrpSpPr>
        <p:grpSpPr bwMode="auto">
          <a:xfrm>
            <a:off x="31751" y="533401"/>
            <a:ext cx="749300" cy="422275"/>
            <a:chOff x="0" y="0"/>
            <a:chExt cx="353" cy="266"/>
          </a:xfrm>
        </p:grpSpPr>
        <p:sp>
          <p:nvSpPr>
            <p:cNvPr id="27664"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65"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5" name="Group 17"/>
          <p:cNvGrpSpPr>
            <a:grpSpLocks/>
          </p:cNvGrpSpPr>
          <p:nvPr/>
        </p:nvGrpSpPr>
        <p:grpSpPr bwMode="auto">
          <a:xfrm>
            <a:off x="948267" y="1"/>
            <a:ext cx="42333" cy="1052513"/>
            <a:chOff x="0" y="0"/>
            <a:chExt cx="20" cy="663"/>
          </a:xfrm>
        </p:grpSpPr>
        <p:sp>
          <p:nvSpPr>
            <p:cNvPr id="27662"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63"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7656" name="Group 20"/>
          <p:cNvGrpSpPr>
            <a:grpSpLocks/>
          </p:cNvGrpSpPr>
          <p:nvPr/>
        </p:nvGrpSpPr>
        <p:grpSpPr bwMode="auto">
          <a:xfrm>
            <a:off x="590551" y="533400"/>
            <a:ext cx="10968567" cy="276225"/>
            <a:chOff x="0" y="0"/>
            <a:chExt cx="5182" cy="174"/>
          </a:xfrm>
        </p:grpSpPr>
        <p:sp>
          <p:nvSpPr>
            <p:cNvPr id="27660"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7661"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7657" name="Rectangle 2"/>
          <p:cNvSpPr>
            <a:spLocks noChangeArrowheads="1"/>
          </p:cNvSpPr>
          <p:nvPr/>
        </p:nvSpPr>
        <p:spPr bwMode="auto">
          <a:xfrm>
            <a:off x="3048000" y="-19050"/>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sp>
        <p:nvSpPr>
          <p:cNvPr id="27658" name="TextBox 1"/>
          <p:cNvSpPr txBox="1">
            <a:spLocks noChangeArrowheads="1"/>
          </p:cNvSpPr>
          <p:nvPr/>
        </p:nvSpPr>
        <p:spPr bwMode="auto">
          <a:xfrm>
            <a:off x="279400" y="1282701"/>
            <a:ext cx="337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765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1" y="1905000"/>
            <a:ext cx="11216216" cy="4043363"/>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30364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p:cNvGrpSpPr>
            <a:grpSpLocks/>
          </p:cNvGrpSpPr>
          <p:nvPr/>
        </p:nvGrpSpPr>
        <p:grpSpPr bwMode="auto">
          <a:xfrm>
            <a:off x="488951" y="107951"/>
            <a:ext cx="584200" cy="474663"/>
            <a:chOff x="0" y="0"/>
            <a:chExt cx="276" cy="299"/>
          </a:xfrm>
        </p:grpSpPr>
        <p:sp>
          <p:nvSpPr>
            <p:cNvPr id="28696"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97"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75" name="Group 5"/>
          <p:cNvGrpSpPr>
            <a:grpSpLocks/>
          </p:cNvGrpSpPr>
          <p:nvPr/>
        </p:nvGrpSpPr>
        <p:grpSpPr bwMode="auto">
          <a:xfrm>
            <a:off x="999067" y="107951"/>
            <a:ext cx="438151" cy="474663"/>
            <a:chOff x="0" y="0"/>
            <a:chExt cx="207" cy="299"/>
          </a:xfrm>
        </p:grpSpPr>
        <p:sp>
          <p:nvSpPr>
            <p:cNvPr id="28694"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95"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76" name="Group 8"/>
          <p:cNvGrpSpPr>
            <a:grpSpLocks/>
          </p:cNvGrpSpPr>
          <p:nvPr/>
        </p:nvGrpSpPr>
        <p:grpSpPr bwMode="auto">
          <a:xfrm>
            <a:off x="654052" y="530226"/>
            <a:ext cx="563033" cy="474663"/>
            <a:chOff x="0" y="0"/>
            <a:chExt cx="266" cy="299"/>
          </a:xfrm>
        </p:grpSpPr>
        <p:sp>
          <p:nvSpPr>
            <p:cNvPr id="28692"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93"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77" name="Group 11"/>
          <p:cNvGrpSpPr>
            <a:grpSpLocks/>
          </p:cNvGrpSpPr>
          <p:nvPr/>
        </p:nvGrpSpPr>
        <p:grpSpPr bwMode="auto">
          <a:xfrm>
            <a:off x="1147233" y="530226"/>
            <a:ext cx="491067" cy="474663"/>
            <a:chOff x="0" y="0"/>
            <a:chExt cx="232" cy="299"/>
          </a:xfrm>
        </p:grpSpPr>
        <p:sp>
          <p:nvSpPr>
            <p:cNvPr id="28690"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91"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78" name="Group 14"/>
          <p:cNvGrpSpPr>
            <a:grpSpLocks/>
          </p:cNvGrpSpPr>
          <p:nvPr/>
        </p:nvGrpSpPr>
        <p:grpSpPr bwMode="auto">
          <a:xfrm>
            <a:off x="31751" y="533401"/>
            <a:ext cx="749300" cy="422275"/>
            <a:chOff x="0" y="0"/>
            <a:chExt cx="353" cy="266"/>
          </a:xfrm>
        </p:grpSpPr>
        <p:sp>
          <p:nvSpPr>
            <p:cNvPr id="28688"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89"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79" name="Group 17"/>
          <p:cNvGrpSpPr>
            <a:grpSpLocks/>
          </p:cNvGrpSpPr>
          <p:nvPr/>
        </p:nvGrpSpPr>
        <p:grpSpPr bwMode="auto">
          <a:xfrm>
            <a:off x="948267" y="1"/>
            <a:ext cx="42333" cy="1052513"/>
            <a:chOff x="0" y="0"/>
            <a:chExt cx="20" cy="663"/>
          </a:xfrm>
        </p:grpSpPr>
        <p:sp>
          <p:nvSpPr>
            <p:cNvPr id="28686"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87"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8680" name="Group 20"/>
          <p:cNvGrpSpPr>
            <a:grpSpLocks/>
          </p:cNvGrpSpPr>
          <p:nvPr/>
        </p:nvGrpSpPr>
        <p:grpSpPr bwMode="auto">
          <a:xfrm>
            <a:off x="590551" y="533400"/>
            <a:ext cx="10968567" cy="276225"/>
            <a:chOff x="0" y="0"/>
            <a:chExt cx="5182" cy="174"/>
          </a:xfrm>
        </p:grpSpPr>
        <p:sp>
          <p:nvSpPr>
            <p:cNvPr id="28684"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8685"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8681" name="Rectangle 2"/>
          <p:cNvSpPr>
            <a:spLocks noChangeArrowheads="1"/>
          </p:cNvSpPr>
          <p:nvPr/>
        </p:nvSpPr>
        <p:spPr bwMode="auto">
          <a:xfrm>
            <a:off x="3048000" y="-19050"/>
            <a:ext cx="3830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i="1"/>
              <a:t>Selective Repeat ARQ</a:t>
            </a:r>
            <a:endParaRPr lang="ar-SA" sz="3200" b="1" i="1"/>
          </a:p>
        </p:txBody>
      </p:sp>
      <p:sp>
        <p:nvSpPr>
          <p:cNvPr id="28682" name="TextBox 1"/>
          <p:cNvSpPr txBox="1">
            <a:spLocks noChangeArrowheads="1"/>
          </p:cNvSpPr>
          <p:nvPr/>
        </p:nvSpPr>
        <p:spPr bwMode="auto">
          <a:xfrm>
            <a:off x="279400" y="1282701"/>
            <a:ext cx="337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b="1" i="1"/>
              <a:t>Working</a:t>
            </a:r>
            <a:endParaRPr lang="en-IN" b="1" i="1"/>
          </a:p>
        </p:txBody>
      </p:sp>
      <p:pic>
        <p:nvPicPr>
          <p:cNvPr id="28683" name="Picture 2"/>
          <p:cNvPicPr>
            <a:picLocks noChangeAspect="1"/>
          </p:cNvPicPr>
          <p:nvPr/>
        </p:nvPicPr>
        <p:blipFill>
          <a:blip r:embed="rId2">
            <a:extLst>
              <a:ext uri="{28A0092B-C50C-407E-A947-70E740481C1C}">
                <a14:useLocalDpi xmlns:a14="http://schemas.microsoft.com/office/drawing/2010/main" val="0"/>
              </a:ext>
            </a:extLst>
          </a:blip>
          <a:srcRect t="2185"/>
          <a:stretch>
            <a:fillRect/>
          </a:stretch>
        </p:blipFill>
        <p:spPr bwMode="auto">
          <a:xfrm>
            <a:off x="239185" y="1924051"/>
            <a:ext cx="11671300" cy="427672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6977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Line 2">
            <a:extLst>
              <a:ext uri="{FF2B5EF4-FFF2-40B4-BE49-F238E27FC236}">
                <a16:creationId xmlns:a16="http://schemas.microsoft.com/office/drawing/2014/main" id="{A850EAD5-7EC6-4C66-AAD4-BEB498585C10}"/>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3715" name="Line 3">
            <a:extLst>
              <a:ext uri="{FF2B5EF4-FFF2-40B4-BE49-F238E27FC236}">
                <a16:creationId xmlns:a16="http://schemas.microsoft.com/office/drawing/2014/main" id="{F283EC89-0933-490C-9CB9-27AD5B1BECAD}"/>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3716" name="Text Box 4">
            <a:extLst>
              <a:ext uri="{FF2B5EF4-FFF2-40B4-BE49-F238E27FC236}">
                <a16:creationId xmlns:a16="http://schemas.microsoft.com/office/drawing/2014/main" id="{02D0DDFF-F13E-4BB7-99F4-211B73A1FF64}"/>
              </a:ext>
            </a:extLst>
          </p:cNvPr>
          <p:cNvSpPr txBox="1">
            <a:spLocks noChangeArrowheads="1"/>
          </p:cNvSpPr>
          <p:nvPr/>
        </p:nvSpPr>
        <p:spPr bwMode="auto">
          <a:xfrm>
            <a:off x="1828800" y="381000"/>
            <a:ext cx="50964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Send window for Selective Repeat ARQ</a:t>
            </a:r>
          </a:p>
        </p:txBody>
      </p:sp>
      <p:sp>
        <p:nvSpPr>
          <p:cNvPr id="883717" name="Line 5">
            <a:extLst>
              <a:ext uri="{FF2B5EF4-FFF2-40B4-BE49-F238E27FC236}">
                <a16:creationId xmlns:a16="http://schemas.microsoft.com/office/drawing/2014/main" id="{9EC95917-BEC0-4A7C-A789-72CD664C5B4A}"/>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3718" name="Picture 6">
            <a:extLst>
              <a:ext uri="{FF2B5EF4-FFF2-40B4-BE49-F238E27FC236}">
                <a16:creationId xmlns:a16="http://schemas.microsoft.com/office/drawing/2014/main" id="{AE22D3F0-FE5F-4B2A-BEB3-65A16E3ED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4" y="2489200"/>
            <a:ext cx="8447087"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Line 2">
            <a:extLst>
              <a:ext uri="{FF2B5EF4-FFF2-40B4-BE49-F238E27FC236}">
                <a16:creationId xmlns:a16="http://schemas.microsoft.com/office/drawing/2014/main" id="{756A2572-3729-4306-B4AB-025424513333}"/>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4739" name="Line 3">
            <a:extLst>
              <a:ext uri="{FF2B5EF4-FFF2-40B4-BE49-F238E27FC236}">
                <a16:creationId xmlns:a16="http://schemas.microsoft.com/office/drawing/2014/main" id="{F3B409D1-A1B2-4976-8756-E2AD7BFAD56E}"/>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4740" name="Text Box 4">
            <a:extLst>
              <a:ext uri="{FF2B5EF4-FFF2-40B4-BE49-F238E27FC236}">
                <a16:creationId xmlns:a16="http://schemas.microsoft.com/office/drawing/2014/main" id="{ACCDD46A-97E2-4F31-9539-65DDD3CA44CF}"/>
              </a:ext>
            </a:extLst>
          </p:cNvPr>
          <p:cNvSpPr txBox="1">
            <a:spLocks noChangeArrowheads="1"/>
          </p:cNvSpPr>
          <p:nvPr/>
        </p:nvSpPr>
        <p:spPr bwMode="auto">
          <a:xfrm>
            <a:off x="1828801" y="381000"/>
            <a:ext cx="53946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Receive window for Selective Repeat ARQ</a:t>
            </a:r>
          </a:p>
        </p:txBody>
      </p:sp>
      <p:sp>
        <p:nvSpPr>
          <p:cNvPr id="884741" name="Line 5">
            <a:extLst>
              <a:ext uri="{FF2B5EF4-FFF2-40B4-BE49-F238E27FC236}">
                <a16:creationId xmlns:a16="http://schemas.microsoft.com/office/drawing/2014/main" id="{FDD18184-3CDF-4FD2-BA76-F7E1DF03D208}"/>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4742" name="Picture 6">
            <a:extLst>
              <a:ext uri="{FF2B5EF4-FFF2-40B4-BE49-F238E27FC236}">
                <a16:creationId xmlns:a16="http://schemas.microsoft.com/office/drawing/2014/main" id="{BFD360C5-BF6B-4866-BB81-922C978F9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300288"/>
            <a:ext cx="7486650" cy="211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Line 2">
            <a:extLst>
              <a:ext uri="{FF2B5EF4-FFF2-40B4-BE49-F238E27FC236}">
                <a16:creationId xmlns:a16="http://schemas.microsoft.com/office/drawing/2014/main" id="{3FF8558F-110B-4830-BC8A-E8A36A95E34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3" name="Line 3">
            <a:extLst>
              <a:ext uri="{FF2B5EF4-FFF2-40B4-BE49-F238E27FC236}">
                <a16:creationId xmlns:a16="http://schemas.microsoft.com/office/drawing/2014/main" id="{3738A9AB-0059-44BF-8988-1FAD2730BE7F}"/>
              </a:ext>
            </a:extLst>
          </p:cNvPr>
          <p:cNvSpPr>
            <a:spLocks noChangeShapeType="1"/>
          </p:cNvSpPr>
          <p:nvPr/>
        </p:nvSpPr>
        <p:spPr bwMode="auto">
          <a:xfrm>
            <a:off x="1676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4" name="Text Box 4">
            <a:extLst>
              <a:ext uri="{FF2B5EF4-FFF2-40B4-BE49-F238E27FC236}">
                <a16:creationId xmlns:a16="http://schemas.microsoft.com/office/drawing/2014/main" id="{F0864040-472B-4E02-A09C-D588654C56C5}"/>
              </a:ext>
            </a:extLst>
          </p:cNvPr>
          <p:cNvSpPr txBox="1">
            <a:spLocks noChangeArrowheads="1"/>
          </p:cNvSpPr>
          <p:nvPr/>
        </p:nvSpPr>
        <p:spPr bwMode="auto">
          <a:xfrm>
            <a:off x="1828800" y="228600"/>
            <a:ext cx="43622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Design of Selective Repeat ARQ</a:t>
            </a:r>
          </a:p>
        </p:txBody>
      </p:sp>
      <p:sp>
        <p:nvSpPr>
          <p:cNvPr id="885765" name="Line 5">
            <a:extLst>
              <a:ext uri="{FF2B5EF4-FFF2-40B4-BE49-F238E27FC236}">
                <a16:creationId xmlns:a16="http://schemas.microsoft.com/office/drawing/2014/main" id="{6DE18E87-3610-462F-97AE-4A486240D8C3}"/>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5766" name="Picture 6">
            <a:extLst>
              <a:ext uri="{FF2B5EF4-FFF2-40B4-BE49-F238E27FC236}">
                <a16:creationId xmlns:a16="http://schemas.microsoft.com/office/drawing/2014/main" id="{6E9F3E29-D378-4D8C-B143-7C1C9CE9CD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8800" y="1022350"/>
            <a:ext cx="6197600"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Text Box 2">
            <a:extLst>
              <a:ext uri="{FF2B5EF4-FFF2-40B4-BE49-F238E27FC236}">
                <a16:creationId xmlns:a16="http://schemas.microsoft.com/office/drawing/2014/main" id="{3929AF54-432F-4184-A1C7-E11581005E4A}"/>
              </a:ext>
            </a:extLst>
          </p:cNvPr>
          <p:cNvSpPr txBox="1">
            <a:spLocks noChangeArrowheads="1"/>
          </p:cNvSpPr>
          <p:nvPr/>
        </p:nvSpPr>
        <p:spPr bwMode="auto">
          <a:xfrm>
            <a:off x="1752600" y="152400"/>
            <a:ext cx="55111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Sender-site Selective Repeat algorithm</a:t>
            </a:r>
          </a:p>
        </p:txBody>
      </p:sp>
      <p:grpSp>
        <p:nvGrpSpPr>
          <p:cNvPr id="946183" name="Group 7">
            <a:extLst>
              <a:ext uri="{FF2B5EF4-FFF2-40B4-BE49-F238E27FC236}">
                <a16:creationId xmlns:a16="http://schemas.microsoft.com/office/drawing/2014/main" id="{34EFC453-0F09-4F60-A632-E10B5D07EB71}"/>
              </a:ext>
            </a:extLst>
          </p:cNvPr>
          <p:cNvGrpSpPr>
            <a:grpSpLocks/>
          </p:cNvGrpSpPr>
          <p:nvPr/>
        </p:nvGrpSpPr>
        <p:grpSpPr bwMode="auto">
          <a:xfrm>
            <a:off x="1524000" y="609600"/>
            <a:ext cx="8915400" cy="5257800"/>
            <a:chOff x="0" y="384"/>
            <a:chExt cx="5616" cy="3312"/>
          </a:xfrm>
        </p:grpSpPr>
        <p:pic>
          <p:nvPicPr>
            <p:cNvPr id="946179" name="Picture 3">
              <a:extLst>
                <a:ext uri="{FF2B5EF4-FFF2-40B4-BE49-F238E27FC236}">
                  <a16:creationId xmlns:a16="http://schemas.microsoft.com/office/drawing/2014/main" id="{A193AC71-A528-4E2E-9EAD-E596BEEF7E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84"/>
              <a:ext cx="5603" cy="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6180" name="Picture 4">
              <a:extLst>
                <a:ext uri="{FF2B5EF4-FFF2-40B4-BE49-F238E27FC236}">
                  <a16:creationId xmlns:a16="http://schemas.microsoft.com/office/drawing/2014/main" id="{DE2164D7-0F09-4ED8-8130-43C1440CDF2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 y="1950"/>
              <a:ext cx="5597" cy="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46182" name="Rectangle 6">
            <a:extLst>
              <a:ext uri="{FF2B5EF4-FFF2-40B4-BE49-F238E27FC236}">
                <a16:creationId xmlns:a16="http://schemas.microsoft.com/office/drawing/2014/main" id="{A4C609F7-9628-4842-9483-F5156182135D}"/>
              </a:ext>
            </a:extLst>
          </p:cNvPr>
          <p:cNvSpPr>
            <a:spLocks noChangeArrowheads="1"/>
          </p:cNvSpPr>
          <p:nvPr/>
        </p:nvSpPr>
        <p:spPr bwMode="auto">
          <a:xfrm>
            <a:off x="2362200" y="5791200"/>
            <a:ext cx="79248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46184" name="Rectangle 8">
            <a:extLst>
              <a:ext uri="{FF2B5EF4-FFF2-40B4-BE49-F238E27FC236}">
                <a16:creationId xmlns:a16="http://schemas.microsoft.com/office/drawing/2014/main" id="{7C2EB73A-E8C9-4FA8-8348-D639447EDFD1}"/>
              </a:ext>
            </a:extLst>
          </p:cNvPr>
          <p:cNvSpPr>
            <a:spLocks noChangeArrowheads="1"/>
          </p:cNvSpPr>
          <p:nvPr/>
        </p:nvSpPr>
        <p:spPr bwMode="auto">
          <a:xfrm>
            <a:off x="8648701" y="568325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Text Box 2">
            <a:extLst>
              <a:ext uri="{FF2B5EF4-FFF2-40B4-BE49-F238E27FC236}">
                <a16:creationId xmlns:a16="http://schemas.microsoft.com/office/drawing/2014/main" id="{CF2D7C12-A09A-4D02-A5C5-C2BE6E4B71F6}"/>
              </a:ext>
            </a:extLst>
          </p:cNvPr>
          <p:cNvSpPr txBox="1">
            <a:spLocks noChangeArrowheads="1"/>
          </p:cNvSpPr>
          <p:nvPr/>
        </p:nvSpPr>
        <p:spPr bwMode="auto">
          <a:xfrm>
            <a:off x="1909764" y="76200"/>
            <a:ext cx="55111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Sender-site Selective Repeat algorithm</a:t>
            </a:r>
          </a:p>
        </p:txBody>
      </p:sp>
      <p:pic>
        <p:nvPicPr>
          <p:cNvPr id="958467" name="Picture 3">
            <a:extLst>
              <a:ext uri="{FF2B5EF4-FFF2-40B4-BE49-F238E27FC236}">
                <a16:creationId xmlns:a16="http://schemas.microsoft.com/office/drawing/2014/main" id="{04703C0A-1869-46ED-B0C5-06F7F5F50B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1" y="609600"/>
            <a:ext cx="8894763"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8468" name="Rectangle 4">
            <a:extLst>
              <a:ext uri="{FF2B5EF4-FFF2-40B4-BE49-F238E27FC236}">
                <a16:creationId xmlns:a16="http://schemas.microsoft.com/office/drawing/2014/main" id="{5BB66E73-37EB-44AD-9D0D-6A263A4878CD}"/>
              </a:ext>
            </a:extLst>
          </p:cNvPr>
          <p:cNvSpPr>
            <a:spLocks noChangeArrowheads="1"/>
          </p:cNvSpPr>
          <p:nvPr/>
        </p:nvSpPr>
        <p:spPr bwMode="auto">
          <a:xfrm>
            <a:off x="8801101" y="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
        <p:nvSpPr>
          <p:cNvPr id="958469" name="Rectangle 5">
            <a:extLst>
              <a:ext uri="{FF2B5EF4-FFF2-40B4-BE49-F238E27FC236}">
                <a16:creationId xmlns:a16="http://schemas.microsoft.com/office/drawing/2014/main" id="{2C884C9D-518A-4E42-B536-5F884C8E6D93}"/>
              </a:ext>
            </a:extLst>
          </p:cNvPr>
          <p:cNvSpPr>
            <a:spLocks noChangeArrowheads="1"/>
          </p:cNvSpPr>
          <p:nvPr/>
        </p:nvSpPr>
        <p:spPr bwMode="auto">
          <a:xfrm>
            <a:off x="8877301" y="624840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Text Box 2">
            <a:extLst>
              <a:ext uri="{FF2B5EF4-FFF2-40B4-BE49-F238E27FC236}">
                <a16:creationId xmlns:a16="http://schemas.microsoft.com/office/drawing/2014/main" id="{92A874E3-0B71-48E2-BDF1-6F9E8D50E972}"/>
              </a:ext>
            </a:extLst>
          </p:cNvPr>
          <p:cNvSpPr txBox="1">
            <a:spLocks noChangeArrowheads="1"/>
          </p:cNvSpPr>
          <p:nvPr/>
        </p:nvSpPr>
        <p:spPr bwMode="auto">
          <a:xfrm>
            <a:off x="1752600" y="152400"/>
            <a:ext cx="55111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Sender-site Selective Repeat algorithm</a:t>
            </a:r>
          </a:p>
        </p:txBody>
      </p:sp>
      <p:pic>
        <p:nvPicPr>
          <p:cNvPr id="959491" name="Picture 3">
            <a:extLst>
              <a:ext uri="{FF2B5EF4-FFF2-40B4-BE49-F238E27FC236}">
                <a16:creationId xmlns:a16="http://schemas.microsoft.com/office/drawing/2014/main" id="{E39A1749-C717-4DB2-85BC-2B1035F4D1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4164" y="842964"/>
            <a:ext cx="8885237"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9492" name="Rectangle 4">
            <a:extLst>
              <a:ext uri="{FF2B5EF4-FFF2-40B4-BE49-F238E27FC236}">
                <a16:creationId xmlns:a16="http://schemas.microsoft.com/office/drawing/2014/main" id="{5269821A-80C0-4765-B0B7-93FA26645701}"/>
              </a:ext>
            </a:extLst>
          </p:cNvPr>
          <p:cNvSpPr>
            <a:spLocks noChangeArrowheads="1"/>
          </p:cNvSpPr>
          <p:nvPr/>
        </p:nvSpPr>
        <p:spPr bwMode="auto">
          <a:xfrm>
            <a:off x="8724901" y="76200"/>
            <a:ext cx="1251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rPr>
              <a:t>(continued)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Text Box 2">
            <a:extLst>
              <a:ext uri="{FF2B5EF4-FFF2-40B4-BE49-F238E27FC236}">
                <a16:creationId xmlns:a16="http://schemas.microsoft.com/office/drawing/2014/main" id="{F58A781E-EDC4-4D3F-B21F-ACAFF78CC82B}"/>
              </a:ext>
            </a:extLst>
          </p:cNvPr>
          <p:cNvSpPr txBox="1">
            <a:spLocks noChangeArrowheads="1"/>
          </p:cNvSpPr>
          <p:nvPr/>
        </p:nvSpPr>
        <p:spPr bwMode="auto">
          <a:xfrm>
            <a:off x="1828801" y="228600"/>
            <a:ext cx="56954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Receiver-site Selective Repeat algorithm</a:t>
            </a:r>
          </a:p>
        </p:txBody>
      </p:sp>
      <p:pic>
        <p:nvPicPr>
          <p:cNvPr id="947203" name="Picture 3">
            <a:extLst>
              <a:ext uri="{FF2B5EF4-FFF2-40B4-BE49-F238E27FC236}">
                <a16:creationId xmlns:a16="http://schemas.microsoft.com/office/drawing/2014/main" id="{9E4E1297-4729-4A6D-BA79-8CEF3F8F92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7500" y="609600"/>
            <a:ext cx="90043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Text Box 2">
            <a:extLst>
              <a:ext uri="{FF2B5EF4-FFF2-40B4-BE49-F238E27FC236}">
                <a16:creationId xmlns:a16="http://schemas.microsoft.com/office/drawing/2014/main" id="{EDF24FC5-35A7-4FD4-91D0-D06F9EC5E5B1}"/>
              </a:ext>
            </a:extLst>
          </p:cNvPr>
          <p:cNvSpPr txBox="1">
            <a:spLocks noChangeArrowheads="1"/>
          </p:cNvSpPr>
          <p:nvPr/>
        </p:nvSpPr>
        <p:spPr bwMode="auto">
          <a:xfrm>
            <a:off x="1828801" y="76200"/>
            <a:ext cx="56954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hlink"/>
                </a:solidFill>
                <a:latin typeface="Times New Roman" panose="02020603050405020304" pitchFamily="18" charset="0"/>
              </a:rPr>
              <a:t>Algorithm </a:t>
            </a:r>
            <a:r>
              <a:rPr lang="en-US" altLang="en-US" sz="2000" i="1" dirty="0">
                <a:latin typeface="Times New Roman" panose="02020603050405020304" pitchFamily="18" charset="0"/>
              </a:rPr>
              <a:t>Receiver-site Selective Repeat algorithm</a:t>
            </a:r>
          </a:p>
        </p:txBody>
      </p:sp>
      <p:pic>
        <p:nvPicPr>
          <p:cNvPr id="960516" name="Picture 4">
            <a:extLst>
              <a:ext uri="{FF2B5EF4-FFF2-40B4-BE49-F238E27FC236}">
                <a16:creationId xmlns:a16="http://schemas.microsoft.com/office/drawing/2014/main" id="{586AD8E9-8471-4C12-B1ED-3D76CF47A7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685800"/>
            <a:ext cx="898525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488951" y="107951"/>
            <a:ext cx="584200" cy="474663"/>
            <a:chOff x="0" y="0"/>
            <a:chExt cx="276" cy="299"/>
          </a:xfrm>
        </p:grpSpPr>
        <p:sp>
          <p:nvSpPr>
            <p:cNvPr id="2972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2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699" name="Group 5"/>
          <p:cNvGrpSpPr>
            <a:grpSpLocks/>
          </p:cNvGrpSpPr>
          <p:nvPr/>
        </p:nvGrpSpPr>
        <p:grpSpPr bwMode="auto">
          <a:xfrm>
            <a:off x="999067" y="107951"/>
            <a:ext cx="438151" cy="474663"/>
            <a:chOff x="0" y="0"/>
            <a:chExt cx="207" cy="299"/>
          </a:xfrm>
        </p:grpSpPr>
        <p:sp>
          <p:nvSpPr>
            <p:cNvPr id="2971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1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700" name="Group 8"/>
          <p:cNvGrpSpPr>
            <a:grpSpLocks/>
          </p:cNvGrpSpPr>
          <p:nvPr/>
        </p:nvGrpSpPr>
        <p:grpSpPr bwMode="auto">
          <a:xfrm>
            <a:off x="654052" y="530226"/>
            <a:ext cx="563033" cy="474663"/>
            <a:chOff x="0" y="0"/>
            <a:chExt cx="266" cy="299"/>
          </a:xfrm>
        </p:grpSpPr>
        <p:sp>
          <p:nvSpPr>
            <p:cNvPr id="2971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1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701" name="Group 11"/>
          <p:cNvGrpSpPr>
            <a:grpSpLocks/>
          </p:cNvGrpSpPr>
          <p:nvPr/>
        </p:nvGrpSpPr>
        <p:grpSpPr bwMode="auto">
          <a:xfrm>
            <a:off x="1147233" y="530226"/>
            <a:ext cx="491067" cy="474663"/>
            <a:chOff x="0" y="0"/>
            <a:chExt cx="232" cy="299"/>
          </a:xfrm>
        </p:grpSpPr>
        <p:sp>
          <p:nvSpPr>
            <p:cNvPr id="2971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1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702" name="Group 14"/>
          <p:cNvGrpSpPr>
            <a:grpSpLocks/>
          </p:cNvGrpSpPr>
          <p:nvPr/>
        </p:nvGrpSpPr>
        <p:grpSpPr bwMode="auto">
          <a:xfrm>
            <a:off x="31751" y="533401"/>
            <a:ext cx="749300" cy="422275"/>
            <a:chOff x="0" y="0"/>
            <a:chExt cx="353" cy="266"/>
          </a:xfrm>
        </p:grpSpPr>
        <p:sp>
          <p:nvSpPr>
            <p:cNvPr id="2971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1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703" name="Group 17"/>
          <p:cNvGrpSpPr>
            <a:grpSpLocks/>
          </p:cNvGrpSpPr>
          <p:nvPr/>
        </p:nvGrpSpPr>
        <p:grpSpPr bwMode="auto">
          <a:xfrm>
            <a:off x="948267" y="1"/>
            <a:ext cx="42333" cy="1052513"/>
            <a:chOff x="0" y="0"/>
            <a:chExt cx="20" cy="663"/>
          </a:xfrm>
        </p:grpSpPr>
        <p:sp>
          <p:nvSpPr>
            <p:cNvPr id="2971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1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9704" name="Group 20"/>
          <p:cNvGrpSpPr>
            <a:grpSpLocks/>
          </p:cNvGrpSpPr>
          <p:nvPr/>
        </p:nvGrpSpPr>
        <p:grpSpPr bwMode="auto">
          <a:xfrm>
            <a:off x="590551" y="533400"/>
            <a:ext cx="10968567" cy="276225"/>
            <a:chOff x="0" y="0"/>
            <a:chExt cx="5182" cy="174"/>
          </a:xfrm>
        </p:grpSpPr>
        <p:sp>
          <p:nvSpPr>
            <p:cNvPr id="2970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970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9705" name="Rectangle 1"/>
          <p:cNvSpPr>
            <a:spLocks noChangeArrowheads="1"/>
          </p:cNvSpPr>
          <p:nvPr/>
        </p:nvSpPr>
        <p:spPr bwMode="auto">
          <a:xfrm>
            <a:off x="2438401" y="166688"/>
            <a:ext cx="41528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b="1"/>
              <a:t>Piggybacking ( Bidirectional transmission)</a:t>
            </a:r>
            <a:endParaRPr lang="ar-SA" altLang="ar-SA"/>
          </a:p>
        </p:txBody>
      </p:sp>
      <p:sp>
        <p:nvSpPr>
          <p:cNvPr id="29706" name="Rectangle 3"/>
          <p:cNvSpPr>
            <a:spLocks noChangeArrowheads="1"/>
          </p:cNvSpPr>
          <p:nvPr/>
        </p:nvSpPr>
        <p:spPr bwMode="auto">
          <a:xfrm>
            <a:off x="590552" y="1052513"/>
            <a:ext cx="1028064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Arial" pitchFamily="34" charset="0"/>
              <a:buChar char="•"/>
            </a:pPr>
            <a:r>
              <a:rPr lang="en-US" altLang="ar-SA" sz="2800" i="1" dirty="0"/>
              <a:t>Is a method to combine a data frame with an acknowledgment. </a:t>
            </a:r>
          </a:p>
          <a:p>
            <a:pPr marL="457200" indent="-457200">
              <a:buFont typeface="Arial" pitchFamily="34" charset="0"/>
              <a:buChar char="•"/>
            </a:pPr>
            <a:r>
              <a:rPr lang="en-US" altLang="ar-SA" sz="2800" i="1" dirty="0"/>
              <a:t>It can save bandwidth because data frame and an ACK frame can be combined into just one frame</a:t>
            </a:r>
          </a:p>
        </p:txBody>
      </p:sp>
      <p:pic>
        <p:nvPicPr>
          <p:cNvPr id="29707" name="Picture 27" descr="https://afteracademy.com/images/what-is-piggybacking-example-4582b8bf65e9fd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0117" y="3181350"/>
            <a:ext cx="789940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83001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488951" y="107951"/>
            <a:ext cx="584200" cy="474663"/>
            <a:chOff x="0" y="0"/>
            <a:chExt cx="276" cy="299"/>
          </a:xfrm>
        </p:grpSpPr>
        <p:sp>
          <p:nvSpPr>
            <p:cNvPr id="30743"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44"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3" name="Group 5"/>
          <p:cNvGrpSpPr>
            <a:grpSpLocks/>
          </p:cNvGrpSpPr>
          <p:nvPr/>
        </p:nvGrpSpPr>
        <p:grpSpPr bwMode="auto">
          <a:xfrm>
            <a:off x="999067" y="107951"/>
            <a:ext cx="438151" cy="474663"/>
            <a:chOff x="0" y="0"/>
            <a:chExt cx="207" cy="299"/>
          </a:xfrm>
        </p:grpSpPr>
        <p:sp>
          <p:nvSpPr>
            <p:cNvPr id="30741"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42"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4" name="Group 8"/>
          <p:cNvGrpSpPr>
            <a:grpSpLocks/>
          </p:cNvGrpSpPr>
          <p:nvPr/>
        </p:nvGrpSpPr>
        <p:grpSpPr bwMode="auto">
          <a:xfrm>
            <a:off x="654052" y="530226"/>
            <a:ext cx="563033" cy="474663"/>
            <a:chOff x="0" y="0"/>
            <a:chExt cx="266" cy="299"/>
          </a:xfrm>
        </p:grpSpPr>
        <p:sp>
          <p:nvSpPr>
            <p:cNvPr id="30739"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40"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5" name="Group 11"/>
          <p:cNvGrpSpPr>
            <a:grpSpLocks/>
          </p:cNvGrpSpPr>
          <p:nvPr/>
        </p:nvGrpSpPr>
        <p:grpSpPr bwMode="auto">
          <a:xfrm>
            <a:off x="1147233" y="530226"/>
            <a:ext cx="491067" cy="474663"/>
            <a:chOff x="0" y="0"/>
            <a:chExt cx="232" cy="299"/>
          </a:xfrm>
        </p:grpSpPr>
        <p:sp>
          <p:nvSpPr>
            <p:cNvPr id="30737"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38"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6" name="Group 14"/>
          <p:cNvGrpSpPr>
            <a:grpSpLocks/>
          </p:cNvGrpSpPr>
          <p:nvPr/>
        </p:nvGrpSpPr>
        <p:grpSpPr bwMode="auto">
          <a:xfrm>
            <a:off x="31751" y="533401"/>
            <a:ext cx="749300" cy="422275"/>
            <a:chOff x="0" y="0"/>
            <a:chExt cx="353" cy="266"/>
          </a:xfrm>
        </p:grpSpPr>
        <p:sp>
          <p:nvSpPr>
            <p:cNvPr id="30735"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36"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7" name="Group 17"/>
          <p:cNvGrpSpPr>
            <a:grpSpLocks/>
          </p:cNvGrpSpPr>
          <p:nvPr/>
        </p:nvGrpSpPr>
        <p:grpSpPr bwMode="auto">
          <a:xfrm>
            <a:off x="948267" y="1"/>
            <a:ext cx="42333" cy="1052513"/>
            <a:chOff x="0" y="0"/>
            <a:chExt cx="20" cy="663"/>
          </a:xfrm>
        </p:grpSpPr>
        <p:sp>
          <p:nvSpPr>
            <p:cNvPr id="30733"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34"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28" name="Group 20"/>
          <p:cNvGrpSpPr>
            <a:grpSpLocks/>
          </p:cNvGrpSpPr>
          <p:nvPr/>
        </p:nvGrpSpPr>
        <p:grpSpPr bwMode="auto">
          <a:xfrm>
            <a:off x="590551" y="533400"/>
            <a:ext cx="10968567" cy="276225"/>
            <a:chOff x="0" y="0"/>
            <a:chExt cx="5182" cy="174"/>
          </a:xfrm>
        </p:grpSpPr>
        <p:sp>
          <p:nvSpPr>
            <p:cNvPr id="30731"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732"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30729" name="Rectangle 1"/>
          <p:cNvSpPr>
            <a:spLocks noChangeArrowheads="1"/>
          </p:cNvSpPr>
          <p:nvPr/>
        </p:nvSpPr>
        <p:spPr bwMode="auto">
          <a:xfrm>
            <a:off x="2438401" y="166688"/>
            <a:ext cx="41528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ar-SA" b="1"/>
              <a:t>Piggybacking ( Bidirectional transmission)</a:t>
            </a:r>
            <a:endParaRPr lang="ar-SA" altLang="ar-SA"/>
          </a:p>
        </p:txBody>
      </p:sp>
      <p:sp>
        <p:nvSpPr>
          <p:cNvPr id="2" name="Rectangle 1"/>
          <p:cNvSpPr/>
          <p:nvPr/>
        </p:nvSpPr>
        <p:spPr>
          <a:xfrm>
            <a:off x="605367" y="1052513"/>
            <a:ext cx="10483851" cy="4524315"/>
          </a:xfrm>
          <a:prstGeom prst="rect">
            <a:avLst/>
          </a:prstGeom>
        </p:spPr>
        <p:txBody>
          <a:bodyPr>
            <a:spAutoFit/>
          </a:bodyPr>
          <a:lstStyle/>
          <a:p>
            <a:pPr algn="just">
              <a:defRPr/>
            </a:pPr>
            <a:r>
              <a:rPr lang="en-US" sz="2400" dirty="0"/>
              <a:t>Communication between the host A and host B, three conditions can arise:</a:t>
            </a:r>
          </a:p>
          <a:p>
            <a:pPr marL="342900" indent="-342900" algn="just">
              <a:buFont typeface="Arial" pitchFamily="34" charset="0"/>
              <a:buChar char="•"/>
              <a:defRPr/>
            </a:pPr>
            <a:r>
              <a:rPr lang="en-US" sz="2400" dirty="0"/>
              <a:t>When the host has </a:t>
            </a:r>
            <a:r>
              <a:rPr lang="en-US" sz="2400" b="1" dirty="0"/>
              <a:t>both data and the acknowledgment</a:t>
            </a:r>
            <a:r>
              <a:rPr lang="en-US" sz="2400" dirty="0"/>
              <a:t> to send, then it will attach the data along with the acknowledgment. In the above diagram, the host B will attach the data frame along with the acknowledgment of the last frame received from host A.</a:t>
            </a:r>
          </a:p>
          <a:p>
            <a:pPr marL="342900" indent="-342900" algn="just">
              <a:buFont typeface="Arial" pitchFamily="34" charset="0"/>
              <a:buChar char="•"/>
              <a:defRPr/>
            </a:pPr>
            <a:r>
              <a:rPr lang="en-US" sz="2400" dirty="0"/>
              <a:t>When the host </a:t>
            </a:r>
            <a:r>
              <a:rPr lang="en-US" sz="2400" b="1" dirty="0"/>
              <a:t>does not have any data to send</a:t>
            </a:r>
            <a:r>
              <a:rPr lang="en-US" sz="2400" dirty="0"/>
              <a:t> then it will send only the acknowledgment. In the above diagram, when host A does not have any data frame to send. So, it will only send the acknowledgment of the last frame received.</a:t>
            </a:r>
          </a:p>
          <a:p>
            <a:pPr marL="342900" indent="-342900" algn="just">
              <a:buFont typeface="Arial" pitchFamily="34" charset="0"/>
              <a:buChar char="•"/>
              <a:defRPr/>
            </a:pPr>
            <a:r>
              <a:rPr lang="en-US" sz="2400" dirty="0"/>
              <a:t>When the host has </a:t>
            </a:r>
            <a:r>
              <a:rPr lang="en-US" sz="2400" b="1" dirty="0"/>
              <a:t>only data to send </a:t>
            </a:r>
            <a:r>
              <a:rPr lang="en-US" sz="2400" dirty="0"/>
              <a:t>then it will send the data along with the acknowledgment of the last frame received. The duplicate acknowledgment will be discarded by the receiver and the data would be accepted.</a:t>
            </a:r>
          </a:p>
        </p:txBody>
      </p:sp>
    </p:spTree>
    <p:extLst>
      <p:ext uri="{BB962C8B-B14F-4D97-AF65-F5344CB8AC3E}">
        <p14:creationId xmlns:p14="http://schemas.microsoft.com/office/powerpoint/2010/main" val="236977912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 name="Group 2"/>
          <p:cNvGrpSpPr>
            <a:grpSpLocks/>
          </p:cNvGrpSpPr>
          <p:nvPr/>
        </p:nvGrpSpPr>
        <p:grpSpPr bwMode="auto">
          <a:xfrm>
            <a:off x="488951" y="107951"/>
            <a:ext cx="584200" cy="474663"/>
            <a:chOff x="0" y="0"/>
            <a:chExt cx="276" cy="299"/>
          </a:xfrm>
        </p:grpSpPr>
        <p:sp>
          <p:nvSpPr>
            <p:cNvPr id="207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7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1" name="Group 5"/>
          <p:cNvGrpSpPr>
            <a:grpSpLocks/>
          </p:cNvGrpSpPr>
          <p:nvPr/>
        </p:nvGrpSpPr>
        <p:grpSpPr bwMode="auto">
          <a:xfrm>
            <a:off x="999067" y="107951"/>
            <a:ext cx="438151" cy="474663"/>
            <a:chOff x="0" y="0"/>
            <a:chExt cx="207" cy="299"/>
          </a:xfrm>
        </p:grpSpPr>
        <p:sp>
          <p:nvSpPr>
            <p:cNvPr id="206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6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2" name="Group 8"/>
          <p:cNvGrpSpPr>
            <a:grpSpLocks/>
          </p:cNvGrpSpPr>
          <p:nvPr/>
        </p:nvGrpSpPr>
        <p:grpSpPr bwMode="auto">
          <a:xfrm>
            <a:off x="654052" y="530226"/>
            <a:ext cx="563033" cy="474663"/>
            <a:chOff x="0" y="0"/>
            <a:chExt cx="266" cy="299"/>
          </a:xfrm>
        </p:grpSpPr>
        <p:sp>
          <p:nvSpPr>
            <p:cNvPr id="206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6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3" name="Group 11"/>
          <p:cNvGrpSpPr>
            <a:grpSpLocks/>
          </p:cNvGrpSpPr>
          <p:nvPr/>
        </p:nvGrpSpPr>
        <p:grpSpPr bwMode="auto">
          <a:xfrm>
            <a:off x="1147233" y="530226"/>
            <a:ext cx="491067" cy="474663"/>
            <a:chOff x="0" y="0"/>
            <a:chExt cx="232" cy="299"/>
          </a:xfrm>
        </p:grpSpPr>
        <p:sp>
          <p:nvSpPr>
            <p:cNvPr id="206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6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4" name="Group 14"/>
          <p:cNvGrpSpPr>
            <a:grpSpLocks/>
          </p:cNvGrpSpPr>
          <p:nvPr/>
        </p:nvGrpSpPr>
        <p:grpSpPr bwMode="auto">
          <a:xfrm>
            <a:off x="99485" y="457201"/>
            <a:ext cx="749300" cy="422275"/>
            <a:chOff x="0" y="0"/>
            <a:chExt cx="353" cy="266"/>
          </a:xfrm>
        </p:grpSpPr>
        <p:sp>
          <p:nvSpPr>
            <p:cNvPr id="206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6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5" name="Group 17"/>
          <p:cNvGrpSpPr>
            <a:grpSpLocks/>
          </p:cNvGrpSpPr>
          <p:nvPr/>
        </p:nvGrpSpPr>
        <p:grpSpPr bwMode="auto">
          <a:xfrm>
            <a:off x="948267" y="1"/>
            <a:ext cx="42333" cy="1052513"/>
            <a:chOff x="0" y="0"/>
            <a:chExt cx="20" cy="663"/>
          </a:xfrm>
        </p:grpSpPr>
        <p:sp>
          <p:nvSpPr>
            <p:cNvPr id="206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6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2056" name="Group 20"/>
          <p:cNvGrpSpPr>
            <a:grpSpLocks/>
          </p:cNvGrpSpPr>
          <p:nvPr/>
        </p:nvGrpSpPr>
        <p:grpSpPr bwMode="auto">
          <a:xfrm>
            <a:off x="590551" y="533400"/>
            <a:ext cx="10968567" cy="276225"/>
            <a:chOff x="0" y="0"/>
            <a:chExt cx="5182" cy="174"/>
          </a:xfrm>
        </p:grpSpPr>
        <p:sp>
          <p:nvSpPr>
            <p:cNvPr id="205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205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2057" name="Rectangle 3"/>
          <p:cNvSpPr>
            <a:spLocks/>
          </p:cNvSpPr>
          <p:nvPr/>
        </p:nvSpPr>
        <p:spPr bwMode="auto">
          <a:xfrm>
            <a:off x="990600" y="2971800"/>
            <a:ext cx="9550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p>
            <a:pPr marL="39688" algn="ctr"/>
            <a:r>
              <a:rPr lang="en-US" altLang="ar-SA" sz="5400" b="1" i="1">
                <a:solidFill>
                  <a:srgbClr val="002060"/>
                </a:solidFill>
                <a:latin typeface="Footlight MT Light" pitchFamily="18" charset="0"/>
                <a:sym typeface="Arial" charset="0"/>
              </a:rPr>
              <a:t>HDLC</a:t>
            </a:r>
          </a:p>
        </p:txBody>
      </p:sp>
    </p:spTree>
    <p:extLst>
      <p:ext uri="{BB962C8B-B14F-4D97-AF65-F5344CB8AC3E}">
        <p14:creationId xmlns:p14="http://schemas.microsoft.com/office/powerpoint/2010/main" val="3007744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2"/>
          <p:cNvGrpSpPr>
            <a:grpSpLocks/>
          </p:cNvGrpSpPr>
          <p:nvPr/>
        </p:nvGrpSpPr>
        <p:grpSpPr bwMode="auto">
          <a:xfrm>
            <a:off x="488951" y="107951"/>
            <a:ext cx="584200" cy="474663"/>
            <a:chOff x="0" y="0"/>
            <a:chExt cx="276" cy="299"/>
          </a:xfrm>
        </p:grpSpPr>
        <p:sp>
          <p:nvSpPr>
            <p:cNvPr id="309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5" name="Group 5"/>
          <p:cNvGrpSpPr>
            <a:grpSpLocks/>
          </p:cNvGrpSpPr>
          <p:nvPr/>
        </p:nvGrpSpPr>
        <p:grpSpPr bwMode="auto">
          <a:xfrm>
            <a:off x="999067" y="107951"/>
            <a:ext cx="438151" cy="474663"/>
            <a:chOff x="0" y="0"/>
            <a:chExt cx="207" cy="299"/>
          </a:xfrm>
        </p:grpSpPr>
        <p:sp>
          <p:nvSpPr>
            <p:cNvPr id="309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6" name="Group 8"/>
          <p:cNvGrpSpPr>
            <a:grpSpLocks/>
          </p:cNvGrpSpPr>
          <p:nvPr/>
        </p:nvGrpSpPr>
        <p:grpSpPr bwMode="auto">
          <a:xfrm>
            <a:off x="654052" y="530226"/>
            <a:ext cx="563033" cy="474663"/>
            <a:chOff x="0" y="0"/>
            <a:chExt cx="266" cy="299"/>
          </a:xfrm>
        </p:grpSpPr>
        <p:sp>
          <p:nvSpPr>
            <p:cNvPr id="309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7" name="Group 11"/>
          <p:cNvGrpSpPr>
            <a:grpSpLocks/>
          </p:cNvGrpSpPr>
          <p:nvPr/>
        </p:nvGrpSpPr>
        <p:grpSpPr bwMode="auto">
          <a:xfrm>
            <a:off x="1147233" y="530226"/>
            <a:ext cx="491067" cy="474663"/>
            <a:chOff x="0" y="0"/>
            <a:chExt cx="232" cy="299"/>
          </a:xfrm>
        </p:grpSpPr>
        <p:sp>
          <p:nvSpPr>
            <p:cNvPr id="309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8" name="Group 14"/>
          <p:cNvGrpSpPr>
            <a:grpSpLocks/>
          </p:cNvGrpSpPr>
          <p:nvPr/>
        </p:nvGrpSpPr>
        <p:grpSpPr bwMode="auto">
          <a:xfrm>
            <a:off x="99485" y="457201"/>
            <a:ext cx="749300" cy="422275"/>
            <a:chOff x="0" y="0"/>
            <a:chExt cx="353" cy="266"/>
          </a:xfrm>
        </p:grpSpPr>
        <p:sp>
          <p:nvSpPr>
            <p:cNvPr id="309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9" name="Group 17"/>
          <p:cNvGrpSpPr>
            <a:grpSpLocks/>
          </p:cNvGrpSpPr>
          <p:nvPr/>
        </p:nvGrpSpPr>
        <p:grpSpPr bwMode="auto">
          <a:xfrm>
            <a:off x="948267" y="1"/>
            <a:ext cx="42333" cy="1052513"/>
            <a:chOff x="0" y="0"/>
            <a:chExt cx="20" cy="663"/>
          </a:xfrm>
        </p:grpSpPr>
        <p:sp>
          <p:nvSpPr>
            <p:cNvPr id="308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8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80" name="Group 20"/>
          <p:cNvGrpSpPr>
            <a:grpSpLocks/>
          </p:cNvGrpSpPr>
          <p:nvPr/>
        </p:nvGrpSpPr>
        <p:grpSpPr bwMode="auto">
          <a:xfrm>
            <a:off x="590551" y="533400"/>
            <a:ext cx="10968567" cy="276225"/>
            <a:chOff x="0" y="0"/>
            <a:chExt cx="5182" cy="174"/>
          </a:xfrm>
        </p:grpSpPr>
        <p:sp>
          <p:nvSpPr>
            <p:cNvPr id="308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8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3081"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Introduction to HDLC</a:t>
            </a:r>
          </a:p>
        </p:txBody>
      </p:sp>
      <p:sp>
        <p:nvSpPr>
          <p:cNvPr id="3082" name="Rectangle 1"/>
          <p:cNvSpPr>
            <a:spLocks noChangeArrowheads="1"/>
          </p:cNvSpPr>
          <p:nvPr/>
        </p:nvSpPr>
        <p:spPr bwMode="auto">
          <a:xfrm>
            <a:off x="459318" y="1133476"/>
            <a:ext cx="110998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buFont typeface="Arial" charset="0"/>
              <a:buChar char="•"/>
            </a:pPr>
            <a:r>
              <a:rPr lang="en-US" sz="2400" dirty="0"/>
              <a:t>The High-Level Data Link Control (HDLC) is part of the data link layer protocol in the OSI Model. </a:t>
            </a:r>
          </a:p>
          <a:p>
            <a:pPr marL="342900" indent="-342900" algn="just">
              <a:buFont typeface="Arial" charset="0"/>
              <a:buChar char="•"/>
            </a:pPr>
            <a:endParaRPr lang="en-US" sz="2400" dirty="0"/>
          </a:p>
          <a:p>
            <a:pPr marL="342900" indent="-342900" algn="just">
              <a:buFont typeface="Arial" charset="0"/>
              <a:buChar char="•"/>
            </a:pPr>
            <a:r>
              <a:rPr lang="en-US" sz="2400" dirty="0"/>
              <a:t>The HDLC protocol embeds information in a data frame that allows devices to control data flow and correct errors </a:t>
            </a:r>
          </a:p>
          <a:p>
            <a:pPr marL="342900" indent="-342900" algn="just">
              <a:buFont typeface="Arial" charset="0"/>
              <a:buChar char="•"/>
            </a:pPr>
            <a:endParaRPr lang="en-US" sz="2400" dirty="0"/>
          </a:p>
          <a:p>
            <a:pPr marL="342900" indent="-342900" algn="just">
              <a:buFont typeface="Arial" charset="0"/>
              <a:buChar char="•"/>
            </a:pPr>
            <a:r>
              <a:rPr lang="en-US" sz="2400" dirty="0"/>
              <a:t>HDLC is an ISO Standard developed from the Synchronous Data Link Control (SDLC) standard proposed by IBM</a:t>
            </a:r>
          </a:p>
          <a:p>
            <a:pPr marL="342900" indent="-342900" algn="just">
              <a:buFont typeface="Arial" charset="0"/>
              <a:buChar char="•"/>
            </a:pPr>
            <a:endParaRPr lang="en-US" sz="2400" dirty="0"/>
          </a:p>
          <a:p>
            <a:pPr marL="342900" indent="-342900" algn="just">
              <a:buFont typeface="Arial" charset="0"/>
              <a:buChar char="•"/>
            </a:pPr>
            <a:r>
              <a:rPr lang="en-US" sz="2400" dirty="0"/>
              <a:t>Role of HDLC is to ensure that the data has been received without any loss or errors and in the correct order </a:t>
            </a:r>
          </a:p>
          <a:p>
            <a:pPr marL="342900" indent="-342900" algn="just">
              <a:buFont typeface="Arial" charset="0"/>
              <a:buChar char="•"/>
            </a:pPr>
            <a:endParaRPr lang="en-US" sz="2400" dirty="0"/>
          </a:p>
          <a:p>
            <a:pPr marL="342900" indent="-342900" algn="just">
              <a:buFont typeface="Arial" charset="0"/>
              <a:buChar char="•"/>
            </a:pPr>
            <a:r>
              <a:rPr lang="en-US" sz="2400" dirty="0"/>
              <a:t>It is a bit-oriented protocol</a:t>
            </a:r>
          </a:p>
        </p:txBody>
      </p:sp>
    </p:spTree>
    <p:extLst>
      <p:ext uri="{BB962C8B-B14F-4D97-AF65-F5344CB8AC3E}">
        <p14:creationId xmlns:p14="http://schemas.microsoft.com/office/powerpoint/2010/main" val="16125811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2"/>
          <p:cNvGrpSpPr>
            <a:grpSpLocks/>
          </p:cNvGrpSpPr>
          <p:nvPr/>
        </p:nvGrpSpPr>
        <p:grpSpPr bwMode="auto">
          <a:xfrm>
            <a:off x="488951" y="107951"/>
            <a:ext cx="584200" cy="474663"/>
            <a:chOff x="0" y="0"/>
            <a:chExt cx="276" cy="299"/>
          </a:xfrm>
        </p:grpSpPr>
        <p:sp>
          <p:nvSpPr>
            <p:cNvPr id="309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5" name="Group 5"/>
          <p:cNvGrpSpPr>
            <a:grpSpLocks/>
          </p:cNvGrpSpPr>
          <p:nvPr/>
        </p:nvGrpSpPr>
        <p:grpSpPr bwMode="auto">
          <a:xfrm>
            <a:off x="999067" y="107951"/>
            <a:ext cx="438151" cy="474663"/>
            <a:chOff x="0" y="0"/>
            <a:chExt cx="207" cy="299"/>
          </a:xfrm>
        </p:grpSpPr>
        <p:sp>
          <p:nvSpPr>
            <p:cNvPr id="309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6" name="Group 8"/>
          <p:cNvGrpSpPr>
            <a:grpSpLocks/>
          </p:cNvGrpSpPr>
          <p:nvPr/>
        </p:nvGrpSpPr>
        <p:grpSpPr bwMode="auto">
          <a:xfrm>
            <a:off x="654052" y="530226"/>
            <a:ext cx="563033" cy="474663"/>
            <a:chOff x="0" y="0"/>
            <a:chExt cx="266" cy="299"/>
          </a:xfrm>
        </p:grpSpPr>
        <p:sp>
          <p:nvSpPr>
            <p:cNvPr id="309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7" name="Group 11"/>
          <p:cNvGrpSpPr>
            <a:grpSpLocks/>
          </p:cNvGrpSpPr>
          <p:nvPr/>
        </p:nvGrpSpPr>
        <p:grpSpPr bwMode="auto">
          <a:xfrm>
            <a:off x="1147233" y="530226"/>
            <a:ext cx="491067" cy="474663"/>
            <a:chOff x="0" y="0"/>
            <a:chExt cx="232" cy="299"/>
          </a:xfrm>
        </p:grpSpPr>
        <p:sp>
          <p:nvSpPr>
            <p:cNvPr id="309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8" name="Group 14"/>
          <p:cNvGrpSpPr>
            <a:grpSpLocks/>
          </p:cNvGrpSpPr>
          <p:nvPr/>
        </p:nvGrpSpPr>
        <p:grpSpPr bwMode="auto">
          <a:xfrm>
            <a:off x="99485" y="457201"/>
            <a:ext cx="749300" cy="422275"/>
            <a:chOff x="0" y="0"/>
            <a:chExt cx="353" cy="266"/>
          </a:xfrm>
        </p:grpSpPr>
        <p:sp>
          <p:nvSpPr>
            <p:cNvPr id="309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9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79" name="Group 17"/>
          <p:cNvGrpSpPr>
            <a:grpSpLocks/>
          </p:cNvGrpSpPr>
          <p:nvPr/>
        </p:nvGrpSpPr>
        <p:grpSpPr bwMode="auto">
          <a:xfrm>
            <a:off x="948267" y="1"/>
            <a:ext cx="42333" cy="1052513"/>
            <a:chOff x="0" y="0"/>
            <a:chExt cx="20" cy="663"/>
          </a:xfrm>
        </p:grpSpPr>
        <p:sp>
          <p:nvSpPr>
            <p:cNvPr id="308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8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3080" name="Group 20"/>
          <p:cNvGrpSpPr>
            <a:grpSpLocks/>
          </p:cNvGrpSpPr>
          <p:nvPr/>
        </p:nvGrpSpPr>
        <p:grpSpPr bwMode="auto">
          <a:xfrm>
            <a:off x="590551" y="533400"/>
            <a:ext cx="10968567" cy="276225"/>
            <a:chOff x="0" y="0"/>
            <a:chExt cx="5182" cy="174"/>
          </a:xfrm>
        </p:grpSpPr>
        <p:sp>
          <p:nvSpPr>
            <p:cNvPr id="308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308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3081"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Introduction to HDLC</a:t>
            </a:r>
          </a:p>
        </p:txBody>
      </p:sp>
      <p:sp>
        <p:nvSpPr>
          <p:cNvPr id="3082" name="Rectangle 1"/>
          <p:cNvSpPr>
            <a:spLocks noChangeArrowheads="1"/>
          </p:cNvSpPr>
          <p:nvPr/>
        </p:nvSpPr>
        <p:spPr bwMode="auto">
          <a:xfrm>
            <a:off x="990600" y="962025"/>
            <a:ext cx="11099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 typeface="Arial" charset="0"/>
              <a:buChar char="•"/>
            </a:pPr>
            <a:r>
              <a:rPr lang="en-US" sz="2400" dirty="0"/>
              <a:t>HDLC is applied for point-to-point and multipoint link structures based on the </a:t>
            </a:r>
            <a:r>
              <a:rPr lang="en-US" sz="2400" b="1" dirty="0"/>
              <a:t>bit-oriented</a:t>
            </a:r>
            <a:r>
              <a:rPr lang="en-US" sz="2400" dirty="0"/>
              <a:t> data format.</a:t>
            </a:r>
            <a:endParaRPr lang="en-IN" sz="2400" dirty="0"/>
          </a:p>
        </p:txBody>
      </p:sp>
      <p:pic>
        <p:nvPicPr>
          <p:cNvPr id="3083" name="Picture 2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80167" y="1828800"/>
            <a:ext cx="7789333" cy="136683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117600" y="3581400"/>
            <a:ext cx="10712451" cy="1938992"/>
          </a:xfrm>
          <a:prstGeom prst="rect">
            <a:avLst/>
          </a:prstGeom>
        </p:spPr>
        <p:txBody>
          <a:bodyPr>
            <a:spAutoFit/>
          </a:bodyPr>
          <a:lstStyle/>
          <a:p>
            <a:pPr marL="342900" indent="-342900">
              <a:buFont typeface="Arial" pitchFamily="34" charset="0"/>
              <a:buChar char="•"/>
              <a:defRPr/>
            </a:pPr>
            <a:r>
              <a:rPr lang="en-US" sz="2400" dirty="0"/>
              <a:t>It also applies the </a:t>
            </a:r>
            <a:r>
              <a:rPr lang="en-US" sz="2400" b="1" dirty="0"/>
              <a:t>Automatic Repeat Request (ARQ) </a:t>
            </a:r>
            <a:r>
              <a:rPr lang="en-US" sz="2400" dirty="0"/>
              <a:t>for performing </a:t>
            </a:r>
            <a:r>
              <a:rPr lang="en-US" sz="2400" b="1" dirty="0"/>
              <a:t>full-duplex communication </a:t>
            </a:r>
            <a:r>
              <a:rPr lang="en-US" sz="2400" dirty="0"/>
              <a:t>between network channels due to its high flexibility and reliable network structure.</a:t>
            </a:r>
          </a:p>
          <a:p>
            <a:pPr>
              <a:defRPr/>
            </a:pPr>
            <a:br>
              <a:rPr lang="en-US" sz="2400" dirty="0"/>
            </a:br>
            <a:endParaRPr lang="en-IN" sz="2400" dirty="0"/>
          </a:p>
        </p:txBody>
      </p:sp>
      <p:pic>
        <p:nvPicPr>
          <p:cNvPr id="3085" name="Picture 2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7201" y="4648201"/>
            <a:ext cx="2730500" cy="183832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6705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 name="Group 2"/>
          <p:cNvGrpSpPr>
            <a:grpSpLocks/>
          </p:cNvGrpSpPr>
          <p:nvPr/>
        </p:nvGrpSpPr>
        <p:grpSpPr bwMode="auto">
          <a:xfrm>
            <a:off x="488951" y="107951"/>
            <a:ext cx="584200" cy="474663"/>
            <a:chOff x="0" y="0"/>
            <a:chExt cx="276" cy="299"/>
          </a:xfrm>
        </p:grpSpPr>
        <p:sp>
          <p:nvSpPr>
            <p:cNvPr id="412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2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099" name="Group 5"/>
          <p:cNvGrpSpPr>
            <a:grpSpLocks/>
          </p:cNvGrpSpPr>
          <p:nvPr/>
        </p:nvGrpSpPr>
        <p:grpSpPr bwMode="auto">
          <a:xfrm>
            <a:off x="999067" y="107951"/>
            <a:ext cx="438151" cy="474663"/>
            <a:chOff x="0" y="0"/>
            <a:chExt cx="207" cy="299"/>
          </a:xfrm>
        </p:grpSpPr>
        <p:sp>
          <p:nvSpPr>
            <p:cNvPr id="412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2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100" name="Group 8"/>
          <p:cNvGrpSpPr>
            <a:grpSpLocks/>
          </p:cNvGrpSpPr>
          <p:nvPr/>
        </p:nvGrpSpPr>
        <p:grpSpPr bwMode="auto">
          <a:xfrm>
            <a:off x="654052" y="530226"/>
            <a:ext cx="563033" cy="474663"/>
            <a:chOff x="0" y="0"/>
            <a:chExt cx="266" cy="299"/>
          </a:xfrm>
        </p:grpSpPr>
        <p:sp>
          <p:nvSpPr>
            <p:cNvPr id="412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2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101" name="Group 11"/>
          <p:cNvGrpSpPr>
            <a:grpSpLocks/>
          </p:cNvGrpSpPr>
          <p:nvPr/>
        </p:nvGrpSpPr>
        <p:grpSpPr bwMode="auto">
          <a:xfrm>
            <a:off x="1147233" y="530226"/>
            <a:ext cx="491067" cy="474663"/>
            <a:chOff x="0" y="0"/>
            <a:chExt cx="232" cy="299"/>
          </a:xfrm>
        </p:grpSpPr>
        <p:sp>
          <p:nvSpPr>
            <p:cNvPr id="411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1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102" name="Group 14"/>
          <p:cNvGrpSpPr>
            <a:grpSpLocks/>
          </p:cNvGrpSpPr>
          <p:nvPr/>
        </p:nvGrpSpPr>
        <p:grpSpPr bwMode="auto">
          <a:xfrm>
            <a:off x="99485" y="457201"/>
            <a:ext cx="749300" cy="422275"/>
            <a:chOff x="0" y="0"/>
            <a:chExt cx="353" cy="266"/>
          </a:xfrm>
        </p:grpSpPr>
        <p:sp>
          <p:nvSpPr>
            <p:cNvPr id="411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1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103" name="Group 17"/>
          <p:cNvGrpSpPr>
            <a:grpSpLocks/>
          </p:cNvGrpSpPr>
          <p:nvPr/>
        </p:nvGrpSpPr>
        <p:grpSpPr bwMode="auto">
          <a:xfrm>
            <a:off x="948267" y="1"/>
            <a:ext cx="42333" cy="1052513"/>
            <a:chOff x="0" y="0"/>
            <a:chExt cx="20" cy="663"/>
          </a:xfrm>
        </p:grpSpPr>
        <p:sp>
          <p:nvSpPr>
            <p:cNvPr id="411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1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4104" name="Group 20"/>
          <p:cNvGrpSpPr>
            <a:grpSpLocks/>
          </p:cNvGrpSpPr>
          <p:nvPr/>
        </p:nvGrpSpPr>
        <p:grpSpPr bwMode="auto">
          <a:xfrm>
            <a:off x="590551" y="533400"/>
            <a:ext cx="10968567" cy="276225"/>
            <a:chOff x="0" y="0"/>
            <a:chExt cx="5182" cy="174"/>
          </a:xfrm>
        </p:grpSpPr>
        <p:sp>
          <p:nvSpPr>
            <p:cNvPr id="411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411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4105"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Stations</a:t>
            </a:r>
          </a:p>
        </p:txBody>
      </p:sp>
      <p:sp>
        <p:nvSpPr>
          <p:cNvPr id="4" name="Rectangle 3"/>
          <p:cNvSpPr/>
          <p:nvPr/>
        </p:nvSpPr>
        <p:spPr>
          <a:xfrm>
            <a:off x="969434" y="1049338"/>
            <a:ext cx="10589684" cy="830997"/>
          </a:xfrm>
          <a:prstGeom prst="rect">
            <a:avLst/>
          </a:prstGeom>
          <a:solidFill>
            <a:schemeClr val="accent1">
              <a:lumMod val="40000"/>
              <a:lumOff val="60000"/>
            </a:schemeClr>
          </a:solidFill>
        </p:spPr>
        <p:txBody>
          <a:bodyPr>
            <a:spAutoFit/>
          </a:bodyPr>
          <a:lstStyle/>
          <a:p>
            <a:pPr>
              <a:defRPr/>
            </a:pPr>
            <a:r>
              <a:rPr lang="en-US" sz="2400" dirty="0"/>
              <a:t>To efficiently integrate and use the HDLC protocols, different stations are to be effectively applied in the channel:</a:t>
            </a:r>
            <a:endParaRPr lang="en-IN" sz="2400" dirty="0"/>
          </a:p>
        </p:txBody>
      </p:sp>
      <p:sp>
        <p:nvSpPr>
          <p:cNvPr id="4107" name="Rectangle 4"/>
          <p:cNvSpPr>
            <a:spLocks noChangeArrowheads="1"/>
          </p:cNvSpPr>
          <p:nvPr/>
        </p:nvSpPr>
        <p:spPr bwMode="auto">
          <a:xfrm>
            <a:off x="948266" y="2133600"/>
            <a:ext cx="106108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Primary Station </a:t>
            </a:r>
            <a:r>
              <a:rPr lang="en-US" sz="2400" dirty="0"/>
              <a:t>- It handles establishing and de-establishing the primary data channel to share frames in the network, known as commands.</a:t>
            </a:r>
          </a:p>
          <a:p>
            <a:r>
              <a:rPr lang="en-US" sz="2400" dirty="0"/>
              <a:t>It also performs data management for the network</a:t>
            </a:r>
          </a:p>
        </p:txBody>
      </p:sp>
      <p:pic>
        <p:nvPicPr>
          <p:cNvPr id="410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940801" y="4191000"/>
            <a:ext cx="1943100" cy="14097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038601"/>
            <a:ext cx="7493000" cy="216217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110" name="Straight Connector 8"/>
          <p:cNvCxnSpPr>
            <a:cxnSpLocks noChangeShapeType="1"/>
          </p:cNvCxnSpPr>
          <p:nvPr/>
        </p:nvCxnSpPr>
        <p:spPr bwMode="auto">
          <a:xfrm>
            <a:off x="7162800" y="4876800"/>
            <a:ext cx="2032000" cy="0"/>
          </a:xfrm>
          <a:prstGeom prst="line">
            <a:avLst/>
          </a:prstGeom>
          <a:noFill/>
          <a:ln w="38100" algn="ctr">
            <a:solidFill>
              <a:srgbClr val="000000"/>
            </a:solidFill>
            <a:round/>
            <a:headEnd/>
            <a:tailEnd/>
          </a:ln>
          <a:extLst>
            <a:ext uri="{909E8E84-426E-40DD-AFC4-6F175D3DCCD1}">
              <a14:hiddenFill xmlns:a14="http://schemas.microsoft.com/office/drawing/2010/main">
                <a:noFill/>
              </a14:hiddenFill>
            </a:ext>
          </a:extLst>
        </p:spPr>
      </p:cxnSp>
      <p:pic>
        <p:nvPicPr>
          <p:cNvPr id="4111"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2384" y="3886200"/>
            <a:ext cx="1778000" cy="93345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29682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a:grpSpLocks/>
          </p:cNvGrpSpPr>
          <p:nvPr/>
        </p:nvGrpSpPr>
        <p:grpSpPr bwMode="auto">
          <a:xfrm>
            <a:off x="488951" y="107951"/>
            <a:ext cx="584200" cy="474663"/>
            <a:chOff x="0" y="0"/>
            <a:chExt cx="276" cy="299"/>
          </a:xfrm>
        </p:grpSpPr>
        <p:sp>
          <p:nvSpPr>
            <p:cNvPr id="514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3" name="Group 5"/>
          <p:cNvGrpSpPr>
            <a:grpSpLocks/>
          </p:cNvGrpSpPr>
          <p:nvPr/>
        </p:nvGrpSpPr>
        <p:grpSpPr bwMode="auto">
          <a:xfrm>
            <a:off x="999067" y="107951"/>
            <a:ext cx="438151" cy="474663"/>
            <a:chOff x="0" y="0"/>
            <a:chExt cx="207" cy="299"/>
          </a:xfrm>
        </p:grpSpPr>
        <p:sp>
          <p:nvSpPr>
            <p:cNvPr id="514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4" name="Group 8"/>
          <p:cNvGrpSpPr>
            <a:grpSpLocks/>
          </p:cNvGrpSpPr>
          <p:nvPr/>
        </p:nvGrpSpPr>
        <p:grpSpPr bwMode="auto">
          <a:xfrm>
            <a:off x="654052" y="530226"/>
            <a:ext cx="563033" cy="474663"/>
            <a:chOff x="0" y="0"/>
            <a:chExt cx="266" cy="299"/>
          </a:xfrm>
        </p:grpSpPr>
        <p:sp>
          <p:nvSpPr>
            <p:cNvPr id="514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5" name="Group 11"/>
          <p:cNvGrpSpPr>
            <a:grpSpLocks/>
          </p:cNvGrpSpPr>
          <p:nvPr/>
        </p:nvGrpSpPr>
        <p:grpSpPr bwMode="auto">
          <a:xfrm>
            <a:off x="1147233" y="530226"/>
            <a:ext cx="491067" cy="474663"/>
            <a:chOff x="0" y="0"/>
            <a:chExt cx="232" cy="299"/>
          </a:xfrm>
        </p:grpSpPr>
        <p:sp>
          <p:nvSpPr>
            <p:cNvPr id="514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6" name="Group 14"/>
          <p:cNvGrpSpPr>
            <a:grpSpLocks/>
          </p:cNvGrpSpPr>
          <p:nvPr/>
        </p:nvGrpSpPr>
        <p:grpSpPr bwMode="auto">
          <a:xfrm>
            <a:off x="99485" y="457201"/>
            <a:ext cx="749300" cy="422275"/>
            <a:chOff x="0" y="0"/>
            <a:chExt cx="353" cy="266"/>
          </a:xfrm>
        </p:grpSpPr>
        <p:sp>
          <p:nvSpPr>
            <p:cNvPr id="514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4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7" name="Group 17"/>
          <p:cNvGrpSpPr>
            <a:grpSpLocks/>
          </p:cNvGrpSpPr>
          <p:nvPr/>
        </p:nvGrpSpPr>
        <p:grpSpPr bwMode="auto">
          <a:xfrm>
            <a:off x="948267" y="1"/>
            <a:ext cx="42333" cy="1052513"/>
            <a:chOff x="0" y="0"/>
            <a:chExt cx="20" cy="663"/>
          </a:xfrm>
        </p:grpSpPr>
        <p:sp>
          <p:nvSpPr>
            <p:cNvPr id="513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5128" name="Group 20"/>
          <p:cNvGrpSpPr>
            <a:grpSpLocks/>
          </p:cNvGrpSpPr>
          <p:nvPr/>
        </p:nvGrpSpPr>
        <p:grpSpPr bwMode="auto">
          <a:xfrm>
            <a:off x="590551" y="533400"/>
            <a:ext cx="10968567" cy="276225"/>
            <a:chOff x="0" y="0"/>
            <a:chExt cx="5182" cy="174"/>
          </a:xfrm>
        </p:grpSpPr>
        <p:sp>
          <p:nvSpPr>
            <p:cNvPr id="513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513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5129"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Stations</a:t>
            </a:r>
          </a:p>
        </p:txBody>
      </p:sp>
      <p:sp>
        <p:nvSpPr>
          <p:cNvPr id="4" name="Rectangle 3"/>
          <p:cNvSpPr/>
          <p:nvPr/>
        </p:nvSpPr>
        <p:spPr>
          <a:xfrm>
            <a:off x="969434" y="1049338"/>
            <a:ext cx="10589684" cy="830997"/>
          </a:xfrm>
          <a:prstGeom prst="rect">
            <a:avLst/>
          </a:prstGeom>
          <a:solidFill>
            <a:schemeClr val="accent1">
              <a:lumMod val="40000"/>
              <a:lumOff val="60000"/>
            </a:schemeClr>
          </a:solidFill>
        </p:spPr>
        <p:txBody>
          <a:bodyPr>
            <a:spAutoFit/>
          </a:bodyPr>
          <a:lstStyle/>
          <a:p>
            <a:pPr>
              <a:defRPr/>
            </a:pPr>
            <a:r>
              <a:rPr lang="en-US" sz="2400" dirty="0"/>
              <a:t>To efficiently integrate and use the HDLC protocols, different stations are to be effectively applied in the channel:</a:t>
            </a:r>
            <a:endParaRPr lang="en-IN" sz="2400" dirty="0"/>
          </a:p>
        </p:txBody>
      </p:sp>
      <p:sp>
        <p:nvSpPr>
          <p:cNvPr id="5131" name="Rectangle 4"/>
          <p:cNvSpPr>
            <a:spLocks noChangeArrowheads="1"/>
          </p:cNvSpPr>
          <p:nvPr/>
        </p:nvSpPr>
        <p:spPr bwMode="auto">
          <a:xfrm>
            <a:off x="948266" y="2133600"/>
            <a:ext cx="106108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Secondary Station </a:t>
            </a:r>
            <a:r>
              <a:rPr lang="en-US" sz="2400" dirty="0"/>
              <a:t>- They work under the command of the primary station, and the frames transmitted by this station are known as responses.</a:t>
            </a:r>
          </a:p>
        </p:txBody>
      </p:sp>
      <p:pic>
        <p:nvPicPr>
          <p:cNvPr id="513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940801" y="4191000"/>
            <a:ext cx="1943100" cy="14097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133" name="Straight Connector 8"/>
          <p:cNvCxnSpPr>
            <a:cxnSpLocks noChangeShapeType="1"/>
          </p:cNvCxnSpPr>
          <p:nvPr/>
        </p:nvCxnSpPr>
        <p:spPr bwMode="auto">
          <a:xfrm>
            <a:off x="7162800" y="4876800"/>
            <a:ext cx="2032000" cy="0"/>
          </a:xfrm>
          <a:prstGeom prst="line">
            <a:avLst/>
          </a:prstGeom>
          <a:noFill/>
          <a:ln w="38100" algn="ctr">
            <a:solidFill>
              <a:srgbClr val="000000"/>
            </a:solidFill>
            <a:round/>
            <a:headEnd/>
            <a:tailEnd/>
          </a:ln>
          <a:extLst>
            <a:ext uri="{909E8E84-426E-40DD-AFC4-6F175D3DCCD1}">
              <a14:hiddenFill xmlns:a14="http://schemas.microsoft.com/office/drawing/2010/main">
                <a:noFill/>
              </a14:hiddenFill>
            </a:ext>
          </a:extLst>
        </p:spPr>
      </p:cxnSp>
      <p:sp>
        <p:nvSpPr>
          <p:cNvPr id="5134" name="TextBox 1"/>
          <p:cNvSpPr txBox="1">
            <a:spLocks noChangeArrowheads="1"/>
          </p:cNvSpPr>
          <p:nvPr/>
        </p:nvSpPr>
        <p:spPr bwMode="auto">
          <a:xfrm>
            <a:off x="8432800" y="5600701"/>
            <a:ext cx="3380317" cy="46196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a:t>Secondary Station</a:t>
            </a:r>
            <a:endParaRPr lang="en-IN"/>
          </a:p>
        </p:txBody>
      </p:sp>
      <p:pic>
        <p:nvPicPr>
          <p:cNvPr id="513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4114801"/>
            <a:ext cx="8326967" cy="2100263"/>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52542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a:grpSpLocks/>
          </p:cNvGrpSpPr>
          <p:nvPr/>
        </p:nvGrpSpPr>
        <p:grpSpPr bwMode="auto">
          <a:xfrm>
            <a:off x="488951" y="107951"/>
            <a:ext cx="584200" cy="474663"/>
            <a:chOff x="0" y="0"/>
            <a:chExt cx="276" cy="299"/>
          </a:xfrm>
        </p:grpSpPr>
        <p:sp>
          <p:nvSpPr>
            <p:cNvPr id="6171"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72"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7" name="Group 5"/>
          <p:cNvGrpSpPr>
            <a:grpSpLocks/>
          </p:cNvGrpSpPr>
          <p:nvPr/>
        </p:nvGrpSpPr>
        <p:grpSpPr bwMode="auto">
          <a:xfrm>
            <a:off x="999067" y="107951"/>
            <a:ext cx="438151" cy="474663"/>
            <a:chOff x="0" y="0"/>
            <a:chExt cx="207" cy="299"/>
          </a:xfrm>
        </p:grpSpPr>
        <p:sp>
          <p:nvSpPr>
            <p:cNvPr id="6169"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70"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8" name="Group 8"/>
          <p:cNvGrpSpPr>
            <a:grpSpLocks/>
          </p:cNvGrpSpPr>
          <p:nvPr/>
        </p:nvGrpSpPr>
        <p:grpSpPr bwMode="auto">
          <a:xfrm>
            <a:off x="654052" y="530226"/>
            <a:ext cx="563033" cy="474663"/>
            <a:chOff x="0" y="0"/>
            <a:chExt cx="266" cy="299"/>
          </a:xfrm>
        </p:grpSpPr>
        <p:sp>
          <p:nvSpPr>
            <p:cNvPr id="6167"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8"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49" name="Group 11"/>
          <p:cNvGrpSpPr>
            <a:grpSpLocks/>
          </p:cNvGrpSpPr>
          <p:nvPr/>
        </p:nvGrpSpPr>
        <p:grpSpPr bwMode="auto">
          <a:xfrm>
            <a:off x="1147233" y="530226"/>
            <a:ext cx="491067" cy="474663"/>
            <a:chOff x="0" y="0"/>
            <a:chExt cx="232" cy="299"/>
          </a:xfrm>
        </p:grpSpPr>
        <p:sp>
          <p:nvSpPr>
            <p:cNvPr id="6165"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6"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0" name="Group 14"/>
          <p:cNvGrpSpPr>
            <a:grpSpLocks/>
          </p:cNvGrpSpPr>
          <p:nvPr/>
        </p:nvGrpSpPr>
        <p:grpSpPr bwMode="auto">
          <a:xfrm>
            <a:off x="99485" y="457201"/>
            <a:ext cx="749300" cy="422275"/>
            <a:chOff x="0" y="0"/>
            <a:chExt cx="353" cy="266"/>
          </a:xfrm>
        </p:grpSpPr>
        <p:sp>
          <p:nvSpPr>
            <p:cNvPr id="6163"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4"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1" name="Group 17"/>
          <p:cNvGrpSpPr>
            <a:grpSpLocks/>
          </p:cNvGrpSpPr>
          <p:nvPr/>
        </p:nvGrpSpPr>
        <p:grpSpPr bwMode="auto">
          <a:xfrm>
            <a:off x="948267" y="1"/>
            <a:ext cx="42333" cy="1052513"/>
            <a:chOff x="0" y="0"/>
            <a:chExt cx="20" cy="663"/>
          </a:xfrm>
        </p:grpSpPr>
        <p:sp>
          <p:nvSpPr>
            <p:cNvPr id="6161"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2"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6152" name="Group 20"/>
          <p:cNvGrpSpPr>
            <a:grpSpLocks/>
          </p:cNvGrpSpPr>
          <p:nvPr/>
        </p:nvGrpSpPr>
        <p:grpSpPr bwMode="auto">
          <a:xfrm>
            <a:off x="590551" y="533400"/>
            <a:ext cx="10968567" cy="276225"/>
            <a:chOff x="0" y="0"/>
            <a:chExt cx="5182" cy="174"/>
          </a:xfrm>
        </p:grpSpPr>
        <p:sp>
          <p:nvSpPr>
            <p:cNvPr id="6159"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6160"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6153"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Stations</a:t>
            </a:r>
          </a:p>
        </p:txBody>
      </p:sp>
      <p:sp>
        <p:nvSpPr>
          <p:cNvPr id="4" name="Rectangle 3"/>
          <p:cNvSpPr/>
          <p:nvPr/>
        </p:nvSpPr>
        <p:spPr>
          <a:xfrm>
            <a:off x="969434" y="1049338"/>
            <a:ext cx="10589684" cy="830997"/>
          </a:xfrm>
          <a:prstGeom prst="rect">
            <a:avLst/>
          </a:prstGeom>
          <a:solidFill>
            <a:schemeClr val="accent1">
              <a:lumMod val="40000"/>
              <a:lumOff val="60000"/>
            </a:schemeClr>
          </a:solidFill>
        </p:spPr>
        <p:txBody>
          <a:bodyPr>
            <a:spAutoFit/>
          </a:bodyPr>
          <a:lstStyle/>
          <a:p>
            <a:pPr>
              <a:defRPr/>
            </a:pPr>
            <a:r>
              <a:rPr lang="en-US" sz="2400" dirty="0"/>
              <a:t>To efficiently integrate and use the HDLC protocols, different stations are to be effectively applied in the channel:</a:t>
            </a:r>
            <a:endParaRPr lang="en-IN" sz="2400" dirty="0"/>
          </a:p>
        </p:txBody>
      </p:sp>
      <p:sp>
        <p:nvSpPr>
          <p:cNvPr id="6155" name="Rectangle 4"/>
          <p:cNvSpPr>
            <a:spLocks noChangeArrowheads="1"/>
          </p:cNvSpPr>
          <p:nvPr/>
        </p:nvSpPr>
        <p:spPr bwMode="auto">
          <a:xfrm>
            <a:off x="948266" y="2133600"/>
            <a:ext cx="106108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Combined Station </a:t>
            </a:r>
            <a:r>
              <a:rPr lang="en-US" sz="2400" dirty="0"/>
              <a:t>- This network station can work as both the primary and secondary stations and handle commands and responses.</a:t>
            </a:r>
          </a:p>
        </p:txBody>
      </p:sp>
      <p:pic>
        <p:nvPicPr>
          <p:cNvPr id="615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319685" y="4284664"/>
            <a:ext cx="1551516" cy="1125537"/>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157" name="Straight Connector 8"/>
          <p:cNvCxnSpPr>
            <a:cxnSpLocks noChangeShapeType="1"/>
          </p:cNvCxnSpPr>
          <p:nvPr/>
        </p:nvCxnSpPr>
        <p:spPr bwMode="auto">
          <a:xfrm>
            <a:off x="7543800" y="4876800"/>
            <a:ext cx="2032000" cy="0"/>
          </a:xfrm>
          <a:prstGeom prst="line">
            <a:avLst/>
          </a:prstGeom>
          <a:noFill/>
          <a:ln w="38100" algn="ctr">
            <a:solidFill>
              <a:srgbClr val="000000"/>
            </a:solidFill>
            <a:round/>
            <a:headEnd/>
            <a:tailEnd/>
          </a:ln>
          <a:extLst>
            <a:ext uri="{909E8E84-426E-40DD-AFC4-6F175D3DCCD1}">
              <a14:hiddenFill xmlns:a14="http://schemas.microsoft.com/office/drawing/2010/main">
                <a:noFill/>
              </a14:hiddenFill>
            </a:ext>
          </a:extLst>
        </p:spPr>
      </p:cxnSp>
      <p:pic>
        <p:nvPicPr>
          <p:cNvPr id="615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033" y="4267200"/>
            <a:ext cx="8502651" cy="17653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97001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2"/>
          <p:cNvGrpSpPr>
            <a:grpSpLocks/>
          </p:cNvGrpSpPr>
          <p:nvPr/>
        </p:nvGrpSpPr>
        <p:grpSpPr bwMode="auto">
          <a:xfrm>
            <a:off x="488951" y="107951"/>
            <a:ext cx="584200" cy="474663"/>
            <a:chOff x="0" y="0"/>
            <a:chExt cx="276" cy="299"/>
          </a:xfrm>
        </p:grpSpPr>
        <p:sp>
          <p:nvSpPr>
            <p:cNvPr id="7193"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94"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1" name="Group 5"/>
          <p:cNvGrpSpPr>
            <a:grpSpLocks/>
          </p:cNvGrpSpPr>
          <p:nvPr/>
        </p:nvGrpSpPr>
        <p:grpSpPr bwMode="auto">
          <a:xfrm>
            <a:off x="999067" y="107951"/>
            <a:ext cx="438151" cy="474663"/>
            <a:chOff x="0" y="0"/>
            <a:chExt cx="207" cy="299"/>
          </a:xfrm>
        </p:grpSpPr>
        <p:sp>
          <p:nvSpPr>
            <p:cNvPr id="7191"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92"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2" name="Group 8"/>
          <p:cNvGrpSpPr>
            <a:grpSpLocks/>
          </p:cNvGrpSpPr>
          <p:nvPr/>
        </p:nvGrpSpPr>
        <p:grpSpPr bwMode="auto">
          <a:xfrm>
            <a:off x="654052" y="530226"/>
            <a:ext cx="563033" cy="474663"/>
            <a:chOff x="0" y="0"/>
            <a:chExt cx="266" cy="299"/>
          </a:xfrm>
        </p:grpSpPr>
        <p:sp>
          <p:nvSpPr>
            <p:cNvPr id="7189"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90"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3" name="Group 11"/>
          <p:cNvGrpSpPr>
            <a:grpSpLocks/>
          </p:cNvGrpSpPr>
          <p:nvPr/>
        </p:nvGrpSpPr>
        <p:grpSpPr bwMode="auto">
          <a:xfrm>
            <a:off x="1147233" y="530226"/>
            <a:ext cx="491067" cy="474663"/>
            <a:chOff x="0" y="0"/>
            <a:chExt cx="232" cy="299"/>
          </a:xfrm>
        </p:grpSpPr>
        <p:sp>
          <p:nvSpPr>
            <p:cNvPr id="7187"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8"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4" name="Group 14"/>
          <p:cNvGrpSpPr>
            <a:grpSpLocks/>
          </p:cNvGrpSpPr>
          <p:nvPr/>
        </p:nvGrpSpPr>
        <p:grpSpPr bwMode="auto">
          <a:xfrm>
            <a:off x="99485" y="457201"/>
            <a:ext cx="749300" cy="422275"/>
            <a:chOff x="0" y="0"/>
            <a:chExt cx="353" cy="266"/>
          </a:xfrm>
        </p:grpSpPr>
        <p:sp>
          <p:nvSpPr>
            <p:cNvPr id="7185"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6"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5" name="Group 17"/>
          <p:cNvGrpSpPr>
            <a:grpSpLocks/>
          </p:cNvGrpSpPr>
          <p:nvPr/>
        </p:nvGrpSpPr>
        <p:grpSpPr bwMode="auto">
          <a:xfrm>
            <a:off x="948267" y="1"/>
            <a:ext cx="42333" cy="1052513"/>
            <a:chOff x="0" y="0"/>
            <a:chExt cx="20" cy="663"/>
          </a:xfrm>
        </p:grpSpPr>
        <p:sp>
          <p:nvSpPr>
            <p:cNvPr id="7183"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4"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7176" name="Group 20"/>
          <p:cNvGrpSpPr>
            <a:grpSpLocks/>
          </p:cNvGrpSpPr>
          <p:nvPr/>
        </p:nvGrpSpPr>
        <p:grpSpPr bwMode="auto">
          <a:xfrm>
            <a:off x="590551" y="533400"/>
            <a:ext cx="10968567" cy="276225"/>
            <a:chOff x="0" y="0"/>
            <a:chExt cx="5182" cy="174"/>
          </a:xfrm>
        </p:grpSpPr>
        <p:sp>
          <p:nvSpPr>
            <p:cNvPr id="7181"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7182"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7177"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Transfer Models</a:t>
            </a:r>
          </a:p>
        </p:txBody>
      </p:sp>
      <p:sp>
        <p:nvSpPr>
          <p:cNvPr id="4" name="Rectangle 3"/>
          <p:cNvSpPr/>
          <p:nvPr/>
        </p:nvSpPr>
        <p:spPr>
          <a:xfrm>
            <a:off x="958849" y="1243043"/>
            <a:ext cx="10589684" cy="461665"/>
          </a:xfrm>
          <a:prstGeom prst="rect">
            <a:avLst/>
          </a:prstGeom>
          <a:solidFill>
            <a:schemeClr val="accent1">
              <a:lumMod val="40000"/>
              <a:lumOff val="60000"/>
            </a:schemeClr>
          </a:solidFill>
        </p:spPr>
        <p:txBody>
          <a:bodyPr>
            <a:spAutoFit/>
          </a:bodyPr>
          <a:lstStyle/>
          <a:p>
            <a:pPr>
              <a:defRPr/>
            </a:pPr>
            <a:r>
              <a:rPr lang="en-US" sz="2400" dirty="0"/>
              <a:t>The HDLC primarily supports two types of transfer models, which are:</a:t>
            </a:r>
          </a:p>
        </p:txBody>
      </p:sp>
      <p:sp>
        <p:nvSpPr>
          <p:cNvPr id="7179" name="Rectangle 4"/>
          <p:cNvSpPr>
            <a:spLocks noChangeArrowheads="1"/>
          </p:cNvSpPr>
          <p:nvPr/>
        </p:nvSpPr>
        <p:spPr bwMode="auto">
          <a:xfrm>
            <a:off x="935568" y="1888534"/>
            <a:ext cx="106108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Normal Response Model (NRM) </a:t>
            </a:r>
            <a:r>
              <a:rPr lang="en-US" sz="2400" dirty="0"/>
              <a:t>- This transfer model combines primary and secondary stations in point-to-point or multipoint network configurations to exchange commands from primary stations and responses from secondary stations.</a:t>
            </a:r>
          </a:p>
        </p:txBody>
      </p:sp>
      <p:pic>
        <p:nvPicPr>
          <p:cNvPr id="7180"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8418" y="3657601"/>
            <a:ext cx="7909983" cy="310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49123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a:grpSpLocks/>
          </p:cNvGrpSpPr>
          <p:nvPr/>
        </p:nvGrpSpPr>
        <p:grpSpPr bwMode="auto">
          <a:xfrm>
            <a:off x="488951" y="107951"/>
            <a:ext cx="584200" cy="474663"/>
            <a:chOff x="0" y="0"/>
            <a:chExt cx="276" cy="299"/>
          </a:xfrm>
        </p:grpSpPr>
        <p:sp>
          <p:nvSpPr>
            <p:cNvPr id="8216"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7"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5" name="Group 5"/>
          <p:cNvGrpSpPr>
            <a:grpSpLocks/>
          </p:cNvGrpSpPr>
          <p:nvPr/>
        </p:nvGrpSpPr>
        <p:grpSpPr bwMode="auto">
          <a:xfrm>
            <a:off x="999067" y="107951"/>
            <a:ext cx="438151" cy="474663"/>
            <a:chOff x="0" y="0"/>
            <a:chExt cx="207" cy="299"/>
          </a:xfrm>
        </p:grpSpPr>
        <p:sp>
          <p:nvSpPr>
            <p:cNvPr id="8214"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5"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6" name="Group 8"/>
          <p:cNvGrpSpPr>
            <a:grpSpLocks/>
          </p:cNvGrpSpPr>
          <p:nvPr/>
        </p:nvGrpSpPr>
        <p:grpSpPr bwMode="auto">
          <a:xfrm>
            <a:off x="654052" y="530226"/>
            <a:ext cx="563033" cy="474663"/>
            <a:chOff x="0" y="0"/>
            <a:chExt cx="266" cy="299"/>
          </a:xfrm>
        </p:grpSpPr>
        <p:sp>
          <p:nvSpPr>
            <p:cNvPr id="8212"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3"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7" name="Group 11"/>
          <p:cNvGrpSpPr>
            <a:grpSpLocks/>
          </p:cNvGrpSpPr>
          <p:nvPr/>
        </p:nvGrpSpPr>
        <p:grpSpPr bwMode="auto">
          <a:xfrm>
            <a:off x="1147233" y="530226"/>
            <a:ext cx="491067" cy="474663"/>
            <a:chOff x="0" y="0"/>
            <a:chExt cx="232" cy="299"/>
          </a:xfrm>
        </p:grpSpPr>
        <p:sp>
          <p:nvSpPr>
            <p:cNvPr id="8210"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1"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8" name="Group 14"/>
          <p:cNvGrpSpPr>
            <a:grpSpLocks/>
          </p:cNvGrpSpPr>
          <p:nvPr/>
        </p:nvGrpSpPr>
        <p:grpSpPr bwMode="auto">
          <a:xfrm>
            <a:off x="99485" y="457201"/>
            <a:ext cx="749300" cy="422275"/>
            <a:chOff x="0" y="0"/>
            <a:chExt cx="353" cy="266"/>
          </a:xfrm>
        </p:grpSpPr>
        <p:sp>
          <p:nvSpPr>
            <p:cNvPr id="8208"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9"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9" name="Group 17"/>
          <p:cNvGrpSpPr>
            <a:grpSpLocks/>
          </p:cNvGrpSpPr>
          <p:nvPr/>
        </p:nvGrpSpPr>
        <p:grpSpPr bwMode="auto">
          <a:xfrm>
            <a:off x="948267" y="1"/>
            <a:ext cx="42333" cy="1052513"/>
            <a:chOff x="0" y="0"/>
            <a:chExt cx="20" cy="663"/>
          </a:xfrm>
        </p:grpSpPr>
        <p:sp>
          <p:nvSpPr>
            <p:cNvPr id="8206"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7"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200" name="Group 20"/>
          <p:cNvGrpSpPr>
            <a:grpSpLocks/>
          </p:cNvGrpSpPr>
          <p:nvPr/>
        </p:nvGrpSpPr>
        <p:grpSpPr bwMode="auto">
          <a:xfrm>
            <a:off x="590551" y="533400"/>
            <a:ext cx="10968567" cy="276225"/>
            <a:chOff x="0" y="0"/>
            <a:chExt cx="5182" cy="174"/>
          </a:xfrm>
        </p:grpSpPr>
        <p:sp>
          <p:nvSpPr>
            <p:cNvPr id="8204"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5"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8201"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Transfer Models</a:t>
            </a:r>
          </a:p>
        </p:txBody>
      </p:sp>
      <p:sp>
        <p:nvSpPr>
          <p:cNvPr id="8202" name="Rectangle 4"/>
          <p:cNvSpPr>
            <a:spLocks noChangeArrowheads="1"/>
          </p:cNvSpPr>
          <p:nvPr/>
        </p:nvSpPr>
        <p:spPr bwMode="auto">
          <a:xfrm>
            <a:off x="948266" y="1071564"/>
            <a:ext cx="106108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Asynchronous Balanced Model (ABM) </a:t>
            </a:r>
            <a:r>
              <a:rPr lang="en-US" sz="2400" dirty="0"/>
              <a:t>- In this transfer model, combined stations are installed in a point-to-point configuration for exchange commands and responses in a balanced format.</a:t>
            </a:r>
          </a:p>
        </p:txBody>
      </p:sp>
      <p:pic>
        <p:nvPicPr>
          <p:cNvPr id="820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2768" y="2628900"/>
            <a:ext cx="9884833" cy="2436813"/>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80344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a:grpSpLocks/>
          </p:cNvGrpSpPr>
          <p:nvPr/>
        </p:nvGrpSpPr>
        <p:grpSpPr bwMode="auto">
          <a:xfrm>
            <a:off x="488951" y="107951"/>
            <a:ext cx="584200" cy="474663"/>
            <a:chOff x="0" y="0"/>
            <a:chExt cx="276" cy="299"/>
          </a:xfrm>
        </p:grpSpPr>
        <p:sp>
          <p:nvSpPr>
            <p:cNvPr id="8216"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7"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5" name="Group 5"/>
          <p:cNvGrpSpPr>
            <a:grpSpLocks/>
          </p:cNvGrpSpPr>
          <p:nvPr/>
        </p:nvGrpSpPr>
        <p:grpSpPr bwMode="auto">
          <a:xfrm>
            <a:off x="999067" y="107951"/>
            <a:ext cx="438151" cy="474663"/>
            <a:chOff x="0" y="0"/>
            <a:chExt cx="207" cy="299"/>
          </a:xfrm>
        </p:grpSpPr>
        <p:sp>
          <p:nvSpPr>
            <p:cNvPr id="8214"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5"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6" name="Group 8"/>
          <p:cNvGrpSpPr>
            <a:grpSpLocks/>
          </p:cNvGrpSpPr>
          <p:nvPr/>
        </p:nvGrpSpPr>
        <p:grpSpPr bwMode="auto">
          <a:xfrm>
            <a:off x="654052" y="530226"/>
            <a:ext cx="563033" cy="474663"/>
            <a:chOff x="0" y="0"/>
            <a:chExt cx="266" cy="299"/>
          </a:xfrm>
        </p:grpSpPr>
        <p:sp>
          <p:nvSpPr>
            <p:cNvPr id="8212"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3"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7" name="Group 11"/>
          <p:cNvGrpSpPr>
            <a:grpSpLocks/>
          </p:cNvGrpSpPr>
          <p:nvPr/>
        </p:nvGrpSpPr>
        <p:grpSpPr bwMode="auto">
          <a:xfrm>
            <a:off x="1147233" y="530226"/>
            <a:ext cx="491067" cy="474663"/>
            <a:chOff x="0" y="0"/>
            <a:chExt cx="232" cy="299"/>
          </a:xfrm>
        </p:grpSpPr>
        <p:sp>
          <p:nvSpPr>
            <p:cNvPr id="8210"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11"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8" name="Group 14"/>
          <p:cNvGrpSpPr>
            <a:grpSpLocks/>
          </p:cNvGrpSpPr>
          <p:nvPr/>
        </p:nvGrpSpPr>
        <p:grpSpPr bwMode="auto">
          <a:xfrm>
            <a:off x="99485" y="457201"/>
            <a:ext cx="749300" cy="422275"/>
            <a:chOff x="0" y="0"/>
            <a:chExt cx="353" cy="266"/>
          </a:xfrm>
        </p:grpSpPr>
        <p:sp>
          <p:nvSpPr>
            <p:cNvPr id="8208"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9"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199" name="Group 17"/>
          <p:cNvGrpSpPr>
            <a:grpSpLocks/>
          </p:cNvGrpSpPr>
          <p:nvPr/>
        </p:nvGrpSpPr>
        <p:grpSpPr bwMode="auto">
          <a:xfrm>
            <a:off x="948267" y="1"/>
            <a:ext cx="42333" cy="1052513"/>
            <a:chOff x="0" y="0"/>
            <a:chExt cx="20" cy="663"/>
          </a:xfrm>
        </p:grpSpPr>
        <p:sp>
          <p:nvSpPr>
            <p:cNvPr id="8206"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7"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8200" name="Group 20"/>
          <p:cNvGrpSpPr>
            <a:grpSpLocks/>
          </p:cNvGrpSpPr>
          <p:nvPr/>
        </p:nvGrpSpPr>
        <p:grpSpPr bwMode="auto">
          <a:xfrm>
            <a:off x="590551" y="533400"/>
            <a:ext cx="10968567" cy="276225"/>
            <a:chOff x="0" y="0"/>
            <a:chExt cx="5182" cy="174"/>
          </a:xfrm>
        </p:grpSpPr>
        <p:sp>
          <p:nvSpPr>
            <p:cNvPr id="8204"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8205"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8201"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Transfer Models</a:t>
            </a:r>
          </a:p>
        </p:txBody>
      </p:sp>
      <p:sp>
        <p:nvSpPr>
          <p:cNvPr id="8202" name="Rectangle 4"/>
          <p:cNvSpPr>
            <a:spLocks noChangeArrowheads="1"/>
          </p:cNvSpPr>
          <p:nvPr/>
        </p:nvSpPr>
        <p:spPr bwMode="auto">
          <a:xfrm>
            <a:off x="948266" y="1071563"/>
            <a:ext cx="1061085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solidFill>
                  <a:srgbClr val="FF0000"/>
                </a:solidFill>
              </a:rPr>
              <a:t>Asynchronous Response Model (ARM) </a:t>
            </a:r>
          </a:p>
          <a:p>
            <a:pPr marL="342900" indent="-342900">
              <a:buFont typeface="Arial" pitchFamily="34" charset="0"/>
              <a:buChar char="•"/>
            </a:pPr>
            <a:r>
              <a:rPr lang="en-US" sz="2400" dirty="0"/>
              <a:t>Secondary station initiates a transmission without receiving permission from the primary station </a:t>
            </a:r>
          </a:p>
          <a:p>
            <a:pPr marL="342900" indent="-342900">
              <a:buFont typeface="Arial" pitchFamily="34" charset="0"/>
              <a:buChar char="•"/>
            </a:pPr>
            <a:r>
              <a:rPr lang="en-US" sz="2400" dirty="0"/>
              <a:t>Primary terminal still retains responsibility for line initialization, error recovery, and logical disconnect </a:t>
            </a:r>
          </a:p>
          <a:p>
            <a:pPr marL="342900" indent="-342900">
              <a:buFont typeface="Arial" pitchFamily="34" charset="0"/>
              <a:buChar char="•"/>
            </a:pPr>
            <a:r>
              <a:rPr lang="en-US" sz="2400" dirty="0"/>
              <a:t>Allows the secondary station to send frames asynchronously to the primary station </a:t>
            </a:r>
          </a:p>
        </p:txBody>
      </p:sp>
    </p:spTree>
    <p:extLst>
      <p:ext uri="{BB962C8B-B14F-4D97-AF65-F5344CB8AC3E}">
        <p14:creationId xmlns:p14="http://schemas.microsoft.com/office/powerpoint/2010/main" val="17329647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488951" y="107951"/>
            <a:ext cx="584200" cy="474663"/>
            <a:chOff x="0" y="0"/>
            <a:chExt cx="276" cy="299"/>
          </a:xfrm>
        </p:grpSpPr>
        <p:sp>
          <p:nvSpPr>
            <p:cNvPr id="924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4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19" name="Group 5"/>
          <p:cNvGrpSpPr>
            <a:grpSpLocks/>
          </p:cNvGrpSpPr>
          <p:nvPr/>
        </p:nvGrpSpPr>
        <p:grpSpPr bwMode="auto">
          <a:xfrm>
            <a:off x="999067" y="107951"/>
            <a:ext cx="438151" cy="474663"/>
            <a:chOff x="0" y="0"/>
            <a:chExt cx="207" cy="299"/>
          </a:xfrm>
        </p:grpSpPr>
        <p:sp>
          <p:nvSpPr>
            <p:cNvPr id="923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0" name="Group 8"/>
          <p:cNvGrpSpPr>
            <a:grpSpLocks/>
          </p:cNvGrpSpPr>
          <p:nvPr/>
        </p:nvGrpSpPr>
        <p:grpSpPr bwMode="auto">
          <a:xfrm>
            <a:off x="654052" y="530226"/>
            <a:ext cx="563033" cy="474663"/>
            <a:chOff x="0" y="0"/>
            <a:chExt cx="266" cy="299"/>
          </a:xfrm>
        </p:grpSpPr>
        <p:sp>
          <p:nvSpPr>
            <p:cNvPr id="923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1" name="Group 11"/>
          <p:cNvGrpSpPr>
            <a:grpSpLocks/>
          </p:cNvGrpSpPr>
          <p:nvPr/>
        </p:nvGrpSpPr>
        <p:grpSpPr bwMode="auto">
          <a:xfrm>
            <a:off x="1147233" y="530226"/>
            <a:ext cx="491067" cy="474663"/>
            <a:chOff x="0" y="0"/>
            <a:chExt cx="232" cy="299"/>
          </a:xfrm>
        </p:grpSpPr>
        <p:sp>
          <p:nvSpPr>
            <p:cNvPr id="923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2" name="Group 14"/>
          <p:cNvGrpSpPr>
            <a:grpSpLocks/>
          </p:cNvGrpSpPr>
          <p:nvPr/>
        </p:nvGrpSpPr>
        <p:grpSpPr bwMode="auto">
          <a:xfrm>
            <a:off x="99485" y="457201"/>
            <a:ext cx="749300" cy="422275"/>
            <a:chOff x="0" y="0"/>
            <a:chExt cx="353" cy="266"/>
          </a:xfrm>
        </p:grpSpPr>
        <p:sp>
          <p:nvSpPr>
            <p:cNvPr id="923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3" name="Group 17"/>
          <p:cNvGrpSpPr>
            <a:grpSpLocks/>
          </p:cNvGrpSpPr>
          <p:nvPr/>
        </p:nvGrpSpPr>
        <p:grpSpPr bwMode="auto">
          <a:xfrm>
            <a:off x="948267" y="1"/>
            <a:ext cx="42333" cy="1052513"/>
            <a:chOff x="0" y="0"/>
            <a:chExt cx="20" cy="663"/>
          </a:xfrm>
        </p:grpSpPr>
        <p:sp>
          <p:nvSpPr>
            <p:cNvPr id="923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4" name="Group 20"/>
          <p:cNvGrpSpPr>
            <a:grpSpLocks/>
          </p:cNvGrpSpPr>
          <p:nvPr/>
        </p:nvGrpSpPr>
        <p:grpSpPr bwMode="auto">
          <a:xfrm>
            <a:off x="590551" y="533400"/>
            <a:ext cx="10968567" cy="276225"/>
            <a:chOff x="0" y="0"/>
            <a:chExt cx="5182" cy="174"/>
          </a:xfrm>
        </p:grpSpPr>
        <p:sp>
          <p:nvSpPr>
            <p:cNvPr id="922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2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9225"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Frames and Types</a:t>
            </a:r>
          </a:p>
        </p:txBody>
      </p:sp>
      <p:pic>
        <p:nvPicPr>
          <p:cNvPr id="922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352" y="1219201"/>
            <a:ext cx="12058649" cy="2976563"/>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819E25B5-27C5-36F6-7935-4AF1BB07F346}"/>
              </a:ext>
            </a:extLst>
          </p:cNvPr>
          <p:cNvPicPr>
            <a:picLocks noChangeAspect="1"/>
          </p:cNvPicPr>
          <p:nvPr/>
        </p:nvPicPr>
        <p:blipFill>
          <a:blip r:embed="rId3"/>
          <a:stretch>
            <a:fillRect/>
          </a:stretch>
        </p:blipFill>
        <p:spPr>
          <a:xfrm>
            <a:off x="372534" y="4681303"/>
            <a:ext cx="11580283" cy="1914992"/>
          </a:xfrm>
          <a:prstGeom prst="rect">
            <a:avLst/>
          </a:prstGeom>
        </p:spPr>
      </p:pic>
      <p:graphicFrame>
        <p:nvGraphicFramePr>
          <p:cNvPr id="8" name="Table 7">
            <a:extLst>
              <a:ext uri="{FF2B5EF4-FFF2-40B4-BE49-F238E27FC236}">
                <a16:creationId xmlns:a16="http://schemas.microsoft.com/office/drawing/2014/main" id="{9DF57BFF-70BB-004A-3EA5-C6D0CE0AEC6F}"/>
              </a:ext>
            </a:extLst>
          </p:cNvPr>
          <p:cNvGraphicFramePr>
            <a:graphicFrameLocks noGrp="1"/>
          </p:cNvGraphicFramePr>
          <p:nvPr>
            <p:extLst>
              <p:ext uri="{D42A27DB-BD31-4B8C-83A1-F6EECF244321}">
                <p14:modId xmlns:p14="http://schemas.microsoft.com/office/powerpoint/2010/main" val="1756112130"/>
              </p:ext>
            </p:extLst>
          </p:nvPr>
        </p:nvGraphicFramePr>
        <p:xfrm>
          <a:off x="654052" y="4822827"/>
          <a:ext cx="10743864" cy="518160"/>
        </p:xfrm>
        <a:graphic>
          <a:graphicData uri="http://schemas.openxmlformats.org/drawingml/2006/table">
            <a:tbl>
              <a:tblPr firstRow="1" bandRow="1">
                <a:tableStyleId>{5C22544A-7EE6-4342-B048-85BDC9FD1C3A}</a:tableStyleId>
              </a:tblPr>
              <a:tblGrid>
                <a:gridCol w="1038390">
                  <a:extLst>
                    <a:ext uri="{9D8B030D-6E8A-4147-A177-3AD203B41FA5}">
                      <a16:colId xmlns:a16="http://schemas.microsoft.com/office/drawing/2014/main" val="2963408638"/>
                    </a:ext>
                  </a:extLst>
                </a:gridCol>
                <a:gridCol w="2510590">
                  <a:extLst>
                    <a:ext uri="{9D8B030D-6E8A-4147-A177-3AD203B41FA5}">
                      <a16:colId xmlns:a16="http://schemas.microsoft.com/office/drawing/2014/main" val="2906266513"/>
                    </a:ext>
                  </a:extLst>
                </a:gridCol>
                <a:gridCol w="4997115">
                  <a:extLst>
                    <a:ext uri="{9D8B030D-6E8A-4147-A177-3AD203B41FA5}">
                      <a16:colId xmlns:a16="http://schemas.microsoft.com/office/drawing/2014/main" val="914521586"/>
                    </a:ext>
                  </a:extLst>
                </a:gridCol>
                <a:gridCol w="1299411">
                  <a:extLst>
                    <a:ext uri="{9D8B030D-6E8A-4147-A177-3AD203B41FA5}">
                      <a16:colId xmlns:a16="http://schemas.microsoft.com/office/drawing/2014/main" val="1031709607"/>
                    </a:ext>
                  </a:extLst>
                </a:gridCol>
                <a:gridCol w="898358">
                  <a:extLst>
                    <a:ext uri="{9D8B030D-6E8A-4147-A177-3AD203B41FA5}">
                      <a16:colId xmlns:a16="http://schemas.microsoft.com/office/drawing/2014/main" val="716068091"/>
                    </a:ext>
                  </a:extLst>
                </a:gridCol>
              </a:tblGrid>
              <a:tr h="370840">
                <a:tc>
                  <a:txBody>
                    <a:bodyPr/>
                    <a:lstStyle/>
                    <a:p>
                      <a:pPr algn="ctr"/>
                      <a:r>
                        <a:rPr lang="en-IN" sz="1400" dirty="0"/>
                        <a:t>Beginning sequence</a:t>
                      </a:r>
                    </a:p>
                  </a:txBody>
                  <a:tcPr anchor="ctr">
                    <a:solidFill>
                      <a:schemeClr val="accent1">
                        <a:lumMod val="60000"/>
                        <a:lumOff val="40000"/>
                      </a:schemeClr>
                    </a:solidFill>
                  </a:tcPr>
                </a:tc>
                <a:tc>
                  <a:txBody>
                    <a:bodyPr/>
                    <a:lstStyle/>
                    <a:p>
                      <a:pPr algn="ctr"/>
                      <a:r>
                        <a:rPr lang="en-IN" sz="1400" dirty="0"/>
                        <a:t>Header</a:t>
                      </a:r>
                    </a:p>
                  </a:txBody>
                  <a:tcPr anchor="ctr">
                    <a:solidFill>
                      <a:schemeClr val="accent1">
                        <a:lumMod val="60000"/>
                        <a:lumOff val="40000"/>
                      </a:schemeClr>
                    </a:solidFill>
                  </a:tcPr>
                </a:tc>
                <a:tc>
                  <a:txBody>
                    <a:bodyPr/>
                    <a:lstStyle/>
                    <a:p>
                      <a:pPr algn="ctr"/>
                      <a:r>
                        <a:rPr lang="en-IN" sz="1400" dirty="0"/>
                        <a:t>Data</a:t>
                      </a:r>
                    </a:p>
                  </a:txBody>
                  <a:tcPr anchor="ctr">
                    <a:solidFill>
                      <a:schemeClr val="accent1">
                        <a:lumMod val="60000"/>
                        <a:lumOff val="40000"/>
                      </a:schemeClr>
                    </a:solidFill>
                  </a:tcPr>
                </a:tc>
                <a:tc>
                  <a:txBody>
                    <a:bodyPr/>
                    <a:lstStyle/>
                    <a:p>
                      <a:pPr algn="ctr"/>
                      <a:r>
                        <a:rPr lang="en-IN" sz="1400" dirty="0"/>
                        <a:t>Trailer</a:t>
                      </a:r>
                    </a:p>
                  </a:txBody>
                  <a:tcPr anchor="ctr">
                    <a:solidFill>
                      <a:schemeClr val="accent1">
                        <a:lumMod val="60000"/>
                        <a:lumOff val="40000"/>
                      </a:schemeClr>
                    </a:solidFill>
                  </a:tcPr>
                </a:tc>
                <a:tc>
                  <a:txBody>
                    <a:bodyPr/>
                    <a:lstStyle/>
                    <a:p>
                      <a:pPr algn="ctr"/>
                      <a:r>
                        <a:rPr lang="en-IN" sz="1400" dirty="0"/>
                        <a:t>Ending sequence</a:t>
                      </a:r>
                    </a:p>
                  </a:txBody>
                  <a:tcPr anchor="ctr">
                    <a:solidFill>
                      <a:schemeClr val="accent1">
                        <a:lumMod val="60000"/>
                        <a:lumOff val="40000"/>
                      </a:schemeClr>
                    </a:solidFill>
                  </a:tcPr>
                </a:tc>
                <a:extLst>
                  <a:ext uri="{0D108BD9-81ED-4DB2-BD59-A6C34878D82A}">
                    <a16:rowId xmlns:a16="http://schemas.microsoft.com/office/drawing/2014/main" val="1719930874"/>
                  </a:ext>
                </a:extLst>
              </a:tr>
            </a:tbl>
          </a:graphicData>
        </a:graphic>
      </p:graphicFrame>
    </p:spTree>
    <p:extLst>
      <p:ext uri="{BB962C8B-B14F-4D97-AF65-F5344CB8AC3E}">
        <p14:creationId xmlns:p14="http://schemas.microsoft.com/office/powerpoint/2010/main" val="38304153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488951" y="107951"/>
            <a:ext cx="584200" cy="474663"/>
            <a:chOff x="0" y="0"/>
            <a:chExt cx="276" cy="299"/>
          </a:xfrm>
        </p:grpSpPr>
        <p:sp>
          <p:nvSpPr>
            <p:cNvPr id="9240"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41"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19" name="Group 5"/>
          <p:cNvGrpSpPr>
            <a:grpSpLocks/>
          </p:cNvGrpSpPr>
          <p:nvPr/>
        </p:nvGrpSpPr>
        <p:grpSpPr bwMode="auto">
          <a:xfrm>
            <a:off x="999067" y="107951"/>
            <a:ext cx="438151" cy="474663"/>
            <a:chOff x="0" y="0"/>
            <a:chExt cx="207" cy="299"/>
          </a:xfrm>
        </p:grpSpPr>
        <p:sp>
          <p:nvSpPr>
            <p:cNvPr id="9238"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9"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0" name="Group 8"/>
          <p:cNvGrpSpPr>
            <a:grpSpLocks/>
          </p:cNvGrpSpPr>
          <p:nvPr/>
        </p:nvGrpSpPr>
        <p:grpSpPr bwMode="auto">
          <a:xfrm>
            <a:off x="654052" y="530226"/>
            <a:ext cx="563033" cy="474663"/>
            <a:chOff x="0" y="0"/>
            <a:chExt cx="266" cy="299"/>
          </a:xfrm>
        </p:grpSpPr>
        <p:sp>
          <p:nvSpPr>
            <p:cNvPr id="9236"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7"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1" name="Group 11"/>
          <p:cNvGrpSpPr>
            <a:grpSpLocks/>
          </p:cNvGrpSpPr>
          <p:nvPr/>
        </p:nvGrpSpPr>
        <p:grpSpPr bwMode="auto">
          <a:xfrm>
            <a:off x="1147233" y="530226"/>
            <a:ext cx="491067" cy="474663"/>
            <a:chOff x="0" y="0"/>
            <a:chExt cx="232" cy="299"/>
          </a:xfrm>
        </p:grpSpPr>
        <p:sp>
          <p:nvSpPr>
            <p:cNvPr id="9234"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5"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2" name="Group 14"/>
          <p:cNvGrpSpPr>
            <a:grpSpLocks/>
          </p:cNvGrpSpPr>
          <p:nvPr/>
        </p:nvGrpSpPr>
        <p:grpSpPr bwMode="auto">
          <a:xfrm>
            <a:off x="99485" y="457201"/>
            <a:ext cx="749300" cy="422275"/>
            <a:chOff x="0" y="0"/>
            <a:chExt cx="353" cy="266"/>
          </a:xfrm>
        </p:grpSpPr>
        <p:sp>
          <p:nvSpPr>
            <p:cNvPr id="9232"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3"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3" name="Group 17"/>
          <p:cNvGrpSpPr>
            <a:grpSpLocks/>
          </p:cNvGrpSpPr>
          <p:nvPr/>
        </p:nvGrpSpPr>
        <p:grpSpPr bwMode="auto">
          <a:xfrm>
            <a:off x="948267" y="1"/>
            <a:ext cx="42333" cy="1052513"/>
            <a:chOff x="0" y="0"/>
            <a:chExt cx="20" cy="663"/>
          </a:xfrm>
        </p:grpSpPr>
        <p:sp>
          <p:nvSpPr>
            <p:cNvPr id="9230"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31"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9224" name="Group 20"/>
          <p:cNvGrpSpPr>
            <a:grpSpLocks/>
          </p:cNvGrpSpPr>
          <p:nvPr/>
        </p:nvGrpSpPr>
        <p:grpSpPr bwMode="auto">
          <a:xfrm>
            <a:off x="590551" y="533400"/>
            <a:ext cx="10968567" cy="276225"/>
            <a:chOff x="0" y="0"/>
            <a:chExt cx="5182" cy="174"/>
          </a:xfrm>
        </p:grpSpPr>
        <p:sp>
          <p:nvSpPr>
            <p:cNvPr id="9228"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9229"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9225"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Frames and Types</a:t>
            </a:r>
          </a:p>
        </p:txBody>
      </p:sp>
      <p:sp>
        <p:nvSpPr>
          <p:cNvPr id="5" name="TextBox 4">
            <a:extLst>
              <a:ext uri="{FF2B5EF4-FFF2-40B4-BE49-F238E27FC236}">
                <a16:creationId xmlns:a16="http://schemas.microsoft.com/office/drawing/2014/main" id="{58D2B5F3-C741-F4D6-2563-49A675FE22F5}"/>
              </a:ext>
            </a:extLst>
          </p:cNvPr>
          <p:cNvSpPr txBox="1"/>
          <p:nvPr/>
        </p:nvSpPr>
        <p:spPr>
          <a:xfrm>
            <a:off x="948267" y="1211179"/>
            <a:ext cx="10610851" cy="2677656"/>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HDLC Frame Types:</a:t>
            </a:r>
          </a:p>
          <a:p>
            <a:pPr marL="742950" lvl="1"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 – frame: Information frame</a:t>
            </a:r>
          </a:p>
          <a:p>
            <a:pPr marL="742950" lvl="1"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S-frame: Supervisory frame</a:t>
            </a:r>
          </a:p>
          <a:p>
            <a:pPr marL="742950" lvl="1"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U-frame: Un-numbered frame</a:t>
            </a:r>
          </a:p>
          <a:p>
            <a:endParaRPr lang="en-IN" sz="2400" b="1" dirty="0">
              <a:solidFill>
                <a:srgbClr val="FF0000"/>
              </a:solidFill>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Types of frame is determined by the control field.</a:t>
            </a:r>
          </a:p>
          <a:p>
            <a:endParaRPr lang="en-IN" sz="24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81F99982-67C7-E808-D7CF-DB6A720416CF}"/>
              </a:ext>
            </a:extLst>
          </p:cNvPr>
          <p:cNvGraphicFramePr>
            <a:graphicFrameLocks noGrp="1"/>
          </p:cNvGraphicFramePr>
          <p:nvPr>
            <p:extLst>
              <p:ext uri="{D42A27DB-BD31-4B8C-83A1-F6EECF244321}">
                <p14:modId xmlns:p14="http://schemas.microsoft.com/office/powerpoint/2010/main" val="2521913879"/>
              </p:ext>
            </p:extLst>
          </p:nvPr>
        </p:nvGraphicFramePr>
        <p:xfrm>
          <a:off x="1073151" y="3741062"/>
          <a:ext cx="9787354" cy="1737360"/>
        </p:xfrm>
        <a:graphic>
          <a:graphicData uri="http://schemas.openxmlformats.org/drawingml/2006/table">
            <a:tbl>
              <a:tblPr firstRow="1" bandRow="1">
                <a:tableStyleId>{5C22544A-7EE6-4342-B048-85BDC9FD1C3A}</a:tableStyleId>
              </a:tblPr>
              <a:tblGrid>
                <a:gridCol w="2175190">
                  <a:extLst>
                    <a:ext uri="{9D8B030D-6E8A-4147-A177-3AD203B41FA5}">
                      <a16:colId xmlns:a16="http://schemas.microsoft.com/office/drawing/2014/main" val="1310517869"/>
                    </a:ext>
                  </a:extLst>
                </a:gridCol>
                <a:gridCol w="3554354">
                  <a:extLst>
                    <a:ext uri="{9D8B030D-6E8A-4147-A177-3AD203B41FA5}">
                      <a16:colId xmlns:a16="http://schemas.microsoft.com/office/drawing/2014/main" val="1848627965"/>
                    </a:ext>
                  </a:extLst>
                </a:gridCol>
                <a:gridCol w="4057810">
                  <a:extLst>
                    <a:ext uri="{9D8B030D-6E8A-4147-A177-3AD203B41FA5}">
                      <a16:colId xmlns:a16="http://schemas.microsoft.com/office/drawing/2014/main" val="2305538828"/>
                    </a:ext>
                  </a:extLst>
                </a:gridCol>
              </a:tblGrid>
              <a:tr h="370840">
                <a:tc>
                  <a:txBody>
                    <a:bodyPr/>
                    <a:lstStyle/>
                    <a:p>
                      <a:r>
                        <a:rPr lang="en-IN" sz="3200" dirty="0">
                          <a:latin typeface="Times New Roman" panose="02020603050405020304" pitchFamily="18" charset="0"/>
                          <a:cs typeface="Times New Roman" panose="02020603050405020304" pitchFamily="18" charset="0"/>
                        </a:rPr>
                        <a:t>I – frame</a:t>
                      </a:r>
                    </a:p>
                  </a:txBody>
                  <a:tcPr/>
                </a:tc>
                <a:tc>
                  <a:txBody>
                    <a:bodyPr/>
                    <a:lstStyle/>
                    <a:p>
                      <a:r>
                        <a:rPr lang="en-IN" sz="3200" dirty="0">
                          <a:latin typeface="Times New Roman" panose="02020603050405020304" pitchFamily="18" charset="0"/>
                          <a:cs typeface="Times New Roman" panose="02020603050405020304" pitchFamily="18" charset="0"/>
                        </a:rPr>
                        <a:t>1</a:t>
                      </a:r>
                      <a:r>
                        <a:rPr lang="en-IN" sz="3200" baseline="30000" dirty="0">
                          <a:latin typeface="Times New Roman" panose="02020603050405020304" pitchFamily="18" charset="0"/>
                          <a:cs typeface="Times New Roman" panose="02020603050405020304" pitchFamily="18" charset="0"/>
                        </a:rPr>
                        <a:t>st</a:t>
                      </a:r>
                      <a:r>
                        <a:rPr lang="en-IN" sz="3200" dirty="0">
                          <a:latin typeface="Times New Roman" panose="02020603050405020304" pitchFamily="18" charset="0"/>
                          <a:cs typeface="Times New Roman" panose="02020603050405020304" pitchFamily="18" charset="0"/>
                        </a:rPr>
                        <a:t> bit is 0</a:t>
                      </a:r>
                    </a:p>
                  </a:txBody>
                  <a:tcPr/>
                </a:tc>
                <a:tc>
                  <a:txBody>
                    <a:bodyPr/>
                    <a:lstStyle/>
                    <a:p>
                      <a:r>
                        <a:rPr lang="en-IN" sz="3200" dirty="0">
                          <a:latin typeface="Times New Roman" panose="02020603050405020304" pitchFamily="18" charset="0"/>
                          <a:cs typeface="Times New Roman" panose="02020603050405020304" pitchFamily="18" charset="0"/>
                        </a:rPr>
                        <a:t>User Information</a:t>
                      </a:r>
                    </a:p>
                  </a:txBody>
                  <a:tcPr/>
                </a:tc>
                <a:extLst>
                  <a:ext uri="{0D108BD9-81ED-4DB2-BD59-A6C34878D82A}">
                    <a16:rowId xmlns:a16="http://schemas.microsoft.com/office/drawing/2014/main" val="1323245337"/>
                  </a:ext>
                </a:extLst>
              </a:tr>
              <a:tr h="370840">
                <a:tc>
                  <a:txBody>
                    <a:bodyPr/>
                    <a:lstStyle/>
                    <a:p>
                      <a:r>
                        <a:rPr lang="en-IN" sz="3200" dirty="0">
                          <a:latin typeface="Times New Roman" panose="02020603050405020304" pitchFamily="18" charset="0"/>
                          <a:cs typeface="Times New Roman" panose="02020603050405020304" pitchFamily="18" charset="0"/>
                        </a:rPr>
                        <a:t>S-frame</a:t>
                      </a:r>
                    </a:p>
                  </a:txBody>
                  <a:tcPr/>
                </a:tc>
                <a:tc>
                  <a:txBody>
                    <a:bodyPr/>
                    <a:lstStyle/>
                    <a:p>
                      <a:r>
                        <a:rPr lang="en-IN" sz="3200" dirty="0">
                          <a:latin typeface="Times New Roman" panose="02020603050405020304" pitchFamily="18" charset="0"/>
                          <a:cs typeface="Times New Roman" panose="02020603050405020304" pitchFamily="18" charset="0"/>
                        </a:rPr>
                        <a:t>1</a:t>
                      </a:r>
                      <a:r>
                        <a:rPr lang="en-IN" sz="3200" baseline="30000" dirty="0">
                          <a:latin typeface="Times New Roman" panose="02020603050405020304" pitchFamily="18" charset="0"/>
                          <a:cs typeface="Times New Roman" panose="02020603050405020304" pitchFamily="18" charset="0"/>
                        </a:rPr>
                        <a:t>st</a:t>
                      </a:r>
                      <a:r>
                        <a:rPr lang="en-IN" sz="3200" dirty="0">
                          <a:latin typeface="Times New Roman" panose="02020603050405020304" pitchFamily="18" charset="0"/>
                          <a:cs typeface="Times New Roman" panose="02020603050405020304" pitchFamily="18" charset="0"/>
                        </a:rPr>
                        <a:t> two bits is 10</a:t>
                      </a:r>
                    </a:p>
                  </a:txBody>
                  <a:tcPr/>
                </a:tc>
                <a:tc>
                  <a:txBody>
                    <a:bodyPr/>
                    <a:lstStyle/>
                    <a:p>
                      <a:r>
                        <a:rPr lang="en-IN" sz="3200" dirty="0">
                          <a:latin typeface="Times New Roman" panose="02020603050405020304" pitchFamily="18" charset="0"/>
                          <a:cs typeface="Times New Roman" panose="02020603050405020304" pitchFamily="18" charset="0"/>
                        </a:rPr>
                        <a:t>Error and flow control </a:t>
                      </a:r>
                    </a:p>
                  </a:txBody>
                  <a:tcPr/>
                </a:tc>
                <a:extLst>
                  <a:ext uri="{0D108BD9-81ED-4DB2-BD59-A6C34878D82A}">
                    <a16:rowId xmlns:a16="http://schemas.microsoft.com/office/drawing/2014/main" val="5224288"/>
                  </a:ext>
                </a:extLst>
              </a:tr>
              <a:tr h="370840">
                <a:tc>
                  <a:txBody>
                    <a:bodyPr/>
                    <a:lstStyle/>
                    <a:p>
                      <a:r>
                        <a:rPr lang="en-IN" sz="3200" dirty="0">
                          <a:latin typeface="Times New Roman" panose="02020603050405020304" pitchFamily="18" charset="0"/>
                          <a:cs typeface="Times New Roman" panose="02020603050405020304" pitchFamily="18" charset="0"/>
                        </a:rPr>
                        <a:t>U-frame</a:t>
                      </a:r>
                    </a:p>
                  </a:txBody>
                  <a:tcPr/>
                </a:tc>
                <a:tc>
                  <a:txBody>
                    <a:bodyPr/>
                    <a:lstStyle/>
                    <a:p>
                      <a:r>
                        <a:rPr lang="en-IN" sz="3200" dirty="0">
                          <a:latin typeface="Times New Roman" panose="02020603050405020304" pitchFamily="18" charset="0"/>
                          <a:cs typeface="Times New Roman" panose="02020603050405020304" pitchFamily="18" charset="0"/>
                        </a:rPr>
                        <a:t>1</a:t>
                      </a:r>
                      <a:r>
                        <a:rPr lang="en-IN" sz="3200" baseline="30000" dirty="0">
                          <a:latin typeface="Times New Roman" panose="02020603050405020304" pitchFamily="18" charset="0"/>
                          <a:cs typeface="Times New Roman" panose="02020603050405020304" pitchFamily="18" charset="0"/>
                        </a:rPr>
                        <a:t>st</a:t>
                      </a:r>
                      <a:r>
                        <a:rPr lang="en-IN" sz="3200" dirty="0">
                          <a:latin typeface="Times New Roman" panose="02020603050405020304" pitchFamily="18" charset="0"/>
                          <a:cs typeface="Times New Roman" panose="02020603050405020304" pitchFamily="18" charset="0"/>
                        </a:rPr>
                        <a:t> two bits is 11</a:t>
                      </a:r>
                    </a:p>
                  </a:txBody>
                  <a:tcPr/>
                </a:tc>
                <a:tc>
                  <a:txBody>
                    <a:bodyPr/>
                    <a:lstStyle/>
                    <a:p>
                      <a:r>
                        <a:rPr lang="en-IN" sz="3200" dirty="0">
                          <a:latin typeface="Times New Roman" panose="02020603050405020304" pitchFamily="18" charset="0"/>
                          <a:cs typeface="Times New Roman" panose="02020603050405020304" pitchFamily="18" charset="0"/>
                        </a:rPr>
                        <a:t>Link management</a:t>
                      </a:r>
                    </a:p>
                  </a:txBody>
                  <a:tcPr/>
                </a:tc>
                <a:extLst>
                  <a:ext uri="{0D108BD9-81ED-4DB2-BD59-A6C34878D82A}">
                    <a16:rowId xmlns:a16="http://schemas.microsoft.com/office/drawing/2014/main" val="1866370469"/>
                  </a:ext>
                </a:extLst>
              </a:tr>
            </a:tbl>
          </a:graphicData>
        </a:graphic>
      </p:graphicFrame>
    </p:spTree>
    <p:extLst>
      <p:ext uri="{BB962C8B-B14F-4D97-AF65-F5344CB8AC3E}">
        <p14:creationId xmlns:p14="http://schemas.microsoft.com/office/powerpoint/2010/main" val="30643097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a:grpSpLocks/>
          </p:cNvGrpSpPr>
          <p:nvPr/>
        </p:nvGrpSpPr>
        <p:grpSpPr bwMode="auto">
          <a:xfrm>
            <a:off x="488951" y="107951"/>
            <a:ext cx="584200" cy="474663"/>
            <a:chOff x="0" y="0"/>
            <a:chExt cx="276" cy="299"/>
          </a:xfrm>
        </p:grpSpPr>
        <p:sp>
          <p:nvSpPr>
            <p:cNvPr id="10264"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5"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3" name="Group 5"/>
          <p:cNvGrpSpPr>
            <a:grpSpLocks/>
          </p:cNvGrpSpPr>
          <p:nvPr/>
        </p:nvGrpSpPr>
        <p:grpSpPr bwMode="auto">
          <a:xfrm>
            <a:off x="999067" y="107951"/>
            <a:ext cx="438151" cy="474663"/>
            <a:chOff x="0" y="0"/>
            <a:chExt cx="207" cy="299"/>
          </a:xfrm>
        </p:grpSpPr>
        <p:sp>
          <p:nvSpPr>
            <p:cNvPr id="10262"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3"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4" name="Group 8"/>
          <p:cNvGrpSpPr>
            <a:grpSpLocks/>
          </p:cNvGrpSpPr>
          <p:nvPr/>
        </p:nvGrpSpPr>
        <p:grpSpPr bwMode="auto">
          <a:xfrm>
            <a:off x="654052" y="530226"/>
            <a:ext cx="563033" cy="474663"/>
            <a:chOff x="0" y="0"/>
            <a:chExt cx="266" cy="299"/>
          </a:xfrm>
        </p:grpSpPr>
        <p:sp>
          <p:nvSpPr>
            <p:cNvPr id="10260"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61"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5" name="Group 11"/>
          <p:cNvGrpSpPr>
            <a:grpSpLocks/>
          </p:cNvGrpSpPr>
          <p:nvPr/>
        </p:nvGrpSpPr>
        <p:grpSpPr bwMode="auto">
          <a:xfrm>
            <a:off x="1147233" y="530226"/>
            <a:ext cx="491067" cy="474663"/>
            <a:chOff x="0" y="0"/>
            <a:chExt cx="232" cy="299"/>
          </a:xfrm>
        </p:grpSpPr>
        <p:sp>
          <p:nvSpPr>
            <p:cNvPr id="10258"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9"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6" name="Group 14"/>
          <p:cNvGrpSpPr>
            <a:grpSpLocks/>
          </p:cNvGrpSpPr>
          <p:nvPr/>
        </p:nvGrpSpPr>
        <p:grpSpPr bwMode="auto">
          <a:xfrm>
            <a:off x="99485" y="457201"/>
            <a:ext cx="749300" cy="422275"/>
            <a:chOff x="0" y="0"/>
            <a:chExt cx="353" cy="266"/>
          </a:xfrm>
        </p:grpSpPr>
        <p:sp>
          <p:nvSpPr>
            <p:cNvPr id="10256"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7"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7" name="Group 17"/>
          <p:cNvGrpSpPr>
            <a:grpSpLocks/>
          </p:cNvGrpSpPr>
          <p:nvPr/>
        </p:nvGrpSpPr>
        <p:grpSpPr bwMode="auto">
          <a:xfrm>
            <a:off x="948267" y="1"/>
            <a:ext cx="42333" cy="1052513"/>
            <a:chOff x="0" y="0"/>
            <a:chExt cx="20" cy="663"/>
          </a:xfrm>
        </p:grpSpPr>
        <p:sp>
          <p:nvSpPr>
            <p:cNvPr id="10254"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5"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0248" name="Group 20"/>
          <p:cNvGrpSpPr>
            <a:grpSpLocks/>
          </p:cNvGrpSpPr>
          <p:nvPr/>
        </p:nvGrpSpPr>
        <p:grpSpPr bwMode="auto">
          <a:xfrm>
            <a:off x="590551" y="533400"/>
            <a:ext cx="10968567" cy="276225"/>
            <a:chOff x="0" y="0"/>
            <a:chExt cx="5182" cy="174"/>
          </a:xfrm>
        </p:grpSpPr>
        <p:sp>
          <p:nvSpPr>
            <p:cNvPr id="10252"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0253"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0249"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Frames and Types</a:t>
            </a:r>
          </a:p>
        </p:txBody>
      </p:sp>
      <p:pic>
        <p:nvPicPr>
          <p:cNvPr id="1025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485" y="665163"/>
            <a:ext cx="12050184" cy="352583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1" name="TextBox 1"/>
          <p:cNvSpPr txBox="1">
            <a:spLocks noChangeArrowheads="1"/>
          </p:cNvSpPr>
          <p:nvPr/>
        </p:nvSpPr>
        <p:spPr bwMode="auto">
          <a:xfrm>
            <a:off x="227263" y="4071938"/>
            <a:ext cx="10160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sz="1800" dirty="0"/>
              <a:t>Note: The first bit of control field is 0 and is used for identifying the I-frame</a:t>
            </a:r>
            <a:endParaRPr lang="en-IN" sz="1800" dirty="0"/>
          </a:p>
        </p:txBody>
      </p:sp>
      <p:pic>
        <p:nvPicPr>
          <p:cNvPr id="10266" name="Picture 2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1968" y="5347368"/>
            <a:ext cx="6654800" cy="88582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72221" y="5677803"/>
            <a:ext cx="304800" cy="369332"/>
          </a:xfrm>
          <a:prstGeom prst="rect">
            <a:avLst/>
          </a:prstGeom>
          <a:noFill/>
        </p:spPr>
        <p:txBody>
          <a:bodyPr wrap="square" rtlCol="0">
            <a:spAutoFit/>
          </a:bodyPr>
          <a:lstStyle/>
          <a:p>
            <a:r>
              <a:rPr lang="en-US" dirty="0"/>
              <a:t>0</a:t>
            </a:r>
            <a:endParaRPr lang="en-IN" dirty="0"/>
          </a:p>
        </p:txBody>
      </p:sp>
      <p:pic>
        <p:nvPicPr>
          <p:cNvPr id="4" name="Picture 3">
            <a:extLst>
              <a:ext uri="{FF2B5EF4-FFF2-40B4-BE49-F238E27FC236}">
                <a16:creationId xmlns:a16="http://schemas.microsoft.com/office/drawing/2014/main" id="{7C7ADE2D-2C9E-F79A-B36F-29295E3A2B05}"/>
              </a:ext>
            </a:extLst>
          </p:cNvPr>
          <p:cNvPicPr>
            <a:picLocks noChangeAspect="1"/>
          </p:cNvPicPr>
          <p:nvPr/>
        </p:nvPicPr>
        <p:blipFill>
          <a:blip r:embed="rId5"/>
          <a:stretch>
            <a:fillRect/>
          </a:stretch>
        </p:blipFill>
        <p:spPr>
          <a:xfrm>
            <a:off x="7411454" y="4114800"/>
            <a:ext cx="4783220" cy="2735262"/>
          </a:xfrm>
          <a:prstGeom prst="rect">
            <a:avLst/>
          </a:prstGeom>
        </p:spPr>
      </p:pic>
      <p:sp>
        <p:nvSpPr>
          <p:cNvPr id="5" name="Thought Bubble: Cloud 4">
            <a:extLst>
              <a:ext uri="{FF2B5EF4-FFF2-40B4-BE49-F238E27FC236}">
                <a16:creationId xmlns:a16="http://schemas.microsoft.com/office/drawing/2014/main" id="{4ABCE72C-ED6C-2AA6-E811-DDC3A01E45BF}"/>
              </a:ext>
            </a:extLst>
          </p:cNvPr>
          <p:cNvSpPr/>
          <p:nvPr/>
        </p:nvSpPr>
        <p:spPr>
          <a:xfrm flipV="1">
            <a:off x="2406316" y="6047134"/>
            <a:ext cx="1700463" cy="802927"/>
          </a:xfrm>
          <a:prstGeom prst="cloudCallou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F7268EE7-7A38-1FE3-DB75-11810FEC84FB}"/>
              </a:ext>
            </a:extLst>
          </p:cNvPr>
          <p:cNvSpPr txBox="1"/>
          <p:nvPr/>
        </p:nvSpPr>
        <p:spPr>
          <a:xfrm>
            <a:off x="2610852" y="6125431"/>
            <a:ext cx="1291389" cy="646331"/>
          </a:xfrm>
          <a:prstGeom prst="rect">
            <a:avLst/>
          </a:prstGeom>
          <a:noFill/>
        </p:spPr>
        <p:txBody>
          <a:bodyPr wrap="square" rtlCol="0">
            <a:spAutoFit/>
          </a:bodyPr>
          <a:lstStyle/>
          <a:p>
            <a:pPr algn="ctr"/>
            <a:r>
              <a:rPr lang="en-IN" dirty="0">
                <a:solidFill>
                  <a:schemeClr val="bg1"/>
                </a:solidFill>
              </a:rPr>
              <a:t>Seq. no. frame sent</a:t>
            </a:r>
          </a:p>
        </p:txBody>
      </p:sp>
      <p:sp>
        <p:nvSpPr>
          <p:cNvPr id="7" name="Thought Bubble: Cloud 6">
            <a:extLst>
              <a:ext uri="{FF2B5EF4-FFF2-40B4-BE49-F238E27FC236}">
                <a16:creationId xmlns:a16="http://schemas.microsoft.com/office/drawing/2014/main" id="{20725E36-3490-11F0-0B93-154B37A334D3}"/>
              </a:ext>
            </a:extLst>
          </p:cNvPr>
          <p:cNvSpPr/>
          <p:nvPr/>
        </p:nvSpPr>
        <p:spPr>
          <a:xfrm>
            <a:off x="4219075" y="4398963"/>
            <a:ext cx="2526630" cy="1086540"/>
          </a:xfrm>
          <a:prstGeom prst="cloudCallou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Seq. No. of next frame expected (bidirectional)</a:t>
            </a:r>
          </a:p>
        </p:txBody>
      </p:sp>
    </p:spTree>
    <p:extLst>
      <p:ext uri="{BB962C8B-B14F-4D97-AF65-F5344CB8AC3E}">
        <p14:creationId xmlns:p14="http://schemas.microsoft.com/office/powerpoint/2010/main" val="2744712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488951" y="107951"/>
            <a:ext cx="584200" cy="474663"/>
            <a:chOff x="0" y="0"/>
            <a:chExt cx="276" cy="299"/>
          </a:xfrm>
        </p:grpSpPr>
        <p:sp>
          <p:nvSpPr>
            <p:cNvPr id="11288"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9"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7" name="Group 5"/>
          <p:cNvGrpSpPr>
            <a:grpSpLocks/>
          </p:cNvGrpSpPr>
          <p:nvPr/>
        </p:nvGrpSpPr>
        <p:grpSpPr bwMode="auto">
          <a:xfrm>
            <a:off x="999067" y="107951"/>
            <a:ext cx="438151" cy="474663"/>
            <a:chOff x="0" y="0"/>
            <a:chExt cx="207" cy="299"/>
          </a:xfrm>
        </p:grpSpPr>
        <p:sp>
          <p:nvSpPr>
            <p:cNvPr id="11286"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7"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8" name="Group 8"/>
          <p:cNvGrpSpPr>
            <a:grpSpLocks/>
          </p:cNvGrpSpPr>
          <p:nvPr/>
        </p:nvGrpSpPr>
        <p:grpSpPr bwMode="auto">
          <a:xfrm>
            <a:off x="654052" y="530226"/>
            <a:ext cx="563033" cy="474663"/>
            <a:chOff x="0" y="0"/>
            <a:chExt cx="266" cy="299"/>
          </a:xfrm>
        </p:grpSpPr>
        <p:sp>
          <p:nvSpPr>
            <p:cNvPr id="11284"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5"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69" name="Group 11"/>
          <p:cNvGrpSpPr>
            <a:grpSpLocks/>
          </p:cNvGrpSpPr>
          <p:nvPr/>
        </p:nvGrpSpPr>
        <p:grpSpPr bwMode="auto">
          <a:xfrm>
            <a:off x="1147233" y="530226"/>
            <a:ext cx="491067" cy="474663"/>
            <a:chOff x="0" y="0"/>
            <a:chExt cx="232" cy="299"/>
          </a:xfrm>
        </p:grpSpPr>
        <p:sp>
          <p:nvSpPr>
            <p:cNvPr id="11282"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3"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0" name="Group 14"/>
          <p:cNvGrpSpPr>
            <a:grpSpLocks/>
          </p:cNvGrpSpPr>
          <p:nvPr/>
        </p:nvGrpSpPr>
        <p:grpSpPr bwMode="auto">
          <a:xfrm>
            <a:off x="99485" y="457201"/>
            <a:ext cx="749300" cy="422275"/>
            <a:chOff x="0" y="0"/>
            <a:chExt cx="353" cy="266"/>
          </a:xfrm>
        </p:grpSpPr>
        <p:sp>
          <p:nvSpPr>
            <p:cNvPr id="11280"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81"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1" name="Group 17"/>
          <p:cNvGrpSpPr>
            <a:grpSpLocks/>
          </p:cNvGrpSpPr>
          <p:nvPr/>
        </p:nvGrpSpPr>
        <p:grpSpPr bwMode="auto">
          <a:xfrm>
            <a:off x="948267" y="1"/>
            <a:ext cx="42333" cy="1052513"/>
            <a:chOff x="0" y="0"/>
            <a:chExt cx="20" cy="663"/>
          </a:xfrm>
        </p:grpSpPr>
        <p:sp>
          <p:nvSpPr>
            <p:cNvPr id="11278"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79"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1272" name="Group 20"/>
          <p:cNvGrpSpPr>
            <a:grpSpLocks/>
          </p:cNvGrpSpPr>
          <p:nvPr/>
        </p:nvGrpSpPr>
        <p:grpSpPr bwMode="auto">
          <a:xfrm>
            <a:off x="590551" y="533400"/>
            <a:ext cx="10968567" cy="276225"/>
            <a:chOff x="0" y="0"/>
            <a:chExt cx="5182" cy="174"/>
          </a:xfrm>
        </p:grpSpPr>
        <p:sp>
          <p:nvSpPr>
            <p:cNvPr id="11276"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1277"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1273"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Frames and Types</a:t>
            </a:r>
          </a:p>
        </p:txBody>
      </p:sp>
      <p:sp>
        <p:nvSpPr>
          <p:cNvPr id="11274" name="TextBox 1"/>
          <p:cNvSpPr txBox="1">
            <a:spLocks noChangeArrowheads="1"/>
          </p:cNvSpPr>
          <p:nvPr/>
        </p:nvSpPr>
        <p:spPr bwMode="auto">
          <a:xfrm>
            <a:off x="194733" y="3352800"/>
            <a:ext cx="1016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sz="1800" dirty="0"/>
              <a:t>Note: The two bits of control field is 10 and is used for identifying the S-frame</a:t>
            </a:r>
            <a:endParaRPr lang="en-IN" sz="1800" dirty="0"/>
          </a:p>
        </p:txBody>
      </p:sp>
      <p:pic>
        <p:nvPicPr>
          <p:cNvPr id="1127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6785" y="990601"/>
            <a:ext cx="11688233" cy="2333625"/>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90" name="Picture 2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5368" y="3733800"/>
            <a:ext cx="8031064" cy="289083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79139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p:cNvGrpSpPr>
            <a:grpSpLocks/>
          </p:cNvGrpSpPr>
          <p:nvPr/>
        </p:nvGrpSpPr>
        <p:grpSpPr bwMode="auto">
          <a:xfrm>
            <a:off x="488951" y="107951"/>
            <a:ext cx="584200" cy="474663"/>
            <a:chOff x="0" y="0"/>
            <a:chExt cx="276" cy="299"/>
          </a:xfrm>
        </p:grpSpPr>
        <p:sp>
          <p:nvSpPr>
            <p:cNvPr id="12312" name="Rectangle 3"/>
            <p:cNvSpPr>
              <a:spLocks/>
            </p:cNvSpPr>
            <p:nvPr/>
          </p:nvSpPr>
          <p:spPr bwMode="auto">
            <a:xfrm>
              <a:off x="0" y="0"/>
              <a:ext cx="276" cy="299"/>
            </a:xfrm>
            <a:prstGeom prst="rect">
              <a:avLst/>
            </a:prstGeom>
            <a:solidFill>
              <a:srgbClr val="FFCF0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13" name="Rectangle 4"/>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1" name="Group 5"/>
          <p:cNvGrpSpPr>
            <a:grpSpLocks/>
          </p:cNvGrpSpPr>
          <p:nvPr/>
        </p:nvGrpSpPr>
        <p:grpSpPr bwMode="auto">
          <a:xfrm>
            <a:off x="999067" y="107951"/>
            <a:ext cx="438151" cy="474663"/>
            <a:chOff x="0" y="0"/>
            <a:chExt cx="207" cy="299"/>
          </a:xfrm>
        </p:grpSpPr>
        <p:sp>
          <p:nvSpPr>
            <p:cNvPr id="12310" name="Rectangle 6"/>
            <p:cNvSpPr>
              <a:spLocks/>
            </p:cNvSpPr>
            <p:nvPr/>
          </p:nvSpPr>
          <p:spPr bwMode="auto">
            <a:xfrm>
              <a:off x="0" y="0"/>
              <a:ext cx="207" cy="299"/>
            </a:xfrm>
            <a:prstGeom prst="rect">
              <a:avLst/>
            </a:prstGeom>
            <a:gradFill rotWithShape="0">
              <a:gsLst>
                <a:gs pos="0">
                  <a:srgbClr val="FFCF01"/>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11" name="Rectangle 7"/>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2" name="Group 8"/>
          <p:cNvGrpSpPr>
            <a:grpSpLocks/>
          </p:cNvGrpSpPr>
          <p:nvPr/>
        </p:nvGrpSpPr>
        <p:grpSpPr bwMode="auto">
          <a:xfrm>
            <a:off x="654052" y="530226"/>
            <a:ext cx="563033" cy="474663"/>
            <a:chOff x="0" y="0"/>
            <a:chExt cx="266" cy="299"/>
          </a:xfrm>
        </p:grpSpPr>
        <p:sp>
          <p:nvSpPr>
            <p:cNvPr id="12308" name="Rectangle 9"/>
            <p:cNvSpPr>
              <a:spLocks/>
            </p:cNvSpPr>
            <p:nvPr/>
          </p:nvSpPr>
          <p:spPr bwMode="auto">
            <a:xfrm>
              <a:off x="0" y="0"/>
              <a:ext cx="266" cy="299"/>
            </a:xfrm>
            <a:prstGeom prst="rect">
              <a:avLst/>
            </a:prstGeom>
            <a:solidFill>
              <a:srgbClr val="33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09" name="Rectangle 10"/>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3" name="Group 11"/>
          <p:cNvGrpSpPr>
            <a:grpSpLocks/>
          </p:cNvGrpSpPr>
          <p:nvPr/>
        </p:nvGrpSpPr>
        <p:grpSpPr bwMode="auto">
          <a:xfrm>
            <a:off x="1147233" y="530226"/>
            <a:ext cx="491067" cy="474663"/>
            <a:chOff x="0" y="0"/>
            <a:chExt cx="232" cy="299"/>
          </a:xfrm>
        </p:grpSpPr>
        <p:sp>
          <p:nvSpPr>
            <p:cNvPr id="12306" name="Rectangle 12"/>
            <p:cNvSpPr>
              <a:spLocks/>
            </p:cNvSpPr>
            <p:nvPr/>
          </p:nvSpPr>
          <p:spPr bwMode="auto">
            <a:xfrm>
              <a:off x="0" y="0"/>
              <a:ext cx="232" cy="299"/>
            </a:xfrm>
            <a:prstGeom prst="rect">
              <a:avLst/>
            </a:prstGeom>
            <a:gradFill rotWithShape="0">
              <a:gsLst>
                <a:gs pos="0">
                  <a:srgbClr val="3333C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07" name="Rectangle 13"/>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4" name="Group 14"/>
          <p:cNvGrpSpPr>
            <a:grpSpLocks/>
          </p:cNvGrpSpPr>
          <p:nvPr/>
        </p:nvGrpSpPr>
        <p:grpSpPr bwMode="auto">
          <a:xfrm>
            <a:off x="99485" y="457201"/>
            <a:ext cx="749300" cy="422275"/>
            <a:chOff x="0" y="0"/>
            <a:chExt cx="353" cy="266"/>
          </a:xfrm>
        </p:grpSpPr>
        <p:sp>
          <p:nvSpPr>
            <p:cNvPr id="12304" name="Rectangle 15"/>
            <p:cNvSpPr>
              <a:spLocks/>
            </p:cNvSpPr>
            <p:nvPr/>
          </p:nvSpPr>
          <p:spPr bwMode="auto">
            <a:xfrm>
              <a:off x="0" y="0"/>
              <a:ext cx="353" cy="266"/>
            </a:xfrm>
            <a:prstGeom prst="rect">
              <a:avLst/>
            </a:prstGeom>
            <a:gradFill rotWithShape="0">
              <a:gsLst>
                <a:gs pos="0">
                  <a:srgbClr val="FFFFFF"/>
                </a:gs>
                <a:gs pos="100000">
                  <a:srgbClr val="FF0000"/>
                </a:gs>
              </a:gsLst>
              <a:lin ang="189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05" name="Rectangle 16"/>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5" name="Group 17"/>
          <p:cNvGrpSpPr>
            <a:grpSpLocks/>
          </p:cNvGrpSpPr>
          <p:nvPr/>
        </p:nvGrpSpPr>
        <p:grpSpPr bwMode="auto">
          <a:xfrm>
            <a:off x="948267" y="1"/>
            <a:ext cx="42333" cy="1052513"/>
            <a:chOff x="0" y="0"/>
            <a:chExt cx="20" cy="663"/>
          </a:xfrm>
        </p:grpSpPr>
        <p:sp>
          <p:nvSpPr>
            <p:cNvPr id="12302" name="Rectangle 18"/>
            <p:cNvSpPr>
              <a:spLocks/>
            </p:cNvSpPr>
            <p:nvPr/>
          </p:nvSpPr>
          <p:spPr bwMode="auto">
            <a:xfrm>
              <a:off x="0" y="0"/>
              <a:ext cx="20" cy="663"/>
            </a:xfrm>
            <a:prstGeom prst="rect">
              <a:avLst/>
            </a:prstGeom>
            <a:solidFill>
              <a:srgbClr val="1C1C1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03" name="Rectangle 19"/>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grpSp>
        <p:nvGrpSpPr>
          <p:cNvPr id="12296" name="Group 20"/>
          <p:cNvGrpSpPr>
            <a:grpSpLocks/>
          </p:cNvGrpSpPr>
          <p:nvPr/>
        </p:nvGrpSpPr>
        <p:grpSpPr bwMode="auto">
          <a:xfrm>
            <a:off x="590551" y="533400"/>
            <a:ext cx="10968567" cy="276225"/>
            <a:chOff x="0" y="0"/>
            <a:chExt cx="5182" cy="174"/>
          </a:xfrm>
        </p:grpSpPr>
        <p:sp>
          <p:nvSpPr>
            <p:cNvPr id="12300" name="Rectangle 21"/>
            <p:cNvSpPr>
              <a:spLocks/>
            </p:cNvSpPr>
            <p:nvPr/>
          </p:nvSpPr>
          <p:spPr bwMode="auto">
            <a:xfrm>
              <a:off x="0" y="0"/>
              <a:ext cx="5182" cy="20"/>
            </a:xfrm>
            <a:prstGeom prst="rect">
              <a:avLst/>
            </a:prstGeom>
            <a:gradFill rotWithShape="0">
              <a:gsLst>
                <a:gs pos="0">
                  <a:srgbClr val="1C1C1C"/>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ar-SA" altLang="ar-SA"/>
            </a:p>
          </p:txBody>
        </p:sp>
        <p:sp>
          <p:nvSpPr>
            <p:cNvPr id="12301" name="Rectangle 22"/>
            <p:cNvSpPr>
              <a:spLocks/>
            </p:cNvSpPr>
            <p:nvPr/>
          </p:nvSpPr>
          <p:spPr bwMode="auto">
            <a:xfrm>
              <a:off x="0" y="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endParaRPr lang="ar-SA" altLang="ar-SA"/>
            </a:p>
          </p:txBody>
        </p:sp>
      </p:grpSp>
      <p:sp>
        <p:nvSpPr>
          <p:cNvPr id="12297" name="Rectangle 3"/>
          <p:cNvSpPr>
            <a:spLocks noChangeArrowheads="1"/>
          </p:cNvSpPr>
          <p:nvPr/>
        </p:nvSpPr>
        <p:spPr bwMode="auto">
          <a:xfrm>
            <a:off x="1466851" y="7938"/>
            <a:ext cx="721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ar-SA" sz="3200" b="1" i="1"/>
              <a:t>HDLC Frames and Types</a:t>
            </a:r>
          </a:p>
        </p:txBody>
      </p:sp>
      <p:sp>
        <p:nvSpPr>
          <p:cNvPr id="12298" name="TextBox 1"/>
          <p:cNvSpPr txBox="1">
            <a:spLocks noChangeArrowheads="1"/>
          </p:cNvSpPr>
          <p:nvPr/>
        </p:nvSpPr>
        <p:spPr bwMode="auto">
          <a:xfrm>
            <a:off x="194733" y="3059112"/>
            <a:ext cx="1016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ea typeface="ヒラギノ明朝 ProN W3" pitchFamily="-32" charset="-128"/>
                <a:sym typeface="Times New Roman" pitchFamily="18" charset="0"/>
              </a:defRPr>
            </a:lvl1pPr>
            <a:lvl2pPr marL="742950" indent="-285750" eaLnBrk="0" hangingPunct="0">
              <a:defRPr sz="2400">
                <a:solidFill>
                  <a:srgbClr val="000000"/>
                </a:solidFill>
                <a:latin typeface="Times New Roman" pitchFamily="18" charset="0"/>
                <a:ea typeface="ヒラギノ明朝 ProN W3" pitchFamily="-32" charset="-128"/>
                <a:sym typeface="Times New Roman" pitchFamily="18" charset="0"/>
              </a:defRPr>
            </a:lvl2pPr>
            <a:lvl3pPr marL="1143000" indent="-228600" eaLnBrk="0" hangingPunct="0">
              <a:defRPr sz="2400">
                <a:solidFill>
                  <a:srgbClr val="000000"/>
                </a:solidFill>
                <a:latin typeface="Times New Roman" pitchFamily="18" charset="0"/>
                <a:ea typeface="ヒラギノ明朝 ProN W3" pitchFamily="-32" charset="-128"/>
                <a:sym typeface="Times New Roman" pitchFamily="18" charset="0"/>
              </a:defRPr>
            </a:lvl3pPr>
            <a:lvl4pPr marL="1600200" indent="-228600" eaLnBrk="0" hangingPunct="0">
              <a:defRPr sz="2400">
                <a:solidFill>
                  <a:srgbClr val="000000"/>
                </a:solidFill>
                <a:latin typeface="Times New Roman" pitchFamily="18" charset="0"/>
                <a:ea typeface="ヒラギノ明朝 ProN W3" pitchFamily="-32" charset="-128"/>
                <a:sym typeface="Times New Roman" pitchFamily="18" charset="0"/>
              </a:defRPr>
            </a:lvl4pPr>
            <a:lvl5pPr marL="2057400" indent="-228600" eaLnBrk="0" hangingPunct="0">
              <a:defRPr sz="2400">
                <a:solidFill>
                  <a:srgbClr val="000000"/>
                </a:solidFill>
                <a:latin typeface="Times New Roman" pitchFamily="18" charset="0"/>
                <a:ea typeface="ヒラギノ明朝 ProN W3" pitchFamily="-32" charset="-128"/>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pitchFamily="-32" charset="-128"/>
                <a:sym typeface="Times New Roman" pitchFamily="18" charset="0"/>
              </a:defRPr>
            </a:lvl9pPr>
          </a:lstStyle>
          <a:p>
            <a:pPr eaLnBrk="1" hangingPunct="1"/>
            <a:r>
              <a:rPr lang="en-US" sz="1800" dirty="0"/>
              <a:t>Note: The two bits of control field is 11 and is used for identifying the U-frame</a:t>
            </a:r>
            <a:endParaRPr lang="en-IN" sz="1800" dirty="0"/>
          </a:p>
        </p:txBody>
      </p:sp>
      <p:pic>
        <p:nvPicPr>
          <p:cNvPr id="1229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600" y="609600"/>
            <a:ext cx="12090400" cy="2516188"/>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14" name="Picture 2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11138" y="3508656"/>
            <a:ext cx="7092951" cy="3247459"/>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1270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658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6787</TotalTime>
  <Words>3194</Words>
  <Application>Microsoft Office PowerPoint</Application>
  <PresentationFormat>Widescreen</PresentationFormat>
  <Paragraphs>427</Paragraphs>
  <Slides>115</Slides>
  <Notes>21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115</vt:i4>
      </vt:variant>
    </vt:vector>
  </HeadingPairs>
  <TitlesOfParts>
    <vt:vector size="129" baseType="lpstr">
      <vt:lpstr>Arial</vt:lpstr>
      <vt:lpstr>Arial Black</vt:lpstr>
      <vt:lpstr>Calibri</vt:lpstr>
      <vt:lpstr>Calibri Light</vt:lpstr>
      <vt:lpstr>Cambria</vt:lpstr>
      <vt:lpstr>Consolas</vt:lpstr>
      <vt:lpstr>Footlight MT Light</vt:lpstr>
      <vt:lpstr>Microsoft Sans Serif</vt:lpstr>
      <vt:lpstr>Nunito</vt:lpstr>
      <vt:lpstr>Tahoma</vt:lpstr>
      <vt:lpstr>Times</vt:lpstr>
      <vt:lpstr>Times New Roman</vt:lpstr>
      <vt:lpstr>Wingdings</vt:lpstr>
      <vt:lpstr>Office Theme</vt:lpstr>
      <vt:lpstr>Data Link Layer  </vt:lpstr>
      <vt:lpstr>Data Link Layer</vt:lpstr>
      <vt:lpstr>Data Link Layer</vt:lpstr>
      <vt:lpstr>Data Link Layer</vt:lpstr>
      <vt:lpstr>Data Link Layer</vt:lpstr>
      <vt:lpstr>Data Link Layer</vt:lpstr>
      <vt:lpstr>Data Link Layer</vt:lpstr>
      <vt:lpstr>Data Link Layer </vt:lpstr>
      <vt:lpstr>Data Link Layer  </vt:lpstr>
      <vt:lpstr>3.2 Framing and its types</vt:lpstr>
      <vt:lpstr>3.2 Framing and its types</vt:lpstr>
      <vt:lpstr>3.2 Framing and its types</vt:lpstr>
      <vt:lpstr>3.2 Framing and its types</vt:lpstr>
      <vt:lpstr>3.2 Framing and its types</vt:lpstr>
      <vt:lpstr>3.2 Framing and its types</vt:lpstr>
      <vt:lpstr>3.2 Framing and its types</vt:lpstr>
      <vt:lpstr>3.2 Framing and its types</vt:lpstr>
      <vt:lpstr>3.2 Framing and its types</vt:lpstr>
      <vt:lpstr>3.2 Framing and its types</vt:lpstr>
      <vt:lpstr>3.2 Framing and its types</vt:lpstr>
      <vt:lpstr>PowerPoint Presentation</vt:lpstr>
      <vt:lpstr>Types of Error</vt:lpstr>
      <vt:lpstr>Types of Error</vt:lpstr>
      <vt:lpstr>Error Detection</vt:lpstr>
      <vt:lpstr>Figure The structure of encoder and decoder</vt:lpstr>
      <vt:lpstr>Detection Versus Correction</vt:lpstr>
      <vt:lpstr>Error Detection Techniques</vt:lpstr>
      <vt:lpstr>VRC</vt:lpstr>
      <vt:lpstr>VRC</vt:lpstr>
      <vt:lpstr>VRC</vt:lpstr>
      <vt:lpstr>VRC</vt:lpstr>
      <vt:lpstr>VRC</vt:lpstr>
      <vt:lpstr>LRC</vt:lpstr>
      <vt:lpstr>LRC</vt:lpstr>
      <vt:lpstr>LRC</vt:lpstr>
      <vt:lpstr>LRC</vt:lpstr>
      <vt:lpstr>PowerPoint Presentation</vt:lpstr>
      <vt:lpstr>PowerPoint Presentation</vt:lpstr>
      <vt:lpstr>PowerPoint Presentation</vt:lpstr>
      <vt:lpstr>PowerPoint Presentation</vt:lpstr>
      <vt:lpstr>PowerPoint Presentation</vt:lpstr>
      <vt:lpstr>Error Correction</vt:lpstr>
      <vt:lpstr>What is Hamming Code?</vt:lpstr>
      <vt:lpstr>Terms Related to Hamming Code</vt:lpstr>
      <vt:lpstr>Hamming Code(7,4)</vt:lpstr>
      <vt:lpstr>Hamming Code(7,4)</vt:lpstr>
      <vt:lpstr>Hamming Code(7,4)</vt:lpstr>
      <vt:lpstr>Hamming Code(7,4)</vt:lpstr>
      <vt:lpstr>Error Detection – Hamming Code</vt:lpstr>
      <vt:lpstr>Error Detection – Hamming Code</vt:lpstr>
      <vt:lpstr>Error Correction – Hamming Code</vt:lpstr>
      <vt:lpstr>Hamming Distance</vt:lpstr>
      <vt:lpstr>Hamming Distance</vt:lpstr>
      <vt:lpstr>PowerPoint Presentation</vt:lpstr>
      <vt:lpstr>PowerPoint Presentation</vt:lpstr>
      <vt:lpstr>PowerPoint Presentation</vt:lpstr>
      <vt:lpstr>PowerPoint Presentation</vt:lpstr>
      <vt:lpstr>Data Link Layer Protocol - Stop and Wait Protocol</vt:lpstr>
      <vt:lpstr>PowerPoint Presentation</vt:lpstr>
      <vt:lpstr>PowerPoint Presentation</vt:lpstr>
      <vt:lpstr>PowerPoint Presentation</vt:lpstr>
      <vt:lpstr>PowerPoint Presentation</vt:lpstr>
      <vt:lpstr>Data Link Layer Protocol - Stop and Wait ARQ Protocol</vt:lpstr>
      <vt:lpstr>Data Link Layer Protocol - Stop and Wait ARQ Protocol</vt:lpstr>
      <vt:lpstr>Data Link Layer Protocol - Stop and Wait ARQ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Link Layer</dc:title>
  <dc:creator>admin</dc:creator>
  <cp:lastModifiedBy>Ashok Deokar</cp:lastModifiedBy>
  <cp:revision>178</cp:revision>
  <dcterms:created xsi:type="dcterms:W3CDTF">2023-08-24T08:50:29Z</dcterms:created>
  <dcterms:modified xsi:type="dcterms:W3CDTF">2026-09-19T00:18:24Z</dcterms:modified>
</cp:coreProperties>
</file>